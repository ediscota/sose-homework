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2" r:id="rId14"/>
    <p:sldId id="271" r:id="rId15"/>
    <p:sldId id="272" r:id="rId16"/>
    <p:sldId id="269" r:id="rId17"/>
    <p:sldId id="270" r:id="rId18"/>
    <p:sldId id="274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4926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</a:rPr>
              <a:t>Employment Platform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as a Service &amp; Ethics as a Service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127248"/>
            <a:ext cx="3200400" cy="36576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A.Y. 2025/2026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Edoardo Di Giuseppe. Lorenzo Di Giandomenico, Federico Capricci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Edoardo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 &amp; Ontology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 APIs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– Workflow &amp;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Policies (4 policies)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PROCEED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Provenance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↔ EaaS Integration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Domain, Dataset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DaaS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Edoardo Di Giuseppe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Chosen Domain: Employment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7764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Employment Domain?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structured data domain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decisions affecting people's lives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of algorithmic bias and discrimination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existing regulations (D.Lgs. 198/2006, GDPR, UN CRPD)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429768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66344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Use Case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6634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agent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jobs in the system for the candidate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2221992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663440" y="2624328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63440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624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Module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offers via SPARQL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2971800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4663440" y="3374136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6344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33741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Module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the recommendation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28032" y="3721608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4663440" y="4123944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66344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 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Thymeleaf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UI: candidate browsing, recommendations, evaluation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 :8081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5.1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RDF/XML + SPARQL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29184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operations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documentation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 :8082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engine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612648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JSON policies, evaluates requests, produces decisions and audit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265176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DaaS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4864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EaaS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Starting RDF Dataset — Ontology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07963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 dirty="0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78308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004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177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3504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523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2331720"/>
            <a:ext cx="3840480" cy="594360"/>
          </a:xfrm>
          <a:prstGeom prst="rect">
            <a:avLst/>
          </a:prstGeom>
          <a:solidFill>
            <a:srgbClr val="F0F8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50292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http://sose.univaq.it/employment#  (prefix emp:)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5720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emp:Candidate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foaf:Person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5720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emp:JobOffer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offer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5720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emp:Company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schema:Organization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475488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emp:Skill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competence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475488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sector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475488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emp:Location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location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SPARQL Queries — Examples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1 · Offers by sector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02920" y="1737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?sal ?loc WHERE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emp:hasSector ?sec 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emp:hasLocation ?locR ; emp:salary ?sal 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?sec rdfs:label "Information Technology" 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?locR rdfs:label ?loc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2 · Multi-condition match (skill overlap + location + experience)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364992"/>
            <a:ext cx="84124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02920" y="3410712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?candLoc ?jobLoc ?remote ?reqExp ?yoe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(COUNT(DISTINCT ?sharedSkill) AS ?shared)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emp:cand-001 emp:hasLocation ?cLoc ; emp:yearsOfExperience ?yoe ; emp:hasSkill ?sharedSkill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?cLoc rdfs:label ?candLoc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emp:hasSkill ?sharedSkill 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emp:requiredExperience ?reqExp ; emp:remote ?remote ; emp:hasLocation ?jLoc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?jLoc rdfs:label ?jobLoc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GROUP BY ... ORDER BY DESC(?shared)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0045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— Full REST API  (http://localhost:8081)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365760" y="4215384"/>
            <a:ext cx="8412480" cy="274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3" name="Text 91"/>
          <p:cNvSpPr/>
          <p:nvPr/>
        </p:nvSpPr>
        <p:spPr>
          <a:xfrm>
            <a:off x="502920" y="4215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Swagger UI: http://localhost:8081/swagger-ui.html  —  interactive API documentation for all endpoints</a:t>
            </a:r>
            <a:endParaRPr lang="en-US" sz="950" dirty="0"/>
          </a:p>
        </p:txBody>
      </p:sp>
      <p:pic>
        <p:nvPicPr>
          <p:cNvPr id="99" name="Immagine 98">
            <a:extLst>
              <a:ext uri="{FF2B5EF4-FFF2-40B4-BE49-F238E27FC236}">
                <a16:creationId xmlns:a16="http://schemas.microsoft.com/office/drawing/2014/main" id="{45A4887D-53CE-A9E2-06DE-26276C618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" y="1292609"/>
            <a:ext cx="8895400" cy="2794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Ethics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Service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Lorenzo Di Giandomenico 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Evaluation Workflow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08176"/>
            <a:ext cx="438912" cy="43891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4081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847088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1005840" y="1316736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097280" y="1353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 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5910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sends: action, </a:t>
            </a:r>
            <a:r>
              <a:rPr lang="en-US" sz="1000" dirty="0" err="1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</a:t>
            </a: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jobId,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purpose, </a:t>
            </a:r>
            <a:r>
              <a:rPr lang="en-US" sz="1000" dirty="0" err="1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declaredRisk</a:t>
            </a: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21408"/>
            <a:ext cx="438912" cy="438912"/>
          </a:xfrm>
          <a:prstGeom prst="ellipse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65760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" y="256032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1005840" y="2029968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10972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 Canonical Data from DaaS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3042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fetches candidate and offer directly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DaaS — never trust the caller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438912" cy="438912"/>
          </a:xfrm>
          <a:prstGeom prst="ellipse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65760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" y="3273552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1005840" y="2743200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097280" y="277977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Analysis — Policy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30175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is applied to the real data.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findings with severity and evidence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47872"/>
            <a:ext cx="438912" cy="438912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365760" y="3547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3986784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1005840" y="3456432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109728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Decision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97280" y="37307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DecisionMaker aggregates findings: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CRITICAL→REJECT, HIGH→ESCALATE, MEDIUM→REVISE, none→PROCEED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261104"/>
            <a:ext cx="438912" cy="438912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365760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05840" y="4169664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1097280" y="42062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and Response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4443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AuditRecord saved to memory and JSONL.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response with provenance and required actions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EvaluationRequest —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66344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4389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"action": "recommend-job",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"candidateId": "cand-001",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"jobId": "job-003",</a:t>
            </a:r>
            <a:endParaRPr lang="en-US" sz="11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"requester": "ui-user:edoardo",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"purpose": "show recommendation",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10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EaaS ignores this field!</a:t>
            </a:r>
            <a:endParaRPr lang="en-US" sz="11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"declaredRisk": "LOW"</a:t>
            </a:r>
            <a:endParaRPr lang="en-US" sz="11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669280" y="12664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requested action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853419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669280" y="16139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— EaaS uses them to fetch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from DaaS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226213"/>
            <a:ext cx="54864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  <p:txBody>
          <a:bodyPr/>
          <a:lstStyle/>
          <a:p>
            <a:endParaRPr lang="it-IT" dirty="0"/>
          </a:p>
        </p:txBody>
      </p:sp>
      <p:sp>
        <p:nvSpPr>
          <p:cNvPr id="14" name="Text 12"/>
          <p:cNvSpPr/>
          <p:nvPr/>
        </p:nvSpPr>
        <p:spPr>
          <a:xfrm>
            <a:off x="5669280" y="1997613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who requests and why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757971"/>
            <a:ext cx="54864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669280" y="250018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Not trusted — EaaS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risk autonomously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Ethical Policies — External JSON Files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P-DISCR-001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Forbidden: ageRangeMin/Max, genderPreference, nationalityReq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offers. Regulation: D.Lgs. 198/2006, EU Dir. 2000/78/EC.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P-PROV-002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Provenance &amp; Data Quality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trusted sources (company-portal, synthetic).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source = third-party-scraper / unknown → ESCALATE.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8A0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P-ACC-003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06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 &amp; Disability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candidate has a disability, the offer must be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disabilityFriendly. Otherwise → REVISE.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UN CRPD Art.27, L. 68/1999.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P-TRANS-004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 &amp; Purpose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and purpose must be declared.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 the recommendation is not transparent.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GDPR Art.13/22.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 in the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offers intentionally contain problematic fields — designed to exercise EaaS policies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 field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type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03120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11480" y="21031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103120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14173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Frontend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103120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emp:ageRangeMax = 30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6172200" y="2103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11480" y="257860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257860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1417320" y="25786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Manager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578608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337560" y="25786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emp:genderPreference = male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578608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6172200" y="2578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discrimination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11480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71600" y="3054096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1417320" y="30540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Contractor Dev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3337560" y="30540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emp:nationalityReq = 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054096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617220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discrimination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529584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411480" y="35295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0" y="3529584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1417320" y="35295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 Sw. Eng.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9584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3337560" y="35295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emp:ageRangeMin=20, ageRangeMax=26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9584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/>
          <p:cNvSpPr/>
          <p:nvPr/>
        </p:nvSpPr>
        <p:spPr>
          <a:xfrm>
            <a:off x="6172200" y="3529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 (narrow age band)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4005072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9" name="Text 47"/>
          <p:cNvSpPr/>
          <p:nvPr/>
        </p:nvSpPr>
        <p:spPr>
          <a:xfrm>
            <a:off x="411480" y="4005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4005072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9"/>
          <p:cNvSpPr/>
          <p:nvPr/>
        </p:nvSpPr>
        <p:spPr>
          <a:xfrm>
            <a:off x="1417320" y="40050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Representative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291840" y="4005072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3" name="Text 51"/>
          <p:cNvSpPr/>
          <p:nvPr/>
        </p:nvSpPr>
        <p:spPr>
          <a:xfrm>
            <a:off x="3337560" y="4005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missing, source=unknown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126480" y="4005072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5" name="Text 53"/>
          <p:cNvSpPr/>
          <p:nvPr/>
        </p:nvSpPr>
        <p:spPr>
          <a:xfrm>
            <a:off x="6172200" y="4005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data quality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657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offers flagged by /api/jobs/risky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Audit, Integration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Reflection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Federico Ciccio Capricci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&amp; Provenance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03020"/>
            <a:ext cx="5029200" cy="3611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89888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"auditId": "audit-8f43...",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"2026-05-19T08:07:50Z",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"request": { "candidateId": "cand-001",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"jobId": "job-003" ...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"evaluatedCandidate": { ...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"evaluatedJob": { ...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"riskLevel": "CRITICAL",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"decision": "REJECT",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"findings": [ { ... } 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"appliedPolicies": [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"P-ACC-003", "P-DISCR-001",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"P-PROV-002", "P-TRANS-004"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46304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943600" y="1417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UUID per evaluation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87452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94360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ISO 8601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94360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 (snapshot)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51460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9436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fetched from DaaS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provenance tracked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3291840"/>
            <a:ext cx="45720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94360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840480"/>
            <a:ext cx="45720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5669280" y="3886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policies evaluated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(including those not violated)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PROCEED — cand-001 + job-001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(Backend Java Dev)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company-portal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Evaluation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policy violated — 4 policies evaluated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493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0FFF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18288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F8F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PROCEED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policy was triggered: the recommendation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consistent with the active ethical policies."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policies: P-ACC-003 · P-DISCR-001 · P-PROV-002 · P-TRANS-004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 none  ·  The offer can be shown to the candidate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REJECT — cand-001 + job-003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Bianchi, 28 years old)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(Junior Frontend Dev)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third-party-scraper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804672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82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carries "ageRangeMax" = 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3931920" cy="804672"/>
          </a:xfrm>
          <a:prstGeom prst="rect">
            <a:avLst/>
          </a:prstGeom>
          <a:solidFill>
            <a:srgbClr val="FFF8F0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" y="3749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96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"third-party-scraper" not trusted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783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B324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CRITICAL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0175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32918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the offer from recommendations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responsible for the discriminatory field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compliance officer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578608"/>
            <a:ext cx="83210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Start DaaS (:8081) · EaaS (:8082) · Client (:8080)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Browse Swagger UI → localhost:8081/swagger-ui.html  (explore all CRUD endpoints)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Create a new candidate via the web form (CRUD in action)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Select cand-001 (Alice Bianchi) → view match recommendations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Evaluate job-001 → PROCEED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Evaluate job-003 → REJECT  (ageRangeMax + third-party-scraper)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Open /api/audit → verify AuditRecord · check JSONL on disk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Edit a JSON policy file → restart EaaS → rerun evaluation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01168" cy="1600200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583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 proxies not detected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 explicit fields (age, gender, nationality). Subtle proxies like postcode, university, or name are not intercepted.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201168" cy="1600200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583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dataset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artificially generated. In production, GDPR consent management, encryption, and right-to-explanation flows would be required.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709160" y="132588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0017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Policies written in Java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17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rules declare severity and parameters, but the logic is Java code. Changing behavior requires a developer.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4709160" y="306324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0017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aggregate fairness metrics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017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offer is checked individually, but no systematic disparities across candidate groups are measured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Should NOT Be Decided Automatically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258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candidate selection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73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recommends and evaluates ethically, but the hiring decision must always be made by a human.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6576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Permanent exclusion of an offer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blocks the recommendation, not the offer from the system. Human review is required before permanently removing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65760" y="3191256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6576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998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Interpreting complex legal contexts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47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nationalityReq may be legal (e.g. national security requirements). EaaS lacks context: ESCALATE → human.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365760" y="4078224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365760" y="4078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986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 capabilities and soft skills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captures years of experience and technical skills. Motivation, communication, and company culture remain outside the model.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+ Ethics + Architecture</a:t>
            </a:r>
            <a:endParaRPr lang="en-US" sz="3600" dirty="0"/>
          </a:p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unified system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 RDF/XML triples · 7 controllers · full CRUD · Swagger UI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external JSON policies · PROCEED / REVISE / ESCALATE / REJECT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17320" y="34930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tracked, justified, and persisted to disk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4096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final checkbox: ethics is an integral part of the architecture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36576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1688</Words>
  <Application>Microsoft Office PowerPoint</Application>
  <PresentationFormat>Presentazione su schermo (16:9)</PresentationFormat>
  <Paragraphs>354</Paragraphs>
  <Slides>21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Edoardo Di Giuseppe</cp:lastModifiedBy>
  <cp:revision>2</cp:revision>
  <dcterms:created xsi:type="dcterms:W3CDTF">2026-05-26T11:47:16Z</dcterms:created>
  <dcterms:modified xsi:type="dcterms:W3CDTF">2026-05-26T13:12:23Z</dcterms:modified>
</cp:coreProperties>
</file>