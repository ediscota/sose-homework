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6.xml" ContentType="application/vnd.openxmlformats-officedocument.presentationml.notesSlide+xml"/>
  <Override PartName="/ppt/slides/slide20.xml" ContentType="application/vnd.openxmlformats-officedocument.presentationml.slide+xml"/>
  <Override PartName="/ppt/notesSlides/notesSlide1.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7.xml" ContentType="application/vnd.openxmlformats-officedocument.presentationml.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14.xml" ContentType="application/vnd.openxmlformats-officedocument.presentationml.notesSlide+xml"/>
  <Override PartName="/ppt/slides/slide5.xml" ContentType="application/vnd.openxmlformats-officedocument.presentationml.slide+xml"/>
  <Override PartName="/ppt/slideLayouts/slideLayout1.xml" ContentType="application/vnd.openxmlformats-officedocument.presentationml.slideLayout+xml"/>
  <Override PartName="/ppt/slides/slide12.xml" ContentType="application/vnd.openxmlformats-officedocument.presentationml.slide+xml"/>
  <Override PartName="/ppt/notesSlides/notesSlide12.xml" ContentType="application/vnd.openxmlformats-officedocument.presentationml.notesSlide+xml"/>
  <Override PartName="/docProps/app.xml" ContentType="application/vnd.openxmlformats-officedocument.extended-properties+xml"/>
  <Override PartName="/ppt/slides/slide17.xml" ContentType="application/vnd.openxmlformats-officedocument.presentationml.slide+xml"/>
  <Override PartName="/ppt/viewProps.xml" ContentType="application/vnd.openxmlformats-officedocument.presentationml.viewProps+xml"/>
  <Override PartName="/ppt/theme/theme1.xml" ContentType="application/vnd.openxmlformats-officedocument.theme+xml"/>
  <Override PartName="/ppt/slides/slide3.xml" ContentType="application/vnd.openxmlformats-officedocument.presentationml.slide+xml"/>
  <Override PartName="/ppt/presProps.xml" ContentType="application/vnd.openxmlformats-officedocument.presentationml.presProps+xml"/>
  <Override PartName="/ppt/slides/slide11.xml" ContentType="application/vnd.openxmlformats-officedocument.presentationml.slide+xml"/>
  <Override PartName="/ppt/theme/theme2.xml" ContentType="application/vnd.openxmlformats-officedocument.theme+xml"/>
  <Override PartName="/ppt/slides/slide13.xml" ContentType="application/vnd.openxmlformats-officedocument.presentationml.slide+xml"/>
  <Override PartName="/ppt/slides/slide2.xml" ContentType="application/vnd.openxmlformats-officedocument.presentationml.slide+xml"/>
  <Override PartName="/ppt/slideMasters/slideMaster1.xml" ContentType="application/vnd.openxmlformats-officedocument.presentationml.slideMaster+xml"/>
  <Override PartName="/ppt/slides/slide6.xml" ContentType="application/vnd.openxmlformats-officedocument.presentationml.slide+xml"/>
  <Override PartName="/ppt/notesMasters/notesMaster1.xml" ContentType="application/vnd.openxmlformats-officedocument.presentationml.notesMaster+xml"/>
  <Override PartName="/ppt/slides/slide1.xml" ContentType="application/vnd.openxmlformats-officedocument.presentationml.slide+xml"/>
  <Override PartName="/docProps/core.xml" ContentType="application/vnd.openxmlformats-package.core-properties+xml"/>
  <Override PartName="/ppt/notesSlides/notesSlide15.xml" ContentType="application/vnd.openxmlformats-officedocument.presentationml.notesSlide+xml"/>
  <Override PartName="/ppt/slides/slide14.xml" ContentType="application/vnd.openxmlformats-officedocument.presentationml.slide+xml"/>
  <Override PartName="/ppt/notesSlides/notesSlide3.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notesSlides/notesSlide17.xml" ContentType="application/vnd.openxmlformats-officedocument.presentationml.notesSlide+xml"/>
  <Override PartName="/ppt/slides/slide19.xml" ContentType="application/vnd.openxmlformats-officedocument.presentationml.slide+xml"/>
  <Override PartName="/ppt/slides/slide4.xml" ContentType="application/vnd.openxmlformats-officedocument.presentationml.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slides/slide9.xml" ContentType="application/vnd.openxmlformats-officedocument.presentationml.slide+xml"/>
  <Override PartName="/ppt/notesSlides/notesSlide13.xml" ContentType="application/vnd.openxmlformats-officedocument.presentationml.notesSlide+xml"/>
  <Override PartName="/ppt/tableStyles.xml" ContentType="application/vnd.openxmlformats-officedocument.presentationml.tableStyles+xml"/>
  <Override PartName="/ppt/notesSlides/notesSlide4.xml" ContentType="application/vnd.openxmlformats-officedocument.presentationml.notesSlide+xml"/>
  <Override PartName="/ppt/presentation.xml" ContentType="application/vnd.openxmlformats-officedocument.presentationml.presentation.main+xml"/>
  <Override PartName="/ppt/notesSlides/notesSlide7.xml" ContentType="application/vnd.openxmlformats-officedocument.presentationml.notesSlide+xml"/>
  <Override PartName="/ppt/notesSlides/notesSlide9.xml" ContentType="application/vnd.openxmlformats-officedocument.presentationml.notes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strictFirstAndLastChars="0">
  <p:sldMasterIdLst>
    <p:sldMasterId id="2147483648" r:id="rId1"/>
  </p:sldMasterIdLst>
  <p:notesMasterIdLst>
    <p:notesMasterId r:id="rId25"/>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75" d="100"/>
          <a:sy n="75" d="100"/>
        </p:scale>
        <p:origin x="1666" y="53"/>
      </p:cViewPr>
      <p:guideLst>
        <p:guide pos="2880"/>
        <p:guide pos="162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notesMaster" Target="notesMasters/notesMaster1.xml"/><Relationship Id="rId26" Type="http://schemas.openxmlformats.org/officeDocument/2006/relationships/presProps" Target="presProps.xml" /><Relationship Id="rId27" Type="http://schemas.openxmlformats.org/officeDocument/2006/relationships/tableStyles" Target="tableStyles.xml" /><Relationship Id="rId28"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Pr shadeToTitle="0">
        <a:solidFill>
          <a:schemeClr val="lt1"/>
        </a:solidFill>
      </p:bgPr>
    </p:bg>
    <p:spTree>
      <p:nvGrpSpPr>
        <p:cNvPr id="1" name=""/>
        <p:cNvGrpSpPr/>
        <p:nvPr/>
      </p:nvGrpSpPr>
      <p:grpSpPr bwMode="auto">
        <a:xfrm>
          <a:off x="0" y="0"/>
          <a:ext cx="0" cy="0"/>
          <a:chOff x="0" y="0"/>
          <a:chExt cx="0" cy="0"/>
        </a:xfrm>
      </p:grpSpPr>
      <p:sp>
        <p:nvSpPr>
          <p:cNvPr id="653103974" name="Google Shape;3;n"/>
          <p:cNvSpPr>
            <a:spLocks noChangeAspect="1" noGrp="1" noRot="1"/>
          </p:cNvSpPr>
          <p:nvPr>
            <p:ph type="sldImg" idx="2"/>
          </p:nvPr>
        </p:nvSpPr>
        <p:spPr bwMode="auto">
          <a:xfrm>
            <a:off x="216000" y="812520"/>
            <a:ext cx="7127280" cy="400896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872490170" name="Google Shape;4;n"/>
          <p:cNvSpPr txBox="1">
            <a:spLocks noGrp="1"/>
          </p:cNvSpPr>
          <p:nvPr>
            <p:ph type="body" idx="1"/>
          </p:nvPr>
        </p:nvSpPr>
        <p:spPr bwMode="auto">
          <a:xfrm>
            <a:off x="756000" y="5078520"/>
            <a:ext cx="6047640" cy="4811039"/>
          </a:xfrm>
          <a:prstGeom prst="rect">
            <a:avLst/>
          </a:prstGeom>
          <a:noFill/>
          <a:ln>
            <a:noFill/>
          </a:ln>
        </p:spPr>
        <p:txBody>
          <a:bodyPr spcFirstLastPara="1" wrap="square" lIns="0" tIns="0" rIns="0" bIns="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defRPr>
            </a:lvl9pPr>
          </a:lstStyle>
          <a:p>
            <a:pPr>
              <a:defRPr/>
            </a:pPr>
            <a:endParaRPr/>
          </a:p>
        </p:txBody>
      </p:sp>
      <p:sp>
        <p:nvSpPr>
          <p:cNvPr id="665928871" name="Google Shape;5;n"/>
          <p:cNvSpPr txBox="1">
            <a:spLocks noGrp="1"/>
          </p:cNvSpPr>
          <p:nvPr>
            <p:ph type="hdr" idx="3"/>
          </p:nvPr>
        </p:nvSpPr>
        <p:spPr bwMode="auto">
          <a:xfrm>
            <a:off x="0" y="0"/>
            <a:ext cx="3280680" cy="534240"/>
          </a:xfrm>
          <a:prstGeom prst="rect">
            <a:avLst/>
          </a:prstGeom>
          <a:noFill/>
          <a:ln>
            <a:noFill/>
          </a:ln>
        </p:spPr>
        <p:txBody>
          <a:bodyPr spcFirstLastPara="1" wrap="square" lIns="0" tIns="0" rIns="0" bIns="0" anchor="t" anchorCtr="0">
            <a:noAutofit/>
          </a:bodyPr>
          <a:lstStyle>
            <a:lvl1pPr marR="0" lvl="0" algn="l" rtl="0">
              <a:spcBef>
                <a:spcPts val="0"/>
              </a:spcBef>
              <a:spcAft>
                <a:spcPts val="0"/>
              </a:spcAft>
              <a:buSzPts val="1400"/>
              <a:buNone/>
              <a:defRPr sz="1800" b="0" i="0" u="none" strike="noStrike" cap="none">
                <a:solidFill>
                  <a:schemeClr val="dk1"/>
                </a:solidFill>
                <a:latin typeface="Arial"/>
                <a:ea typeface="Arial"/>
                <a:cs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defRPr>
            </a:lvl9pPr>
          </a:lstStyle>
          <a:p>
            <a:pPr>
              <a:defRPr/>
            </a:pPr>
            <a:endParaRPr/>
          </a:p>
        </p:txBody>
      </p:sp>
      <p:sp>
        <p:nvSpPr>
          <p:cNvPr id="1126811932" name="Google Shape;6;n"/>
          <p:cNvSpPr txBox="1">
            <a:spLocks noGrp="1"/>
          </p:cNvSpPr>
          <p:nvPr>
            <p:ph type="dt" idx="10"/>
          </p:nvPr>
        </p:nvSpPr>
        <p:spPr bwMode="auto">
          <a:xfrm>
            <a:off x="4278960" y="0"/>
            <a:ext cx="3280680" cy="534240"/>
          </a:xfrm>
          <a:prstGeom prst="rect">
            <a:avLst/>
          </a:prstGeom>
          <a:noFill/>
          <a:ln>
            <a:noFill/>
          </a:ln>
        </p:spPr>
        <p:txBody>
          <a:bodyPr spcFirstLastPara="1" wrap="square" lIns="0" tIns="0" rIns="0" bIns="0" anchor="t" anchorCtr="0">
            <a:noAutofit/>
          </a:bodyPr>
          <a:lstStyle>
            <a:lvl1pPr marR="0" lvl="0" algn="r" rtl="0">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defRPr>
            </a:lvl9pPr>
          </a:lstStyle>
          <a:p>
            <a:pPr>
              <a:defRPr/>
            </a:pPr>
            <a:endParaRPr/>
          </a:p>
        </p:txBody>
      </p:sp>
      <p:sp>
        <p:nvSpPr>
          <p:cNvPr id="1168188116" name="Google Shape;7;n"/>
          <p:cNvSpPr txBox="1">
            <a:spLocks noGrp="1"/>
          </p:cNvSpPr>
          <p:nvPr>
            <p:ph type="ftr" idx="11"/>
          </p:nvPr>
        </p:nvSpPr>
        <p:spPr bwMode="auto">
          <a:xfrm>
            <a:off x="0" y="10157400"/>
            <a:ext cx="3280680" cy="534240"/>
          </a:xfrm>
          <a:prstGeom prst="rect">
            <a:avLst/>
          </a:prstGeom>
          <a:noFill/>
          <a:ln>
            <a:noFill/>
          </a:ln>
        </p:spPr>
        <p:txBody>
          <a:bodyPr spcFirstLastPara="1" wrap="square" lIns="0" tIns="0" rIns="0" bIns="0" anchor="b" anchorCtr="0">
            <a:noAutofit/>
          </a:bodyPr>
          <a:lstStyle>
            <a:lvl1pPr marR="0" lvl="0" algn="l" rtl="0">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defRPr>
            </a:lvl9pPr>
          </a:lstStyle>
          <a:p>
            <a:pPr>
              <a:defRPr/>
            </a:pPr>
            <a:endParaRPr/>
          </a:p>
        </p:txBody>
      </p:sp>
      <p:sp>
        <p:nvSpPr>
          <p:cNvPr id="1435879918" name="Google Shape;8;n"/>
          <p:cNvSpPr txBox="1">
            <a:spLocks noGrp="1"/>
          </p:cNvSpPr>
          <p:nvPr>
            <p:ph type="sldNum" idx="12"/>
          </p:nvPr>
        </p:nvSpPr>
        <p:spPr bwMode="auto">
          <a:xfrm>
            <a:off x="4278960" y="10157400"/>
            <a:ext cx="3280680" cy="53424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Clr>
                <a:srgbClr val="000000"/>
              </a:buClr>
              <a:buSzPts val="1400"/>
              <a:buFont typeface="Times New Roman"/>
              <a:buNone/>
              <a:defRPr/>
            </a:pPr>
            <a:fld id="{00000000-1234-1234-1234-123412341234}" type="slidenum">
              <a:rPr lang="en-US" sz="1400" b="0" i="0" u="none" strike="noStrike" cap="none">
                <a:solidFill>
                  <a:srgbClr val="000000"/>
                </a:solidFill>
                <a:latin typeface="Times New Roman"/>
                <a:ea typeface="Times New Roman"/>
                <a:cs typeface="Times New Roman"/>
              </a:rPr>
              <a:t>‹N›</a:t>
            </a:fld>
            <a:endParaRPr sz="1400" b="0" i="0" u="none" strike="noStrike" cap="none">
              <a:solidFill>
                <a:srgbClr val="000000"/>
              </a:solidFill>
              <a:latin typeface="Times New Roman"/>
              <a:ea typeface="Times New Roman"/>
              <a:cs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607584375" name="Google Shape;14;p1: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838377776" name="Google Shape;15;p1: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Good morning everyone, and thank you for being here.</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We are a group of three students, and today we will present our</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project for the Service-Oriented Software Engineering midterm.</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project is an Employment Platform</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integrating Data-as-a-Service and Ethics-as-a-Service concepts</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idea behind the project is that we wanted to build a system that not only recommends job</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offers to candidates, but also evaluates whether those</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recommendations are ethically acceptable, before showing them to</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user.</a:t>
            </a:r>
            <a:endParaRPr sz="1800" b="0" strike="noStrike">
              <a:solidFill>
                <a:srgbClr val="000000"/>
              </a:solidFill>
              <a:latin typeface="Arial"/>
              <a:ea typeface="Arial"/>
              <a:cs typeface="Arial"/>
            </a:endParaRPr>
          </a:p>
        </p:txBody>
      </p:sp>
      <p:sp>
        <p:nvSpPr>
          <p:cNvPr id="1098672504" name="Google Shape;16;p1: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i="0" u="none" strike="noStrike" cap="none">
                <a:solidFill>
                  <a:schemeClr val="dk1"/>
                </a:solidFill>
                <a:latin typeface="Arial"/>
                <a:ea typeface="Arial"/>
                <a:cs typeface="Arial"/>
              </a:rPr>
              <a:t>1</a:t>
            </a:fld>
            <a:endParaRPr sz="1800" b="0" i="0" u="none" strike="noStrike" cap="none">
              <a:solidFill>
                <a:srgbClr val="000000"/>
              </a:solidFill>
              <a:latin typeface="Times New Roman"/>
              <a:ea typeface="Times New Roman"/>
              <a:cs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988138745" name="Google Shape;25;p2: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511058195" name="Google Shape;26;p2: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This is how we organized the presentation.</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I will start with the first section, which covers the domain we</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chose, the motivation behind it, the overall application</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architecture, the RDF dataset and ontology we built, the SPARQL</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queries that drive the recommendations, and the REST API exposed</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by our DaaS service.</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second speaker will then take over and present the EaaS</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service — its workflow, the four ethical policies we implemented,</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and two concrete scenarios: one that proceeds normally and one</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that is rejected.</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Finally, the third speaker will close with the audit component, a live demo</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of the running system, and a short critical reflection on what</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system can — and should not — decide automatically.</a:t>
            </a:r>
            <a:endParaRPr sz="1800" b="0" strike="noStrike">
              <a:solidFill>
                <a:srgbClr val="000000"/>
              </a:solidFill>
              <a:latin typeface="Arial"/>
              <a:ea typeface="Arial"/>
              <a:cs typeface="Arial"/>
            </a:endParaRPr>
          </a:p>
        </p:txBody>
      </p:sp>
      <p:sp>
        <p:nvSpPr>
          <p:cNvPr id="2075918238" name="Google Shape;27;p2: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i="0" u="none" strike="noStrike" cap="none">
                <a:solidFill>
                  <a:schemeClr val="dk1"/>
                </a:solidFill>
                <a:latin typeface="Arial"/>
                <a:ea typeface="Arial"/>
                <a:cs typeface="Arial"/>
              </a:rPr>
              <a:t>2</a:t>
            </a:fld>
            <a:endParaRPr sz="1800" b="0" i="0" u="none" strike="noStrike" cap="none">
              <a:solidFill>
                <a:srgbClr val="000000"/>
              </a:solidFill>
              <a:latin typeface="Times New Roman"/>
              <a:ea typeface="Times New Roman"/>
              <a:cs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08669257" name="Google Shape;45;p3: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2033184936" name="Google Shape;46;p3: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So let me start with Section 1: domain, dataset, and the DaaS.</a:t>
            </a:r>
            <a:endParaRPr sz="1800" b="0" strike="noStrike">
              <a:solidFill>
                <a:srgbClr val="000000"/>
              </a:solidFill>
              <a:latin typeface="Arial"/>
              <a:ea typeface="Arial"/>
              <a:cs typeface="Arial"/>
            </a:endParaRPr>
          </a:p>
        </p:txBody>
      </p:sp>
      <p:sp>
        <p:nvSpPr>
          <p:cNvPr id="1689750216" name="Google Shape;47;p3: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i="0" u="none" strike="noStrike" cap="none">
                <a:solidFill>
                  <a:schemeClr val="dk1"/>
                </a:solidFill>
                <a:latin typeface="Arial"/>
                <a:ea typeface="Arial"/>
                <a:cs typeface="Arial"/>
              </a:rPr>
              <a:t>3</a:t>
            </a:fld>
            <a:endParaRPr sz="1800" b="0" i="0" u="none" strike="noStrike" cap="none">
              <a:solidFill>
                <a:srgbClr val="000000"/>
              </a:solidFill>
              <a:latin typeface="Times New Roman"/>
              <a:ea typeface="Times New Roman"/>
              <a:cs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477991754" name="Google Shape;54;p4: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266025461" name="Google Shape;55;p4: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We chose the employment domain for four reasons.</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first one is that employment is a rich structured-data domain.</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Candidates, job offers, companies, skills, sectors, and locations</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all have well-defined attributes and clear relationships between</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them, which makes it a natural fit for an RDF representation.</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second reason is impact. Decisions in this domain are</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high-impact: they directly affect people's lives — whether they</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get a job, how much they earn, whether they are even considered.</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third reason is risk. Recruitment is one of the areas where</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algorithmic bias and discrimination are most concrete and most</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Documented</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fourth and last reason is that it is regulated</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by laws we wanted our system to reflect — the Italian </a:t>
            </a:r>
            <a:r>
              <a:rPr lang="en-US" sz="1800" b="0" strike="noStrike">
                <a:solidFill>
                  <a:srgbClr val="000000"/>
                </a:solidFill>
                <a:latin typeface="Arial"/>
                <a:ea typeface="Arial"/>
                <a:cs typeface="Arial"/>
              </a:rPr>
              <a:t>D.Lgs</a:t>
            </a:r>
            <a:r>
              <a:rPr lang="en-US" sz="1800" b="0" strike="noStrike">
                <a:solidFill>
                  <a:srgbClr val="000000"/>
                </a:solidFill>
                <a:latin typeface="Arial"/>
                <a:ea typeface="Arial"/>
                <a:cs typeface="Arial"/>
              </a:rPr>
              <a:t>.</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198 of 2006 on equal opportunities, the European GDPR, and the</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United Nations Convention on the Rights of Persons with</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Disabilities.</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On the right side of the slide you can see the project use case</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in four steps. An employment agent searches for jobs for candidates registered in our service. The DaaS recommends</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matching offers through SPARQL queries. The EaaS evaluates each</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recommendation against ethical policies. And every decision is</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tracked in an audit log.</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This is the loop we want to demonstrate today.</a:t>
            </a:r>
            <a:endParaRPr sz="1800" b="0" strike="noStrike">
              <a:solidFill>
                <a:srgbClr val="000000"/>
              </a:solidFill>
              <a:latin typeface="Arial"/>
              <a:ea typeface="Arial"/>
              <a:cs typeface="Arial"/>
            </a:endParaRPr>
          </a:p>
        </p:txBody>
      </p:sp>
      <p:sp>
        <p:nvSpPr>
          <p:cNvPr id="587657427" name="Google Shape;56;p4: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i="0" u="none" strike="noStrike" cap="none">
                <a:solidFill>
                  <a:schemeClr val="dk1"/>
                </a:solidFill>
                <a:latin typeface="Arial"/>
                <a:ea typeface="Arial"/>
                <a:cs typeface="Arial"/>
              </a:rPr>
              <a:t>4</a:t>
            </a:fld>
            <a:endParaRPr sz="1800" b="0" i="0" u="none" strike="noStrike" cap="none">
              <a:solidFill>
                <a:srgbClr val="000000"/>
              </a:solidFill>
              <a:latin typeface="Times New Roman"/>
              <a:ea typeface="Times New Roman"/>
              <a:cs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675837841" name="Google Shape;84;p5: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2049167401" name="Google Shape;85;p5: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Let me now describe the architecture.</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system is organized as three independent Spring Boot services,</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each running on its own port.</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first one, on port 8080, is the Client. It is the web</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application the user interacts with — it uses </a:t>
            </a:r>
            <a:r>
              <a:rPr lang="en-US" sz="1800" b="0" strike="noStrike">
                <a:solidFill>
                  <a:srgbClr val="000000"/>
                </a:solidFill>
                <a:latin typeface="Arial"/>
                <a:ea typeface="Arial"/>
                <a:cs typeface="Arial"/>
              </a:rPr>
              <a:t>Thymeleaf</a:t>
            </a:r>
            <a:r>
              <a:rPr lang="en-US" sz="1800" b="0" strike="noStrike">
                <a:solidFill>
                  <a:srgbClr val="000000"/>
                </a:solidFill>
                <a:latin typeface="Arial"/>
                <a:ea typeface="Arial"/>
                <a:cs typeface="Arial"/>
              </a:rPr>
              <a:t> to render</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HTML pages for browsing candidates, viewing job recommendations,</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and triggering ethics evaluations.</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second service, on port 8081, is the DaaS — Data as a Service.</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This is the heart of the data layer. It is built on top of Apache</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Jena 5.1, the well-known Java framework for semantic web</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applications. The dataset is loaded from an RDF/XML file, and all</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queries against it are written in SPARQL. The DaaS exposes seven</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REST controllers covering full CRUD operations — create, read,</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update and delete — for every resource. We also documented the</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entire API with Swagger UI</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third service, on port 8082, is the EaaS — Ethics as a</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Service. This is where the ethical evaluation actually happens.</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It loads its policies from external JSON files, applies them to</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incoming requests, and persists every decision to an audit log</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written in JSONL format.</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three services communicate over plain HTTP with JSON payloads.</a:t>
            </a:r>
            <a:endParaRPr sz="1800" b="0" strike="noStrike">
              <a:solidFill>
                <a:srgbClr val="000000"/>
              </a:solidFill>
              <a:latin typeface="Arial"/>
              <a:ea typeface="Arial"/>
              <a:cs typeface="Arial"/>
            </a:endParaRPr>
          </a:p>
        </p:txBody>
      </p:sp>
      <p:sp>
        <p:nvSpPr>
          <p:cNvPr id="649051655" name="Google Shape;86;p5: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i="0" u="none" strike="noStrike" cap="none">
                <a:solidFill>
                  <a:schemeClr val="dk1"/>
                </a:solidFill>
                <a:latin typeface="Arial"/>
                <a:ea typeface="Arial"/>
                <a:cs typeface="Arial"/>
              </a:rPr>
              <a:t>5</a:t>
            </a:fld>
            <a:endParaRPr sz="1800" b="0" i="0" u="none" strike="noStrike" cap="none">
              <a:solidFill>
                <a:srgbClr val="000000"/>
              </a:solidFill>
              <a:latin typeface="Times New Roman"/>
              <a:ea typeface="Times New Roman"/>
              <a:cs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622097025" name="Google Shape;117;p6: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83925655" name="Google Shape;118;p6: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Let me now talk about the dataset.</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dataset is serialized in RDF. It contains six hundred</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and thirty-five triples, describing twenty-five candidates,</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eighteen job offers, twelve skills, five sectors, and seven</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companies.</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We defined our own ontology under the namespace</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http://sose.univaq.it/employment hash, with the prefix "emp"</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colon. </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The ontology defines six main classes, listed on the lower part</a:t>
            </a:r>
            <a:endParaRPr/>
          </a:p>
          <a:p>
            <a:pPr marL="216000" lvl="0" indent="-216000" algn="l" rtl="0">
              <a:spcBef>
                <a:spcPts val="0"/>
              </a:spcBef>
              <a:spcAft>
                <a:spcPts val="0"/>
              </a:spcAft>
              <a:buClr>
                <a:schemeClr val="dk1"/>
              </a:buClr>
              <a:buSzPts val="1800"/>
              <a:buFont typeface="Arial"/>
              <a:buNone/>
              <a:defRPr/>
            </a:pPr>
            <a:r>
              <a:rPr lang="en-US" sz="1800" b="0" strike="noStrike">
                <a:solidFill>
                  <a:srgbClr val="000000"/>
                </a:solidFill>
                <a:latin typeface="Arial"/>
                <a:ea typeface="Arial"/>
                <a:cs typeface="Arial"/>
              </a:rPr>
              <a:t>of the slide.</a:t>
            </a:r>
            <a:endParaRPr/>
          </a:p>
          <a:p>
            <a:pPr marL="216000" lvl="0" indent="-216000" algn="l" rtl="0">
              <a:spcBef>
                <a:spcPts val="0"/>
              </a:spcBef>
              <a:spcAft>
                <a:spcPts val="0"/>
              </a:spcAft>
              <a:buClr>
                <a:schemeClr val="dk1"/>
              </a:buClr>
              <a:buSzPts val="1800"/>
              <a:buFont typeface="Arial"/>
              <a:buNone/>
              <a:defRPr/>
            </a:pPr>
            <a:endParaRPr lang="en-US" sz="1800" b="0" strike="noStrike">
              <a:solidFill>
                <a:srgbClr val="000000"/>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endParaRPr sz="1800" b="0" strike="noStrike">
              <a:solidFill>
                <a:srgbClr val="000000"/>
              </a:solidFill>
              <a:latin typeface="Arial"/>
              <a:ea typeface="Arial"/>
              <a:cs typeface="Arial"/>
            </a:endParaRPr>
          </a:p>
        </p:txBody>
      </p:sp>
      <p:sp>
        <p:nvSpPr>
          <p:cNvPr id="1729699533" name="Google Shape;119;p6: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i="0" u="none" strike="noStrike" cap="none">
                <a:solidFill>
                  <a:schemeClr val="dk1"/>
                </a:solidFill>
                <a:latin typeface="Arial"/>
                <a:ea typeface="Arial"/>
                <a:cs typeface="Arial"/>
              </a:rPr>
              <a:t>6</a:t>
            </a:fld>
            <a:endParaRPr sz="1800" b="0" i="0" u="none" strike="noStrike" cap="none">
              <a:solidFill>
                <a:srgbClr val="000000"/>
              </a:solidFill>
              <a:latin typeface="Times New Roman"/>
              <a:ea typeface="Times New Roman"/>
              <a:cs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088943020" name="Google Shape;167;p7: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945683801" name="Google Shape;168;p7: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defRPr/>
            </a:pPr>
            <a:r>
              <a:rPr lang="en-US" sz="1800"/>
              <a:t>This query retrieves </a:t>
            </a:r>
            <a:r>
              <a:rPr lang="en-US" sz="1800" b="1"/>
              <a:t>locations and their labels</a:t>
            </a:r>
            <a:r>
              <a:rPr lang="en-US" sz="1800"/>
              <a:t> from an RDF graph, ordered by location.</a:t>
            </a:r>
            <a:endParaRPr/>
          </a:p>
          <a:p>
            <a:pPr marL="216000" lvl="0" indent="-216000" algn="l" rtl="0">
              <a:spcBef>
                <a:spcPts val="0"/>
              </a:spcBef>
              <a:spcAft>
                <a:spcPts val="0"/>
              </a:spcAft>
              <a:buClr>
                <a:schemeClr val="dk1"/>
              </a:buClr>
              <a:buSzPts val="1800"/>
              <a:buFont typeface="Arial"/>
              <a:buNone/>
              <a:defRPr/>
            </a:pPr>
            <a:endParaRPr lang="en-US" sz="1200" b="0" i="0" u="none" strike="noStrike" cap="none">
              <a:solidFill>
                <a:schemeClr val="dk1"/>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200" b="0" i="0" u="none" strike="noStrike" cap="none">
                <a:solidFill>
                  <a:schemeClr val="dk1"/>
                </a:solidFill>
                <a:latin typeface="Arial"/>
                <a:ea typeface="Arial"/>
                <a:cs typeface="Arial"/>
              </a:rPr>
              <a:t>SELECT ?l ?</a:t>
            </a:r>
            <a:r>
              <a:rPr lang="en-US" sz="1200" b="0" i="0" u="none" strike="noStrike" cap="none">
                <a:solidFill>
                  <a:schemeClr val="dk1"/>
                </a:solidFill>
                <a:latin typeface="Arial"/>
                <a:ea typeface="Arial"/>
                <a:cs typeface="Arial"/>
              </a:rPr>
              <a:t>lbl</a:t>
            </a:r>
            <a:r>
              <a:rPr lang="en-US" sz="1200" b="0" i="0" u="none" strike="noStrike" cap="none">
                <a:solidFill>
                  <a:schemeClr val="dk1"/>
                </a:solidFill>
                <a:latin typeface="Arial"/>
                <a:ea typeface="Arial"/>
                <a:cs typeface="Arial"/>
              </a:rPr>
              <a:t> </a:t>
            </a:r>
            <a:r>
              <a:rPr lang="en-US" sz="1800"/>
              <a:t>Returns two variables: the </a:t>
            </a:r>
            <a:r>
              <a:rPr lang="en-US" sz="1800" b="1"/>
              <a:t>location</a:t>
            </a:r>
            <a:r>
              <a:rPr lang="en-US" sz="1800"/>
              <a:t> (</a:t>
            </a:r>
            <a:r>
              <a:rPr lang="en-US" sz="1200" b="0" i="0" u="none" strike="noStrike" cap="none">
                <a:solidFill>
                  <a:schemeClr val="dk1"/>
                </a:solidFill>
                <a:latin typeface="Arial"/>
                <a:ea typeface="Arial"/>
                <a:cs typeface="Arial"/>
              </a:rPr>
              <a:t>?l</a:t>
            </a:r>
            <a:r>
              <a:rPr lang="en-US" sz="1800"/>
              <a:t>) and its </a:t>
            </a:r>
            <a:r>
              <a:rPr lang="en-US" sz="1800" b="1"/>
              <a:t>label</a:t>
            </a:r>
            <a:r>
              <a:rPr lang="en-US" sz="1800"/>
              <a:t> (</a:t>
            </a:r>
            <a:r>
              <a:rPr lang="en-US" sz="1200" b="0" i="0" u="none" strike="noStrike" cap="none">
                <a:solidFill>
                  <a:schemeClr val="dk1"/>
                </a:solidFill>
                <a:latin typeface="Arial"/>
                <a:ea typeface="Arial"/>
                <a:cs typeface="Arial"/>
              </a:rPr>
              <a:t>?</a:t>
            </a:r>
            <a:r>
              <a:rPr lang="en-US" sz="1200" b="0" i="0" u="none" strike="noStrike" cap="none">
                <a:solidFill>
                  <a:schemeClr val="dk1"/>
                </a:solidFill>
                <a:latin typeface="Arial"/>
                <a:ea typeface="Arial"/>
                <a:cs typeface="Arial"/>
              </a:rPr>
              <a:t>lbl</a:t>
            </a:r>
            <a:r>
              <a:rPr lang="en-US" sz="1800"/>
              <a:t>)</a:t>
            </a:r>
            <a:endParaRPr/>
          </a:p>
          <a:p>
            <a:pPr marL="216000" lvl="0" indent="-216000" algn="l" rtl="0">
              <a:spcBef>
                <a:spcPts val="0"/>
              </a:spcBef>
              <a:spcAft>
                <a:spcPts val="0"/>
              </a:spcAft>
              <a:buClr>
                <a:schemeClr val="dk1"/>
              </a:buClr>
              <a:buSzPts val="1800"/>
              <a:buFont typeface="Arial"/>
              <a:buNone/>
              <a:defRPr/>
            </a:pPr>
            <a:endParaRPr lang="en-US" sz="1200" b="0" i="0" u="none" strike="noStrike" cap="none">
              <a:solidFill>
                <a:schemeClr val="dk1"/>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200" b="0" i="0" u="none" strike="noStrike" cap="none">
                <a:solidFill>
                  <a:schemeClr val="dk1"/>
                </a:solidFill>
                <a:latin typeface="Arial"/>
                <a:ea typeface="Arial"/>
                <a:cs typeface="Arial"/>
              </a:rPr>
              <a:t>WHERE { ... } </a:t>
            </a:r>
            <a:r>
              <a:rPr lang="en-US" sz="1800"/>
              <a:t>Defines the search criteria within the RDF graph</a:t>
            </a:r>
            <a:endParaRPr/>
          </a:p>
          <a:p>
            <a:pPr marL="216000" lvl="0" indent="-216000" algn="l" rtl="0">
              <a:spcBef>
                <a:spcPts val="0"/>
              </a:spcBef>
              <a:spcAft>
                <a:spcPts val="0"/>
              </a:spcAft>
              <a:buClr>
                <a:schemeClr val="dk1"/>
              </a:buClr>
              <a:buSzPts val="1800"/>
              <a:buFont typeface="Arial"/>
              <a:buNone/>
              <a:defRPr/>
            </a:pPr>
            <a:endParaRPr lang="en-US" sz="1200" b="0" i="0" u="none" strike="noStrike" cap="none">
              <a:solidFill>
                <a:schemeClr val="dk1"/>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200" b="0" i="0" u="none" strike="noStrike" cap="none">
                <a:solidFill>
                  <a:schemeClr val="dk1"/>
                </a:solidFill>
                <a:latin typeface="Arial"/>
                <a:ea typeface="Arial"/>
                <a:cs typeface="Arial"/>
              </a:rPr>
              <a:t>?l a </a:t>
            </a:r>
            <a:r>
              <a:rPr lang="en-US" sz="1200" b="0" i="0" u="none" strike="noStrike" cap="none">
                <a:solidFill>
                  <a:schemeClr val="dk1"/>
                </a:solidFill>
                <a:latin typeface="Arial"/>
                <a:ea typeface="Arial"/>
                <a:cs typeface="Arial"/>
              </a:rPr>
              <a:t>emp:Location</a:t>
            </a:r>
            <a:r>
              <a:rPr lang="en-US" sz="1200" b="0" i="0" u="none" strike="noStrike" cap="none">
                <a:solidFill>
                  <a:schemeClr val="dk1"/>
                </a:solidFill>
                <a:latin typeface="Arial"/>
                <a:ea typeface="Arial"/>
                <a:cs typeface="Arial"/>
              </a:rPr>
              <a:t> </a:t>
            </a:r>
            <a:r>
              <a:rPr lang="en-US" sz="1800"/>
              <a:t>Filters only resources of type </a:t>
            </a:r>
            <a:r>
              <a:rPr lang="en-US" sz="1200" b="0" i="0" u="none" strike="noStrike" cap="none">
                <a:solidFill>
                  <a:schemeClr val="dk1"/>
                </a:solidFill>
                <a:latin typeface="Arial"/>
                <a:ea typeface="Arial"/>
                <a:cs typeface="Arial"/>
              </a:rPr>
              <a:t>emp:Location</a:t>
            </a:r>
            <a:r>
              <a:rPr lang="en-US" sz="1800"/>
              <a:t> </a:t>
            </a:r>
            <a:endParaRPr/>
          </a:p>
          <a:p>
            <a:pPr marL="216000" lvl="0" indent="-216000" algn="l" rtl="0">
              <a:spcBef>
                <a:spcPts val="0"/>
              </a:spcBef>
              <a:spcAft>
                <a:spcPts val="0"/>
              </a:spcAft>
              <a:buClr>
                <a:schemeClr val="dk1"/>
              </a:buClr>
              <a:buSzPts val="1800"/>
              <a:buFont typeface="Arial"/>
              <a:buNone/>
              <a:defRPr/>
            </a:pPr>
            <a:endParaRPr lang="en-US" sz="1800" b="0" i="0" u="none" strike="noStrike" cap="none">
              <a:solidFill>
                <a:schemeClr val="dk1"/>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200" b="0" i="0" u="none" strike="noStrike" cap="none">
                <a:solidFill>
                  <a:schemeClr val="dk1"/>
                </a:solidFill>
                <a:latin typeface="Arial"/>
                <a:ea typeface="Arial"/>
                <a:cs typeface="Arial"/>
              </a:rPr>
              <a:t>; </a:t>
            </a:r>
            <a:r>
              <a:rPr lang="en-US" sz="1800"/>
              <a:t>Chains multiple predicates on the same subject </a:t>
            </a:r>
            <a:endParaRPr/>
          </a:p>
          <a:p>
            <a:pPr marL="216000" lvl="0" indent="-216000" algn="l" rtl="0">
              <a:spcBef>
                <a:spcPts val="0"/>
              </a:spcBef>
              <a:spcAft>
                <a:spcPts val="0"/>
              </a:spcAft>
              <a:buClr>
                <a:schemeClr val="dk1"/>
              </a:buClr>
              <a:buSzPts val="1800"/>
              <a:buFont typeface="Arial"/>
              <a:buNone/>
              <a:defRPr/>
            </a:pPr>
            <a:endParaRPr lang="en-US" sz="1800" b="0" i="0" u="none" strike="noStrike" cap="none">
              <a:solidFill>
                <a:schemeClr val="dk1"/>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200" b="0" i="0" u="none" strike="noStrike" cap="none">
                <a:solidFill>
                  <a:schemeClr val="dk1"/>
                </a:solidFill>
                <a:latin typeface="Arial"/>
                <a:ea typeface="Arial"/>
                <a:cs typeface="Arial"/>
              </a:rPr>
              <a:t>rdfs:label</a:t>
            </a:r>
            <a:r>
              <a:rPr lang="en-US" sz="1200" b="0" i="0" u="none" strike="noStrike" cap="none">
                <a:solidFill>
                  <a:schemeClr val="dk1"/>
                </a:solidFill>
                <a:latin typeface="Arial"/>
                <a:ea typeface="Arial"/>
                <a:cs typeface="Arial"/>
              </a:rPr>
              <a:t> ?</a:t>
            </a:r>
            <a:r>
              <a:rPr lang="en-US" sz="1200" b="0" i="0" u="none" strike="noStrike" cap="none">
                <a:solidFill>
                  <a:schemeClr val="dk1"/>
                </a:solidFill>
                <a:latin typeface="Arial"/>
                <a:ea typeface="Arial"/>
                <a:cs typeface="Arial"/>
              </a:rPr>
              <a:t>lbl</a:t>
            </a:r>
            <a:r>
              <a:rPr lang="en-US" sz="1200" b="0" i="0" u="none" strike="noStrike" cap="none">
                <a:solidFill>
                  <a:schemeClr val="dk1"/>
                </a:solidFill>
                <a:latin typeface="Arial"/>
                <a:ea typeface="Arial"/>
                <a:cs typeface="Arial"/>
              </a:rPr>
              <a:t> </a:t>
            </a:r>
            <a:r>
              <a:rPr lang="en-US" sz="1800"/>
              <a:t>Retrieves the textual label associated with that resource</a:t>
            </a:r>
            <a:r>
              <a:rPr lang="en-US" sz="1200" b="0" i="0" u="none" strike="noStrike" cap="none">
                <a:solidFill>
                  <a:schemeClr val="dk1"/>
                </a:solidFill>
                <a:latin typeface="Arial"/>
                <a:cs typeface="Arial"/>
              </a:rPr>
              <a:t>, saves it in the ?</a:t>
            </a:r>
            <a:r>
              <a:rPr lang="en-US" sz="1200" b="0" i="0" u="none" strike="noStrike" cap="none">
                <a:solidFill>
                  <a:schemeClr val="dk1"/>
                </a:solidFill>
                <a:latin typeface="Arial"/>
                <a:cs typeface="Arial"/>
              </a:rPr>
              <a:t>lbl</a:t>
            </a:r>
            <a:r>
              <a:rPr lang="en-US" sz="1200" b="0" i="0" u="none" strike="noStrike" cap="none">
                <a:solidFill>
                  <a:schemeClr val="dk1"/>
                </a:solidFill>
                <a:latin typeface="Arial"/>
                <a:cs typeface="Arial"/>
              </a:rPr>
              <a:t> var and then gets outputted</a:t>
            </a:r>
            <a:endParaRPr lang="en-US" sz="1200" b="0" i="0" u="none" strike="noStrike" cap="none">
              <a:solidFill>
                <a:schemeClr val="dk1"/>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endParaRPr lang="en-US" sz="1200" b="0" i="0" u="none" strike="noStrike" cap="none">
              <a:solidFill>
                <a:schemeClr val="dk1"/>
              </a:solidFill>
              <a:latin typeface="Arial"/>
              <a:ea typeface="Arial"/>
              <a:cs typeface="Arial"/>
            </a:endParaRPr>
          </a:p>
          <a:p>
            <a:pPr marL="216000" lvl="0" indent="-216000" algn="l" rtl="0">
              <a:spcBef>
                <a:spcPts val="0"/>
              </a:spcBef>
              <a:spcAft>
                <a:spcPts val="0"/>
              </a:spcAft>
              <a:buClr>
                <a:schemeClr val="dk1"/>
              </a:buClr>
              <a:buSzPts val="1800"/>
              <a:buFont typeface="Arial"/>
              <a:buNone/>
              <a:defRPr/>
            </a:pPr>
            <a:r>
              <a:rPr lang="en-US" sz="1200" b="0" i="0" u="none" strike="noStrike" cap="none">
                <a:solidFill>
                  <a:schemeClr val="dk1"/>
                </a:solidFill>
                <a:latin typeface="Arial"/>
                <a:ea typeface="Arial"/>
                <a:cs typeface="Arial"/>
              </a:rPr>
              <a:t>ORDER BY ?l </a:t>
            </a:r>
            <a:r>
              <a:rPr lang="en-US" sz="1800"/>
              <a:t>Sorts results by the location’s URI/value</a:t>
            </a:r>
            <a:endParaRPr sz="1800" b="0" strike="noStrike">
              <a:solidFill>
                <a:srgbClr val="000000"/>
              </a:solidFill>
              <a:latin typeface="Arial"/>
              <a:ea typeface="Arial"/>
              <a:cs typeface="Arial"/>
            </a:endParaRPr>
          </a:p>
        </p:txBody>
      </p:sp>
      <p:sp>
        <p:nvSpPr>
          <p:cNvPr id="338153031" name="Google Shape;169;p7: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i="0" u="none" strike="noStrike" cap="none">
                <a:solidFill>
                  <a:schemeClr val="dk1"/>
                </a:solidFill>
                <a:latin typeface="Arial"/>
                <a:ea typeface="Arial"/>
                <a:cs typeface="Arial"/>
              </a:rPr>
              <a:t>7</a:t>
            </a:fld>
            <a:endParaRPr sz="1800" b="0" i="0" u="none" strike="noStrike" cap="none">
              <a:solidFill>
                <a:srgbClr val="000000"/>
              </a:solidFill>
              <a:latin typeface="Times New Roman"/>
              <a:ea typeface="Times New Roman"/>
              <a:cs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787833728" name="Google Shape;183;p8: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554672486" name="Google Shape;184;p8: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defRPr/>
            </a:pPr>
            <a:endParaRPr sz="1800" b="0" strike="noStrike">
              <a:solidFill>
                <a:srgbClr val="000000"/>
              </a:solidFill>
              <a:latin typeface="Arial"/>
              <a:ea typeface="Arial"/>
              <a:cs typeface="Arial"/>
            </a:endParaRPr>
          </a:p>
        </p:txBody>
      </p:sp>
      <p:sp>
        <p:nvSpPr>
          <p:cNvPr id="1928750527" name="Google Shape;185;p8: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i="0" u="none" strike="noStrike" cap="none">
                <a:solidFill>
                  <a:schemeClr val="dk1"/>
                </a:solidFill>
                <a:latin typeface="Arial"/>
                <a:ea typeface="Arial"/>
                <a:cs typeface="Arial"/>
              </a:rPr>
              <a:t>8</a:t>
            </a:fld>
            <a:endParaRPr sz="1800" b="0" i="0" u="none" strike="noStrike" cap="none">
              <a:solidFill>
                <a:srgbClr val="000000"/>
              </a:solidFill>
              <a:latin typeface="Times New Roman"/>
              <a:ea typeface="Times New Roman"/>
              <a:cs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976548370" name="Google Shape;196;p9: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48147023" name="Google Shape;197;p9: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0" lvl="0" indent="0" algn="l" rtl="0">
              <a:spcBef>
                <a:spcPts val="0"/>
              </a:spcBef>
              <a:spcAft>
                <a:spcPts val="0"/>
              </a:spcAft>
              <a:buNone/>
              <a:defRPr/>
            </a:pPr>
            <a:r>
              <a:rPr lang="en-US">
                <a:solidFill>
                  <a:srgbClr val="000000"/>
                </a:solidFill>
              </a:rPr>
              <a:t>Thank you, Edoardo, for illustrating the data architecture and the inner workings of our DaaS module.</a:t>
            </a:r>
            <a:endParaRPr/>
          </a:p>
          <a:p>
            <a:pPr marL="0" lvl="0" indent="0" algn="l" rtl="0">
              <a:spcBef>
                <a:spcPts val="0"/>
              </a:spcBef>
              <a:spcAft>
                <a:spcPts val="0"/>
              </a:spcAft>
              <a:buNone/>
              <a:defRPr/>
            </a:pPr>
            <a:r>
              <a:rPr lang="en-US">
                <a:solidFill>
                  <a:srgbClr val="000000"/>
                </a:solidFill>
              </a:rPr>
              <a:t>With my section, we enter the second pillar of our project: </a:t>
            </a:r>
            <a:r>
              <a:rPr lang="en-US" b="1">
                <a:solidFill>
                  <a:srgbClr val="000000"/>
                </a:solidFill>
              </a:rPr>
              <a:t>Ethics as a Service</a:t>
            </a:r>
            <a:r>
              <a:rPr lang="en-US">
                <a:solidFill>
                  <a:srgbClr val="000000"/>
                </a:solidFill>
              </a:rPr>
              <a:t>. As Edoardo just explained, managing large amounts of structured data offers extraordinary matching opportunities, but it also exposes us to massive risks regarding structural discrimination and regulatory violations.</a:t>
            </a:r>
            <a:endParaRPr/>
          </a:p>
          <a:p>
            <a:pPr marL="0" lvl="0" indent="0" algn="l" rtl="0">
              <a:spcBef>
                <a:spcPts val="0"/>
              </a:spcBef>
              <a:spcAft>
                <a:spcPts val="0"/>
              </a:spcAft>
              <a:buNone/>
              <a:defRPr/>
            </a:pPr>
            <a:r>
              <a:rPr lang="en-US">
                <a:solidFill>
                  <a:srgbClr val="000000"/>
                </a:solidFill>
              </a:rPr>
              <a:t>Our goal was not to build a simple data filter module, but to create an independent, fully decoupled microservice. The EaaS module was born to separate the computational logic of data storage from the logic of ethical and legal evaluation. In the next few slides, we will look in detail at how this architecture receives requests, how the policy engine applies rules, and the criteria we use to validate the compliance of a job recommendation.</a:t>
            </a:r>
            <a:endParaRPr/>
          </a:p>
        </p:txBody>
      </p:sp>
      <p:sp>
        <p:nvSpPr>
          <p:cNvPr id="442805631" name="Google Shape;198;p9: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i="0" u="none" strike="noStrike" cap="none">
                <a:solidFill>
                  <a:schemeClr val="dk1"/>
                </a:solidFill>
                <a:latin typeface="Arial"/>
                <a:ea typeface="Arial"/>
                <a:cs typeface="Arial"/>
              </a:rPr>
              <a:t>9</a:t>
            </a:fld>
            <a:endParaRPr sz="1800" b="0" i="0" u="none" strike="noStrike" cap="none">
              <a:solidFill>
                <a:srgbClr val="000000"/>
              </a:solidFill>
              <a:latin typeface="Times New Roman"/>
              <a:ea typeface="Times New Roman"/>
              <a:cs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777328042" name="Google Shape;205;p10: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472612027" name="Google Shape;206;p10: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0" lvl="0" indent="0" algn="l" rtl="0">
              <a:spcBef>
                <a:spcPts val="0"/>
              </a:spcBef>
              <a:spcAft>
                <a:spcPts val="0"/>
              </a:spcAft>
              <a:buNone/>
              <a:defRPr/>
            </a:pPr>
            <a:r>
              <a:rPr lang="en-US">
                <a:solidFill>
                  <a:srgbClr val="000000"/>
                </a:solidFill>
              </a:rPr>
              <a:t>To understand how the EaaS module works in practice, let's analyze its </a:t>
            </a:r>
            <a:r>
              <a:rPr lang="en-US" b="1">
                <a:solidFill>
                  <a:srgbClr val="000000"/>
                </a:solidFill>
              </a:rPr>
              <a:t>Evaluation Workflow</a:t>
            </a:r>
            <a:r>
              <a:rPr lang="en-US">
                <a:solidFill>
                  <a:srgbClr val="000000"/>
                </a:solidFill>
              </a:rPr>
              <a:t>, which is broken down into five steps.</a:t>
            </a:r>
            <a:endParaRPr/>
          </a:p>
          <a:p>
            <a:pPr marL="285750" lvl="0" indent="-285750" algn="l" rtl="0">
              <a:spcBef>
                <a:spcPts val="0"/>
              </a:spcBef>
              <a:spcAft>
                <a:spcPts val="0"/>
              </a:spcAft>
              <a:buClr>
                <a:srgbClr val="000000"/>
              </a:buClr>
              <a:buSzPts val="1200"/>
              <a:buFont typeface="Arial"/>
              <a:buChar char="•"/>
              <a:defRPr/>
            </a:pPr>
            <a:r>
              <a:rPr lang="en-US" b="1">
                <a:solidFill>
                  <a:srgbClr val="000000"/>
                </a:solidFill>
              </a:rPr>
              <a:t>Step 1: Structured Request.</a:t>
            </a:r>
            <a:r>
              <a:rPr lang="en-US">
                <a:solidFill>
                  <a:srgbClr val="000000"/>
                </a:solidFill>
              </a:rPr>
              <a:t> It all begins when the Client sends a formal request to the EaaS endpoint. Inside this JSON payload, specific metadata are outlined like the action to perform, the candidate ID, the job offer ID, the requester, the purpose, and a client-declared risk level.</a:t>
            </a:r>
            <a:endParaRPr/>
          </a:p>
          <a:p>
            <a:pPr marL="285750" lvl="0" indent="-285750" algn="l" rtl="0">
              <a:spcBef>
                <a:spcPts val="0"/>
              </a:spcBef>
              <a:spcAft>
                <a:spcPts val="0"/>
              </a:spcAft>
              <a:buClr>
                <a:srgbClr val="000000"/>
              </a:buClr>
              <a:buSzPts val="1200"/>
              <a:buFont typeface="Arial"/>
              <a:buChar char="•"/>
              <a:defRPr/>
            </a:pPr>
            <a:r>
              <a:rPr lang="en-US" b="1"/>
              <a:t>Step</a:t>
            </a:r>
            <a:r>
              <a:rPr lang="en-US" b="1">
                <a:solidFill>
                  <a:srgbClr val="000000"/>
                </a:solidFill>
              </a:rPr>
              <a:t> 2: Fetch Canonical Data from DaaS.</a:t>
            </a:r>
            <a:r>
              <a:rPr lang="en-US">
                <a:solidFill>
                  <a:srgbClr val="000000"/>
                </a:solidFill>
              </a:rPr>
              <a:t> This is a critical step from a security standpoint. The EaaS adheres to a strict principle: </a:t>
            </a:r>
            <a:r>
              <a:rPr lang="en-US" i="1">
                <a:solidFill>
                  <a:srgbClr val="000000"/>
                </a:solidFill>
              </a:rPr>
              <a:t>never trust the caller</a:t>
            </a:r>
            <a:r>
              <a:rPr lang="en-US">
                <a:solidFill>
                  <a:srgbClr val="000000"/>
                </a:solidFill>
              </a:rPr>
              <a:t>. To guarantee this the EaaS takes only the candidate and job IDs and directly queries the DaaS to retrieve the canonical, certified data straight from the RDF dataset. This prevents a malicious client from altering the candidate profile or the job data to bypass our ethical checks.</a:t>
            </a:r>
            <a:endParaRPr/>
          </a:p>
          <a:p>
            <a:pPr marL="285750" lvl="0" indent="-285750" algn="l" rtl="0">
              <a:spcBef>
                <a:spcPts val="0"/>
              </a:spcBef>
              <a:spcAft>
                <a:spcPts val="0"/>
              </a:spcAft>
              <a:buClr>
                <a:srgbClr val="000000"/>
              </a:buClr>
              <a:buSzPts val="1200"/>
              <a:buFont typeface="Arial"/>
              <a:buChar char="•"/>
              <a:defRPr/>
            </a:pPr>
            <a:r>
              <a:rPr lang="en-US" b="1"/>
              <a:t>Step</a:t>
            </a:r>
            <a:r>
              <a:rPr lang="en-US" b="1">
                <a:solidFill>
                  <a:srgbClr val="000000"/>
                </a:solidFill>
              </a:rPr>
              <a:t> 3: Case Analysis via the Policy Engine.</a:t>
            </a:r>
            <a:r>
              <a:rPr lang="en-US">
                <a:solidFill>
                  <a:srgbClr val="000000"/>
                </a:solidFill>
              </a:rPr>
              <a:t> Once the actual, immutable data is fetched, the policy engine starts. Each of our ethical policies is applied individually to the real data. The engine doesn't just perform a binary boolean check; it produces detailed "findings", mapping each potential violation to a specific severity level and its supporting evidence.</a:t>
            </a:r>
            <a:endParaRPr/>
          </a:p>
          <a:p>
            <a:pPr marL="285750" lvl="0" indent="-285750" algn="l" rtl="0">
              <a:spcBef>
                <a:spcPts val="0"/>
              </a:spcBef>
              <a:spcAft>
                <a:spcPts val="0"/>
              </a:spcAft>
              <a:buClr>
                <a:srgbClr val="000000"/>
              </a:buClr>
              <a:buSzPts val="1200"/>
              <a:buFont typeface="Arial"/>
              <a:buChar char="•"/>
              <a:defRPr/>
            </a:pPr>
            <a:r>
              <a:rPr lang="en-US" b="1"/>
              <a:t>Step</a:t>
            </a:r>
            <a:r>
              <a:rPr lang="en-US" b="1">
                <a:solidFill>
                  <a:srgbClr val="000000"/>
                </a:solidFill>
              </a:rPr>
              <a:t> 4: Governance Decision.</a:t>
            </a:r>
            <a:r>
              <a:rPr lang="en-US">
                <a:solidFill>
                  <a:srgbClr val="000000"/>
                </a:solidFill>
              </a:rPr>
              <a:t> At the end of the analysis, the Decision Maker aggregates all gathered findings. The final verdict is calculated based on the maximum severity found: an extreme violation leads to a </a:t>
            </a:r>
            <a:r>
              <a:rPr lang="en-US" i="1">
                <a:solidFill>
                  <a:srgbClr val="000000"/>
                </a:solidFill>
              </a:rPr>
              <a:t>CRITICAL REJECT</a:t>
            </a:r>
            <a:r>
              <a:rPr lang="en-US">
                <a:solidFill>
                  <a:srgbClr val="000000"/>
                </a:solidFill>
              </a:rPr>
              <a:t>; high-severity issues trigger an </a:t>
            </a:r>
            <a:r>
              <a:rPr lang="en-US" i="1">
                <a:solidFill>
                  <a:srgbClr val="000000"/>
                </a:solidFill>
              </a:rPr>
              <a:t>HIGH ESCALATE</a:t>
            </a:r>
            <a:r>
              <a:rPr lang="en-US">
                <a:solidFill>
                  <a:srgbClr val="000000"/>
                </a:solidFill>
              </a:rPr>
              <a:t>; minor anomalies result in a </a:t>
            </a:r>
            <a:r>
              <a:rPr lang="en-US" i="1">
                <a:solidFill>
                  <a:srgbClr val="000000"/>
                </a:solidFill>
              </a:rPr>
              <a:t>MEDIUM REVISE</a:t>
            </a:r>
            <a:r>
              <a:rPr lang="en-US">
                <a:solidFill>
                  <a:srgbClr val="000000"/>
                </a:solidFill>
              </a:rPr>
              <a:t>; and if no policies are triggered, the system grants a green light, resulting in a </a:t>
            </a:r>
            <a:r>
              <a:rPr lang="en-US" i="1">
                <a:solidFill>
                  <a:srgbClr val="000000"/>
                </a:solidFill>
              </a:rPr>
              <a:t>PROCEED</a:t>
            </a:r>
            <a:r>
              <a:rPr lang="en-US">
                <a:solidFill>
                  <a:srgbClr val="000000"/>
                </a:solidFill>
              </a:rPr>
              <a:t> status.</a:t>
            </a:r>
            <a:endParaRPr/>
          </a:p>
          <a:p>
            <a:pPr marL="285750" lvl="0" indent="-285750" algn="l" rtl="0">
              <a:spcBef>
                <a:spcPts val="0"/>
              </a:spcBef>
              <a:spcAft>
                <a:spcPts val="0"/>
              </a:spcAft>
              <a:buClr>
                <a:srgbClr val="000000"/>
              </a:buClr>
              <a:buSzPts val="1200"/>
              <a:buFont typeface="Arial"/>
              <a:buChar char="•"/>
              <a:defRPr/>
            </a:pPr>
            <a:r>
              <a:rPr lang="en-US" b="1"/>
              <a:t>Step</a:t>
            </a:r>
            <a:r>
              <a:rPr lang="en-US" b="1">
                <a:solidFill>
                  <a:srgbClr val="000000"/>
                </a:solidFill>
              </a:rPr>
              <a:t> 5: Audit and Response</a:t>
            </a:r>
            <a:r>
              <a:rPr lang="en-US">
                <a:solidFill>
                  <a:srgbClr val="000000"/>
                </a:solidFill>
              </a:rPr>
              <a:t>. At the end of all the previous steps an AuditRecord is generated, saved permanently to disk in JSONL format. The client then receives a complete response containing the final decision, full provenance tracking, and any required corrective actions. </a:t>
            </a:r>
            <a:r>
              <a:rPr lang="en-US"/>
              <a:t>This final step guarantees absolute system transparency and accountability</a:t>
            </a:r>
            <a:endParaRPr/>
          </a:p>
        </p:txBody>
      </p:sp>
      <p:sp>
        <p:nvSpPr>
          <p:cNvPr id="111409773" name="Google Shape;207;p10: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i="0" u="none" strike="noStrike" cap="none">
                <a:solidFill>
                  <a:schemeClr val="dk1"/>
                </a:solidFill>
                <a:latin typeface="Arial"/>
                <a:ea typeface="Arial"/>
                <a:cs typeface="Arial"/>
              </a:rPr>
              <a:t>10</a:t>
            </a:fld>
            <a:endParaRPr sz="1800" b="0" i="0" u="none" strike="noStrike" cap="none">
              <a:solidFill>
                <a:srgbClr val="000000"/>
              </a:solidFill>
              <a:latin typeface="Times New Roman"/>
              <a:ea typeface="Times New Roman"/>
              <a:cs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628420352" name="Google Shape;244;p11: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452882504" name="Google Shape;245;p11: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0" lvl="0" indent="0" algn="l" rtl="0">
              <a:spcBef>
                <a:spcPts val="0"/>
              </a:spcBef>
              <a:spcAft>
                <a:spcPts val="0"/>
              </a:spcAft>
              <a:buNone/>
              <a:defRPr/>
            </a:pPr>
            <a:r>
              <a:rPr lang="en-US">
                <a:solidFill>
                  <a:srgbClr val="000000"/>
                </a:solidFill>
              </a:rPr>
              <a:t>Let's now see how this structure translates into the actual software implementation by looking closely at an </a:t>
            </a:r>
            <a:r>
              <a:rPr lang="en-US" b="1">
                <a:solidFill>
                  <a:srgbClr val="000000"/>
                </a:solidFill>
              </a:rPr>
              <a:t>EvaluationRequest</a:t>
            </a:r>
            <a:r>
              <a:rPr lang="en-US">
                <a:solidFill>
                  <a:srgbClr val="000000"/>
                </a:solidFill>
              </a:rPr>
              <a:t> via a real JSON payload.</a:t>
            </a:r>
            <a:endParaRPr/>
          </a:p>
          <a:p>
            <a:pPr marL="457200" lvl="0" indent="-317500" algn="l" rtl="0">
              <a:spcBef>
                <a:spcPts val="0"/>
              </a:spcBef>
              <a:spcAft>
                <a:spcPts val="0"/>
              </a:spcAft>
              <a:buClr>
                <a:srgbClr val="000000"/>
              </a:buClr>
              <a:buSzPts val="1400"/>
              <a:buChar char="-"/>
              <a:defRPr/>
            </a:pPr>
            <a:r>
              <a:rPr lang="en-US">
                <a:solidFill>
                  <a:srgbClr val="000000"/>
                </a:solidFill>
              </a:rPr>
              <a:t>As you can see, the structure is clean and strongly typed. We find the "action" field, which is set to "recommend-job", defining the nature of the operation. </a:t>
            </a:r>
            <a:endParaRPr>
              <a:solidFill>
                <a:srgbClr val="000000"/>
              </a:solidFill>
            </a:endParaRPr>
          </a:p>
          <a:p>
            <a:pPr marL="457200" lvl="0" indent="-317500" algn="l" rtl="0">
              <a:spcBef>
                <a:spcPts val="0"/>
              </a:spcBef>
              <a:spcAft>
                <a:spcPts val="0"/>
              </a:spcAft>
              <a:buClr>
                <a:srgbClr val="000000"/>
              </a:buClr>
              <a:buSzPts val="1400"/>
              <a:buChar char="-"/>
              <a:defRPr/>
            </a:pPr>
            <a:r>
              <a:rPr lang="en-US">
                <a:solidFill>
                  <a:srgbClr val="000000"/>
                </a:solidFill>
              </a:rPr>
              <a:t>Next, we have the "candidateId" and "jobId" keys. As I told before, these IDs are the only hooks EaaS will use to trigger the backend call toward the DaaS module.</a:t>
            </a:r>
            <a:endParaRPr/>
          </a:p>
          <a:p>
            <a:pPr marL="457200" lvl="0" indent="-317500" algn="l" rtl="0">
              <a:spcBef>
                <a:spcPts val="0"/>
              </a:spcBef>
              <a:spcAft>
                <a:spcPts val="0"/>
              </a:spcAft>
              <a:buClr>
                <a:srgbClr val="000000"/>
              </a:buClr>
              <a:buSzPts val="1400"/>
              <a:buChar char="-"/>
              <a:defRPr/>
            </a:pPr>
            <a:r>
              <a:rPr lang="en-US">
                <a:solidFill>
                  <a:srgbClr val="000000"/>
                </a:solidFill>
              </a:rPr>
              <a:t>The nets fields are "requester", set to the client user and "purpose", which describes the scope of the request, such as "show recommendation". These two parameters are vital for meeting transparency requirements under current regulations, ensuring we always know who initiated the action and for what purpose.</a:t>
            </a:r>
            <a:endParaRPr/>
          </a:p>
          <a:p>
            <a:pPr marL="457200" lvl="0" indent="-317500" algn="l" rtl="0">
              <a:spcBef>
                <a:spcPts val="0"/>
              </a:spcBef>
              <a:spcAft>
                <a:spcPts val="0"/>
              </a:spcAft>
              <a:buClr>
                <a:srgbClr val="000000"/>
              </a:buClr>
              <a:buSzPts val="1400"/>
              <a:buChar char="-"/>
              <a:defRPr/>
            </a:pPr>
            <a:r>
              <a:rPr lang="en-US">
                <a:solidFill>
                  <a:srgbClr val="000000"/>
                </a:solidFill>
              </a:rPr>
              <a:t>Finally, I would like to direct your attention to the very last field: "declaredRisk": "LOW". As said before, the EaaS module </a:t>
            </a:r>
            <a:r>
              <a:rPr lang="en-US" b="1">
                <a:solidFill>
                  <a:srgbClr val="000000"/>
                </a:solidFill>
              </a:rPr>
              <a:t>completely disregards this field</a:t>
            </a:r>
            <a:r>
              <a:rPr lang="en-US">
                <a:solidFill>
                  <a:srgbClr val="000000"/>
                </a:solidFill>
              </a:rPr>
              <a:t>. Because our application embraces a paradigm of autonomous and decentralized validation, so this self-declared risk from the client side is treated as untrusted. EaaS recalculates the risk level entirely on its own based solely on the execution of its internal rules, neutralizing any attempt at fraudulent certification or tempering by the client application.</a:t>
            </a:r>
            <a:endParaRPr/>
          </a:p>
        </p:txBody>
      </p:sp>
      <p:sp>
        <p:nvSpPr>
          <p:cNvPr id="1659531618" name="Google Shape;246;p11: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i="0" u="none" strike="noStrike" cap="none">
                <a:solidFill>
                  <a:schemeClr val="dk1"/>
                </a:solidFill>
                <a:latin typeface="Arial"/>
                <a:ea typeface="Arial"/>
                <a:cs typeface="Arial"/>
              </a:rPr>
              <a:t>11</a:t>
            </a:fld>
            <a:endParaRPr sz="1800" b="0" i="0" u="none" strike="noStrike" cap="none">
              <a:solidFill>
                <a:srgbClr val="000000"/>
              </a:solidFill>
              <a:latin typeface="Times New Roman"/>
              <a:ea typeface="Times New Roman"/>
              <a:cs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645901455" name="Google Shape;264;p12: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57710621" name="Google Shape;265;p12: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0" lvl="0" indent="0" algn="l" rtl="0">
              <a:spcBef>
                <a:spcPts val="0"/>
              </a:spcBef>
              <a:spcAft>
                <a:spcPts val="0"/>
              </a:spcAft>
              <a:buNone/>
              <a:defRPr/>
            </a:pPr>
            <a:r>
              <a:rPr lang="en-US">
                <a:solidFill>
                  <a:srgbClr val="000000"/>
                </a:solidFill>
              </a:rPr>
              <a:t>We have formalized and implemented </a:t>
            </a:r>
            <a:r>
              <a:rPr lang="en-US" b="1">
                <a:solidFill>
                  <a:srgbClr val="000000"/>
                </a:solidFill>
              </a:rPr>
              <a:t>4 distinct Ethical Policies</a:t>
            </a:r>
            <a:r>
              <a:rPr lang="en-US">
                <a:solidFill>
                  <a:srgbClr val="000000"/>
                </a:solidFill>
              </a:rPr>
              <a:t>, one for each severity tiers. These policies reside in external JSON files, allowing us to dynamically update regulatory thresholds and parameters without modifying the core Java engine.</a:t>
            </a:r>
            <a:endParaRPr/>
          </a:p>
          <a:p>
            <a:pPr marL="285750" lvl="0" indent="-285750" algn="l" rtl="0">
              <a:spcBef>
                <a:spcPts val="0"/>
              </a:spcBef>
              <a:spcAft>
                <a:spcPts val="0"/>
              </a:spcAft>
              <a:buClr>
                <a:srgbClr val="000000"/>
              </a:buClr>
              <a:buSzPts val="1200"/>
              <a:buFont typeface="Arial"/>
              <a:buChar char="•"/>
              <a:defRPr/>
            </a:pPr>
            <a:r>
              <a:rPr lang="en-US">
                <a:solidFill>
                  <a:srgbClr val="000000"/>
                </a:solidFill>
              </a:rPr>
              <a:t>Our first policy, with a </a:t>
            </a:r>
            <a:r>
              <a:rPr lang="en-US" b="1">
                <a:solidFill>
                  <a:srgbClr val="000000"/>
                </a:solidFill>
              </a:rPr>
              <a:t>CRITICAL</a:t>
            </a:r>
            <a:r>
              <a:rPr lang="en-US">
                <a:solidFill>
                  <a:srgbClr val="000000"/>
                </a:solidFill>
              </a:rPr>
              <a:t> severity tier, is a </a:t>
            </a:r>
            <a:r>
              <a:rPr lang="en-US" i="1">
                <a:solidFill>
                  <a:srgbClr val="000000"/>
                </a:solidFill>
              </a:rPr>
              <a:t>Discriminatory Proxies</a:t>
            </a:r>
            <a:r>
              <a:rPr lang="en-US">
                <a:solidFill>
                  <a:srgbClr val="000000"/>
                </a:solidFill>
              </a:rPr>
              <a:t>. This rule strictly forbids the evaluation of explicit exclusion criteria based on fixed age ranges, gender preferences, or unjustified nationality requirements within job offers. From a legal compliance perspective, this policy aligns with the Italian Legislative Decree 198 of 2006 (the Equal Opportunities Code) and the European Directive 2000/78/EC for equal treatment in employment.</a:t>
            </a:r>
            <a:endParaRPr/>
          </a:p>
          <a:p>
            <a:pPr marL="285750" lvl="0" indent="-285750" algn="l" rtl="0">
              <a:spcBef>
                <a:spcPts val="0"/>
              </a:spcBef>
              <a:spcAft>
                <a:spcPts val="0"/>
              </a:spcAft>
              <a:buClr>
                <a:srgbClr val="000000"/>
              </a:buClr>
              <a:buSzPts val="1200"/>
              <a:buFont typeface="Arial"/>
              <a:buChar char="•"/>
              <a:defRPr/>
            </a:pPr>
            <a:r>
              <a:rPr lang="en-US">
                <a:solidFill>
                  <a:srgbClr val="000000"/>
                </a:solidFill>
              </a:rPr>
              <a:t>Moving to the </a:t>
            </a:r>
            <a:r>
              <a:rPr lang="en-US" b="1">
                <a:solidFill>
                  <a:srgbClr val="000000"/>
                </a:solidFill>
              </a:rPr>
              <a:t>HIGH</a:t>
            </a:r>
            <a:r>
              <a:rPr lang="en-US">
                <a:solidFill>
                  <a:srgbClr val="000000"/>
                </a:solidFill>
              </a:rPr>
              <a:t> tier, we find </a:t>
            </a:r>
            <a:r>
              <a:rPr lang="en-US" i="1">
                <a:solidFill>
                  <a:srgbClr val="000000"/>
                </a:solidFill>
              </a:rPr>
              <a:t>Provenance &amp; Data Quality</a:t>
            </a:r>
            <a:r>
              <a:rPr lang="en-US">
                <a:solidFill>
                  <a:srgbClr val="000000"/>
                </a:solidFill>
              </a:rPr>
              <a:t>. The principle here is that the ethical reliability of a recommendation depends on the integrity of its source. The system trusts certified sources, such as direct company portals or controlled synthetic datasets. However, if an offer comes from unverified channels, such as a third-party scraper or an unknown source, it instantly triggers an </a:t>
            </a:r>
            <a:r>
              <a:rPr lang="en-US" i="1">
                <a:solidFill>
                  <a:srgbClr val="000000"/>
                </a:solidFill>
              </a:rPr>
              <a:t>ESCALATE</a:t>
            </a:r>
            <a:r>
              <a:rPr lang="en-US">
                <a:solidFill>
                  <a:srgbClr val="000000"/>
                </a:solidFill>
              </a:rPr>
              <a:t> flag, demanding human oversight.</a:t>
            </a:r>
            <a:endParaRPr/>
          </a:p>
          <a:p>
            <a:pPr marL="285750" lvl="0" indent="-285750" algn="l" rtl="0">
              <a:spcBef>
                <a:spcPts val="0"/>
              </a:spcBef>
              <a:spcAft>
                <a:spcPts val="0"/>
              </a:spcAft>
              <a:buClr>
                <a:srgbClr val="000000"/>
              </a:buClr>
              <a:buSzPts val="1200"/>
              <a:buFont typeface="Arial"/>
              <a:buChar char="•"/>
              <a:defRPr/>
            </a:pPr>
            <a:r>
              <a:rPr lang="en-US">
                <a:solidFill>
                  <a:srgbClr val="000000"/>
                </a:solidFill>
              </a:rPr>
              <a:t>The third policy at the </a:t>
            </a:r>
            <a:r>
              <a:rPr lang="en-US" b="1">
                <a:solidFill>
                  <a:srgbClr val="000000"/>
                </a:solidFill>
              </a:rPr>
              <a:t>MEDIUM</a:t>
            </a:r>
            <a:r>
              <a:rPr lang="en-US">
                <a:solidFill>
                  <a:srgbClr val="000000"/>
                </a:solidFill>
              </a:rPr>
              <a:t> severity tier is called </a:t>
            </a:r>
            <a:r>
              <a:rPr lang="en-US" i="1">
                <a:solidFill>
                  <a:srgbClr val="000000"/>
                </a:solidFill>
              </a:rPr>
              <a:t>Accessibility &amp; Disability</a:t>
            </a:r>
            <a:r>
              <a:rPr lang="en-US">
                <a:solidFill>
                  <a:srgbClr val="000000"/>
                </a:solidFill>
              </a:rPr>
              <a:t>. This rule dictates that if a candidate's profile flags a disability, the recommended job offer must explicitly carry a "disabilityFriendly" tag. If this matching requirement is not met, the system forces a </a:t>
            </a:r>
            <a:r>
              <a:rPr lang="en-US" i="1">
                <a:solidFill>
                  <a:srgbClr val="000000"/>
                </a:solidFill>
              </a:rPr>
              <a:t>REVISE</a:t>
            </a:r>
            <a:r>
              <a:rPr lang="en-US">
                <a:solidFill>
                  <a:srgbClr val="000000"/>
                </a:solidFill>
              </a:rPr>
              <a:t> state, flagging the recommendation for lacking inclusivity. The legal frameworks referenced here are Article 27 of the UN Convention on the Rights of Persons with Disabilities and the Italian Law 68 of 1999 concerning the right to work for disabled individuals.</a:t>
            </a:r>
            <a:endParaRPr/>
          </a:p>
          <a:p>
            <a:pPr marL="285750" lvl="0" indent="-285750" algn="l" rtl="0">
              <a:spcBef>
                <a:spcPts val="0"/>
              </a:spcBef>
              <a:spcAft>
                <a:spcPts val="0"/>
              </a:spcAft>
              <a:buClr>
                <a:srgbClr val="000000"/>
              </a:buClr>
              <a:buSzPts val="1200"/>
              <a:buFont typeface="Arial"/>
              <a:buChar char="•"/>
              <a:defRPr/>
            </a:pPr>
            <a:r>
              <a:rPr lang="en-US">
                <a:solidFill>
                  <a:srgbClr val="000000"/>
                </a:solidFill>
              </a:rPr>
              <a:t>Lastly, at the </a:t>
            </a:r>
            <a:r>
              <a:rPr lang="en-US" b="1">
                <a:solidFill>
                  <a:srgbClr val="000000"/>
                </a:solidFill>
              </a:rPr>
              <a:t>LOW</a:t>
            </a:r>
            <a:r>
              <a:rPr lang="en-US">
                <a:solidFill>
                  <a:srgbClr val="000000"/>
                </a:solidFill>
              </a:rPr>
              <a:t> severity tier, we have </a:t>
            </a:r>
            <a:r>
              <a:rPr lang="en-US" i="1">
                <a:solidFill>
                  <a:srgbClr val="000000"/>
                </a:solidFill>
              </a:rPr>
              <a:t>Transparency &amp; Purpose</a:t>
            </a:r>
            <a:r>
              <a:rPr lang="en-US">
                <a:solidFill>
                  <a:srgbClr val="000000"/>
                </a:solidFill>
              </a:rPr>
              <a:t>. This rule verifies the actual presence of the requester identity and the purpose fields that we looked in the previous slide. If these fields are omitted, the recommendation loses the basic transparency requirements mandated by Articles 13 and 22 of the GDPR, triggering a low-level risk alert.</a:t>
            </a:r>
            <a:endParaRPr/>
          </a:p>
        </p:txBody>
      </p:sp>
      <p:sp>
        <p:nvSpPr>
          <p:cNvPr id="1025179379" name="Google Shape;266;p12: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i="0" u="none" strike="noStrike" cap="none">
                <a:solidFill>
                  <a:schemeClr val="dk1"/>
                </a:solidFill>
                <a:latin typeface="Arial"/>
                <a:ea typeface="Arial"/>
                <a:cs typeface="Arial"/>
              </a:rPr>
              <a:t>12</a:t>
            </a:fld>
            <a:endParaRPr sz="1800" b="0" i="0" u="none" strike="noStrike" cap="none">
              <a:solidFill>
                <a:srgbClr val="000000"/>
              </a:solidFill>
              <a:latin typeface="Times New Roman"/>
              <a:ea typeface="Times New Roman"/>
              <a:cs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990773646" name="Google Shape;298;p13: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396036418" name="Google Shape;299;p13: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0" lvl="0" indent="0" algn="l" rtl="0">
              <a:spcBef>
                <a:spcPts val="0"/>
              </a:spcBef>
              <a:spcAft>
                <a:spcPts val="0"/>
              </a:spcAft>
              <a:buNone/>
              <a:defRPr/>
            </a:pPr>
            <a:r>
              <a:rPr lang="en-US">
                <a:solidFill>
                  <a:srgbClr val="000000"/>
                </a:solidFill>
              </a:rPr>
              <a:t>To test our Policy Engine in pseudo real-world conditions, we didn't just stick to ideal, clean scenarios. We intentionally injected several "problematic" job offers into our synthetic RDF dataset, embedding clear ethical anti-patterns designed to put our policies to the test.</a:t>
            </a:r>
            <a:endParaRPr/>
          </a:p>
          <a:p>
            <a:pPr marL="285750" lvl="0" indent="-285750" algn="l" rtl="0">
              <a:spcBef>
                <a:spcPts val="0"/>
              </a:spcBef>
              <a:spcAft>
                <a:spcPts val="0"/>
              </a:spcAft>
              <a:buClr>
                <a:srgbClr val="000000"/>
              </a:buClr>
              <a:buSzPts val="1200"/>
              <a:buFont typeface="Arial"/>
              <a:buChar char="•"/>
              <a:defRPr/>
            </a:pPr>
            <a:r>
              <a:rPr lang="en-US">
                <a:solidFill>
                  <a:srgbClr val="000000"/>
                </a:solidFill>
              </a:rPr>
              <a:t>Job offer </a:t>
            </a:r>
            <a:r>
              <a:rPr lang="en-US" b="1">
                <a:solidFill>
                  <a:srgbClr val="000000"/>
                </a:solidFill>
              </a:rPr>
              <a:t>003</a:t>
            </a:r>
            <a:r>
              <a:rPr lang="en-US">
                <a:solidFill>
                  <a:srgbClr val="000000"/>
                </a:solidFill>
              </a:rPr>
              <a:t>, titled </a:t>
            </a:r>
            <a:r>
              <a:rPr lang="en-US" i="1">
                <a:solidFill>
                  <a:srgbClr val="000000"/>
                </a:solidFill>
              </a:rPr>
              <a:t>"Junior Frontend Dev"</a:t>
            </a:r>
            <a:r>
              <a:rPr lang="en-US">
                <a:solidFill>
                  <a:srgbClr val="000000"/>
                </a:solidFill>
              </a:rPr>
              <a:t>, contains a critical flaw: a maximum age limit capped at 30 years. This represents a blatant case of </a:t>
            </a:r>
            <a:r>
              <a:rPr lang="en-US" i="1">
                <a:solidFill>
                  <a:srgbClr val="000000"/>
                </a:solidFill>
              </a:rPr>
              <a:t>Ageism</a:t>
            </a:r>
            <a:r>
              <a:rPr lang="en-US">
                <a:solidFill>
                  <a:srgbClr val="000000"/>
                </a:solidFill>
              </a:rPr>
              <a:t>, designed specifically to trigger our Discriminatory proxy.</a:t>
            </a:r>
            <a:endParaRPr/>
          </a:p>
          <a:p>
            <a:pPr marL="285750" lvl="0" indent="-285750" algn="l" rtl="0">
              <a:spcBef>
                <a:spcPts val="0"/>
              </a:spcBef>
              <a:spcAft>
                <a:spcPts val="0"/>
              </a:spcAft>
              <a:buClr>
                <a:srgbClr val="000000"/>
              </a:buClr>
              <a:buSzPts val="1200"/>
              <a:buFont typeface="Arial"/>
              <a:buChar char="•"/>
              <a:defRPr/>
            </a:pPr>
            <a:r>
              <a:rPr lang="en-US">
                <a:solidFill>
                  <a:srgbClr val="000000"/>
                </a:solidFill>
              </a:rPr>
              <a:t>Job offer </a:t>
            </a:r>
            <a:r>
              <a:rPr lang="en-US" b="1">
                <a:solidFill>
                  <a:srgbClr val="000000"/>
                </a:solidFill>
              </a:rPr>
              <a:t>004</a:t>
            </a:r>
            <a:r>
              <a:rPr lang="en-US">
                <a:solidFill>
                  <a:srgbClr val="000000"/>
                </a:solidFill>
              </a:rPr>
              <a:t>, for a </a:t>
            </a:r>
            <a:r>
              <a:rPr lang="en-US" i="1">
                <a:solidFill>
                  <a:srgbClr val="000000"/>
                </a:solidFill>
              </a:rPr>
              <a:t>"Logistics Manager"</a:t>
            </a:r>
            <a:r>
              <a:rPr lang="en-US">
                <a:solidFill>
                  <a:srgbClr val="000000"/>
                </a:solidFill>
              </a:rPr>
              <a:t> role, has its gender preference property rigidly set to "male". This allows us to test direct gender discrimination.</a:t>
            </a:r>
            <a:endParaRPr/>
          </a:p>
          <a:p>
            <a:pPr marL="285750" lvl="0" indent="-285750" algn="l" rtl="0">
              <a:spcBef>
                <a:spcPts val="0"/>
              </a:spcBef>
              <a:spcAft>
                <a:spcPts val="0"/>
              </a:spcAft>
              <a:buClr>
                <a:srgbClr val="000000"/>
              </a:buClr>
              <a:buSzPts val="1200"/>
              <a:buFont typeface="Arial"/>
              <a:buChar char="•"/>
              <a:defRPr/>
            </a:pPr>
            <a:r>
              <a:rPr lang="en-US">
                <a:solidFill>
                  <a:srgbClr val="000000"/>
                </a:solidFill>
              </a:rPr>
              <a:t>For job </a:t>
            </a:r>
            <a:r>
              <a:rPr lang="en-US" b="1">
                <a:solidFill>
                  <a:srgbClr val="000000"/>
                </a:solidFill>
              </a:rPr>
              <a:t>008 </a:t>
            </a:r>
            <a:r>
              <a:rPr lang="en-US">
                <a:solidFill>
                  <a:srgbClr val="000000"/>
                </a:solidFill>
              </a:rPr>
              <a:t>we introduced the constraint nationality requirement set to Italian. This serves to evaluate nationality-based discrimination, which is a highly sensitive factor in both public and private contracts.</a:t>
            </a:r>
            <a:endParaRPr/>
          </a:p>
          <a:p>
            <a:pPr marL="285750" lvl="0" indent="-285750" algn="l" rtl="0">
              <a:spcBef>
                <a:spcPts val="0"/>
              </a:spcBef>
              <a:spcAft>
                <a:spcPts val="0"/>
              </a:spcAft>
              <a:buClr>
                <a:srgbClr val="000000"/>
              </a:buClr>
              <a:buSzPts val="1200"/>
              <a:buFont typeface="Arial"/>
              <a:buChar char="•"/>
              <a:defRPr/>
            </a:pPr>
            <a:r>
              <a:rPr lang="en-US">
                <a:solidFill>
                  <a:srgbClr val="000000"/>
                </a:solidFill>
              </a:rPr>
              <a:t>Another variation of age discrimination can be seen in job </a:t>
            </a:r>
            <a:r>
              <a:rPr lang="en-US" b="1">
                <a:solidFill>
                  <a:srgbClr val="000000"/>
                </a:solidFill>
              </a:rPr>
              <a:t>016</a:t>
            </a:r>
            <a:r>
              <a:rPr lang="en-US">
                <a:solidFill>
                  <a:srgbClr val="000000"/>
                </a:solidFill>
              </a:rPr>
              <a:t>, where an extremely narrow age band was defined, restricting candidates to between 20 and 26 years of age. This record further stresses our defenses against generational bias.</a:t>
            </a:r>
            <a:endParaRPr/>
          </a:p>
          <a:p>
            <a:pPr marL="285750" lvl="0" indent="-285750" algn="l" rtl="0">
              <a:spcBef>
                <a:spcPts val="0"/>
              </a:spcBef>
              <a:spcAft>
                <a:spcPts val="0"/>
              </a:spcAft>
              <a:buClr>
                <a:srgbClr val="000000"/>
              </a:buClr>
              <a:buSzPts val="1200"/>
              <a:buFont typeface="Arial"/>
              <a:buChar char="•"/>
              <a:defRPr/>
            </a:pPr>
            <a:r>
              <a:rPr lang="en-US">
                <a:solidFill>
                  <a:srgbClr val="000000"/>
                </a:solidFill>
              </a:rPr>
              <a:t>Finally, to evaluate our data quality and provenance metrics, we included job offer </a:t>
            </a:r>
            <a:r>
              <a:rPr lang="en-US" b="1">
                <a:solidFill>
                  <a:srgbClr val="000000"/>
                </a:solidFill>
              </a:rPr>
              <a:t>012</a:t>
            </a:r>
            <a:r>
              <a:rPr lang="en-US">
                <a:solidFill>
                  <a:srgbClr val="000000"/>
                </a:solidFill>
              </a:rPr>
              <a:t>. This posting leaves the salary field completely missing and sets its source value to "unknown". This record immediately activates the Provenance and Data Quality policy, pushing the system into an escalation state.</a:t>
            </a:r>
            <a:endParaRPr/>
          </a:p>
          <a:p>
            <a:pPr marL="0" lvl="0" indent="0" algn="l" rtl="0">
              <a:spcBef>
                <a:spcPts val="0"/>
              </a:spcBef>
              <a:spcAft>
                <a:spcPts val="0"/>
              </a:spcAft>
              <a:buNone/>
              <a:defRPr/>
            </a:pPr>
            <a:r>
              <a:rPr lang="en-US">
                <a:solidFill>
                  <a:srgbClr val="000000"/>
                </a:solidFill>
              </a:rPr>
              <a:t>By utilizing this highly polarized dataset, we can shown that the EaaS module is capable of intercepting every single regulatory deviation before it can reach the candidate's final recommendation list.</a:t>
            </a:r>
            <a:endParaRPr/>
          </a:p>
          <a:p>
            <a:pPr marL="0" lvl="0" indent="0" algn="l" rtl="0">
              <a:spcBef>
                <a:spcPts val="0"/>
              </a:spcBef>
              <a:spcAft>
                <a:spcPts val="0"/>
              </a:spcAft>
              <a:buNone/>
              <a:defRPr/>
            </a:pPr>
            <a:r>
              <a:rPr lang="en-US">
                <a:solidFill>
                  <a:srgbClr val="000000"/>
                </a:solidFill>
              </a:rPr>
              <a:t>I will now hand over the presentation to Federico, who will show you how these decisions and findings are immutably logged within the Audit Trail, and how the DaaS and EaaS modules seamlessly cooperate within the overall system. Thank you.</a:t>
            </a:r>
            <a:endParaRPr/>
          </a:p>
        </p:txBody>
      </p:sp>
      <p:sp>
        <p:nvSpPr>
          <p:cNvPr id="2018866827" name="Google Shape;300;p13: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i="0" u="none" strike="noStrike" cap="none">
                <a:solidFill>
                  <a:schemeClr val="dk1"/>
                </a:solidFill>
                <a:latin typeface="Arial"/>
                <a:ea typeface="Arial"/>
                <a:cs typeface="Arial"/>
              </a:rPr>
              <a:t>13</a:t>
            </a:fld>
            <a:endParaRPr sz="1800" b="0" i="0" u="none" strike="noStrike" cap="none">
              <a:solidFill>
                <a:srgbClr val="000000"/>
              </a:solidFill>
              <a:latin typeface="Times New Roman"/>
              <a:ea typeface="Times New Roman"/>
              <a:cs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06817011" name="Google Shape;359;p14: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970083721" name="Google Shape;360;p14: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Good morning everyone.</a:t>
            </a:r>
            <a:br>
              <a:rPr lang="en-US" sz="2000"/>
            </a:br>
            <a:r>
              <a:rPr lang="en-US" sz="2000" b="0" strike="noStrike">
                <a:solidFill>
                  <a:srgbClr val="000000"/>
                </a:solidFill>
                <a:latin typeface="Arial"/>
                <a:ea typeface="Arial"/>
                <a:cs typeface="Arial"/>
              </a:rPr>
              <a:t>In this final part of the presentation, I would like to focus on the governance and reflection aspects of our project, especially the audit trail, the ethical decision process, and the main limitations of the system.</a:t>
            </a:r>
            <a:endParaRPr sz="2000" b="0" strike="noStrike">
              <a:solidFill>
                <a:srgbClr val="000000"/>
              </a:solidFill>
              <a:latin typeface="Arial"/>
              <a:ea typeface="Arial"/>
              <a:cs typeface="Arial"/>
            </a:endParaRPr>
          </a:p>
          <a:p>
            <a:pPr marL="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p:txBody>
      </p:sp>
      <p:sp>
        <p:nvSpPr>
          <p:cNvPr id="1539007632" name="Google Shape;361;p14: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strike="noStrike">
                <a:solidFill>
                  <a:schemeClr val="dk1"/>
                </a:solidFill>
                <a:latin typeface="Arial"/>
                <a:ea typeface="Arial"/>
                <a:cs typeface="Arial"/>
              </a:rPr>
              <a:t>14</a:t>
            </a:fld>
            <a:endParaRPr sz="1800" b="0" strike="noStrike">
              <a:solidFill>
                <a:srgbClr val="000000"/>
              </a:solidFill>
              <a:latin typeface="Times New Roman"/>
              <a:ea typeface="Times New Roman"/>
              <a:cs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500991842" name="Google Shape;368;p15: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81171327" name="Google Shape;369;p15: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One of the core ideas behind our EaaS module is accountability.</a:t>
            </a:r>
            <a:br>
              <a:rPr lang="en-US" sz="2000"/>
            </a:br>
            <a:r>
              <a:rPr lang="en-US" sz="2000" b="0" strike="noStrike">
                <a:solidFill>
                  <a:srgbClr val="000000"/>
                </a:solidFill>
                <a:latin typeface="Arial"/>
                <a:ea typeface="Arial"/>
                <a:cs typeface="Arial"/>
              </a:rPr>
              <a:t>Every ethical evaluation performed by the system is fully tracked through an audit trail.</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For each evaluation, the system stores a complete audit record containing:</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a unique identifier,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a timestamp,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 original request,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 candidate and job data used during evaluation,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 final risk level,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 final decision,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and all evaluated policies.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This is important because it allows us to reconstruct every decision made by the system.</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For example, if a recommendation is rejected, we can later verify:</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who requested the evaluation,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which data was analyzed,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which ethical policies were triggered,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and why the system produced that result.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Another important aspect is provenance tracking.</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 EaaS stores the real data fetched from the DaaS during the evaluation process.</a:t>
            </a:r>
            <a:br>
              <a:rPr lang="en-US" sz="2000"/>
            </a:br>
            <a:r>
              <a:rPr lang="en-US" sz="2000" b="0" strike="noStrike">
                <a:solidFill>
                  <a:srgbClr val="000000"/>
                </a:solidFill>
                <a:latin typeface="Arial"/>
                <a:ea typeface="Arial"/>
                <a:cs typeface="Arial"/>
              </a:rPr>
              <a:t>This means that even if the dataset changes later, we still preserve the exact snapshot that was used when the decision was made.</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This improves transparency and reproducibility, which are fundamental concepts in ethical and trustworthy systems.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 audit trail is persisted using the JSONL format, meaning one JSON object per line.</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This creates an append-only history of evaluations.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Previous records are never modified or overwritten.</a:t>
            </a:r>
            <a:br>
              <a:rPr lang="en-US" sz="2000"/>
            </a:br>
            <a:r>
              <a:rPr lang="en-US" sz="2000" b="0" strike="noStrike">
                <a:solidFill>
                  <a:srgbClr val="000000"/>
                </a:solidFill>
                <a:latin typeface="Arial"/>
                <a:ea typeface="Arial"/>
                <a:cs typeface="Arial"/>
              </a:rPr>
              <a:t>New evaluations are simply appended to the log.</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This approach is commonly used in governance and compliance systems because it preserves historical evidence and improves traceability.</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p:txBody>
      </p:sp>
      <p:sp>
        <p:nvSpPr>
          <p:cNvPr id="1515538608" name="Google Shape;370;p15: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strike="noStrike">
                <a:solidFill>
                  <a:schemeClr val="dk1"/>
                </a:solidFill>
                <a:latin typeface="Arial"/>
                <a:ea typeface="Arial"/>
                <a:cs typeface="Arial"/>
              </a:rPr>
              <a:t>15</a:t>
            </a:fld>
            <a:endParaRPr sz="1800" b="0" strike="noStrike">
              <a:solidFill>
                <a:srgbClr val="000000"/>
              </a:solidFill>
              <a:latin typeface="Times New Roman"/>
              <a:ea typeface="Times New Roman"/>
              <a:cs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118245357" name="Google Shape;392;p16: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2063912354" name="Google Shape;393;p16: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Regarding the ethical decision process itself, the EaaS evaluates all active policies and then aggregates the results.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If no policy is violated, the recommendation is accepted with a PROCEED decision and a LOW risk level.</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p:txBody>
      </p:sp>
      <p:sp>
        <p:nvSpPr>
          <p:cNvPr id="260732679" name="Google Shape;394;p16: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strike="noStrike">
                <a:solidFill>
                  <a:schemeClr val="dk1"/>
                </a:solidFill>
                <a:latin typeface="Arial"/>
                <a:ea typeface="Arial"/>
                <a:cs typeface="Arial"/>
              </a:rPr>
              <a:t>16</a:t>
            </a:fld>
            <a:endParaRPr sz="1800" b="0" strike="noStrike">
              <a:solidFill>
                <a:srgbClr val="000000"/>
              </a:solidFill>
              <a:latin typeface="Times New Roman"/>
              <a:ea typeface="Times New Roman"/>
              <a:cs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394577754" name="Google Shape;417;p17: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889658035" name="Google Shape;418;p17: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Instead, if severe violations are detected, the recommendation may be rejected.</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For example, in our second scenario, the offer contains an explicit age restriction and also comes from an untrusted source.</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These elements trigger two different policies: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 discriminatory proxy policy,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and the provenance policy.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Because the discriminatory policy produces a CRITICAL severity finding, the final decision becomes REJECT.</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However, an important clarification is that REJECT does not permanently remove the offer from the system.</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 EaaS only blocks the automatic recommendation process.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p:txBody>
      </p:sp>
      <p:sp>
        <p:nvSpPr>
          <p:cNvPr id="717170198" name="Google Shape;419;p17: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strike="noStrike">
                <a:solidFill>
                  <a:schemeClr val="dk1"/>
                </a:solidFill>
                <a:latin typeface="Arial"/>
                <a:ea typeface="Arial"/>
                <a:cs typeface="Arial"/>
              </a:rPr>
              <a:t>17</a:t>
            </a:fld>
            <a:endParaRPr sz="1800" b="0" strike="noStrike">
              <a:solidFill>
                <a:srgbClr val="000000"/>
              </a:solidFill>
              <a:latin typeface="Times New Roman"/>
              <a:ea typeface="Times New Roman"/>
              <a:cs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82341934" name="Google Shape;447;p18: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362230108" name="Google Shape;448;p18: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defRPr/>
            </a:pPr>
            <a:endParaRPr sz="1800" b="0" strike="noStrike">
              <a:solidFill>
                <a:srgbClr val="000000"/>
              </a:solidFill>
              <a:latin typeface="Arial"/>
              <a:ea typeface="Arial"/>
              <a:cs typeface="Arial"/>
            </a:endParaRPr>
          </a:p>
        </p:txBody>
      </p:sp>
      <p:sp>
        <p:nvSpPr>
          <p:cNvPr id="1338807103" name="Google Shape;449;p18: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strike="noStrike">
                <a:solidFill>
                  <a:schemeClr val="dk1"/>
                </a:solidFill>
                <a:latin typeface="Arial"/>
                <a:ea typeface="Arial"/>
                <a:cs typeface="Arial"/>
              </a:rPr>
              <a:t>18</a:t>
            </a:fld>
            <a:endParaRPr sz="1800" b="0" strike="noStrike">
              <a:solidFill>
                <a:srgbClr val="000000"/>
              </a:solidFill>
              <a:latin typeface="Times New Roman"/>
              <a:ea typeface="Times New Roman"/>
              <a:cs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222912599" name="Google Shape;455;p19: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754469220" name="Google Shape;456;p19: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Human review is still required before taking permanent actions.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This leads to the critical reflection section of the project.</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Our system has several important limitations.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First, it only detects explicit discriminatory fields such as: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age limits,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gender preferences,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and nationality requirements.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It does not detect indirect or subtle proxies such as: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postcode,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university,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names,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or employment gaps.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These forms of bias are much more difficult to identify and would require advanced statistical or machine learning techniques.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Another limitation is that the ethical logic is still implemented in Java code.</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 JSON policy files contain metadata and configuration parameters, but the actual evaluation behavior is hardcoded.</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As a consequence, modifying the behavior of the policies still requires developer intervention.</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 system also does not compute aggregate fairness metrics over time.</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Each recommendation is evaluated individually, but the platform cannot detect systemic disparities across demographic groups.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For example, it cannot determine whether a specific category of candidates consistently receives fewer recommendations than others.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Another limitation is that the dataset used in the project is synthetic.</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In a real production environment, additional concerns would be necessary, including:</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GDPR consent management,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encryption,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retention policies,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and right-to-explanation procedures.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p:txBody>
      </p:sp>
      <p:sp>
        <p:nvSpPr>
          <p:cNvPr id="781353854" name="Google Shape;457;p19: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strike="noStrike">
                <a:solidFill>
                  <a:schemeClr val="dk1"/>
                </a:solidFill>
                <a:latin typeface="Arial"/>
                <a:ea typeface="Arial"/>
                <a:cs typeface="Arial"/>
              </a:rPr>
              <a:t>19</a:t>
            </a:fld>
            <a:endParaRPr sz="1800" b="0" strike="noStrike">
              <a:solidFill>
                <a:srgbClr val="000000"/>
              </a:solidFill>
              <a:latin typeface="Times New Roman"/>
              <a:ea typeface="Times New Roman"/>
              <a:cs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905158544" name="Google Shape;481;p20: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859564676" name="Google Shape;482;p20: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Finally, there are several decisions that we intentionally decided not to automate.</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 platform does not perform final hiring decisions.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It only provides recommendations and ethical evaluations.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 final responsibility must always remain with human decision makers.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Similarly, the system does not permanently exclude job offers automatically.</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A REJECT decision only blocks automated recommendation flows until a human review is performed.</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 EaaS also cannot interpret complex legal contexts.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For instance, a nationality requirement may sometimes be discriminatory, but in other cases it could be legally justified due to national security regulations.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The system lacks the contextual understanding required for those situations, so escalation to human review is necessary.</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Finally, the platform does not evaluate soft skills or human qualities such as: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motivation,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communication,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leadership,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empathy,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or cultural fit. </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Those dimensions remain outside the scope of our RDF model and should not be delegated to automated systems.</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So the key message of this project is that ethics should not be treated as a final checkbox added after development.</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Instead, governance, transparency, auditing, and human oversight should be integrated directly into the architecture of the system itself.</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rgbClr val="000000"/>
              </a:buClr>
              <a:buSzPts val="2000"/>
              <a:buFont typeface="Arial"/>
              <a:buNone/>
              <a:defRPr/>
            </a:pPr>
            <a:r>
              <a:rPr lang="en-US" sz="2000" b="0" strike="noStrike">
                <a:solidFill>
                  <a:srgbClr val="000000"/>
                </a:solidFill>
                <a:latin typeface="Arial"/>
                <a:ea typeface="Arial"/>
                <a:cs typeface="Arial"/>
              </a:rPr>
              <a:t>Thank you.</a:t>
            </a:r>
            <a:endParaRPr sz="2000" b="0" strike="noStrike">
              <a:solidFill>
                <a:srgbClr val="000000"/>
              </a:solidFill>
              <a:latin typeface="Arial"/>
              <a:ea typeface="Arial"/>
              <a:cs typeface="Arial"/>
            </a:endParaRPr>
          </a:p>
          <a:p>
            <a:pPr marL="216000" lvl="0" indent="0" algn="l" rtl="0">
              <a:lnSpc>
                <a:spcPct val="100000"/>
              </a:lnSpc>
              <a:spcBef>
                <a:spcPts val="0"/>
              </a:spcBef>
              <a:spcAft>
                <a:spcPts val="0"/>
              </a:spcAft>
              <a:buClr>
                <a:schemeClr val="dk1"/>
              </a:buClr>
              <a:buSzPts val="2000"/>
              <a:buFont typeface="Arial"/>
              <a:buNone/>
              <a:defRPr/>
            </a:pPr>
            <a:endParaRPr sz="2000" b="0" strike="noStrike">
              <a:solidFill>
                <a:srgbClr val="000000"/>
              </a:solidFill>
              <a:latin typeface="Arial"/>
              <a:ea typeface="Arial"/>
              <a:cs typeface="Arial"/>
            </a:endParaRPr>
          </a:p>
        </p:txBody>
      </p:sp>
      <p:sp>
        <p:nvSpPr>
          <p:cNvPr id="688673416" name="Google Shape;483;p20: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strike="noStrike">
                <a:solidFill>
                  <a:schemeClr val="dk1"/>
                </a:solidFill>
                <a:latin typeface="Arial"/>
                <a:ea typeface="Arial"/>
                <a:cs typeface="Arial"/>
              </a:rPr>
              <a:t>20</a:t>
            </a:fld>
            <a:endParaRPr sz="1800" b="0" strike="noStrike">
              <a:solidFill>
                <a:srgbClr val="000000"/>
              </a:solidFill>
              <a:latin typeface="Times New Roman"/>
              <a:ea typeface="Times New Roman"/>
              <a:cs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104354250" name="Google Shape;510;p21:notes"/>
          <p:cNvSpPr>
            <a:spLocks noChangeAspect="1" noGrp="1" noRot="1"/>
          </p:cNvSpPr>
          <p:nvPr>
            <p:ph type="sldImg" idx="2"/>
          </p:nvPr>
        </p:nvSpPr>
        <p:spPr bwMode="auto">
          <a:xfrm>
            <a:off x="0" y="0"/>
            <a:ext cx="0" cy="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783448987" name="Google Shape;511;p21:notes"/>
          <p:cNvSpPr txBox="1">
            <a:spLocks noGrp="1"/>
          </p:cNvSpPr>
          <p:nvPr>
            <p:ph type="body" idx="1"/>
          </p:nvPr>
        </p:nvSpPr>
        <p:spPr bwMode="auto">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defRPr/>
            </a:pPr>
            <a:endParaRPr sz="1800" b="0" strike="noStrike">
              <a:solidFill>
                <a:srgbClr val="000000"/>
              </a:solidFill>
              <a:latin typeface="Arial"/>
              <a:ea typeface="Arial"/>
              <a:cs typeface="Arial"/>
            </a:endParaRPr>
          </a:p>
        </p:txBody>
      </p:sp>
      <p:sp>
        <p:nvSpPr>
          <p:cNvPr id="1853505999" name="Google Shape;512;p21:notes"/>
          <p:cNvSpPr txBox="1">
            <a:spLocks noGrp="1"/>
          </p:cNvSpPr>
          <p:nvPr>
            <p:ph type="sldNum" idx="12"/>
          </p:nvPr>
        </p:nvSpPr>
        <p:spPr bwMode="auto">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defRPr/>
            </a:pPr>
            <a:fld id="{00000000-1234-1234-1234-123412341234}" type="slidenum">
              <a:rPr lang="en-US" sz="1800" b="0" strike="noStrike">
                <a:solidFill>
                  <a:schemeClr val="dk1"/>
                </a:solidFill>
                <a:latin typeface="Arial"/>
                <a:ea typeface="Arial"/>
                <a:cs typeface="Arial"/>
              </a:rPr>
              <a:t>21</a:t>
            </a:fld>
            <a:endParaRPr sz="1800" b="0" strike="noStrike">
              <a:solidFill>
                <a:srgbClr val="000000"/>
              </a:solidFill>
              <a:latin typeface="Times New Roman"/>
              <a:ea typeface="Times New Roman"/>
              <a:cs typeface="Times New Roman"/>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DEFAULT" preserve="0" showMasterPhAnim="0" showMasterSp="1" type="blank" userDrawn="1">
  <p:cSld name="BLANK">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FFFFFF"/>
        </a:solidFill>
      </p:bgPr>
    </p:bg>
    <p:spTree>
      <p:nvGrpSpPr>
        <p:cNvPr id="1" name=""/>
        <p:cNvGrpSpPr/>
        <p:nvPr/>
      </p:nvGrpSpPr>
      <p:grpSpPr bwMode="auto">
        <a:xfrm>
          <a:off x="0" y="0"/>
          <a:ext cx="0" cy="0"/>
          <a:chOff x="0" y="0"/>
          <a:chExt cx="0" cy="0"/>
        </a:xfrm>
      </p:grpSpPr>
      <p:sp>
        <p:nvSpPr>
          <p:cNvPr id="1992385629" name="Google Shape;10;p1"/>
          <p:cNvSpPr txBox="1">
            <a:spLocks noGrp="1"/>
          </p:cNvSpPr>
          <p:nvPr>
            <p:ph type="title"/>
          </p:nvPr>
        </p:nvSpPr>
        <p:spPr bwMode="auto">
          <a:xfrm>
            <a:off x="457200" y="205200"/>
            <a:ext cx="8229240" cy="8586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pPr>
              <a:defRPr/>
            </a:pPr>
            <a:endParaRPr/>
          </a:p>
        </p:txBody>
      </p:sp>
      <p:sp>
        <p:nvSpPr>
          <p:cNvPr id="1495545010" name="Google Shape;11;p1"/>
          <p:cNvSpPr txBox="1">
            <a:spLocks noGrp="1"/>
          </p:cNvSpPr>
          <p:nvPr>
            <p:ph type="body" idx="1"/>
          </p:nvPr>
        </p:nvSpPr>
        <p:spPr bwMode="auto">
          <a:xfrm>
            <a:off x="457200" y="1203480"/>
            <a:ext cx="8229240" cy="2982960"/>
          </a:xfrm>
          <a:prstGeom prst="rect">
            <a:avLst/>
          </a:prstGeom>
          <a:noFill/>
          <a:ln>
            <a:noFill/>
          </a:ln>
        </p:spPr>
        <p:txBody>
          <a:bodyPr spcFirstLastPara="1" wrap="square" lIns="0" tIns="0" rIns="0" bIns="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9pPr>
          </a:lstStyle>
          <a:p>
            <a:pPr>
              <a:defRPr/>
            </a:pPr>
            <a:endParaRPr/>
          </a:p>
        </p:txBody>
      </p:sp>
    </p:spTree>
  </p:cSld>
  <p:clrMap bg1="lt1" tx1="dk1" bg2="dk2" tx2="lt2" accent1="accent1" accent2="accent2" accent3="accent3" accent4="accent4" accent5="accent5" accent6="accent6" hlink="hlink" folHlink="folHlink"/>
  <p:sldLayoutIdLst>
    <p:sldLayoutId id="2147483649" r:id="rId1"/>
  </p:sldLayoutIdLst>
  <p:hf dt="0" ftr="0" hdr="0" sldNum="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D2D44"/>
        </a:solidFill>
      </p:bgPr>
    </p:bg>
    <p:spTree>
      <p:nvGrpSpPr>
        <p:cNvPr id="1" name=""/>
        <p:cNvGrpSpPr/>
        <p:nvPr/>
      </p:nvGrpSpPr>
      <p:grpSpPr bwMode="auto">
        <a:xfrm>
          <a:off x="0" y="0"/>
          <a:ext cx="0" cy="0"/>
          <a:chOff x="0" y="0"/>
          <a:chExt cx="0" cy="0"/>
        </a:xfrm>
      </p:grpSpPr>
      <p:sp>
        <p:nvSpPr>
          <p:cNvPr id="127688882" name="Google Shape;18;p3"/>
          <p:cNvSpPr/>
          <p:nvPr/>
        </p:nvSpPr>
        <p:spPr bwMode="auto">
          <a:xfrm>
            <a:off x="0" y="0"/>
            <a:ext cx="200880" cy="514332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668662992" name="Google Shape;19;p3"/>
          <p:cNvSpPr/>
          <p:nvPr/>
        </p:nvSpPr>
        <p:spPr bwMode="auto">
          <a:xfrm>
            <a:off x="457200" y="822960"/>
            <a:ext cx="8503560" cy="7311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endParaRPr sz="1400" b="0" i="0" u="none" strike="noStrike" cap="none">
              <a:solidFill>
                <a:schemeClr val="dk1"/>
              </a:solidFill>
              <a:latin typeface="Calibri"/>
              <a:ea typeface="Calibri"/>
              <a:cs typeface="Calibri"/>
            </a:endParaRPr>
          </a:p>
        </p:txBody>
      </p:sp>
      <p:sp>
        <p:nvSpPr>
          <p:cNvPr id="142653503" name="Google Shape;20;p3"/>
          <p:cNvSpPr/>
          <p:nvPr/>
        </p:nvSpPr>
        <p:spPr bwMode="auto">
          <a:xfrm>
            <a:off x="457200" y="1417320"/>
            <a:ext cx="8503560" cy="11883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5200" b="1" i="0" u="none" strike="noStrike" cap="none">
                <a:solidFill>
                  <a:srgbClr val="FFFFFF"/>
                </a:solidFill>
                <a:latin typeface="Trebuchet MS"/>
                <a:ea typeface="Trebuchet MS"/>
                <a:cs typeface="Trebuchet MS"/>
              </a:rPr>
              <a:t>Employment Platform</a:t>
            </a:r>
            <a:endParaRPr sz="5200" b="0" i="0" u="none" strike="noStrike" cap="none">
              <a:solidFill>
                <a:srgbClr val="FFFFFF"/>
              </a:solidFill>
              <a:latin typeface="Arial"/>
              <a:ea typeface="Arial"/>
              <a:cs typeface="Arial"/>
            </a:endParaRPr>
          </a:p>
        </p:txBody>
      </p:sp>
      <p:sp>
        <p:nvSpPr>
          <p:cNvPr id="845167286" name="Google Shape;21;p3"/>
          <p:cNvSpPr/>
          <p:nvPr/>
        </p:nvSpPr>
        <p:spPr bwMode="auto">
          <a:xfrm>
            <a:off x="457200" y="2514600"/>
            <a:ext cx="8503560" cy="5025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2000" b="0" i="0" u="none" strike="noStrike" cap="none">
                <a:solidFill>
                  <a:srgbClr val="CADCFC"/>
                </a:solidFill>
                <a:latin typeface="Trebuchet MS"/>
                <a:ea typeface="Trebuchet MS"/>
                <a:cs typeface="Trebuchet MS"/>
              </a:rPr>
              <a:t>Data as a Service &amp; Ethics as a Service</a:t>
            </a:r>
            <a:endParaRPr sz="2000" b="0" i="0" u="none" strike="noStrike" cap="none">
              <a:solidFill>
                <a:srgbClr val="FFFFFF"/>
              </a:solidFill>
              <a:latin typeface="Arial"/>
              <a:ea typeface="Arial"/>
              <a:cs typeface="Arial"/>
            </a:endParaRPr>
          </a:p>
        </p:txBody>
      </p:sp>
      <p:sp>
        <p:nvSpPr>
          <p:cNvPr id="1873477229" name="Google Shape;22;p3"/>
          <p:cNvSpPr/>
          <p:nvPr/>
        </p:nvSpPr>
        <p:spPr bwMode="auto">
          <a:xfrm>
            <a:off x="457200" y="3127320"/>
            <a:ext cx="3200040" cy="3636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371961548" name="Google Shape;23;p3"/>
          <p:cNvSpPr/>
          <p:nvPr/>
        </p:nvSpPr>
        <p:spPr bwMode="auto">
          <a:xfrm>
            <a:off x="457200" y="3291840"/>
            <a:ext cx="8503560" cy="1096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300" b="0" i="0" u="none" strike="noStrike" cap="none">
                <a:solidFill>
                  <a:srgbClr val="9FB4CC"/>
                </a:solidFill>
                <a:latin typeface="Calibri"/>
                <a:ea typeface="Calibri"/>
                <a:cs typeface="Calibri"/>
              </a:rPr>
              <a:t>Service-Oriented Software Engineering  ·  A.Y. 2025/2026</a:t>
            </a:r>
            <a:endParaRPr sz="1300" b="0" i="0" u="none" strike="noStrike" cap="none">
              <a:solidFill>
                <a:srgbClr val="FFFFFF"/>
              </a:solidFill>
              <a:latin typeface="Arial"/>
              <a:ea typeface="Arial"/>
              <a:cs typeface="Arial"/>
            </a:endParaRPr>
          </a:p>
          <a:p>
            <a:pPr marL="0" marR="0" lvl="0" indent="0" algn="l" rtl="0">
              <a:lnSpc>
                <a:spcPct val="100000"/>
              </a:lnSpc>
              <a:spcBef>
                <a:spcPts val="0"/>
              </a:spcBef>
              <a:spcAft>
                <a:spcPts val="0"/>
              </a:spcAft>
              <a:buNone/>
              <a:defRPr/>
            </a:pPr>
            <a:r>
              <a:rPr lang="en-US" sz="1300" b="0" i="0" u="none" strike="noStrike" cap="none">
                <a:solidFill>
                  <a:srgbClr val="9FB4CC"/>
                </a:solidFill>
                <a:latin typeface="Calibri"/>
                <a:ea typeface="Calibri"/>
                <a:cs typeface="Calibri"/>
              </a:rPr>
              <a:t>Università degli Studi dell'Aquila</a:t>
            </a:r>
            <a:endParaRPr sz="1300" b="0" i="0" u="none" strike="noStrike" cap="none">
              <a:solidFill>
                <a:srgbClr val="FFFFFF"/>
              </a:solidFill>
              <a:latin typeface="Arial"/>
              <a:ea typeface="Arial"/>
              <a:cs typeface="Arial"/>
            </a:endParaRPr>
          </a:p>
          <a:p>
            <a:pPr marL="0" marR="0" lvl="0" indent="0" algn="l" rtl="0">
              <a:lnSpc>
                <a:spcPct val="100000"/>
              </a:lnSpc>
              <a:spcBef>
                <a:spcPts val="0"/>
              </a:spcBef>
              <a:spcAft>
                <a:spcPts val="0"/>
              </a:spcAft>
              <a:buNone/>
              <a:defRPr/>
            </a:pPr>
            <a:r>
              <a:rPr lang="en-US" sz="1300" b="0" i="0" u="none" strike="noStrike" cap="none">
                <a:solidFill>
                  <a:srgbClr val="9FB4CC"/>
                </a:solidFill>
                <a:latin typeface="Calibri"/>
                <a:ea typeface="Calibri"/>
                <a:cs typeface="Calibri"/>
              </a:rPr>
              <a:t>Edoardo Di Giuseppe. Lorenzo Di Giandomenico, Federico Capricci</a:t>
            </a:r>
            <a:endParaRPr sz="1300" b="0" i="0" u="none" strike="noStrike" cap="none">
              <a:solidFill>
                <a:srgbClr val="FFFFFF"/>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D2D44"/>
        </a:solidFill>
      </p:bgPr>
    </p:bg>
    <p:spTree>
      <p:nvGrpSpPr>
        <p:cNvPr id="1" name=""/>
        <p:cNvGrpSpPr/>
        <p:nvPr/>
      </p:nvGrpSpPr>
      <p:grpSpPr bwMode="auto">
        <a:xfrm>
          <a:off x="0" y="0"/>
          <a:ext cx="0" cy="0"/>
          <a:chOff x="0" y="0"/>
          <a:chExt cx="0" cy="0"/>
        </a:xfrm>
      </p:grpSpPr>
      <p:sp>
        <p:nvSpPr>
          <p:cNvPr id="1550161237" name="Google Shape;29;p4"/>
          <p:cNvSpPr/>
          <p:nvPr/>
        </p:nvSpPr>
        <p:spPr bwMode="auto">
          <a:xfrm>
            <a:off x="0" y="0"/>
            <a:ext cx="200880" cy="514332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844980666" name="Google Shape;30;p4"/>
          <p:cNvSpPr/>
          <p:nvPr/>
        </p:nvSpPr>
        <p:spPr bwMode="auto">
          <a:xfrm>
            <a:off x="457200" y="320040"/>
            <a:ext cx="8229240" cy="6397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3200" b="1" i="0" u="none" strike="noStrike" cap="none">
                <a:solidFill>
                  <a:srgbClr val="FFFFFF"/>
                </a:solidFill>
                <a:latin typeface="Trebuchet MS"/>
                <a:ea typeface="Trebuchet MS"/>
                <a:cs typeface="Trebuchet MS"/>
              </a:rPr>
              <a:t>Agenda</a:t>
            </a:r>
            <a:endParaRPr sz="3200" b="0" i="0" u="none" strike="noStrike" cap="none">
              <a:solidFill>
                <a:srgbClr val="FFFFFF"/>
              </a:solidFill>
              <a:latin typeface="Arial"/>
              <a:ea typeface="Arial"/>
              <a:cs typeface="Arial"/>
            </a:endParaRPr>
          </a:p>
        </p:txBody>
      </p:sp>
      <p:sp>
        <p:nvSpPr>
          <p:cNvPr id="663553542" name="Google Shape;31;p4"/>
          <p:cNvSpPr/>
          <p:nvPr/>
        </p:nvSpPr>
        <p:spPr bwMode="auto">
          <a:xfrm>
            <a:off x="457200" y="1097280"/>
            <a:ext cx="2605680" cy="3565800"/>
          </a:xfrm>
          <a:prstGeom prst="rect">
            <a:avLst/>
          </a:prstGeom>
          <a:solidFill>
            <a:srgbClr val="FFFFFF"/>
          </a:solidFill>
          <a:ln w="12700" cap="flat" cmpd="sng">
            <a:solidFill>
              <a:srgbClr val="FFFFFF"/>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970652503" name="Google Shape;32;p4"/>
          <p:cNvSpPr/>
          <p:nvPr/>
        </p:nvSpPr>
        <p:spPr bwMode="auto">
          <a:xfrm>
            <a:off x="457200" y="1097280"/>
            <a:ext cx="2605680" cy="38376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187638996" name="Google Shape;33;p4"/>
          <p:cNvSpPr/>
          <p:nvPr/>
        </p:nvSpPr>
        <p:spPr bwMode="auto">
          <a:xfrm>
            <a:off x="457200" y="1097280"/>
            <a:ext cx="260568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200" b="1" i="0" u="none" strike="noStrike" cap="none">
                <a:solidFill>
                  <a:srgbClr val="FFFFFF"/>
                </a:solidFill>
                <a:latin typeface="Calibri"/>
                <a:ea typeface="Calibri"/>
                <a:cs typeface="Calibri"/>
              </a:rPr>
              <a:t>Edoardo</a:t>
            </a:r>
            <a:endParaRPr sz="1200" b="0" i="0" u="none" strike="noStrike" cap="none">
              <a:solidFill>
                <a:srgbClr val="FFFFFF"/>
              </a:solidFill>
              <a:latin typeface="Arial"/>
              <a:ea typeface="Arial"/>
              <a:cs typeface="Arial"/>
            </a:endParaRPr>
          </a:p>
        </p:txBody>
      </p:sp>
      <p:sp>
        <p:nvSpPr>
          <p:cNvPr id="1850158361" name="Google Shape;34;p4"/>
          <p:cNvSpPr/>
          <p:nvPr/>
        </p:nvSpPr>
        <p:spPr bwMode="auto">
          <a:xfrm>
            <a:off x="567000" y="1554480"/>
            <a:ext cx="2377080" cy="3017160"/>
          </a:xfrm>
          <a:prstGeom prst="rect">
            <a:avLst/>
          </a:prstGeom>
          <a:noFill/>
          <a:ln>
            <a:noFill/>
          </a:ln>
        </p:spPr>
        <p:txBody>
          <a:bodyPr spcFirstLastPara="1" wrap="square" lIns="90000" tIns="45000" rIns="90000" bIns="45000" anchor="t" anchorCtr="0">
            <a:noAutofit/>
          </a:bodyPr>
          <a:lstStyle/>
          <a:p>
            <a:pPr marL="343080" marR="0" lvl="0" indent="-343080" algn="l" rtl="0">
              <a:lnSpc>
                <a:spcPct val="100000"/>
              </a:lnSpc>
              <a:spcBef>
                <a:spcPts val="0"/>
              </a:spcBef>
              <a:spcAft>
                <a:spcPts val="0"/>
              </a:spcAft>
              <a:buClr>
                <a:srgbClr val="1E293B"/>
              </a:buClr>
              <a:buSzPts val="1100"/>
              <a:buFont typeface="Noto Sans Symbols"/>
              <a:buChar char="∙"/>
              <a:defRPr/>
            </a:pPr>
            <a:r>
              <a:rPr lang="en-US" sz="1100" b="0" i="0" u="none" strike="noStrike" cap="none">
                <a:solidFill>
                  <a:srgbClr val="1E293B"/>
                </a:solidFill>
                <a:latin typeface="Calibri"/>
                <a:ea typeface="Calibri"/>
                <a:cs typeface="Calibri"/>
              </a:rPr>
              <a:t>Domain &amp; Motivation</a:t>
            </a:r>
            <a:endParaRPr sz="1100" b="0" i="0" u="none" strike="noStrike" cap="none">
              <a:solidFill>
                <a:srgbClr val="FFFFFF"/>
              </a:solidFill>
              <a:latin typeface="Arial"/>
              <a:ea typeface="Arial"/>
              <a:cs typeface="Arial"/>
            </a:endParaRPr>
          </a:p>
          <a:p>
            <a:pPr marL="343080" marR="0" lvl="0" indent="-343080" algn="l" rtl="0">
              <a:lnSpc>
                <a:spcPct val="100000"/>
              </a:lnSpc>
              <a:spcBef>
                <a:spcPts val="0"/>
              </a:spcBef>
              <a:spcAft>
                <a:spcPts val="0"/>
              </a:spcAft>
              <a:buClr>
                <a:srgbClr val="1E293B"/>
              </a:buClr>
              <a:buSzPts val="1100"/>
              <a:buFont typeface="Noto Sans Symbols"/>
              <a:buChar char="∙"/>
              <a:defRPr/>
            </a:pPr>
            <a:r>
              <a:rPr lang="en-US" sz="1100" b="0" i="0" u="none" strike="noStrike" cap="none">
                <a:solidFill>
                  <a:srgbClr val="1E293B"/>
                </a:solidFill>
                <a:latin typeface="Calibri"/>
                <a:ea typeface="Calibri"/>
                <a:cs typeface="Calibri"/>
              </a:rPr>
              <a:t>Application Architecture</a:t>
            </a:r>
            <a:endParaRPr sz="1100" b="0" i="0" u="none" strike="noStrike" cap="none">
              <a:solidFill>
                <a:srgbClr val="FFFFFF"/>
              </a:solidFill>
              <a:latin typeface="Arial"/>
              <a:ea typeface="Arial"/>
              <a:cs typeface="Arial"/>
            </a:endParaRPr>
          </a:p>
          <a:p>
            <a:pPr marL="343080" marR="0" lvl="0" indent="-343080" algn="l" rtl="0">
              <a:lnSpc>
                <a:spcPct val="100000"/>
              </a:lnSpc>
              <a:spcBef>
                <a:spcPts val="0"/>
              </a:spcBef>
              <a:spcAft>
                <a:spcPts val="0"/>
              </a:spcAft>
              <a:buClr>
                <a:srgbClr val="1E293B"/>
              </a:buClr>
              <a:buSzPts val="1100"/>
              <a:buFont typeface="Noto Sans Symbols"/>
              <a:buChar char="∙"/>
              <a:defRPr/>
            </a:pPr>
            <a:r>
              <a:rPr lang="en-US" sz="1100" b="0" i="0" u="none" strike="noStrike" cap="none">
                <a:solidFill>
                  <a:srgbClr val="1E293B"/>
                </a:solidFill>
                <a:latin typeface="Calibri"/>
                <a:ea typeface="Calibri"/>
                <a:cs typeface="Calibri"/>
              </a:rPr>
              <a:t>RDF Dataset &amp; Ontology</a:t>
            </a:r>
            <a:endParaRPr sz="1100" b="0" i="0" u="none" strike="noStrike" cap="none">
              <a:solidFill>
                <a:srgbClr val="FFFFFF"/>
              </a:solidFill>
              <a:latin typeface="Arial"/>
              <a:ea typeface="Arial"/>
              <a:cs typeface="Arial"/>
            </a:endParaRPr>
          </a:p>
          <a:p>
            <a:pPr marL="343080" marR="0" lvl="0" indent="-343080" algn="l" rtl="0">
              <a:lnSpc>
                <a:spcPct val="100000"/>
              </a:lnSpc>
              <a:spcBef>
                <a:spcPts val="0"/>
              </a:spcBef>
              <a:spcAft>
                <a:spcPts val="0"/>
              </a:spcAft>
              <a:buClr>
                <a:srgbClr val="1E293B"/>
              </a:buClr>
              <a:buSzPts val="1100"/>
              <a:buFont typeface="Noto Sans Symbols"/>
              <a:buChar char="∙"/>
              <a:defRPr/>
            </a:pPr>
            <a:r>
              <a:rPr lang="en-US" sz="1100" b="0" i="0" u="none" strike="noStrike" cap="none">
                <a:solidFill>
                  <a:srgbClr val="1E293B"/>
                </a:solidFill>
                <a:latin typeface="Calibri"/>
                <a:ea typeface="Calibri"/>
                <a:cs typeface="Calibri"/>
              </a:rPr>
              <a:t>SPARQL Queries</a:t>
            </a:r>
            <a:endParaRPr sz="1100" b="0" i="0" u="none" strike="noStrike" cap="none">
              <a:solidFill>
                <a:srgbClr val="FFFFFF"/>
              </a:solidFill>
              <a:latin typeface="Arial"/>
              <a:ea typeface="Arial"/>
              <a:cs typeface="Arial"/>
            </a:endParaRPr>
          </a:p>
          <a:p>
            <a:pPr marL="343080" marR="0" lvl="0" indent="-343080" algn="l" rtl="0">
              <a:lnSpc>
                <a:spcPct val="100000"/>
              </a:lnSpc>
              <a:spcBef>
                <a:spcPts val="0"/>
              </a:spcBef>
              <a:spcAft>
                <a:spcPts val="0"/>
              </a:spcAft>
              <a:buClr>
                <a:srgbClr val="1E293B"/>
              </a:buClr>
              <a:buSzPts val="1100"/>
              <a:buFont typeface="Noto Sans Symbols"/>
              <a:buChar char="∙"/>
              <a:defRPr/>
            </a:pPr>
            <a:r>
              <a:rPr lang="en-US" sz="1100" b="0" i="0" u="none" strike="noStrike" cap="none">
                <a:solidFill>
                  <a:srgbClr val="1E293B"/>
                </a:solidFill>
                <a:latin typeface="Calibri"/>
                <a:ea typeface="Calibri"/>
                <a:cs typeface="Calibri"/>
              </a:rPr>
              <a:t>DaaS REST APIs</a:t>
            </a:r>
            <a:endParaRPr sz="1100" b="0" i="0" u="none" strike="noStrike" cap="none">
              <a:solidFill>
                <a:srgbClr val="FFFFFF"/>
              </a:solidFill>
              <a:latin typeface="Arial"/>
              <a:ea typeface="Arial"/>
              <a:cs typeface="Arial"/>
            </a:endParaRPr>
          </a:p>
        </p:txBody>
      </p:sp>
      <p:sp>
        <p:nvSpPr>
          <p:cNvPr id="348773014" name="Google Shape;35;p4"/>
          <p:cNvSpPr/>
          <p:nvPr/>
        </p:nvSpPr>
        <p:spPr bwMode="auto">
          <a:xfrm>
            <a:off x="3291840" y="1097280"/>
            <a:ext cx="2605680" cy="3565800"/>
          </a:xfrm>
          <a:prstGeom prst="rect">
            <a:avLst/>
          </a:prstGeom>
          <a:solidFill>
            <a:srgbClr val="FFFFFF"/>
          </a:solidFill>
          <a:ln w="12700" cap="flat" cmpd="sng">
            <a:solidFill>
              <a:srgbClr val="FFFFFF"/>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40034741" name="Google Shape;36;p4"/>
          <p:cNvSpPr/>
          <p:nvPr/>
        </p:nvSpPr>
        <p:spPr bwMode="auto">
          <a:xfrm>
            <a:off x="3291840" y="1097280"/>
            <a:ext cx="2605680" cy="383760"/>
          </a:xfrm>
          <a:prstGeom prst="rect">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509720183" name="Google Shape;37;p4"/>
          <p:cNvSpPr/>
          <p:nvPr/>
        </p:nvSpPr>
        <p:spPr bwMode="auto">
          <a:xfrm>
            <a:off x="3291840" y="1097280"/>
            <a:ext cx="260568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200" b="1" i="0" u="none" strike="noStrike" cap="none">
                <a:solidFill>
                  <a:srgbClr val="FFFFFF"/>
                </a:solidFill>
                <a:latin typeface="Calibri"/>
                <a:ea typeface="Calibri"/>
                <a:cs typeface="Calibri"/>
              </a:rPr>
              <a:t>Lorenzo</a:t>
            </a:r>
            <a:endParaRPr sz="1200" b="0" i="0" u="none" strike="noStrike" cap="none">
              <a:solidFill>
                <a:srgbClr val="FFFFFF"/>
              </a:solidFill>
              <a:latin typeface="Arial"/>
              <a:ea typeface="Arial"/>
              <a:cs typeface="Arial"/>
            </a:endParaRPr>
          </a:p>
        </p:txBody>
      </p:sp>
      <p:sp>
        <p:nvSpPr>
          <p:cNvPr id="440746595" name="Google Shape;38;p4"/>
          <p:cNvSpPr/>
          <p:nvPr/>
        </p:nvSpPr>
        <p:spPr bwMode="auto">
          <a:xfrm>
            <a:off x="3401640" y="1554480"/>
            <a:ext cx="2377080" cy="3017160"/>
          </a:xfrm>
          <a:prstGeom prst="rect">
            <a:avLst/>
          </a:prstGeom>
          <a:noFill/>
          <a:ln>
            <a:noFill/>
          </a:ln>
        </p:spPr>
        <p:txBody>
          <a:bodyPr spcFirstLastPara="1" wrap="square" lIns="90000" tIns="45000" rIns="90000" bIns="45000" anchor="t" anchorCtr="0">
            <a:noAutofit/>
          </a:bodyPr>
          <a:lstStyle/>
          <a:p>
            <a:pPr marL="343080" marR="0" lvl="0" indent="-343080" algn="l" rtl="0">
              <a:lnSpc>
                <a:spcPct val="100000"/>
              </a:lnSpc>
              <a:spcBef>
                <a:spcPts val="0"/>
              </a:spcBef>
              <a:spcAft>
                <a:spcPts val="0"/>
              </a:spcAft>
              <a:buClr>
                <a:srgbClr val="1E293B"/>
              </a:buClr>
              <a:buSzPts val="1100"/>
              <a:buFont typeface="Noto Sans Symbols"/>
              <a:buChar char="∙"/>
              <a:defRPr/>
            </a:pPr>
            <a:r>
              <a:rPr lang="en-US" sz="1100" b="0" i="0" u="none" strike="noStrike" cap="none">
                <a:solidFill>
                  <a:srgbClr val="1E293B"/>
                </a:solidFill>
                <a:latin typeface="Calibri"/>
                <a:ea typeface="Calibri"/>
                <a:cs typeface="Calibri"/>
              </a:rPr>
              <a:t>EaaS Workflow &amp; Architecture </a:t>
            </a:r>
            <a:endParaRPr sz="1100" b="0" i="0" u="none" strike="noStrike" cap="none">
              <a:solidFill>
                <a:srgbClr val="1E293B"/>
              </a:solidFill>
              <a:latin typeface="Calibri"/>
              <a:ea typeface="Calibri"/>
              <a:cs typeface="Calibri"/>
            </a:endParaRPr>
          </a:p>
          <a:p>
            <a:pPr marL="343080" marR="0" lvl="0" indent="-343080" algn="l" rtl="0">
              <a:lnSpc>
                <a:spcPct val="100000"/>
              </a:lnSpc>
              <a:spcBef>
                <a:spcPts val="0"/>
              </a:spcBef>
              <a:spcAft>
                <a:spcPts val="0"/>
              </a:spcAft>
              <a:buClr>
                <a:srgbClr val="1E293B"/>
              </a:buClr>
              <a:buSzPts val="1100"/>
              <a:buFont typeface="Noto Sans Symbols"/>
              <a:buChar char="∙"/>
              <a:defRPr/>
            </a:pPr>
            <a:r>
              <a:rPr lang="en-US" sz="1100">
                <a:solidFill>
                  <a:srgbClr val="1E293B"/>
                </a:solidFill>
                <a:latin typeface="Calibri"/>
                <a:ea typeface="Calibri"/>
                <a:cs typeface="Calibri"/>
              </a:rPr>
              <a:t>Evaluation Request Structure</a:t>
            </a:r>
            <a:endParaRPr sz="1100" b="0" i="0" u="none" strike="noStrike" cap="none">
              <a:solidFill>
                <a:srgbClr val="FFFFFF"/>
              </a:solidFill>
              <a:latin typeface="Arial"/>
              <a:ea typeface="Arial"/>
              <a:cs typeface="Arial"/>
            </a:endParaRPr>
          </a:p>
          <a:p>
            <a:pPr marL="343080" marR="0" lvl="0" indent="-343080" algn="l" rtl="0">
              <a:lnSpc>
                <a:spcPct val="100000"/>
              </a:lnSpc>
              <a:spcBef>
                <a:spcPts val="0"/>
              </a:spcBef>
              <a:spcAft>
                <a:spcPts val="0"/>
              </a:spcAft>
              <a:buClr>
                <a:srgbClr val="1E293B"/>
              </a:buClr>
              <a:buSzPts val="1100"/>
              <a:buFont typeface="Noto Sans Symbols"/>
              <a:buChar char="∙"/>
              <a:defRPr/>
            </a:pPr>
            <a:r>
              <a:rPr lang="en-US" sz="1100" b="0" i="0" u="none" strike="noStrike" cap="none">
                <a:solidFill>
                  <a:srgbClr val="1E293B"/>
                </a:solidFill>
                <a:latin typeface="Calibri"/>
                <a:ea typeface="Calibri"/>
                <a:cs typeface="Calibri"/>
              </a:rPr>
              <a:t>Ethical Policies</a:t>
            </a:r>
            <a:endParaRPr sz="1100" b="0" i="0" u="none" strike="noStrike" cap="none">
              <a:solidFill>
                <a:srgbClr val="FFFFFF"/>
              </a:solidFill>
              <a:latin typeface="Arial"/>
              <a:ea typeface="Arial"/>
              <a:cs typeface="Arial"/>
            </a:endParaRPr>
          </a:p>
          <a:p>
            <a:pPr marL="343080" marR="0" lvl="0" indent="-343080" algn="l" rtl="0">
              <a:lnSpc>
                <a:spcPct val="100000"/>
              </a:lnSpc>
              <a:spcBef>
                <a:spcPts val="0"/>
              </a:spcBef>
              <a:spcAft>
                <a:spcPts val="0"/>
              </a:spcAft>
              <a:buClr>
                <a:srgbClr val="1E293B"/>
              </a:buClr>
              <a:buSzPts val="1100"/>
              <a:buFont typeface="Noto Sans Symbols"/>
              <a:buChar char="∙"/>
              <a:defRPr/>
            </a:pPr>
            <a:r>
              <a:rPr lang="en-US" sz="1100">
                <a:solidFill>
                  <a:srgbClr val="1E293B"/>
                </a:solidFill>
                <a:latin typeface="Calibri"/>
                <a:ea typeface="Calibri"/>
                <a:cs typeface="Calibri"/>
              </a:rPr>
              <a:t>Discriminatory Dataset Data</a:t>
            </a:r>
            <a:endParaRPr sz="1100" b="0" i="0" u="none" strike="noStrike" cap="none">
              <a:solidFill>
                <a:srgbClr val="FFFFFF"/>
              </a:solidFill>
              <a:latin typeface="Arial"/>
              <a:ea typeface="Arial"/>
              <a:cs typeface="Arial"/>
            </a:endParaRPr>
          </a:p>
        </p:txBody>
      </p:sp>
      <p:sp>
        <p:nvSpPr>
          <p:cNvPr id="1726939746" name="Google Shape;39;p4"/>
          <p:cNvSpPr/>
          <p:nvPr/>
        </p:nvSpPr>
        <p:spPr bwMode="auto">
          <a:xfrm>
            <a:off x="6126480" y="1097280"/>
            <a:ext cx="2605680" cy="3565800"/>
          </a:xfrm>
          <a:prstGeom prst="rect">
            <a:avLst/>
          </a:prstGeom>
          <a:solidFill>
            <a:srgbClr val="FFFFFF"/>
          </a:solidFill>
          <a:ln w="12700" cap="flat" cmpd="sng">
            <a:solidFill>
              <a:srgbClr val="FFFFFF"/>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924291837" name="Google Shape;40;p4"/>
          <p:cNvSpPr/>
          <p:nvPr/>
        </p:nvSpPr>
        <p:spPr bwMode="auto">
          <a:xfrm>
            <a:off x="6126480" y="1097280"/>
            <a:ext cx="2605680" cy="383760"/>
          </a:xfrm>
          <a:prstGeom prst="rect">
            <a:avLst/>
          </a:prstGeom>
          <a:solidFill>
            <a:srgbClr val="9B59B6"/>
          </a:solidFill>
          <a:ln w="12700" cap="flat" cmpd="sng">
            <a:solidFill>
              <a:srgbClr val="9B59B6"/>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959146837" name="Google Shape;41;p4"/>
          <p:cNvSpPr/>
          <p:nvPr/>
        </p:nvSpPr>
        <p:spPr bwMode="auto">
          <a:xfrm>
            <a:off x="6126480" y="1097280"/>
            <a:ext cx="260568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200" b="1" i="0" u="none" strike="noStrike" cap="none">
                <a:solidFill>
                  <a:srgbClr val="FFFFFF"/>
                </a:solidFill>
                <a:latin typeface="Calibri"/>
                <a:ea typeface="Calibri"/>
                <a:cs typeface="Calibri"/>
              </a:rPr>
              <a:t>Federico</a:t>
            </a:r>
            <a:endParaRPr sz="1200" b="0" i="0" u="none" strike="noStrike" cap="none">
              <a:solidFill>
                <a:srgbClr val="FFFFFF"/>
              </a:solidFill>
              <a:latin typeface="Arial"/>
              <a:ea typeface="Arial"/>
              <a:cs typeface="Arial"/>
            </a:endParaRPr>
          </a:p>
        </p:txBody>
      </p:sp>
      <p:sp>
        <p:nvSpPr>
          <p:cNvPr id="1943457594" name="Google Shape;42;p4"/>
          <p:cNvSpPr/>
          <p:nvPr/>
        </p:nvSpPr>
        <p:spPr bwMode="auto">
          <a:xfrm>
            <a:off x="6236280" y="1554480"/>
            <a:ext cx="2377080" cy="3017160"/>
          </a:xfrm>
          <a:prstGeom prst="rect">
            <a:avLst/>
          </a:prstGeom>
          <a:noFill/>
          <a:ln>
            <a:noFill/>
          </a:ln>
        </p:spPr>
        <p:txBody>
          <a:bodyPr spcFirstLastPara="1" wrap="square" lIns="90000" tIns="45000" rIns="90000" bIns="45000" anchor="t" anchorCtr="0">
            <a:noAutofit/>
          </a:bodyPr>
          <a:lstStyle/>
          <a:p>
            <a:pPr marL="343080" marR="0" lvl="0" indent="-343080" algn="l" rtl="0">
              <a:lnSpc>
                <a:spcPct val="100000"/>
              </a:lnSpc>
              <a:spcBef>
                <a:spcPts val="0"/>
              </a:spcBef>
              <a:spcAft>
                <a:spcPts val="0"/>
              </a:spcAft>
              <a:buClr>
                <a:srgbClr val="1E293B"/>
              </a:buClr>
              <a:buSzPts val="1100"/>
              <a:buFont typeface="Noto Sans Symbols"/>
              <a:buChar char="∙"/>
              <a:defRPr/>
            </a:pPr>
            <a:r>
              <a:rPr lang="en-US" sz="1100" b="0" i="0" u="none" strike="noStrike" cap="none">
                <a:solidFill>
                  <a:srgbClr val="1E293B"/>
                </a:solidFill>
                <a:latin typeface="Calibri"/>
                <a:ea typeface="Calibri"/>
                <a:cs typeface="Calibri"/>
              </a:rPr>
              <a:t>Audit Trail &amp; Provenance</a:t>
            </a:r>
            <a:endParaRPr sz="1100" b="0" i="0" u="none" strike="noStrike" cap="none">
              <a:solidFill>
                <a:srgbClr val="FFFFFF"/>
              </a:solidFill>
              <a:latin typeface="Arial"/>
              <a:ea typeface="Arial"/>
              <a:cs typeface="Arial"/>
            </a:endParaRPr>
          </a:p>
          <a:p>
            <a:pPr marL="343080" marR="0" lvl="0" indent="-343080" algn="l" rtl="0">
              <a:lnSpc>
                <a:spcPct val="100000"/>
              </a:lnSpc>
              <a:spcBef>
                <a:spcPts val="0"/>
              </a:spcBef>
              <a:spcAft>
                <a:spcPts val="0"/>
              </a:spcAft>
              <a:buClr>
                <a:srgbClr val="1E293B"/>
              </a:buClr>
              <a:buSzPts val="1100"/>
              <a:buFont typeface="Noto Sans Symbols"/>
              <a:buChar char="∙"/>
              <a:defRPr/>
            </a:pPr>
            <a:r>
              <a:rPr lang="en-US" sz="1100" b="0" i="0" u="none" strike="noStrike" cap="none">
                <a:solidFill>
                  <a:srgbClr val="1E293B"/>
                </a:solidFill>
                <a:latin typeface="Calibri"/>
                <a:ea typeface="Calibri"/>
                <a:cs typeface="Calibri"/>
              </a:rPr>
              <a:t>DaaS ↔ EaaS Integration</a:t>
            </a:r>
            <a:endParaRPr sz="1100" b="0" i="0" u="none" strike="noStrike" cap="none">
              <a:solidFill>
                <a:srgbClr val="FFFFFF"/>
              </a:solidFill>
              <a:latin typeface="Arial"/>
              <a:ea typeface="Arial"/>
              <a:cs typeface="Arial"/>
            </a:endParaRPr>
          </a:p>
          <a:p>
            <a:pPr marL="343080" marR="0" lvl="0" indent="-343080" algn="l" rtl="0">
              <a:lnSpc>
                <a:spcPct val="100000"/>
              </a:lnSpc>
              <a:spcBef>
                <a:spcPts val="0"/>
              </a:spcBef>
              <a:spcAft>
                <a:spcPts val="0"/>
              </a:spcAft>
              <a:buClr>
                <a:srgbClr val="1E293B"/>
              </a:buClr>
              <a:buSzPts val="1100"/>
              <a:buFont typeface="Noto Sans Symbols"/>
              <a:buChar char="∙"/>
              <a:defRPr/>
            </a:pPr>
            <a:r>
              <a:rPr lang="en-US" sz="1100" b="0" i="0" u="none" strike="noStrike" cap="none">
                <a:solidFill>
                  <a:srgbClr val="1E293B"/>
                </a:solidFill>
                <a:latin typeface="Calibri"/>
                <a:ea typeface="Calibri"/>
                <a:cs typeface="Calibri"/>
              </a:rPr>
              <a:t>Live Demo</a:t>
            </a:r>
            <a:endParaRPr sz="1100" b="0" i="0" u="none" strike="noStrike" cap="none">
              <a:solidFill>
                <a:srgbClr val="FFFFFF"/>
              </a:solidFill>
              <a:latin typeface="Arial"/>
              <a:ea typeface="Arial"/>
              <a:cs typeface="Arial"/>
            </a:endParaRPr>
          </a:p>
          <a:p>
            <a:pPr marL="343080" marR="0" lvl="0" indent="-343080" algn="l" rtl="0">
              <a:lnSpc>
                <a:spcPct val="100000"/>
              </a:lnSpc>
              <a:spcBef>
                <a:spcPts val="0"/>
              </a:spcBef>
              <a:spcAft>
                <a:spcPts val="0"/>
              </a:spcAft>
              <a:buClr>
                <a:srgbClr val="1E293B"/>
              </a:buClr>
              <a:buSzPts val="1100"/>
              <a:buFont typeface="Noto Sans Symbols"/>
              <a:buChar char="∙"/>
              <a:defRPr/>
            </a:pPr>
            <a:r>
              <a:rPr lang="en-US" sz="1100" b="0" i="0" u="none" strike="noStrike" cap="none">
                <a:solidFill>
                  <a:srgbClr val="1E293B"/>
                </a:solidFill>
                <a:latin typeface="Calibri"/>
                <a:ea typeface="Calibri"/>
                <a:cs typeface="Calibri"/>
              </a:rPr>
              <a:t>Critical Reflection</a:t>
            </a:r>
            <a:endParaRPr sz="1100" b="0" i="0" u="none" strike="noStrike" cap="none">
              <a:solidFill>
                <a:srgbClr val="FFFFFF"/>
              </a:solidFill>
              <a:latin typeface="Arial"/>
              <a:ea typeface="Arial"/>
              <a:cs typeface="Arial"/>
            </a:endParaRPr>
          </a:p>
        </p:txBody>
      </p:sp>
      <p:sp>
        <p:nvSpPr>
          <p:cNvPr id="1025641981" name="Google Shape;43;p4"/>
          <p:cNvSpPr/>
          <p:nvPr/>
        </p:nvSpPr>
        <p:spPr bwMode="auto">
          <a:xfrm>
            <a:off x="457200" y="4754880"/>
            <a:ext cx="8229240" cy="2739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endParaRPr sz="1000" b="0" i="0" u="none" strike="noStrike" cap="none">
              <a:solidFill>
                <a:schemeClr val="dk1"/>
              </a:solidFill>
              <a:latin typeface="Calibri"/>
              <a:ea typeface="Calibri"/>
              <a:cs typeface="Calibri"/>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D2D44"/>
        </a:solidFill>
      </p:bgPr>
    </p:bg>
    <p:spTree>
      <p:nvGrpSpPr>
        <p:cNvPr id="1" name=""/>
        <p:cNvGrpSpPr/>
        <p:nvPr/>
      </p:nvGrpSpPr>
      <p:grpSpPr bwMode="auto">
        <a:xfrm>
          <a:off x="0" y="0"/>
          <a:ext cx="0" cy="0"/>
          <a:chOff x="0" y="0"/>
          <a:chExt cx="0" cy="0"/>
        </a:xfrm>
      </p:grpSpPr>
      <p:sp>
        <p:nvSpPr>
          <p:cNvPr id="1541646583" name="Google Shape;49;p5"/>
          <p:cNvSpPr/>
          <p:nvPr/>
        </p:nvSpPr>
        <p:spPr bwMode="auto">
          <a:xfrm>
            <a:off x="0" y="0"/>
            <a:ext cx="200880" cy="514332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608319745" name="Google Shape;50;p5"/>
          <p:cNvSpPr/>
          <p:nvPr/>
        </p:nvSpPr>
        <p:spPr bwMode="auto">
          <a:xfrm>
            <a:off x="457200" y="1188720"/>
            <a:ext cx="822924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300" b="0" i="1" u="none" strike="noStrike" cap="none">
                <a:solidFill>
                  <a:srgbClr val="9FB4CC"/>
                </a:solidFill>
                <a:latin typeface="Calibri"/>
                <a:ea typeface="Calibri"/>
                <a:cs typeface="Calibri"/>
              </a:rPr>
              <a:t>Section 1</a:t>
            </a:r>
            <a:endParaRPr sz="1300" b="0" i="0" u="none" strike="noStrike" cap="none">
              <a:solidFill>
                <a:srgbClr val="FFFFFF"/>
              </a:solidFill>
              <a:latin typeface="Arial"/>
              <a:ea typeface="Arial"/>
              <a:cs typeface="Arial"/>
            </a:endParaRPr>
          </a:p>
        </p:txBody>
      </p:sp>
      <p:sp>
        <p:nvSpPr>
          <p:cNvPr id="1918711554" name="Google Shape;51;p5"/>
          <p:cNvSpPr/>
          <p:nvPr/>
        </p:nvSpPr>
        <p:spPr bwMode="auto">
          <a:xfrm>
            <a:off x="457200" y="1600200"/>
            <a:ext cx="8229240" cy="18284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4000" b="1" i="0" u="none" strike="noStrike" cap="none">
                <a:solidFill>
                  <a:srgbClr val="FFFFFF"/>
                </a:solidFill>
                <a:latin typeface="Trebuchet MS"/>
                <a:ea typeface="Trebuchet MS"/>
                <a:cs typeface="Trebuchet MS"/>
              </a:rPr>
              <a:t>Domain, Dataset</a:t>
            </a:r>
            <a:endParaRPr sz="4000" b="0" i="0" u="none" strike="noStrike" cap="none">
              <a:solidFill>
                <a:srgbClr val="FFFFFF"/>
              </a:solidFill>
              <a:latin typeface="Arial"/>
              <a:ea typeface="Arial"/>
              <a:cs typeface="Arial"/>
            </a:endParaRPr>
          </a:p>
          <a:p>
            <a:pPr marL="0" marR="0" lvl="0" indent="0" algn="l" rtl="0">
              <a:lnSpc>
                <a:spcPct val="100000"/>
              </a:lnSpc>
              <a:spcBef>
                <a:spcPts val="0"/>
              </a:spcBef>
              <a:spcAft>
                <a:spcPts val="0"/>
              </a:spcAft>
              <a:buNone/>
              <a:defRPr/>
            </a:pPr>
            <a:r>
              <a:rPr lang="en-US" sz="4000" b="1" i="0" u="none" strike="noStrike" cap="none">
                <a:solidFill>
                  <a:srgbClr val="FFFFFF"/>
                </a:solidFill>
                <a:latin typeface="Trebuchet MS"/>
                <a:ea typeface="Trebuchet MS"/>
                <a:cs typeface="Trebuchet MS"/>
              </a:rPr>
              <a:t>and DaaS</a:t>
            </a:r>
            <a:endParaRPr sz="4000" b="0" i="0" u="none" strike="noStrike" cap="none">
              <a:solidFill>
                <a:srgbClr val="FFFFFF"/>
              </a:solidFill>
              <a:latin typeface="Arial"/>
              <a:ea typeface="Arial"/>
              <a:cs typeface="Arial"/>
            </a:endParaRPr>
          </a:p>
        </p:txBody>
      </p:sp>
      <p:sp>
        <p:nvSpPr>
          <p:cNvPr id="2145013557" name="Google Shape;52;p5"/>
          <p:cNvSpPr/>
          <p:nvPr/>
        </p:nvSpPr>
        <p:spPr bwMode="auto">
          <a:xfrm>
            <a:off x="457200" y="4114800"/>
            <a:ext cx="8229240" cy="365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0" i="0" u="none" strike="noStrike" cap="none">
                <a:solidFill>
                  <a:srgbClr val="9FB4CC"/>
                </a:solidFill>
                <a:latin typeface="Calibri"/>
                <a:ea typeface="Calibri"/>
                <a:cs typeface="Calibri"/>
              </a:rPr>
              <a:t>Edoardo Di Giuseppe</a:t>
            </a:r>
            <a:endParaRPr sz="1200" b="0" i="0" u="none" strike="noStrike" cap="none">
              <a:solidFill>
                <a:srgbClr val="FFFFFF"/>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21526044" name="Google Shape;58;p6"/>
          <p:cNvSpPr/>
          <p:nvPr/>
        </p:nvSpPr>
        <p:spPr bwMode="auto">
          <a:xfrm>
            <a:off x="365760" y="201240"/>
            <a:ext cx="1737000" cy="255600"/>
          </a:xfrm>
          <a:prstGeom prst="roundRect">
            <a:avLst>
              <a:gd name="adj" fmla="val 14286"/>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453141330" name="Google Shape;59;p6"/>
          <p:cNvSpPr/>
          <p:nvPr/>
        </p:nvSpPr>
        <p:spPr bwMode="auto">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i="0" u="none" strike="noStrike" cap="none">
                <a:solidFill>
                  <a:srgbClr val="FFFFFF"/>
                </a:solidFill>
                <a:latin typeface="Calibri"/>
                <a:ea typeface="Calibri"/>
                <a:cs typeface="Calibri"/>
              </a:rPr>
              <a:t>DOMAIN</a:t>
            </a:r>
            <a:endParaRPr sz="800" b="0" i="0" u="none" strike="noStrike" cap="none">
              <a:solidFill>
                <a:srgbClr val="000000"/>
              </a:solidFill>
              <a:latin typeface="Arial"/>
              <a:ea typeface="Arial"/>
              <a:cs typeface="Arial"/>
            </a:endParaRPr>
          </a:p>
        </p:txBody>
      </p:sp>
      <p:sp>
        <p:nvSpPr>
          <p:cNvPr id="1800103569" name="Google Shape;60;p6"/>
          <p:cNvSpPr/>
          <p:nvPr/>
        </p:nvSpPr>
        <p:spPr bwMode="auto">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2600" b="1" i="0" u="none" strike="noStrike" cap="none">
                <a:solidFill>
                  <a:srgbClr val="1D2D44"/>
                </a:solidFill>
                <a:latin typeface="Trebuchet MS"/>
                <a:ea typeface="Trebuchet MS"/>
                <a:cs typeface="Trebuchet MS"/>
              </a:rPr>
              <a:t>Chosen Domain: Employment</a:t>
            </a:r>
            <a:endParaRPr sz="2600" b="0" i="0" u="none" strike="noStrike" cap="none">
              <a:solidFill>
                <a:srgbClr val="000000"/>
              </a:solidFill>
              <a:latin typeface="Arial"/>
              <a:ea typeface="Arial"/>
              <a:cs typeface="Arial"/>
            </a:endParaRPr>
          </a:p>
        </p:txBody>
      </p:sp>
      <p:sp>
        <p:nvSpPr>
          <p:cNvPr id="1386469716" name="Google Shape;61;p6"/>
          <p:cNvSpPr/>
          <p:nvPr/>
        </p:nvSpPr>
        <p:spPr bwMode="auto">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163359235" name="Google Shape;62;p6"/>
          <p:cNvSpPr/>
          <p:nvPr/>
        </p:nvSpPr>
        <p:spPr bwMode="auto">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defRPr/>
            </a:pPr>
            <a:r>
              <a:rPr lang="en-US" sz="900" b="0" i="0" u="none" strike="noStrike" cap="none">
                <a:solidFill>
                  <a:srgbClr val="6B7280"/>
                </a:solidFill>
                <a:latin typeface="Calibri"/>
                <a:ea typeface="Calibri"/>
                <a:cs typeface="Calibri"/>
              </a:rPr>
              <a:t>4</a:t>
            </a:r>
            <a:endParaRPr sz="900" b="0" i="0" u="none" strike="noStrike" cap="none">
              <a:solidFill>
                <a:srgbClr val="000000"/>
              </a:solidFill>
              <a:latin typeface="Arial"/>
              <a:ea typeface="Arial"/>
              <a:cs typeface="Arial"/>
            </a:endParaRPr>
          </a:p>
        </p:txBody>
      </p:sp>
      <p:sp>
        <p:nvSpPr>
          <p:cNvPr id="1197124676" name="Google Shape;63;p6"/>
          <p:cNvSpPr/>
          <p:nvPr/>
        </p:nvSpPr>
        <p:spPr bwMode="auto">
          <a:xfrm>
            <a:off x="365760" y="1325880"/>
            <a:ext cx="3977280" cy="3474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585617879" name="Google Shape;64;p6"/>
          <p:cNvSpPr/>
          <p:nvPr/>
        </p:nvSpPr>
        <p:spPr bwMode="auto">
          <a:xfrm>
            <a:off x="548640" y="1463040"/>
            <a:ext cx="3565800" cy="365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400" b="1" i="0" u="none" strike="noStrike" cap="none">
                <a:solidFill>
                  <a:srgbClr val="1D2D44"/>
                </a:solidFill>
                <a:latin typeface="Trebuchet MS"/>
                <a:ea typeface="Trebuchet MS"/>
                <a:cs typeface="Trebuchet MS"/>
              </a:rPr>
              <a:t>Why Employment Domain?</a:t>
            </a:r>
            <a:endParaRPr sz="1400" b="0" i="0" u="none" strike="noStrike" cap="none">
              <a:solidFill>
                <a:srgbClr val="000000"/>
              </a:solidFill>
              <a:latin typeface="Arial"/>
              <a:ea typeface="Arial"/>
              <a:cs typeface="Arial"/>
            </a:endParaRPr>
          </a:p>
        </p:txBody>
      </p:sp>
      <p:sp>
        <p:nvSpPr>
          <p:cNvPr id="947448929" name="Google Shape;65;p6"/>
          <p:cNvSpPr/>
          <p:nvPr/>
        </p:nvSpPr>
        <p:spPr bwMode="auto">
          <a:xfrm>
            <a:off x="548640" y="1920240"/>
            <a:ext cx="3657240" cy="2742840"/>
          </a:xfrm>
          <a:prstGeom prst="rect">
            <a:avLst/>
          </a:prstGeom>
          <a:noFill/>
          <a:ln>
            <a:noFill/>
          </a:ln>
        </p:spPr>
        <p:txBody>
          <a:bodyPr spcFirstLastPara="1" wrap="square" lIns="90000" tIns="45000" rIns="90000" bIns="45000" anchor="t" anchorCtr="0">
            <a:noAutofit/>
          </a:bodyPr>
          <a:lstStyle/>
          <a:p>
            <a:pPr marL="343080" marR="0" lvl="0" indent="-343080" algn="l" rtl="0">
              <a:lnSpc>
                <a:spcPct val="100000"/>
              </a:lnSpc>
              <a:spcBef>
                <a:spcPts val="0"/>
              </a:spcBef>
              <a:spcAft>
                <a:spcPts val="0"/>
              </a:spcAft>
              <a:buClr>
                <a:srgbClr val="1D2D44"/>
              </a:buClr>
              <a:buSzPts val="1200"/>
              <a:buFont typeface="Noto Sans Symbols"/>
              <a:buChar char="∙"/>
              <a:defRPr/>
            </a:pPr>
            <a:r>
              <a:rPr lang="en-US" sz="1200" b="0" i="0" u="none" strike="noStrike" cap="none">
                <a:solidFill>
                  <a:srgbClr val="1D2D44"/>
                </a:solidFill>
                <a:latin typeface="Calibri"/>
                <a:ea typeface="Calibri"/>
                <a:cs typeface="Calibri"/>
              </a:rPr>
              <a:t>Rich structured data domain</a:t>
            </a:r>
            <a:endParaRPr sz="1200" b="0" i="0" u="none" strike="noStrike" cap="none">
              <a:solidFill>
                <a:srgbClr val="000000"/>
              </a:solidFill>
              <a:latin typeface="Arial"/>
              <a:ea typeface="Arial"/>
              <a:cs typeface="Arial"/>
            </a:endParaRPr>
          </a:p>
          <a:p>
            <a:pPr marL="343080" marR="0" lvl="0" indent="-343080" algn="l" rtl="0">
              <a:lnSpc>
                <a:spcPct val="100000"/>
              </a:lnSpc>
              <a:spcBef>
                <a:spcPts val="0"/>
              </a:spcBef>
              <a:spcAft>
                <a:spcPts val="0"/>
              </a:spcAft>
              <a:buClr>
                <a:srgbClr val="1D2D44"/>
              </a:buClr>
              <a:buSzPts val="1200"/>
              <a:buFont typeface="Noto Sans Symbols"/>
              <a:buChar char="∙"/>
              <a:defRPr/>
            </a:pPr>
            <a:r>
              <a:rPr lang="en-US" sz="1200" b="0" i="0" u="none" strike="noStrike" cap="none">
                <a:solidFill>
                  <a:srgbClr val="1D2D44"/>
                </a:solidFill>
                <a:latin typeface="Calibri"/>
                <a:ea typeface="Calibri"/>
                <a:cs typeface="Calibri"/>
              </a:rPr>
              <a:t>High-impact decisions affecting people's lives</a:t>
            </a:r>
            <a:endParaRPr sz="1200" b="0" i="0" u="none" strike="noStrike" cap="none">
              <a:solidFill>
                <a:srgbClr val="000000"/>
              </a:solidFill>
              <a:latin typeface="Arial"/>
              <a:ea typeface="Arial"/>
              <a:cs typeface="Arial"/>
            </a:endParaRPr>
          </a:p>
          <a:p>
            <a:pPr marL="343080" marR="0" lvl="0" indent="-343080" algn="l" rtl="0">
              <a:lnSpc>
                <a:spcPct val="100000"/>
              </a:lnSpc>
              <a:spcBef>
                <a:spcPts val="0"/>
              </a:spcBef>
              <a:spcAft>
                <a:spcPts val="0"/>
              </a:spcAft>
              <a:buClr>
                <a:srgbClr val="1D2D44"/>
              </a:buClr>
              <a:buSzPts val="1200"/>
              <a:buFont typeface="Noto Sans Symbols"/>
              <a:buChar char="∙"/>
              <a:defRPr/>
            </a:pPr>
            <a:r>
              <a:rPr lang="en-US" sz="1200" b="0" i="0" u="none" strike="noStrike" cap="none">
                <a:solidFill>
                  <a:srgbClr val="1D2D44"/>
                </a:solidFill>
                <a:latin typeface="Calibri"/>
                <a:ea typeface="Calibri"/>
                <a:cs typeface="Calibri"/>
              </a:rPr>
              <a:t>High risk of algorithmic bias and discrimination</a:t>
            </a:r>
            <a:endParaRPr sz="1200" b="0" i="0" u="none" strike="noStrike" cap="none">
              <a:solidFill>
                <a:srgbClr val="000000"/>
              </a:solidFill>
              <a:latin typeface="Arial"/>
              <a:ea typeface="Arial"/>
              <a:cs typeface="Arial"/>
            </a:endParaRPr>
          </a:p>
          <a:p>
            <a:pPr marL="343080" marR="0" lvl="0" indent="-343080" algn="l" rtl="0">
              <a:lnSpc>
                <a:spcPct val="100000"/>
              </a:lnSpc>
              <a:spcBef>
                <a:spcPts val="0"/>
              </a:spcBef>
              <a:spcAft>
                <a:spcPts val="0"/>
              </a:spcAft>
              <a:buClr>
                <a:srgbClr val="1D2D44"/>
              </a:buClr>
              <a:buSzPts val="1200"/>
              <a:buFont typeface="Noto Sans Symbols"/>
              <a:buChar char="∙"/>
              <a:defRPr/>
            </a:pPr>
            <a:r>
              <a:rPr lang="en-US" sz="1200" b="0" i="0" u="none" strike="noStrike" cap="none">
                <a:solidFill>
                  <a:srgbClr val="1D2D44"/>
                </a:solidFill>
                <a:latin typeface="Calibri"/>
                <a:ea typeface="Calibri"/>
                <a:cs typeface="Calibri"/>
              </a:rPr>
              <a:t>Relevant to existing regulations (D.Lgs. 198/2006, GDPR, UN CRPD)</a:t>
            </a:r>
            <a:endParaRPr sz="1200" b="0" i="0" u="none" strike="noStrike" cap="none">
              <a:solidFill>
                <a:srgbClr val="000000"/>
              </a:solidFill>
              <a:latin typeface="Arial"/>
              <a:ea typeface="Arial"/>
              <a:cs typeface="Arial"/>
            </a:endParaRPr>
          </a:p>
        </p:txBody>
      </p:sp>
      <p:sp>
        <p:nvSpPr>
          <p:cNvPr id="2136440191" name="Google Shape;66;p6"/>
          <p:cNvSpPr/>
          <p:nvPr/>
        </p:nvSpPr>
        <p:spPr bwMode="auto">
          <a:xfrm>
            <a:off x="4480560" y="1325880"/>
            <a:ext cx="4297320" cy="3474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3180973" name="Google Shape;67;p6"/>
          <p:cNvSpPr/>
          <p:nvPr/>
        </p:nvSpPr>
        <p:spPr bwMode="auto">
          <a:xfrm>
            <a:off x="4663440" y="1463040"/>
            <a:ext cx="3931560" cy="365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400" b="1" i="0" u="none" strike="noStrike" cap="none">
                <a:solidFill>
                  <a:srgbClr val="1D2D44"/>
                </a:solidFill>
                <a:latin typeface="Trebuchet MS"/>
                <a:ea typeface="Trebuchet MS"/>
                <a:cs typeface="Trebuchet MS"/>
              </a:rPr>
              <a:t>Project Use Case</a:t>
            </a:r>
            <a:endParaRPr sz="1400" b="0" i="0" u="none" strike="noStrike" cap="none">
              <a:solidFill>
                <a:srgbClr val="000000"/>
              </a:solidFill>
              <a:latin typeface="Arial"/>
              <a:ea typeface="Arial"/>
              <a:cs typeface="Arial"/>
            </a:endParaRPr>
          </a:p>
        </p:txBody>
      </p:sp>
      <p:sp>
        <p:nvSpPr>
          <p:cNvPr id="2121242383" name="Google Shape;68;p6"/>
          <p:cNvSpPr/>
          <p:nvPr/>
        </p:nvSpPr>
        <p:spPr bwMode="auto">
          <a:xfrm>
            <a:off x="4663440" y="1874520"/>
            <a:ext cx="347040" cy="347040"/>
          </a:xfrm>
          <a:prstGeom prst="ellipse">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904676459" name="Google Shape;69;p6"/>
          <p:cNvSpPr/>
          <p:nvPr/>
        </p:nvSpPr>
        <p:spPr bwMode="auto">
          <a:xfrm>
            <a:off x="4663440" y="1874520"/>
            <a:ext cx="347040"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100" b="1" i="0" u="none" strike="noStrike" cap="none">
                <a:solidFill>
                  <a:srgbClr val="FFFFFF"/>
                </a:solidFill>
                <a:latin typeface="Calibri"/>
                <a:ea typeface="Calibri"/>
                <a:cs typeface="Calibri"/>
              </a:rPr>
              <a:t>1</a:t>
            </a:r>
            <a:endParaRPr sz="1100" b="0" i="0" u="none" strike="noStrike" cap="none">
              <a:solidFill>
                <a:srgbClr val="000000"/>
              </a:solidFill>
              <a:latin typeface="Arial"/>
              <a:ea typeface="Arial"/>
              <a:cs typeface="Arial"/>
            </a:endParaRPr>
          </a:p>
        </p:txBody>
      </p:sp>
      <p:sp>
        <p:nvSpPr>
          <p:cNvPr id="2015280479" name="Google Shape;70;p6"/>
          <p:cNvSpPr/>
          <p:nvPr/>
        </p:nvSpPr>
        <p:spPr bwMode="auto">
          <a:xfrm>
            <a:off x="5120640" y="1874520"/>
            <a:ext cx="347436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1" i="0" u="none" strike="noStrike" cap="none">
                <a:solidFill>
                  <a:srgbClr val="1D2D44"/>
                </a:solidFill>
                <a:latin typeface="Calibri"/>
                <a:ea typeface="Calibri"/>
                <a:cs typeface="Calibri"/>
              </a:rPr>
              <a:t>Employment agent  </a:t>
            </a:r>
            <a:r>
              <a:rPr lang="en-US" sz="1200" b="0" i="0" u="none" strike="noStrike" cap="none">
                <a:solidFill>
                  <a:srgbClr val="6B7280"/>
                </a:solidFill>
                <a:latin typeface="Calibri"/>
                <a:ea typeface="Calibri"/>
                <a:cs typeface="Calibri"/>
              </a:rPr>
              <a:t>Searches jobs in the system for the candidate</a:t>
            </a:r>
            <a:endParaRPr sz="1200" b="0" i="0" u="none" strike="noStrike" cap="none">
              <a:solidFill>
                <a:srgbClr val="000000"/>
              </a:solidFill>
              <a:latin typeface="Arial"/>
              <a:ea typeface="Arial"/>
              <a:cs typeface="Arial"/>
            </a:endParaRPr>
          </a:p>
        </p:txBody>
      </p:sp>
      <p:cxnSp>
        <p:nvCxnSpPr>
          <p:cNvPr id="856881866" name="Google Shape;71;p6"/>
          <p:cNvCxnSpPr/>
          <p:nvPr/>
        </p:nvCxnSpPr>
        <p:spPr bwMode="auto">
          <a:xfrm>
            <a:off x="4827960" y="2221920"/>
            <a:ext cx="360" cy="402120"/>
          </a:xfrm>
          <a:prstGeom prst="straightConnector1">
            <a:avLst/>
          </a:prstGeom>
          <a:noFill/>
          <a:ln w="19050" cap="flat" cmpd="sng">
            <a:solidFill>
              <a:srgbClr val="2C5FDC"/>
            </a:solidFill>
            <a:prstDash val="solid"/>
            <a:round/>
            <a:headEnd type="none" w="sm" len="sm"/>
            <a:tailEnd type="none" w="sm" len="sm"/>
          </a:ln>
        </p:spPr>
      </p:cxnSp>
      <p:sp>
        <p:nvSpPr>
          <p:cNvPr id="983765755" name="Google Shape;72;p6"/>
          <p:cNvSpPr/>
          <p:nvPr/>
        </p:nvSpPr>
        <p:spPr bwMode="auto">
          <a:xfrm>
            <a:off x="4663440" y="2624400"/>
            <a:ext cx="347040" cy="347040"/>
          </a:xfrm>
          <a:prstGeom prst="ellipse">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788980534" name="Google Shape;73;p6"/>
          <p:cNvSpPr/>
          <p:nvPr/>
        </p:nvSpPr>
        <p:spPr bwMode="auto">
          <a:xfrm>
            <a:off x="4663440" y="2624400"/>
            <a:ext cx="347040"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100" b="1" i="0" u="none" strike="noStrike" cap="none">
                <a:solidFill>
                  <a:srgbClr val="FFFFFF"/>
                </a:solidFill>
                <a:latin typeface="Calibri"/>
                <a:ea typeface="Calibri"/>
                <a:cs typeface="Calibri"/>
              </a:rPr>
              <a:t>2</a:t>
            </a:r>
            <a:endParaRPr sz="1100" b="0" i="0" u="none" strike="noStrike" cap="none">
              <a:solidFill>
                <a:srgbClr val="000000"/>
              </a:solidFill>
              <a:latin typeface="Arial"/>
              <a:ea typeface="Arial"/>
              <a:cs typeface="Arial"/>
            </a:endParaRPr>
          </a:p>
        </p:txBody>
      </p:sp>
      <p:sp>
        <p:nvSpPr>
          <p:cNvPr id="1136246432" name="Google Shape;74;p6"/>
          <p:cNvSpPr/>
          <p:nvPr/>
        </p:nvSpPr>
        <p:spPr bwMode="auto">
          <a:xfrm>
            <a:off x="5120640" y="2624400"/>
            <a:ext cx="347436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1" i="0" u="none" strike="noStrike" cap="none">
                <a:solidFill>
                  <a:srgbClr val="1D2D44"/>
                </a:solidFill>
                <a:latin typeface="Calibri"/>
                <a:ea typeface="Calibri"/>
                <a:cs typeface="Calibri"/>
              </a:rPr>
              <a:t>DaaS Module  </a:t>
            </a:r>
            <a:r>
              <a:rPr lang="en-US" sz="1200" b="0" i="0" u="none" strike="noStrike" cap="none">
                <a:solidFill>
                  <a:srgbClr val="6B7280"/>
                </a:solidFill>
                <a:latin typeface="Calibri"/>
                <a:ea typeface="Calibri"/>
                <a:cs typeface="Calibri"/>
              </a:rPr>
              <a:t>Recommends offers via SPARQL</a:t>
            </a:r>
            <a:endParaRPr sz="1200" b="0" i="0" u="none" strike="noStrike" cap="none">
              <a:solidFill>
                <a:srgbClr val="000000"/>
              </a:solidFill>
              <a:latin typeface="Arial"/>
              <a:ea typeface="Arial"/>
              <a:cs typeface="Arial"/>
            </a:endParaRPr>
          </a:p>
        </p:txBody>
      </p:sp>
      <p:cxnSp>
        <p:nvCxnSpPr>
          <p:cNvPr id="214943205" name="Google Shape;75;p6"/>
          <p:cNvCxnSpPr/>
          <p:nvPr/>
        </p:nvCxnSpPr>
        <p:spPr bwMode="auto">
          <a:xfrm>
            <a:off x="4827960" y="2971800"/>
            <a:ext cx="360" cy="402120"/>
          </a:xfrm>
          <a:prstGeom prst="straightConnector1">
            <a:avLst/>
          </a:prstGeom>
          <a:noFill/>
          <a:ln w="19050" cap="flat" cmpd="sng">
            <a:solidFill>
              <a:srgbClr val="2C5FDC"/>
            </a:solidFill>
            <a:prstDash val="solid"/>
            <a:round/>
            <a:headEnd type="none" w="sm" len="sm"/>
            <a:tailEnd type="none" w="sm" len="sm"/>
          </a:ln>
        </p:spPr>
      </p:cxnSp>
      <p:sp>
        <p:nvSpPr>
          <p:cNvPr id="967372569" name="Google Shape;76;p6"/>
          <p:cNvSpPr/>
          <p:nvPr/>
        </p:nvSpPr>
        <p:spPr bwMode="auto">
          <a:xfrm>
            <a:off x="4663440" y="3374280"/>
            <a:ext cx="347040" cy="347040"/>
          </a:xfrm>
          <a:prstGeom prst="ellipse">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438337067" name="Google Shape;77;p6"/>
          <p:cNvSpPr/>
          <p:nvPr/>
        </p:nvSpPr>
        <p:spPr bwMode="auto">
          <a:xfrm>
            <a:off x="4663440" y="3374280"/>
            <a:ext cx="347040"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100" b="1" i="0" u="none" strike="noStrike" cap="none">
                <a:solidFill>
                  <a:srgbClr val="FFFFFF"/>
                </a:solidFill>
                <a:latin typeface="Calibri"/>
                <a:ea typeface="Calibri"/>
                <a:cs typeface="Calibri"/>
              </a:rPr>
              <a:t>3</a:t>
            </a:r>
            <a:endParaRPr sz="1100" b="0" i="0" u="none" strike="noStrike" cap="none">
              <a:solidFill>
                <a:srgbClr val="000000"/>
              </a:solidFill>
              <a:latin typeface="Arial"/>
              <a:ea typeface="Arial"/>
              <a:cs typeface="Arial"/>
            </a:endParaRPr>
          </a:p>
        </p:txBody>
      </p:sp>
      <p:sp>
        <p:nvSpPr>
          <p:cNvPr id="446859950" name="Google Shape;78;p6"/>
          <p:cNvSpPr/>
          <p:nvPr/>
        </p:nvSpPr>
        <p:spPr bwMode="auto">
          <a:xfrm>
            <a:off x="5120640" y="3374280"/>
            <a:ext cx="347436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1" i="0" u="none" strike="noStrike" cap="none">
                <a:solidFill>
                  <a:srgbClr val="1D2D44"/>
                </a:solidFill>
                <a:latin typeface="Calibri"/>
                <a:ea typeface="Calibri"/>
                <a:cs typeface="Calibri"/>
              </a:rPr>
              <a:t>EaaS Module  </a:t>
            </a:r>
            <a:r>
              <a:rPr lang="en-US" sz="1200" b="0" i="0" u="none" strike="noStrike" cap="none">
                <a:solidFill>
                  <a:srgbClr val="6B7280"/>
                </a:solidFill>
                <a:latin typeface="Calibri"/>
                <a:ea typeface="Calibri"/>
                <a:cs typeface="Calibri"/>
              </a:rPr>
              <a:t>Evaluates the recommendation</a:t>
            </a:r>
            <a:endParaRPr sz="1200" b="0" i="0" u="none" strike="noStrike" cap="none">
              <a:solidFill>
                <a:srgbClr val="000000"/>
              </a:solidFill>
              <a:latin typeface="Arial"/>
              <a:ea typeface="Arial"/>
              <a:cs typeface="Arial"/>
            </a:endParaRPr>
          </a:p>
        </p:txBody>
      </p:sp>
      <p:cxnSp>
        <p:nvCxnSpPr>
          <p:cNvPr id="12167977" name="Google Shape;79;p6"/>
          <p:cNvCxnSpPr/>
          <p:nvPr/>
        </p:nvCxnSpPr>
        <p:spPr bwMode="auto">
          <a:xfrm>
            <a:off x="4827960" y="3721320"/>
            <a:ext cx="360" cy="402480"/>
          </a:xfrm>
          <a:prstGeom prst="straightConnector1">
            <a:avLst/>
          </a:prstGeom>
          <a:noFill/>
          <a:ln w="19050" cap="flat" cmpd="sng">
            <a:solidFill>
              <a:srgbClr val="2C5FDC"/>
            </a:solidFill>
            <a:prstDash val="solid"/>
            <a:round/>
            <a:headEnd type="none" w="sm" len="sm"/>
            <a:tailEnd type="none" w="sm" len="sm"/>
          </a:ln>
        </p:spPr>
      </p:cxnSp>
      <p:sp>
        <p:nvSpPr>
          <p:cNvPr id="1617472834" name="Google Shape;80;p6"/>
          <p:cNvSpPr/>
          <p:nvPr/>
        </p:nvSpPr>
        <p:spPr bwMode="auto">
          <a:xfrm>
            <a:off x="4663440" y="4123800"/>
            <a:ext cx="347040" cy="347040"/>
          </a:xfrm>
          <a:prstGeom prst="ellipse">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375110915" name="Google Shape;81;p6"/>
          <p:cNvSpPr/>
          <p:nvPr/>
        </p:nvSpPr>
        <p:spPr bwMode="auto">
          <a:xfrm>
            <a:off x="4663440" y="4123800"/>
            <a:ext cx="347040"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100" b="1" i="0" u="none" strike="noStrike" cap="none">
                <a:solidFill>
                  <a:srgbClr val="FFFFFF"/>
                </a:solidFill>
                <a:latin typeface="Calibri"/>
                <a:ea typeface="Calibri"/>
                <a:cs typeface="Calibri"/>
              </a:rPr>
              <a:t>4</a:t>
            </a:r>
            <a:endParaRPr sz="1100" b="0" i="0" u="none" strike="noStrike" cap="none">
              <a:solidFill>
                <a:srgbClr val="000000"/>
              </a:solidFill>
              <a:latin typeface="Arial"/>
              <a:ea typeface="Arial"/>
              <a:cs typeface="Arial"/>
            </a:endParaRPr>
          </a:p>
        </p:txBody>
      </p:sp>
      <p:sp>
        <p:nvSpPr>
          <p:cNvPr id="849227493" name="Google Shape;82;p6"/>
          <p:cNvSpPr/>
          <p:nvPr/>
        </p:nvSpPr>
        <p:spPr bwMode="auto">
          <a:xfrm>
            <a:off x="5120640" y="4123800"/>
            <a:ext cx="347436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1" i="0" u="none" strike="noStrike" cap="none">
                <a:solidFill>
                  <a:srgbClr val="1D2D44"/>
                </a:solidFill>
                <a:latin typeface="Calibri"/>
                <a:ea typeface="Calibri"/>
                <a:cs typeface="Calibri"/>
              </a:rPr>
              <a:t>AUDIT  </a:t>
            </a:r>
            <a:r>
              <a:rPr lang="en-US" sz="1200" b="0" i="0" u="none" strike="noStrike" cap="none">
                <a:solidFill>
                  <a:srgbClr val="6B7280"/>
                </a:solidFill>
                <a:latin typeface="Calibri"/>
                <a:ea typeface="Calibri"/>
                <a:cs typeface="Calibri"/>
              </a:rPr>
              <a:t>Every decision is tracked</a:t>
            </a:r>
            <a:endParaRPr sz="1200" b="0" i="0" u="none" strike="noStrike" cap="none">
              <a:solidFill>
                <a:srgbClr val="000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30347843" name="Google Shape;88;p7"/>
          <p:cNvSpPr/>
          <p:nvPr/>
        </p:nvSpPr>
        <p:spPr bwMode="auto">
          <a:xfrm>
            <a:off x="365760" y="201240"/>
            <a:ext cx="1737000" cy="255600"/>
          </a:xfrm>
          <a:prstGeom prst="roundRect">
            <a:avLst>
              <a:gd name="adj" fmla="val 14286"/>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879466432" name="Google Shape;89;p7"/>
          <p:cNvSpPr/>
          <p:nvPr/>
        </p:nvSpPr>
        <p:spPr bwMode="auto">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i="0" u="none" strike="noStrike" cap="none">
                <a:solidFill>
                  <a:srgbClr val="FFFFFF"/>
                </a:solidFill>
                <a:latin typeface="Calibri"/>
                <a:ea typeface="Calibri"/>
                <a:cs typeface="Calibri"/>
              </a:rPr>
              <a:t>ARCHITECTURE</a:t>
            </a:r>
            <a:endParaRPr sz="800" b="0" i="0" u="none" strike="noStrike" cap="none">
              <a:solidFill>
                <a:srgbClr val="000000"/>
              </a:solidFill>
              <a:latin typeface="Arial"/>
              <a:ea typeface="Arial"/>
              <a:cs typeface="Arial"/>
            </a:endParaRPr>
          </a:p>
        </p:txBody>
      </p:sp>
      <p:sp>
        <p:nvSpPr>
          <p:cNvPr id="649389608" name="Google Shape;90;p7"/>
          <p:cNvSpPr/>
          <p:nvPr/>
        </p:nvSpPr>
        <p:spPr bwMode="auto">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2600" b="1" i="0" u="none" strike="noStrike" cap="none">
                <a:solidFill>
                  <a:srgbClr val="1D2D44"/>
                </a:solidFill>
                <a:latin typeface="Trebuchet MS"/>
                <a:ea typeface="Trebuchet MS"/>
                <a:cs typeface="Trebuchet MS"/>
              </a:rPr>
              <a:t>Application Architecture</a:t>
            </a:r>
            <a:endParaRPr sz="2600" b="0" i="0" u="none" strike="noStrike" cap="none">
              <a:solidFill>
                <a:srgbClr val="000000"/>
              </a:solidFill>
              <a:latin typeface="Arial"/>
              <a:ea typeface="Arial"/>
              <a:cs typeface="Arial"/>
            </a:endParaRPr>
          </a:p>
        </p:txBody>
      </p:sp>
      <p:sp>
        <p:nvSpPr>
          <p:cNvPr id="1084601792" name="Google Shape;91;p7"/>
          <p:cNvSpPr/>
          <p:nvPr/>
        </p:nvSpPr>
        <p:spPr bwMode="auto">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363155960" name="Google Shape;92;p7"/>
          <p:cNvSpPr/>
          <p:nvPr/>
        </p:nvSpPr>
        <p:spPr bwMode="auto">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defRPr/>
            </a:pPr>
            <a:r>
              <a:rPr lang="en-US" sz="900" b="0" i="0" u="none" strike="noStrike" cap="none">
                <a:solidFill>
                  <a:srgbClr val="6B7280"/>
                </a:solidFill>
                <a:latin typeface="Calibri"/>
                <a:ea typeface="Calibri"/>
                <a:cs typeface="Calibri"/>
              </a:rPr>
              <a:t>5</a:t>
            </a:r>
            <a:endParaRPr sz="900" b="0" i="0" u="none" strike="noStrike" cap="none">
              <a:solidFill>
                <a:srgbClr val="000000"/>
              </a:solidFill>
              <a:latin typeface="Arial"/>
              <a:ea typeface="Arial"/>
              <a:cs typeface="Arial"/>
            </a:endParaRPr>
          </a:p>
        </p:txBody>
      </p:sp>
      <p:sp>
        <p:nvSpPr>
          <p:cNvPr id="1190655884" name="Google Shape;93;p7"/>
          <p:cNvSpPr/>
          <p:nvPr/>
        </p:nvSpPr>
        <p:spPr bwMode="auto">
          <a:xfrm>
            <a:off x="365760" y="1325880"/>
            <a:ext cx="2559960" cy="3474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871351780" name="Google Shape;94;p7"/>
          <p:cNvSpPr/>
          <p:nvPr/>
        </p:nvSpPr>
        <p:spPr bwMode="auto">
          <a:xfrm>
            <a:off x="365760" y="1325880"/>
            <a:ext cx="2559960" cy="456840"/>
          </a:xfrm>
          <a:prstGeom prst="rect">
            <a:avLst/>
          </a:prstGeom>
          <a:solidFill>
            <a:srgbClr val="9B59B6"/>
          </a:solidFill>
          <a:ln w="12700" cap="flat" cmpd="sng">
            <a:solidFill>
              <a:srgbClr val="9B59B6"/>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230327839" name="Google Shape;95;p7"/>
          <p:cNvSpPr/>
          <p:nvPr/>
        </p:nvSpPr>
        <p:spPr bwMode="auto">
          <a:xfrm>
            <a:off x="365760" y="1325880"/>
            <a:ext cx="255996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400" b="1" i="0" u="none" strike="noStrike" cap="none">
                <a:solidFill>
                  <a:srgbClr val="FFFFFF"/>
                </a:solidFill>
                <a:latin typeface="Trebuchet MS"/>
                <a:ea typeface="Trebuchet MS"/>
                <a:cs typeface="Trebuchet MS"/>
              </a:rPr>
              <a:t>CLIENT  :8080</a:t>
            </a:r>
            <a:endParaRPr sz="1400" b="0" i="0" u="none" strike="noStrike" cap="none">
              <a:solidFill>
                <a:srgbClr val="000000"/>
              </a:solidFill>
              <a:latin typeface="Arial"/>
              <a:ea typeface="Arial"/>
              <a:cs typeface="Arial"/>
            </a:endParaRPr>
          </a:p>
        </p:txBody>
      </p:sp>
      <p:sp>
        <p:nvSpPr>
          <p:cNvPr id="1124353021" name="Google Shape;96;p7"/>
          <p:cNvSpPr/>
          <p:nvPr/>
        </p:nvSpPr>
        <p:spPr bwMode="auto">
          <a:xfrm>
            <a:off x="457200" y="1874520"/>
            <a:ext cx="2377080" cy="7311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1" i="0" u="none" strike="noStrike" cap="none">
                <a:solidFill>
                  <a:srgbClr val="9B59B6"/>
                </a:solidFill>
                <a:latin typeface="Consolas"/>
                <a:ea typeface="Consolas"/>
                <a:cs typeface="Consolas"/>
              </a:rPr>
              <a:t>Spring Boot</a:t>
            </a: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1" i="0" u="none" strike="noStrike" cap="none">
                <a:solidFill>
                  <a:srgbClr val="9B59B6"/>
                </a:solidFill>
                <a:latin typeface="Consolas"/>
                <a:ea typeface="Consolas"/>
                <a:cs typeface="Consolas"/>
              </a:rPr>
              <a:t>Thymeleaf</a:t>
            </a:r>
            <a:endParaRPr sz="1100" b="0" i="0" u="none" strike="noStrike" cap="none">
              <a:solidFill>
                <a:srgbClr val="000000"/>
              </a:solidFill>
              <a:latin typeface="Arial"/>
              <a:ea typeface="Arial"/>
              <a:cs typeface="Arial"/>
            </a:endParaRPr>
          </a:p>
        </p:txBody>
      </p:sp>
      <p:cxnSp>
        <p:nvCxnSpPr>
          <p:cNvPr id="1699010287" name="Google Shape;97;p7"/>
          <p:cNvCxnSpPr/>
          <p:nvPr/>
        </p:nvCxnSpPr>
        <p:spPr bwMode="auto">
          <a:xfrm>
            <a:off x="457200" y="2651760"/>
            <a:ext cx="2377440" cy="360"/>
          </a:xfrm>
          <a:prstGeom prst="straightConnector1">
            <a:avLst/>
          </a:prstGeom>
          <a:noFill/>
          <a:ln w="12700" cap="flat" cmpd="sng">
            <a:solidFill>
              <a:srgbClr val="D4DCF0"/>
            </a:solidFill>
            <a:prstDash val="solid"/>
            <a:round/>
            <a:headEnd type="none" w="sm" len="sm"/>
            <a:tailEnd type="none" w="sm" len="sm"/>
          </a:ln>
        </p:spPr>
      </p:cxnSp>
      <p:sp>
        <p:nvSpPr>
          <p:cNvPr id="1471994164" name="Google Shape;98;p7"/>
          <p:cNvSpPr/>
          <p:nvPr/>
        </p:nvSpPr>
        <p:spPr bwMode="auto">
          <a:xfrm>
            <a:off x="457200" y="2743200"/>
            <a:ext cx="2377080" cy="1919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defRPr/>
            </a:pPr>
            <a:r>
              <a:rPr lang="en-US" sz="1100" b="0" i="0" u="none" strike="noStrike" cap="none">
                <a:solidFill>
                  <a:srgbClr val="1D2D44"/>
                </a:solidFill>
                <a:latin typeface="Calibri"/>
                <a:ea typeface="Calibri"/>
                <a:cs typeface="Calibri"/>
              </a:rPr>
              <a:t>Web UI: candidate browsing, recommendations, evaluation</a:t>
            </a:r>
            <a:endParaRPr sz="1100" b="0" i="0" u="none" strike="noStrike" cap="none">
              <a:solidFill>
                <a:srgbClr val="000000"/>
              </a:solidFill>
              <a:latin typeface="Arial"/>
              <a:ea typeface="Arial"/>
              <a:cs typeface="Arial"/>
            </a:endParaRPr>
          </a:p>
        </p:txBody>
      </p:sp>
      <p:sp>
        <p:nvSpPr>
          <p:cNvPr id="828108317" name="Google Shape;99;p7"/>
          <p:cNvSpPr/>
          <p:nvPr/>
        </p:nvSpPr>
        <p:spPr bwMode="auto">
          <a:xfrm>
            <a:off x="3200400" y="1325880"/>
            <a:ext cx="2559960" cy="3474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68413895" name="Google Shape;100;p7"/>
          <p:cNvSpPr/>
          <p:nvPr/>
        </p:nvSpPr>
        <p:spPr bwMode="auto">
          <a:xfrm>
            <a:off x="3200400" y="1325880"/>
            <a:ext cx="2559960" cy="45684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491157799" name="Google Shape;101;p7"/>
          <p:cNvSpPr/>
          <p:nvPr/>
        </p:nvSpPr>
        <p:spPr bwMode="auto">
          <a:xfrm>
            <a:off x="3200400" y="1325880"/>
            <a:ext cx="255996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400" b="1" i="0" u="none" strike="noStrike" cap="none">
                <a:solidFill>
                  <a:srgbClr val="FFFFFF"/>
                </a:solidFill>
                <a:latin typeface="Trebuchet MS"/>
                <a:ea typeface="Trebuchet MS"/>
                <a:cs typeface="Trebuchet MS"/>
              </a:rPr>
              <a:t>DaaS  :8081</a:t>
            </a:r>
            <a:endParaRPr sz="1400" b="0" i="0" u="none" strike="noStrike" cap="none">
              <a:solidFill>
                <a:srgbClr val="000000"/>
              </a:solidFill>
              <a:latin typeface="Arial"/>
              <a:ea typeface="Arial"/>
              <a:cs typeface="Arial"/>
            </a:endParaRPr>
          </a:p>
        </p:txBody>
      </p:sp>
      <p:sp>
        <p:nvSpPr>
          <p:cNvPr id="1185006601" name="Google Shape;102;p7"/>
          <p:cNvSpPr/>
          <p:nvPr/>
        </p:nvSpPr>
        <p:spPr bwMode="auto">
          <a:xfrm>
            <a:off x="3291840" y="1874520"/>
            <a:ext cx="2377080" cy="7311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1" i="0" u="none" strike="noStrike" cap="none">
                <a:solidFill>
                  <a:srgbClr val="2C5FDC"/>
                </a:solidFill>
                <a:latin typeface="Consolas"/>
                <a:ea typeface="Consolas"/>
                <a:cs typeface="Consolas"/>
              </a:rPr>
              <a:t>Spring Boot</a:t>
            </a: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1" i="0" u="none" strike="noStrike" cap="none">
                <a:solidFill>
                  <a:srgbClr val="2C5FDC"/>
                </a:solidFill>
                <a:latin typeface="Consolas"/>
                <a:ea typeface="Consolas"/>
                <a:cs typeface="Consolas"/>
              </a:rPr>
              <a:t>Apache Jena 5.1</a:t>
            </a: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1" i="0" u="none" strike="noStrike" cap="none">
                <a:solidFill>
                  <a:srgbClr val="2C5FDC"/>
                </a:solidFill>
                <a:latin typeface="Consolas"/>
                <a:ea typeface="Consolas"/>
                <a:cs typeface="Consolas"/>
              </a:rPr>
              <a:t>RDF/XML + SPARQL</a:t>
            </a:r>
            <a:endParaRPr sz="1100" b="0" i="0" u="none" strike="noStrike" cap="none">
              <a:solidFill>
                <a:srgbClr val="000000"/>
              </a:solidFill>
              <a:latin typeface="Arial"/>
              <a:ea typeface="Arial"/>
              <a:cs typeface="Arial"/>
            </a:endParaRPr>
          </a:p>
        </p:txBody>
      </p:sp>
      <p:cxnSp>
        <p:nvCxnSpPr>
          <p:cNvPr id="1782849881" name="Google Shape;103;p7"/>
          <p:cNvCxnSpPr/>
          <p:nvPr/>
        </p:nvCxnSpPr>
        <p:spPr bwMode="auto">
          <a:xfrm>
            <a:off x="3291840" y="2651760"/>
            <a:ext cx="2377440" cy="360"/>
          </a:xfrm>
          <a:prstGeom prst="straightConnector1">
            <a:avLst/>
          </a:prstGeom>
          <a:noFill/>
          <a:ln w="12700" cap="flat" cmpd="sng">
            <a:solidFill>
              <a:srgbClr val="D4DCF0"/>
            </a:solidFill>
            <a:prstDash val="solid"/>
            <a:round/>
            <a:headEnd type="none" w="sm" len="sm"/>
            <a:tailEnd type="none" w="sm" len="sm"/>
          </a:ln>
        </p:spPr>
      </p:cxnSp>
      <p:sp>
        <p:nvSpPr>
          <p:cNvPr id="342074278" name="Google Shape;104;p7"/>
          <p:cNvSpPr/>
          <p:nvPr/>
        </p:nvSpPr>
        <p:spPr bwMode="auto">
          <a:xfrm>
            <a:off x="3291840" y="2743200"/>
            <a:ext cx="2377080" cy="1919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defRPr/>
            </a:pPr>
            <a:r>
              <a:rPr lang="en-US" sz="1100" b="0" i="0" u="none" strike="noStrike" cap="none">
                <a:solidFill>
                  <a:srgbClr val="1D2D44"/>
                </a:solidFill>
                <a:latin typeface="Calibri"/>
                <a:ea typeface="Calibri"/>
                <a:cs typeface="Calibri"/>
              </a:rPr>
              <a:t>Full CRUD operations</a:t>
            </a: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0" i="0" u="none" strike="noStrike" cap="none">
                <a:solidFill>
                  <a:srgbClr val="1D2D44"/>
                </a:solidFill>
                <a:latin typeface="Calibri"/>
                <a:ea typeface="Calibri"/>
                <a:cs typeface="Calibri"/>
              </a:rPr>
              <a:t>SPARQL Queries</a:t>
            </a: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0" i="0" u="none" strike="noStrike" cap="none">
                <a:solidFill>
                  <a:srgbClr val="1D2D44"/>
                </a:solidFill>
                <a:latin typeface="Calibri"/>
                <a:ea typeface="Calibri"/>
                <a:cs typeface="Calibri"/>
              </a:rPr>
              <a:t>Swagger UI documentation</a:t>
            </a:r>
            <a:endParaRPr sz="1100" b="0" i="0" u="none" strike="noStrike" cap="none">
              <a:solidFill>
                <a:srgbClr val="000000"/>
              </a:solidFill>
              <a:latin typeface="Arial"/>
              <a:ea typeface="Arial"/>
              <a:cs typeface="Arial"/>
            </a:endParaRPr>
          </a:p>
        </p:txBody>
      </p:sp>
      <p:sp>
        <p:nvSpPr>
          <p:cNvPr id="16883956" name="Google Shape;105;p7"/>
          <p:cNvSpPr/>
          <p:nvPr/>
        </p:nvSpPr>
        <p:spPr bwMode="auto">
          <a:xfrm>
            <a:off x="6035039" y="1325880"/>
            <a:ext cx="2559960" cy="3474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485917671" name="Google Shape;106;p7"/>
          <p:cNvSpPr/>
          <p:nvPr/>
        </p:nvSpPr>
        <p:spPr bwMode="auto">
          <a:xfrm>
            <a:off x="6035039" y="1325880"/>
            <a:ext cx="2559960" cy="456840"/>
          </a:xfrm>
          <a:prstGeom prst="rect">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981601604" name="Google Shape;107;p7"/>
          <p:cNvSpPr/>
          <p:nvPr/>
        </p:nvSpPr>
        <p:spPr bwMode="auto">
          <a:xfrm>
            <a:off x="6035039" y="1325880"/>
            <a:ext cx="255996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400" b="1" i="0" u="none" strike="noStrike" cap="none">
                <a:solidFill>
                  <a:srgbClr val="FFFFFF"/>
                </a:solidFill>
                <a:latin typeface="Trebuchet MS"/>
                <a:ea typeface="Trebuchet MS"/>
                <a:cs typeface="Trebuchet MS"/>
              </a:rPr>
              <a:t>EaaS  :8082</a:t>
            </a:r>
            <a:endParaRPr sz="1400" b="0" i="0" u="none" strike="noStrike" cap="none">
              <a:solidFill>
                <a:srgbClr val="000000"/>
              </a:solidFill>
              <a:latin typeface="Arial"/>
              <a:ea typeface="Arial"/>
              <a:cs typeface="Arial"/>
            </a:endParaRPr>
          </a:p>
        </p:txBody>
      </p:sp>
      <p:sp>
        <p:nvSpPr>
          <p:cNvPr id="1528751117" name="Google Shape;108;p7"/>
          <p:cNvSpPr/>
          <p:nvPr/>
        </p:nvSpPr>
        <p:spPr bwMode="auto">
          <a:xfrm>
            <a:off x="6126480" y="1874520"/>
            <a:ext cx="2377080" cy="7311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1" i="0" u="none" strike="noStrike" cap="none">
                <a:solidFill>
                  <a:srgbClr val="2F8F4E"/>
                </a:solidFill>
                <a:latin typeface="Consolas"/>
                <a:ea typeface="Consolas"/>
                <a:cs typeface="Consolas"/>
              </a:rPr>
              <a:t>Spring Boot</a:t>
            </a: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1" i="0" u="none" strike="noStrike" cap="none">
                <a:solidFill>
                  <a:srgbClr val="2F8F4E"/>
                </a:solidFill>
                <a:latin typeface="Consolas"/>
                <a:ea typeface="Consolas"/>
                <a:cs typeface="Consolas"/>
              </a:rPr>
              <a:t>Policy engine</a:t>
            </a: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1" i="0" u="none" strike="noStrike" cap="none">
                <a:solidFill>
                  <a:srgbClr val="2F8F4E"/>
                </a:solidFill>
                <a:latin typeface="Consolas"/>
                <a:ea typeface="Consolas"/>
                <a:cs typeface="Consolas"/>
              </a:rPr>
              <a:t>Audit JSONL</a:t>
            </a:r>
            <a:endParaRPr sz="1100" b="0" i="0" u="none" strike="noStrike" cap="none">
              <a:solidFill>
                <a:srgbClr val="000000"/>
              </a:solidFill>
              <a:latin typeface="Arial"/>
              <a:ea typeface="Arial"/>
              <a:cs typeface="Arial"/>
            </a:endParaRPr>
          </a:p>
        </p:txBody>
      </p:sp>
      <p:cxnSp>
        <p:nvCxnSpPr>
          <p:cNvPr id="1000109204" name="Google Shape;109;p7"/>
          <p:cNvCxnSpPr/>
          <p:nvPr/>
        </p:nvCxnSpPr>
        <p:spPr bwMode="auto">
          <a:xfrm>
            <a:off x="6126480" y="2651760"/>
            <a:ext cx="2377440" cy="360"/>
          </a:xfrm>
          <a:prstGeom prst="straightConnector1">
            <a:avLst/>
          </a:prstGeom>
          <a:noFill/>
          <a:ln w="12700" cap="flat" cmpd="sng">
            <a:solidFill>
              <a:srgbClr val="D4DCF0"/>
            </a:solidFill>
            <a:prstDash val="solid"/>
            <a:round/>
            <a:headEnd type="none" w="sm" len="sm"/>
            <a:tailEnd type="none" w="sm" len="sm"/>
          </a:ln>
        </p:spPr>
      </p:cxnSp>
      <p:sp>
        <p:nvSpPr>
          <p:cNvPr id="720128335" name="Google Shape;110;p7"/>
          <p:cNvSpPr/>
          <p:nvPr/>
        </p:nvSpPr>
        <p:spPr bwMode="auto">
          <a:xfrm>
            <a:off x="6126480" y="2743200"/>
            <a:ext cx="2377080" cy="1919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defRPr/>
            </a:pPr>
            <a:r>
              <a:rPr lang="en-US" sz="1100" b="0" i="0" u="none" strike="noStrike" cap="none">
                <a:solidFill>
                  <a:srgbClr val="1D2D44"/>
                </a:solidFill>
                <a:latin typeface="Calibri"/>
                <a:ea typeface="Calibri"/>
                <a:cs typeface="Calibri"/>
              </a:rPr>
              <a:t>Loads JSON policies, evaluates requests, produces decisions and audit</a:t>
            </a:r>
            <a:endParaRPr sz="1100" b="0" i="0" u="none" strike="noStrike" cap="none">
              <a:solidFill>
                <a:srgbClr val="000000"/>
              </a:solidFill>
              <a:latin typeface="Arial"/>
              <a:ea typeface="Arial"/>
              <a:cs typeface="Arial"/>
            </a:endParaRPr>
          </a:p>
        </p:txBody>
      </p:sp>
      <p:cxnSp>
        <p:nvCxnSpPr>
          <p:cNvPr id="310389491" name="Google Shape;111;p7"/>
          <p:cNvCxnSpPr/>
          <p:nvPr/>
        </p:nvCxnSpPr>
        <p:spPr bwMode="auto">
          <a:xfrm>
            <a:off x="2926080" y="3017519"/>
            <a:ext cx="274320" cy="360"/>
          </a:xfrm>
          <a:prstGeom prst="straightConnector1">
            <a:avLst/>
          </a:prstGeom>
          <a:noFill/>
          <a:ln w="25400" cap="flat" cmpd="sng">
            <a:solidFill>
              <a:srgbClr val="6B7280"/>
            </a:solidFill>
            <a:prstDash val="solid"/>
            <a:round/>
            <a:headEnd type="none" w="sm" len="sm"/>
            <a:tailEnd type="none" w="sm" len="sm"/>
          </a:ln>
        </p:spPr>
      </p:cxnSp>
      <p:sp>
        <p:nvSpPr>
          <p:cNvPr id="1455470722" name="Google Shape;112;p7"/>
          <p:cNvSpPr/>
          <p:nvPr/>
        </p:nvSpPr>
        <p:spPr bwMode="auto">
          <a:xfrm>
            <a:off x="2651948" y="3264480"/>
            <a:ext cx="822600" cy="45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0" i="1" u="none" strike="noStrike" cap="none">
                <a:solidFill>
                  <a:srgbClr val="6B7280"/>
                </a:solidFill>
                <a:latin typeface="Calibri"/>
                <a:ea typeface="Calibri"/>
                <a:cs typeface="Calibri"/>
              </a:rPr>
              <a:t>HTTP/JSON</a:t>
            </a:r>
            <a:endParaRPr sz="800" b="0" i="0" u="none" strike="noStrike" cap="none">
              <a:solidFill>
                <a:srgbClr val="000000"/>
              </a:solidFill>
              <a:latin typeface="Arial"/>
              <a:ea typeface="Arial"/>
              <a:cs typeface="Arial"/>
            </a:endParaRPr>
          </a:p>
          <a:p>
            <a:pPr marL="0" marR="0" lvl="0" indent="0" algn="ctr" rtl="0">
              <a:lnSpc>
                <a:spcPct val="100000"/>
              </a:lnSpc>
              <a:spcBef>
                <a:spcPts val="0"/>
              </a:spcBef>
              <a:spcAft>
                <a:spcPts val="0"/>
              </a:spcAft>
              <a:buNone/>
              <a:defRPr/>
            </a:pPr>
            <a:r>
              <a:rPr lang="en-US" sz="800" b="0" i="1" u="none" strike="noStrike" cap="none">
                <a:solidFill>
                  <a:srgbClr val="6B7280"/>
                </a:solidFill>
                <a:latin typeface="Calibri"/>
                <a:ea typeface="Calibri"/>
                <a:cs typeface="Calibri"/>
              </a:rPr>
              <a:t>↔ DaaS</a:t>
            </a:r>
            <a:endParaRPr sz="800" b="0" i="0" u="none" strike="noStrike" cap="none">
              <a:solidFill>
                <a:srgbClr val="000000"/>
              </a:solidFill>
              <a:latin typeface="Arial"/>
              <a:ea typeface="Arial"/>
              <a:cs typeface="Arial"/>
            </a:endParaRPr>
          </a:p>
        </p:txBody>
      </p:sp>
      <p:cxnSp>
        <p:nvCxnSpPr>
          <p:cNvPr id="1392240804" name="Google Shape;113;p7"/>
          <p:cNvCxnSpPr/>
          <p:nvPr/>
        </p:nvCxnSpPr>
        <p:spPr bwMode="auto">
          <a:xfrm>
            <a:off x="5760720" y="3017519"/>
            <a:ext cx="274320" cy="360"/>
          </a:xfrm>
          <a:prstGeom prst="straightConnector1">
            <a:avLst/>
          </a:prstGeom>
          <a:noFill/>
          <a:ln w="25400" cap="flat" cmpd="sng">
            <a:solidFill>
              <a:srgbClr val="6B7280"/>
            </a:solidFill>
            <a:prstDash val="solid"/>
            <a:round/>
            <a:headEnd type="none" w="sm" len="sm"/>
            <a:tailEnd type="none" w="sm" len="sm"/>
          </a:ln>
        </p:spPr>
      </p:cxnSp>
      <p:sp>
        <p:nvSpPr>
          <p:cNvPr id="1217251750" name="Google Shape;114;p7"/>
          <p:cNvSpPr/>
          <p:nvPr/>
        </p:nvSpPr>
        <p:spPr bwMode="auto">
          <a:xfrm>
            <a:off x="5486588" y="3264480"/>
            <a:ext cx="822600" cy="45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0" i="1" u="none" strike="noStrike" cap="none">
                <a:solidFill>
                  <a:srgbClr val="6B7280"/>
                </a:solidFill>
                <a:latin typeface="Calibri"/>
                <a:ea typeface="Calibri"/>
                <a:cs typeface="Calibri"/>
              </a:rPr>
              <a:t>HTTP/JSON</a:t>
            </a:r>
            <a:endParaRPr sz="800" b="0" i="0" u="none" strike="noStrike" cap="none">
              <a:solidFill>
                <a:srgbClr val="000000"/>
              </a:solidFill>
              <a:latin typeface="Arial"/>
              <a:ea typeface="Arial"/>
              <a:cs typeface="Arial"/>
            </a:endParaRPr>
          </a:p>
          <a:p>
            <a:pPr marL="0" marR="0" lvl="0" indent="0" algn="ctr" rtl="0">
              <a:lnSpc>
                <a:spcPct val="100000"/>
              </a:lnSpc>
              <a:spcBef>
                <a:spcPts val="0"/>
              </a:spcBef>
              <a:spcAft>
                <a:spcPts val="0"/>
              </a:spcAft>
              <a:buNone/>
              <a:defRPr/>
            </a:pPr>
            <a:r>
              <a:rPr lang="en-US" sz="800" b="0" i="1" u="none" strike="noStrike" cap="none">
                <a:solidFill>
                  <a:srgbClr val="6B7280"/>
                </a:solidFill>
                <a:latin typeface="Calibri"/>
                <a:ea typeface="Calibri"/>
                <a:cs typeface="Calibri"/>
              </a:rPr>
              <a:t>↔ EaaS</a:t>
            </a:r>
            <a:endParaRPr sz="800" b="0" i="0" u="none" strike="noStrike" cap="none">
              <a:solidFill>
                <a:srgbClr val="000000"/>
              </a:solidFill>
              <a:latin typeface="Arial"/>
              <a:ea typeface="Arial"/>
              <a:cs typeface="Arial"/>
            </a:endParaRPr>
          </a:p>
        </p:txBody>
      </p:sp>
      <p:sp>
        <p:nvSpPr>
          <p:cNvPr id="615020827" name="Google Shape;115;p7"/>
          <p:cNvSpPr/>
          <p:nvPr/>
        </p:nvSpPr>
        <p:spPr bwMode="auto">
          <a:xfrm>
            <a:off x="365760" y="4709160"/>
            <a:ext cx="8412120" cy="2739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endParaRPr sz="1000" b="0" i="0" u="none" strike="noStrike" cap="none">
              <a:solidFill>
                <a:schemeClr val="dk1"/>
              </a:solidFill>
              <a:latin typeface="Calibri"/>
              <a:ea typeface="Calibri"/>
              <a:cs typeface="Calibri"/>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903460493" name="Google Shape;121;p8"/>
          <p:cNvSpPr/>
          <p:nvPr/>
        </p:nvSpPr>
        <p:spPr bwMode="auto">
          <a:xfrm>
            <a:off x="365760" y="201240"/>
            <a:ext cx="1737000" cy="255600"/>
          </a:xfrm>
          <a:prstGeom prst="roundRect">
            <a:avLst>
              <a:gd name="adj" fmla="val 14286"/>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375131364" name="Google Shape;122;p8"/>
          <p:cNvSpPr/>
          <p:nvPr/>
        </p:nvSpPr>
        <p:spPr bwMode="auto">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i="0" u="none" strike="noStrike" cap="none">
                <a:solidFill>
                  <a:srgbClr val="FFFFFF"/>
                </a:solidFill>
                <a:latin typeface="Calibri"/>
                <a:ea typeface="Calibri"/>
                <a:cs typeface="Calibri"/>
              </a:rPr>
              <a:t>RDF DATASET</a:t>
            </a:r>
            <a:endParaRPr sz="800" b="0" i="0" u="none" strike="noStrike" cap="none">
              <a:solidFill>
                <a:srgbClr val="000000"/>
              </a:solidFill>
              <a:latin typeface="Arial"/>
              <a:ea typeface="Arial"/>
              <a:cs typeface="Arial"/>
            </a:endParaRPr>
          </a:p>
        </p:txBody>
      </p:sp>
      <p:sp>
        <p:nvSpPr>
          <p:cNvPr id="1349741786" name="Google Shape;123;p8"/>
          <p:cNvSpPr/>
          <p:nvPr/>
        </p:nvSpPr>
        <p:spPr bwMode="auto">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2600" b="1" i="0" u="none" strike="noStrike" cap="none">
                <a:solidFill>
                  <a:srgbClr val="1D2D44"/>
                </a:solidFill>
                <a:latin typeface="Trebuchet MS"/>
                <a:ea typeface="Trebuchet MS"/>
                <a:cs typeface="Trebuchet MS"/>
              </a:rPr>
              <a:t>Starting RDF Dataset — Ontology</a:t>
            </a:r>
            <a:endParaRPr sz="2600" b="0" i="0" u="none" strike="noStrike" cap="none">
              <a:solidFill>
                <a:srgbClr val="000000"/>
              </a:solidFill>
              <a:latin typeface="Arial"/>
              <a:ea typeface="Arial"/>
              <a:cs typeface="Arial"/>
            </a:endParaRPr>
          </a:p>
        </p:txBody>
      </p:sp>
      <p:sp>
        <p:nvSpPr>
          <p:cNvPr id="61052555" name="Google Shape;124;p8"/>
          <p:cNvSpPr/>
          <p:nvPr/>
        </p:nvSpPr>
        <p:spPr bwMode="auto">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266035847" name="Google Shape;125;p8"/>
          <p:cNvSpPr/>
          <p:nvPr/>
        </p:nvSpPr>
        <p:spPr bwMode="auto">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defRPr/>
            </a:pPr>
            <a:r>
              <a:rPr lang="en-US" sz="900" b="0" i="0" u="none" strike="noStrike" cap="none">
                <a:solidFill>
                  <a:srgbClr val="6B7280"/>
                </a:solidFill>
                <a:latin typeface="Calibri"/>
                <a:ea typeface="Calibri"/>
                <a:cs typeface="Calibri"/>
              </a:rPr>
              <a:t>6</a:t>
            </a:r>
            <a:endParaRPr sz="900" b="0" i="0" u="none" strike="noStrike" cap="none">
              <a:solidFill>
                <a:srgbClr val="000000"/>
              </a:solidFill>
              <a:latin typeface="Arial"/>
              <a:ea typeface="Arial"/>
              <a:cs typeface="Arial"/>
            </a:endParaRPr>
          </a:p>
        </p:txBody>
      </p:sp>
      <p:sp>
        <p:nvSpPr>
          <p:cNvPr id="1434131921" name="Google Shape;126;p8"/>
          <p:cNvSpPr/>
          <p:nvPr/>
        </p:nvSpPr>
        <p:spPr bwMode="auto">
          <a:xfrm>
            <a:off x="407880" y="1325880"/>
            <a:ext cx="1234080" cy="822600"/>
          </a:xfrm>
          <a:prstGeom prst="rect">
            <a:avLst/>
          </a:prstGeom>
          <a:solidFill>
            <a:srgbClr val="1D2D44"/>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514459183" name="Google Shape;127;p8"/>
          <p:cNvSpPr/>
          <p:nvPr/>
        </p:nvSpPr>
        <p:spPr bwMode="auto">
          <a:xfrm>
            <a:off x="365760" y="1371600"/>
            <a:ext cx="123408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2200" b="1" i="0" u="none" strike="noStrike" cap="none">
                <a:solidFill>
                  <a:srgbClr val="FFFFFF"/>
                </a:solidFill>
                <a:latin typeface="Trebuchet MS"/>
                <a:ea typeface="Trebuchet MS"/>
                <a:cs typeface="Trebuchet MS"/>
              </a:rPr>
              <a:t>7</a:t>
            </a:r>
            <a:endParaRPr sz="2200" b="0" i="0" u="none" strike="noStrike" cap="none">
              <a:solidFill>
                <a:srgbClr val="000000"/>
              </a:solidFill>
              <a:latin typeface="Arial"/>
              <a:ea typeface="Arial"/>
              <a:cs typeface="Arial"/>
            </a:endParaRPr>
          </a:p>
        </p:txBody>
      </p:sp>
      <p:sp>
        <p:nvSpPr>
          <p:cNvPr id="2129949667" name="Google Shape;128;p8"/>
          <p:cNvSpPr/>
          <p:nvPr/>
        </p:nvSpPr>
        <p:spPr bwMode="auto">
          <a:xfrm>
            <a:off x="365760" y="1828800"/>
            <a:ext cx="123408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0" i="0" u="none" strike="noStrike" cap="none">
                <a:solidFill>
                  <a:srgbClr val="9FB4CC"/>
                </a:solidFill>
                <a:latin typeface="Calibri"/>
                <a:ea typeface="Calibri"/>
                <a:cs typeface="Calibri"/>
              </a:rPr>
              <a:t>Location</a:t>
            </a:r>
            <a:endParaRPr sz="800" b="0" i="0" u="none" strike="noStrike" cap="none">
              <a:solidFill>
                <a:srgbClr val="000000"/>
              </a:solidFill>
              <a:latin typeface="Arial"/>
              <a:ea typeface="Arial"/>
              <a:cs typeface="Arial"/>
            </a:endParaRPr>
          </a:p>
        </p:txBody>
      </p:sp>
      <p:sp>
        <p:nvSpPr>
          <p:cNvPr id="1140216862" name="Google Shape;129;p8"/>
          <p:cNvSpPr/>
          <p:nvPr/>
        </p:nvSpPr>
        <p:spPr bwMode="auto">
          <a:xfrm>
            <a:off x="1783080" y="1325880"/>
            <a:ext cx="1234080" cy="822600"/>
          </a:xfrm>
          <a:prstGeom prst="rect">
            <a:avLst/>
          </a:prstGeom>
          <a:solidFill>
            <a:srgbClr val="1D2D44"/>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675991657" name="Google Shape;130;p8"/>
          <p:cNvSpPr/>
          <p:nvPr/>
        </p:nvSpPr>
        <p:spPr bwMode="auto">
          <a:xfrm>
            <a:off x="1783080" y="1371600"/>
            <a:ext cx="123408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2200" b="1" i="0" u="none" strike="noStrike" cap="none">
                <a:solidFill>
                  <a:srgbClr val="FFFFFF"/>
                </a:solidFill>
                <a:latin typeface="Trebuchet MS"/>
                <a:ea typeface="Trebuchet MS"/>
                <a:cs typeface="Trebuchet MS"/>
              </a:rPr>
              <a:t>25</a:t>
            </a:r>
            <a:endParaRPr sz="2200" b="0" i="0" u="none" strike="noStrike" cap="none">
              <a:solidFill>
                <a:srgbClr val="000000"/>
              </a:solidFill>
              <a:latin typeface="Arial"/>
              <a:ea typeface="Arial"/>
              <a:cs typeface="Arial"/>
            </a:endParaRPr>
          </a:p>
        </p:txBody>
      </p:sp>
      <p:sp>
        <p:nvSpPr>
          <p:cNvPr id="561796067" name="Google Shape;131;p8"/>
          <p:cNvSpPr/>
          <p:nvPr/>
        </p:nvSpPr>
        <p:spPr bwMode="auto">
          <a:xfrm>
            <a:off x="1783080" y="1828800"/>
            <a:ext cx="123408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0" i="0" u="none" strike="noStrike" cap="none">
                <a:solidFill>
                  <a:srgbClr val="9FB4CC"/>
                </a:solidFill>
                <a:latin typeface="Calibri"/>
                <a:ea typeface="Calibri"/>
                <a:cs typeface="Calibri"/>
              </a:rPr>
              <a:t>Candidates</a:t>
            </a:r>
            <a:endParaRPr sz="800" b="0" i="0" u="none" strike="noStrike" cap="none">
              <a:solidFill>
                <a:srgbClr val="000000"/>
              </a:solidFill>
              <a:latin typeface="Arial"/>
              <a:ea typeface="Arial"/>
              <a:cs typeface="Arial"/>
            </a:endParaRPr>
          </a:p>
        </p:txBody>
      </p:sp>
      <p:sp>
        <p:nvSpPr>
          <p:cNvPr id="1978451077" name="Google Shape;132;p8"/>
          <p:cNvSpPr/>
          <p:nvPr/>
        </p:nvSpPr>
        <p:spPr bwMode="auto">
          <a:xfrm>
            <a:off x="3200400" y="1325880"/>
            <a:ext cx="1234080" cy="822600"/>
          </a:xfrm>
          <a:prstGeom prst="rect">
            <a:avLst/>
          </a:prstGeom>
          <a:solidFill>
            <a:srgbClr val="1D2D44"/>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95353740" name="Google Shape;133;p8"/>
          <p:cNvSpPr/>
          <p:nvPr/>
        </p:nvSpPr>
        <p:spPr bwMode="auto">
          <a:xfrm>
            <a:off x="3200400" y="1371600"/>
            <a:ext cx="123408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2200" b="1" i="0" u="none" strike="noStrike" cap="none">
                <a:solidFill>
                  <a:srgbClr val="FFFFFF"/>
                </a:solidFill>
                <a:latin typeface="Trebuchet MS"/>
                <a:ea typeface="Trebuchet MS"/>
                <a:cs typeface="Trebuchet MS"/>
              </a:rPr>
              <a:t>18</a:t>
            </a:r>
            <a:endParaRPr sz="2200" b="0" i="0" u="none" strike="noStrike" cap="none">
              <a:solidFill>
                <a:srgbClr val="000000"/>
              </a:solidFill>
              <a:latin typeface="Arial"/>
              <a:ea typeface="Arial"/>
              <a:cs typeface="Arial"/>
            </a:endParaRPr>
          </a:p>
        </p:txBody>
      </p:sp>
      <p:sp>
        <p:nvSpPr>
          <p:cNvPr id="1504750071" name="Google Shape;134;p8"/>
          <p:cNvSpPr/>
          <p:nvPr/>
        </p:nvSpPr>
        <p:spPr bwMode="auto">
          <a:xfrm>
            <a:off x="3200400" y="1828800"/>
            <a:ext cx="123408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0" i="0" u="none" strike="noStrike" cap="none">
                <a:solidFill>
                  <a:srgbClr val="9FB4CC"/>
                </a:solidFill>
                <a:latin typeface="Calibri"/>
                <a:ea typeface="Calibri"/>
                <a:cs typeface="Calibri"/>
              </a:rPr>
              <a:t>Offers</a:t>
            </a:r>
            <a:endParaRPr sz="800" b="0" i="0" u="none" strike="noStrike" cap="none">
              <a:solidFill>
                <a:srgbClr val="000000"/>
              </a:solidFill>
              <a:latin typeface="Arial"/>
              <a:ea typeface="Arial"/>
              <a:cs typeface="Arial"/>
            </a:endParaRPr>
          </a:p>
        </p:txBody>
      </p:sp>
      <p:sp>
        <p:nvSpPr>
          <p:cNvPr id="54343190" name="Google Shape;135;p8"/>
          <p:cNvSpPr/>
          <p:nvPr/>
        </p:nvSpPr>
        <p:spPr bwMode="auto">
          <a:xfrm>
            <a:off x="4617720" y="1325880"/>
            <a:ext cx="1234080" cy="822600"/>
          </a:xfrm>
          <a:prstGeom prst="rect">
            <a:avLst/>
          </a:prstGeom>
          <a:solidFill>
            <a:srgbClr val="1D2D44"/>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271333449" name="Google Shape;136;p8"/>
          <p:cNvSpPr/>
          <p:nvPr/>
        </p:nvSpPr>
        <p:spPr bwMode="auto">
          <a:xfrm>
            <a:off x="4617720" y="1371600"/>
            <a:ext cx="123408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2200" b="1" i="0" u="none" strike="noStrike" cap="none">
                <a:solidFill>
                  <a:srgbClr val="FFFFFF"/>
                </a:solidFill>
                <a:latin typeface="Trebuchet MS"/>
                <a:ea typeface="Trebuchet MS"/>
                <a:cs typeface="Trebuchet MS"/>
              </a:rPr>
              <a:t>12</a:t>
            </a:r>
            <a:endParaRPr sz="2200" b="0" i="0" u="none" strike="noStrike" cap="none">
              <a:solidFill>
                <a:srgbClr val="000000"/>
              </a:solidFill>
              <a:latin typeface="Arial"/>
              <a:ea typeface="Arial"/>
              <a:cs typeface="Arial"/>
            </a:endParaRPr>
          </a:p>
        </p:txBody>
      </p:sp>
      <p:sp>
        <p:nvSpPr>
          <p:cNvPr id="1664227743" name="Google Shape;137;p8"/>
          <p:cNvSpPr/>
          <p:nvPr/>
        </p:nvSpPr>
        <p:spPr bwMode="auto">
          <a:xfrm>
            <a:off x="4617720" y="1828800"/>
            <a:ext cx="123408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0" i="0" u="none" strike="noStrike" cap="none">
                <a:solidFill>
                  <a:srgbClr val="9FB4CC"/>
                </a:solidFill>
                <a:latin typeface="Calibri"/>
                <a:ea typeface="Calibri"/>
                <a:cs typeface="Calibri"/>
              </a:rPr>
              <a:t>Skills</a:t>
            </a:r>
            <a:endParaRPr sz="800" b="0" i="0" u="none" strike="noStrike" cap="none">
              <a:solidFill>
                <a:srgbClr val="000000"/>
              </a:solidFill>
              <a:latin typeface="Arial"/>
              <a:ea typeface="Arial"/>
              <a:cs typeface="Arial"/>
            </a:endParaRPr>
          </a:p>
        </p:txBody>
      </p:sp>
      <p:sp>
        <p:nvSpPr>
          <p:cNvPr id="118194470" name="Google Shape;138;p8"/>
          <p:cNvSpPr/>
          <p:nvPr/>
        </p:nvSpPr>
        <p:spPr bwMode="auto">
          <a:xfrm>
            <a:off x="6035039" y="1325880"/>
            <a:ext cx="1234080" cy="822600"/>
          </a:xfrm>
          <a:prstGeom prst="rect">
            <a:avLst/>
          </a:prstGeom>
          <a:solidFill>
            <a:srgbClr val="1D2D44"/>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398725353" name="Google Shape;139;p8"/>
          <p:cNvSpPr/>
          <p:nvPr/>
        </p:nvSpPr>
        <p:spPr bwMode="auto">
          <a:xfrm>
            <a:off x="6035039" y="1371600"/>
            <a:ext cx="123408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2200" b="1" i="0" u="none" strike="noStrike" cap="none">
                <a:solidFill>
                  <a:srgbClr val="FFFFFF"/>
                </a:solidFill>
                <a:latin typeface="Trebuchet MS"/>
                <a:ea typeface="Trebuchet MS"/>
                <a:cs typeface="Trebuchet MS"/>
              </a:rPr>
              <a:t>5</a:t>
            </a:r>
            <a:endParaRPr sz="2200" b="0" i="0" u="none" strike="noStrike" cap="none">
              <a:solidFill>
                <a:srgbClr val="000000"/>
              </a:solidFill>
              <a:latin typeface="Arial"/>
              <a:ea typeface="Arial"/>
              <a:cs typeface="Arial"/>
            </a:endParaRPr>
          </a:p>
        </p:txBody>
      </p:sp>
      <p:sp>
        <p:nvSpPr>
          <p:cNvPr id="559967106" name="Google Shape;140;p8"/>
          <p:cNvSpPr/>
          <p:nvPr/>
        </p:nvSpPr>
        <p:spPr bwMode="auto">
          <a:xfrm>
            <a:off x="6035039" y="1828800"/>
            <a:ext cx="123408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0" i="0" u="none" strike="noStrike" cap="none">
                <a:solidFill>
                  <a:srgbClr val="9FB4CC"/>
                </a:solidFill>
                <a:latin typeface="Calibri"/>
                <a:ea typeface="Calibri"/>
                <a:cs typeface="Calibri"/>
              </a:rPr>
              <a:t>Sectors</a:t>
            </a:r>
            <a:endParaRPr sz="800" b="0" i="0" u="none" strike="noStrike" cap="none">
              <a:solidFill>
                <a:srgbClr val="000000"/>
              </a:solidFill>
              <a:latin typeface="Arial"/>
              <a:ea typeface="Arial"/>
              <a:cs typeface="Arial"/>
            </a:endParaRPr>
          </a:p>
        </p:txBody>
      </p:sp>
      <p:sp>
        <p:nvSpPr>
          <p:cNvPr id="1238523632" name="Google Shape;141;p8"/>
          <p:cNvSpPr/>
          <p:nvPr/>
        </p:nvSpPr>
        <p:spPr bwMode="auto">
          <a:xfrm>
            <a:off x="7452360" y="1325880"/>
            <a:ext cx="1234080" cy="822600"/>
          </a:xfrm>
          <a:prstGeom prst="rect">
            <a:avLst/>
          </a:prstGeom>
          <a:solidFill>
            <a:srgbClr val="1D2D44"/>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923485701" name="Google Shape;142;p8"/>
          <p:cNvSpPr/>
          <p:nvPr/>
        </p:nvSpPr>
        <p:spPr bwMode="auto">
          <a:xfrm>
            <a:off x="7452360" y="1371600"/>
            <a:ext cx="123408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2200" b="1" i="0" u="none" strike="noStrike" cap="none">
                <a:solidFill>
                  <a:srgbClr val="FFFFFF"/>
                </a:solidFill>
                <a:latin typeface="Trebuchet MS"/>
                <a:ea typeface="Trebuchet MS"/>
                <a:cs typeface="Trebuchet MS"/>
              </a:rPr>
              <a:t>7</a:t>
            </a:r>
            <a:endParaRPr sz="2200" b="0" i="0" u="none" strike="noStrike" cap="none">
              <a:solidFill>
                <a:srgbClr val="000000"/>
              </a:solidFill>
              <a:latin typeface="Arial"/>
              <a:ea typeface="Arial"/>
              <a:cs typeface="Arial"/>
            </a:endParaRPr>
          </a:p>
        </p:txBody>
      </p:sp>
      <p:sp>
        <p:nvSpPr>
          <p:cNvPr id="5982139" name="Google Shape;143;p8"/>
          <p:cNvSpPr/>
          <p:nvPr/>
        </p:nvSpPr>
        <p:spPr bwMode="auto">
          <a:xfrm>
            <a:off x="7452360" y="1828800"/>
            <a:ext cx="123408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0" i="0" u="none" strike="noStrike" cap="none">
                <a:solidFill>
                  <a:srgbClr val="9FB4CC"/>
                </a:solidFill>
                <a:latin typeface="Calibri"/>
                <a:ea typeface="Calibri"/>
                <a:cs typeface="Calibri"/>
              </a:rPr>
              <a:t>Companies</a:t>
            </a:r>
            <a:endParaRPr sz="800" b="0" i="0" u="none" strike="noStrike" cap="none">
              <a:solidFill>
                <a:srgbClr val="000000"/>
              </a:solidFill>
              <a:latin typeface="Arial"/>
              <a:ea typeface="Arial"/>
              <a:cs typeface="Arial"/>
            </a:endParaRPr>
          </a:p>
        </p:txBody>
      </p:sp>
      <p:sp>
        <p:nvSpPr>
          <p:cNvPr id="1327922837" name="Google Shape;144;p8"/>
          <p:cNvSpPr/>
          <p:nvPr/>
        </p:nvSpPr>
        <p:spPr bwMode="auto">
          <a:xfrm>
            <a:off x="365760" y="2331720"/>
            <a:ext cx="3840120" cy="594000"/>
          </a:xfrm>
          <a:prstGeom prst="rect">
            <a:avLst/>
          </a:prstGeom>
          <a:solidFill>
            <a:srgbClr val="F0F8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239589479" name="Google Shape;145;p8"/>
          <p:cNvSpPr/>
          <p:nvPr/>
        </p:nvSpPr>
        <p:spPr bwMode="auto">
          <a:xfrm>
            <a:off x="502920" y="2395800"/>
            <a:ext cx="914040" cy="365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6B7280"/>
                </a:solidFill>
                <a:latin typeface="Calibri"/>
                <a:ea typeface="Calibri"/>
                <a:cs typeface="Calibri"/>
              </a:rPr>
              <a:t>Namespace: </a:t>
            </a:r>
            <a:endParaRPr sz="1000" b="0" i="0" u="none" strike="noStrike" cap="none">
              <a:solidFill>
                <a:srgbClr val="000000"/>
              </a:solidFill>
              <a:latin typeface="Arial"/>
              <a:ea typeface="Arial"/>
              <a:cs typeface="Arial"/>
            </a:endParaRPr>
          </a:p>
        </p:txBody>
      </p:sp>
      <p:sp>
        <p:nvSpPr>
          <p:cNvPr id="561067285" name="Google Shape;146;p8"/>
          <p:cNvSpPr/>
          <p:nvPr/>
        </p:nvSpPr>
        <p:spPr bwMode="auto">
          <a:xfrm>
            <a:off x="1280160" y="2395800"/>
            <a:ext cx="2834280" cy="365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1" i="0" u="none" strike="noStrike" cap="none">
                <a:solidFill>
                  <a:srgbClr val="2C5FDC"/>
                </a:solidFill>
                <a:latin typeface="Consolas"/>
                <a:ea typeface="Consolas"/>
                <a:cs typeface="Consolas"/>
              </a:rPr>
              <a:t>http://sose.univaq.it/employment#  (prefix emp:)</a:t>
            </a:r>
            <a:endParaRPr sz="1000" b="0" i="0" u="none" strike="noStrike" cap="none">
              <a:solidFill>
                <a:srgbClr val="000000"/>
              </a:solidFill>
              <a:latin typeface="Arial"/>
              <a:ea typeface="Arial"/>
              <a:cs typeface="Arial"/>
            </a:endParaRPr>
          </a:p>
        </p:txBody>
      </p:sp>
      <p:sp>
        <p:nvSpPr>
          <p:cNvPr id="1106681512" name="Google Shape;147;p8"/>
          <p:cNvSpPr/>
          <p:nvPr/>
        </p:nvSpPr>
        <p:spPr bwMode="auto">
          <a:xfrm>
            <a:off x="502920" y="2633400"/>
            <a:ext cx="365724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endParaRPr sz="900" b="0" i="0" u="none" strike="noStrike" cap="none">
              <a:solidFill>
                <a:schemeClr val="dk1"/>
              </a:solidFill>
              <a:latin typeface="Calibri"/>
              <a:ea typeface="Calibri"/>
              <a:cs typeface="Calibri"/>
            </a:endParaRPr>
          </a:p>
        </p:txBody>
      </p:sp>
      <p:sp>
        <p:nvSpPr>
          <p:cNvPr id="1570740593" name="Google Shape;148;p8"/>
          <p:cNvSpPr/>
          <p:nvPr/>
        </p:nvSpPr>
        <p:spPr bwMode="auto">
          <a:xfrm>
            <a:off x="365760" y="3063240"/>
            <a:ext cx="4068720" cy="41112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630923575" name="Google Shape;149;p8"/>
          <p:cNvSpPr/>
          <p:nvPr/>
        </p:nvSpPr>
        <p:spPr bwMode="auto">
          <a:xfrm>
            <a:off x="457200" y="3063240"/>
            <a:ext cx="201132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1" i="0" u="none" strike="noStrike" cap="none">
                <a:solidFill>
                  <a:srgbClr val="2C5FDC"/>
                </a:solidFill>
                <a:latin typeface="Consolas"/>
                <a:ea typeface="Consolas"/>
                <a:cs typeface="Consolas"/>
              </a:rPr>
              <a:t>emp:Candidate</a:t>
            </a:r>
            <a:endParaRPr sz="1100" b="0" i="0" u="none" strike="noStrike" cap="none">
              <a:solidFill>
                <a:srgbClr val="000000"/>
              </a:solidFill>
              <a:latin typeface="Arial"/>
              <a:ea typeface="Arial"/>
              <a:cs typeface="Arial"/>
            </a:endParaRPr>
          </a:p>
        </p:txBody>
      </p:sp>
      <p:sp>
        <p:nvSpPr>
          <p:cNvPr id="391352683" name="Google Shape;150;p8"/>
          <p:cNvSpPr/>
          <p:nvPr/>
        </p:nvSpPr>
        <p:spPr bwMode="auto">
          <a:xfrm>
            <a:off x="2468880" y="3063240"/>
            <a:ext cx="191988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endParaRPr sz="1000" b="0" i="0" u="none" strike="noStrike" cap="none">
              <a:solidFill>
                <a:srgbClr val="000000"/>
              </a:solidFill>
              <a:latin typeface="Arial"/>
              <a:ea typeface="Arial"/>
              <a:cs typeface="Arial"/>
            </a:endParaRPr>
          </a:p>
        </p:txBody>
      </p:sp>
      <p:sp>
        <p:nvSpPr>
          <p:cNvPr id="1871060764" name="Google Shape;151;p8"/>
          <p:cNvSpPr/>
          <p:nvPr/>
        </p:nvSpPr>
        <p:spPr bwMode="auto">
          <a:xfrm>
            <a:off x="365760" y="3575160"/>
            <a:ext cx="4068720" cy="41112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631117253" name="Google Shape;152;p8"/>
          <p:cNvSpPr/>
          <p:nvPr/>
        </p:nvSpPr>
        <p:spPr bwMode="auto">
          <a:xfrm>
            <a:off x="457200" y="3575160"/>
            <a:ext cx="201132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1" i="0" u="none" strike="noStrike" cap="none">
                <a:solidFill>
                  <a:srgbClr val="2C5FDC"/>
                </a:solidFill>
                <a:latin typeface="Consolas"/>
                <a:ea typeface="Consolas"/>
                <a:cs typeface="Consolas"/>
              </a:rPr>
              <a:t>emp:JobOffer</a:t>
            </a:r>
            <a:endParaRPr sz="1100" b="0" i="0" u="none" strike="noStrike" cap="none">
              <a:solidFill>
                <a:srgbClr val="000000"/>
              </a:solidFill>
              <a:latin typeface="Arial"/>
              <a:ea typeface="Arial"/>
              <a:cs typeface="Arial"/>
            </a:endParaRPr>
          </a:p>
        </p:txBody>
      </p:sp>
      <p:sp>
        <p:nvSpPr>
          <p:cNvPr id="1765880328" name="Google Shape;153;p8"/>
          <p:cNvSpPr/>
          <p:nvPr/>
        </p:nvSpPr>
        <p:spPr bwMode="auto">
          <a:xfrm>
            <a:off x="2468880" y="3575160"/>
            <a:ext cx="191988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endParaRPr sz="1000" b="0" i="0" u="none" strike="noStrike" cap="none">
              <a:solidFill>
                <a:srgbClr val="000000"/>
              </a:solidFill>
              <a:latin typeface="Arial"/>
              <a:ea typeface="Arial"/>
              <a:cs typeface="Arial"/>
            </a:endParaRPr>
          </a:p>
        </p:txBody>
      </p:sp>
      <p:sp>
        <p:nvSpPr>
          <p:cNvPr id="1978962494" name="Google Shape;154;p8"/>
          <p:cNvSpPr/>
          <p:nvPr/>
        </p:nvSpPr>
        <p:spPr bwMode="auto">
          <a:xfrm>
            <a:off x="365760" y="4087440"/>
            <a:ext cx="4068720" cy="41112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331055229" name="Google Shape;155;p8"/>
          <p:cNvSpPr/>
          <p:nvPr/>
        </p:nvSpPr>
        <p:spPr bwMode="auto">
          <a:xfrm>
            <a:off x="457200" y="4087440"/>
            <a:ext cx="201132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1" i="0" u="none" strike="noStrike" cap="none">
                <a:solidFill>
                  <a:srgbClr val="2C5FDC"/>
                </a:solidFill>
                <a:latin typeface="Consolas"/>
                <a:ea typeface="Consolas"/>
                <a:cs typeface="Consolas"/>
              </a:rPr>
              <a:t>emp:Company</a:t>
            </a:r>
            <a:endParaRPr sz="1100" b="0" i="0" u="none" strike="noStrike" cap="none">
              <a:solidFill>
                <a:srgbClr val="000000"/>
              </a:solidFill>
              <a:latin typeface="Arial"/>
              <a:ea typeface="Arial"/>
              <a:cs typeface="Arial"/>
            </a:endParaRPr>
          </a:p>
        </p:txBody>
      </p:sp>
      <p:sp>
        <p:nvSpPr>
          <p:cNvPr id="1862581977" name="Google Shape;156;p8"/>
          <p:cNvSpPr/>
          <p:nvPr/>
        </p:nvSpPr>
        <p:spPr bwMode="auto">
          <a:xfrm>
            <a:off x="2468880" y="4087440"/>
            <a:ext cx="191988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endParaRPr sz="1000" b="0" i="0" u="none" strike="noStrike" cap="none">
              <a:solidFill>
                <a:srgbClr val="000000"/>
              </a:solidFill>
              <a:latin typeface="Arial"/>
              <a:ea typeface="Arial"/>
              <a:cs typeface="Arial"/>
            </a:endParaRPr>
          </a:p>
        </p:txBody>
      </p:sp>
      <p:sp>
        <p:nvSpPr>
          <p:cNvPr id="1556921980" name="Google Shape;157;p8"/>
          <p:cNvSpPr/>
          <p:nvPr/>
        </p:nvSpPr>
        <p:spPr bwMode="auto">
          <a:xfrm>
            <a:off x="4663440" y="3063240"/>
            <a:ext cx="4068720" cy="41112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306262621" name="Google Shape;158;p8"/>
          <p:cNvSpPr/>
          <p:nvPr/>
        </p:nvSpPr>
        <p:spPr bwMode="auto">
          <a:xfrm>
            <a:off x="4754880" y="3063240"/>
            <a:ext cx="201132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1" i="0" u="none" strike="noStrike" cap="none">
                <a:solidFill>
                  <a:srgbClr val="2C5FDC"/>
                </a:solidFill>
                <a:latin typeface="Consolas"/>
                <a:ea typeface="Consolas"/>
                <a:cs typeface="Consolas"/>
              </a:rPr>
              <a:t>emp:Skill</a:t>
            </a:r>
            <a:endParaRPr sz="1100" b="0" i="0" u="none" strike="noStrike" cap="none">
              <a:solidFill>
                <a:srgbClr val="000000"/>
              </a:solidFill>
              <a:latin typeface="Arial"/>
              <a:ea typeface="Arial"/>
              <a:cs typeface="Arial"/>
            </a:endParaRPr>
          </a:p>
        </p:txBody>
      </p:sp>
      <p:sp>
        <p:nvSpPr>
          <p:cNvPr id="613993478" name="Google Shape;159;p8"/>
          <p:cNvSpPr/>
          <p:nvPr/>
        </p:nvSpPr>
        <p:spPr bwMode="auto">
          <a:xfrm>
            <a:off x="6766560" y="3063240"/>
            <a:ext cx="191988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endParaRPr sz="1000" b="0" i="0" u="none" strike="noStrike" cap="none">
              <a:solidFill>
                <a:srgbClr val="000000"/>
              </a:solidFill>
              <a:latin typeface="Arial"/>
              <a:ea typeface="Arial"/>
              <a:cs typeface="Arial"/>
            </a:endParaRPr>
          </a:p>
        </p:txBody>
      </p:sp>
      <p:sp>
        <p:nvSpPr>
          <p:cNvPr id="181090754" name="Google Shape;160;p8"/>
          <p:cNvSpPr/>
          <p:nvPr/>
        </p:nvSpPr>
        <p:spPr bwMode="auto">
          <a:xfrm>
            <a:off x="4663440" y="3575160"/>
            <a:ext cx="4068720" cy="41112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90426582" name="Google Shape;161;p8"/>
          <p:cNvSpPr/>
          <p:nvPr/>
        </p:nvSpPr>
        <p:spPr bwMode="auto">
          <a:xfrm>
            <a:off x="4754880" y="3575160"/>
            <a:ext cx="201132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1" i="0" u="none" strike="noStrike" cap="none">
                <a:solidFill>
                  <a:srgbClr val="2C5FDC"/>
                </a:solidFill>
                <a:latin typeface="Consolas"/>
                <a:ea typeface="Consolas"/>
                <a:cs typeface="Consolas"/>
              </a:rPr>
              <a:t>emp:Sector</a:t>
            </a:r>
            <a:endParaRPr sz="1100" b="0" i="0" u="none" strike="noStrike" cap="none">
              <a:solidFill>
                <a:srgbClr val="000000"/>
              </a:solidFill>
              <a:latin typeface="Arial"/>
              <a:ea typeface="Arial"/>
              <a:cs typeface="Arial"/>
            </a:endParaRPr>
          </a:p>
        </p:txBody>
      </p:sp>
      <p:sp>
        <p:nvSpPr>
          <p:cNvPr id="920151731" name="Google Shape;162;p8"/>
          <p:cNvSpPr/>
          <p:nvPr/>
        </p:nvSpPr>
        <p:spPr bwMode="auto">
          <a:xfrm>
            <a:off x="6766560" y="3575160"/>
            <a:ext cx="191988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endParaRPr sz="1000" b="0" i="0" u="none" strike="noStrike" cap="none">
              <a:solidFill>
                <a:srgbClr val="000000"/>
              </a:solidFill>
              <a:latin typeface="Arial"/>
              <a:ea typeface="Arial"/>
              <a:cs typeface="Arial"/>
            </a:endParaRPr>
          </a:p>
        </p:txBody>
      </p:sp>
      <p:sp>
        <p:nvSpPr>
          <p:cNvPr id="1681212445" name="Google Shape;163;p8"/>
          <p:cNvSpPr/>
          <p:nvPr/>
        </p:nvSpPr>
        <p:spPr bwMode="auto">
          <a:xfrm>
            <a:off x="4663440" y="4087440"/>
            <a:ext cx="4068720" cy="41112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479516043" name="Google Shape;164;p8"/>
          <p:cNvSpPr/>
          <p:nvPr/>
        </p:nvSpPr>
        <p:spPr bwMode="auto">
          <a:xfrm>
            <a:off x="4754880" y="4087440"/>
            <a:ext cx="201132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1" i="0" u="none" strike="noStrike" cap="none">
                <a:solidFill>
                  <a:srgbClr val="2C5FDC"/>
                </a:solidFill>
                <a:latin typeface="Consolas"/>
                <a:ea typeface="Consolas"/>
                <a:cs typeface="Consolas"/>
              </a:rPr>
              <a:t>emp:Location</a:t>
            </a:r>
            <a:endParaRPr sz="1100" b="0" i="0" u="none" strike="noStrike" cap="none">
              <a:solidFill>
                <a:srgbClr val="000000"/>
              </a:solidFill>
              <a:latin typeface="Arial"/>
              <a:ea typeface="Arial"/>
              <a:cs typeface="Arial"/>
            </a:endParaRPr>
          </a:p>
        </p:txBody>
      </p:sp>
      <p:sp>
        <p:nvSpPr>
          <p:cNvPr id="300537106" name="Google Shape;165;p8"/>
          <p:cNvSpPr/>
          <p:nvPr/>
        </p:nvSpPr>
        <p:spPr bwMode="auto">
          <a:xfrm>
            <a:off x="6766560" y="4087440"/>
            <a:ext cx="191988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endParaRPr sz="1000" b="0" i="0" u="none" strike="noStrike" cap="none">
              <a:solidFill>
                <a:srgbClr val="000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05956935" name="Google Shape;171;p9"/>
          <p:cNvSpPr/>
          <p:nvPr/>
        </p:nvSpPr>
        <p:spPr bwMode="auto">
          <a:xfrm>
            <a:off x="365760" y="201240"/>
            <a:ext cx="1737000" cy="255600"/>
          </a:xfrm>
          <a:prstGeom prst="roundRect">
            <a:avLst>
              <a:gd name="adj" fmla="val 14286"/>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357053159" name="Google Shape;172;p9"/>
          <p:cNvSpPr/>
          <p:nvPr/>
        </p:nvSpPr>
        <p:spPr bwMode="auto">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i="0" u="none" strike="noStrike" cap="none">
                <a:solidFill>
                  <a:srgbClr val="FFFFFF"/>
                </a:solidFill>
                <a:latin typeface="Calibri"/>
                <a:ea typeface="Calibri"/>
                <a:cs typeface="Calibri"/>
              </a:rPr>
              <a:t>SPARQL</a:t>
            </a:r>
            <a:endParaRPr sz="800" b="0" i="0" u="none" strike="noStrike" cap="none">
              <a:solidFill>
                <a:srgbClr val="000000"/>
              </a:solidFill>
              <a:latin typeface="Arial"/>
              <a:ea typeface="Arial"/>
              <a:cs typeface="Arial"/>
            </a:endParaRPr>
          </a:p>
        </p:txBody>
      </p:sp>
      <p:sp>
        <p:nvSpPr>
          <p:cNvPr id="2084579740" name="Google Shape;173;p9"/>
          <p:cNvSpPr/>
          <p:nvPr/>
        </p:nvSpPr>
        <p:spPr bwMode="auto">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2600" b="1" i="0" u="none" strike="noStrike" cap="none">
                <a:solidFill>
                  <a:srgbClr val="1D2D44"/>
                </a:solidFill>
                <a:latin typeface="Trebuchet MS"/>
                <a:ea typeface="Trebuchet MS"/>
                <a:cs typeface="Trebuchet MS"/>
              </a:rPr>
              <a:t>SPARQL Queries — Example</a:t>
            </a:r>
            <a:endParaRPr sz="2600" b="0" i="0" u="none" strike="noStrike" cap="none">
              <a:solidFill>
                <a:srgbClr val="000000"/>
              </a:solidFill>
              <a:latin typeface="Arial"/>
              <a:ea typeface="Arial"/>
              <a:cs typeface="Arial"/>
            </a:endParaRPr>
          </a:p>
        </p:txBody>
      </p:sp>
      <p:sp>
        <p:nvSpPr>
          <p:cNvPr id="1991943044" name="Google Shape;174;p9"/>
          <p:cNvSpPr/>
          <p:nvPr/>
        </p:nvSpPr>
        <p:spPr bwMode="auto">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270612970" name="Google Shape;175;p9"/>
          <p:cNvSpPr/>
          <p:nvPr/>
        </p:nvSpPr>
        <p:spPr bwMode="auto">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defRPr/>
            </a:pPr>
            <a:r>
              <a:rPr lang="en-US" sz="900" b="0" i="0" u="none" strike="noStrike" cap="none">
                <a:solidFill>
                  <a:srgbClr val="6B7280"/>
                </a:solidFill>
                <a:latin typeface="Calibri"/>
                <a:ea typeface="Calibri"/>
                <a:cs typeface="Calibri"/>
              </a:rPr>
              <a:t>8</a:t>
            </a:r>
            <a:endParaRPr sz="900" b="0" i="0" u="none" strike="noStrike" cap="none">
              <a:solidFill>
                <a:srgbClr val="000000"/>
              </a:solidFill>
              <a:latin typeface="Arial"/>
              <a:ea typeface="Arial"/>
              <a:cs typeface="Arial"/>
            </a:endParaRPr>
          </a:p>
        </p:txBody>
      </p:sp>
      <p:sp>
        <p:nvSpPr>
          <p:cNvPr id="83187704" name="Google Shape;176;p9"/>
          <p:cNvSpPr/>
          <p:nvPr/>
        </p:nvSpPr>
        <p:spPr bwMode="auto">
          <a:xfrm>
            <a:off x="365760" y="1325880"/>
            <a:ext cx="841212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400" b="1" i="0" u="none" strike="noStrike" cap="none">
                <a:solidFill>
                  <a:srgbClr val="1D2D44"/>
                </a:solidFill>
                <a:latin typeface="Trebuchet MS"/>
                <a:ea typeface="Trebuchet MS"/>
                <a:cs typeface="Trebuchet MS"/>
              </a:rPr>
              <a:t>Query · </a:t>
            </a:r>
            <a:r>
              <a:rPr lang="en-US" sz="1400" b="1">
                <a:solidFill>
                  <a:srgbClr val="1D2D44"/>
                </a:solidFill>
                <a:latin typeface="Trebuchet MS"/>
                <a:ea typeface="Trebuchet MS"/>
                <a:cs typeface="Trebuchet MS"/>
              </a:rPr>
              <a:t>Get all locations</a:t>
            </a:r>
            <a:endParaRPr sz="1200" b="0" i="0" u="none" strike="noStrike" cap="none">
              <a:solidFill>
                <a:srgbClr val="000000"/>
              </a:solidFill>
              <a:latin typeface="Arial"/>
              <a:ea typeface="Arial"/>
              <a:cs typeface="Arial"/>
            </a:endParaRPr>
          </a:p>
        </p:txBody>
      </p:sp>
      <p:sp>
        <p:nvSpPr>
          <p:cNvPr id="2082635771" name="Google Shape;181;p9"/>
          <p:cNvSpPr/>
          <p:nvPr/>
        </p:nvSpPr>
        <p:spPr bwMode="auto">
          <a:xfrm>
            <a:off x="502920" y="3410640"/>
            <a:ext cx="8229240" cy="14626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defRPr/>
            </a:pPr>
            <a:endParaRPr sz="950" b="0" i="0" u="none" strike="noStrike" cap="none">
              <a:solidFill>
                <a:srgbClr val="000000"/>
              </a:solidFill>
              <a:latin typeface="Arial"/>
              <a:ea typeface="Arial"/>
              <a:cs typeface="Arial"/>
            </a:endParaRPr>
          </a:p>
        </p:txBody>
      </p:sp>
      <p:pic>
        <p:nvPicPr>
          <p:cNvPr id="604409757" name="Immagine 2"/>
          <p:cNvPicPr>
            <a:picLocks noChangeAspect="1"/>
          </p:cNvPicPr>
          <p:nvPr/>
        </p:nvPicPr>
        <p:blipFill rotWithShape="1">
          <a:blip r:embed="rId3"/>
          <a:stretch/>
        </p:blipFill>
        <p:spPr bwMode="auto">
          <a:xfrm flipH="0" flipV="0">
            <a:off x="1886282" y="1980766"/>
            <a:ext cx="4943737" cy="1711293"/>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95609152" name="Google Shape;187;p10"/>
          <p:cNvSpPr/>
          <p:nvPr/>
        </p:nvSpPr>
        <p:spPr bwMode="auto">
          <a:xfrm>
            <a:off x="365760" y="201240"/>
            <a:ext cx="1737000" cy="255600"/>
          </a:xfrm>
          <a:prstGeom prst="roundRect">
            <a:avLst>
              <a:gd name="adj" fmla="val 14286"/>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2125905879" name="Google Shape;188;p10"/>
          <p:cNvSpPr/>
          <p:nvPr/>
        </p:nvSpPr>
        <p:spPr bwMode="auto">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i="0" u="none" strike="noStrike" cap="none">
                <a:solidFill>
                  <a:srgbClr val="FFFFFF"/>
                </a:solidFill>
                <a:latin typeface="Calibri"/>
                <a:ea typeface="Calibri"/>
                <a:cs typeface="Calibri"/>
              </a:rPr>
              <a:t>DAAS REST</a:t>
            </a:r>
            <a:endParaRPr sz="800" b="0" i="0" u="none" strike="noStrike" cap="none">
              <a:solidFill>
                <a:srgbClr val="000000"/>
              </a:solidFill>
              <a:latin typeface="Arial"/>
              <a:ea typeface="Arial"/>
              <a:cs typeface="Arial"/>
            </a:endParaRPr>
          </a:p>
        </p:txBody>
      </p:sp>
      <p:sp>
        <p:nvSpPr>
          <p:cNvPr id="1557535697" name="Google Shape;189;p10"/>
          <p:cNvSpPr/>
          <p:nvPr/>
        </p:nvSpPr>
        <p:spPr bwMode="auto">
          <a:xfrm>
            <a:off x="365760" y="56016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2600" b="1" i="0" u="none" strike="noStrike" cap="none">
                <a:solidFill>
                  <a:srgbClr val="1D2D44"/>
                </a:solidFill>
                <a:latin typeface="Trebuchet MS"/>
                <a:ea typeface="Trebuchet MS"/>
                <a:cs typeface="Trebuchet MS"/>
              </a:rPr>
              <a:t>DaaS — Full REST API  (http://localhost:8081)</a:t>
            </a:r>
            <a:endParaRPr sz="2600" b="0" i="0" u="none" strike="noStrike" cap="none">
              <a:solidFill>
                <a:srgbClr val="000000"/>
              </a:solidFill>
              <a:latin typeface="Arial"/>
              <a:ea typeface="Arial"/>
              <a:cs typeface="Arial"/>
            </a:endParaRPr>
          </a:p>
        </p:txBody>
      </p:sp>
      <p:sp>
        <p:nvSpPr>
          <p:cNvPr id="2025340221" name="Google Shape;190;p10"/>
          <p:cNvSpPr/>
          <p:nvPr/>
        </p:nvSpPr>
        <p:spPr bwMode="auto">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623681034" name="Google Shape;191;p10"/>
          <p:cNvSpPr/>
          <p:nvPr/>
        </p:nvSpPr>
        <p:spPr bwMode="auto">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defRPr/>
            </a:pPr>
            <a:r>
              <a:rPr lang="en-US" sz="900" b="0" i="0" u="none" strike="noStrike" cap="none">
                <a:solidFill>
                  <a:srgbClr val="6B7280"/>
                </a:solidFill>
                <a:latin typeface="Calibri"/>
                <a:ea typeface="Calibri"/>
                <a:cs typeface="Calibri"/>
              </a:rPr>
              <a:t>9</a:t>
            </a:r>
            <a:endParaRPr sz="900" b="0" i="0" u="none" strike="noStrike" cap="none">
              <a:solidFill>
                <a:srgbClr val="000000"/>
              </a:solidFill>
              <a:latin typeface="Arial"/>
              <a:ea typeface="Arial"/>
              <a:cs typeface="Arial"/>
            </a:endParaRPr>
          </a:p>
        </p:txBody>
      </p:sp>
      <p:sp>
        <p:nvSpPr>
          <p:cNvPr id="227380381" name="Google Shape;192;p10"/>
          <p:cNvSpPr/>
          <p:nvPr/>
        </p:nvSpPr>
        <p:spPr bwMode="auto">
          <a:xfrm>
            <a:off x="365760" y="4215240"/>
            <a:ext cx="8412120" cy="273960"/>
          </a:xfrm>
          <a:prstGeom prst="roundRect">
            <a:avLst>
              <a:gd name="adj" fmla="val 16667"/>
            </a:avLst>
          </a:prstGeom>
          <a:solidFill>
            <a:srgbClr val="EFF6FF"/>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496891744" name="Google Shape;193;p10"/>
          <p:cNvSpPr/>
          <p:nvPr/>
        </p:nvSpPr>
        <p:spPr bwMode="auto">
          <a:xfrm>
            <a:off x="502920" y="4215240"/>
            <a:ext cx="8229240" cy="2739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950" b="0" i="0" u="none" strike="noStrike" cap="none">
                <a:solidFill>
                  <a:srgbClr val="2C5FDC"/>
                </a:solidFill>
                <a:latin typeface="Calibri"/>
                <a:ea typeface="Calibri"/>
                <a:cs typeface="Calibri"/>
              </a:rPr>
              <a:t> Swagger UI: http://localhost:8081/swagger-ui.html  —  interactive API documentation for all endpoints</a:t>
            </a:r>
            <a:endParaRPr sz="950" b="0" i="0" u="none" strike="noStrike" cap="none">
              <a:solidFill>
                <a:srgbClr val="000000"/>
              </a:solidFill>
              <a:latin typeface="Arial"/>
              <a:ea typeface="Arial"/>
              <a:cs typeface="Arial"/>
            </a:endParaRPr>
          </a:p>
        </p:txBody>
      </p:sp>
      <p:pic>
        <p:nvPicPr>
          <p:cNvPr id="406188310" name="Google Shape;194;p10"/>
          <p:cNvPicPr/>
          <p:nvPr/>
        </p:nvPicPr>
        <p:blipFill rotWithShape="1">
          <a:blip r:embed="rId3">
            <a:alphaModFix/>
          </a:blip>
          <a:stretch/>
        </p:blipFill>
        <p:spPr bwMode="auto">
          <a:xfrm>
            <a:off x="21240" y="1292759"/>
            <a:ext cx="8894880" cy="2794320"/>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D2D44"/>
        </a:solidFill>
      </p:bgPr>
    </p:bg>
    <p:spTree>
      <p:nvGrpSpPr>
        <p:cNvPr id="1" name=""/>
        <p:cNvGrpSpPr/>
        <p:nvPr/>
      </p:nvGrpSpPr>
      <p:grpSpPr bwMode="auto">
        <a:xfrm>
          <a:off x="0" y="0"/>
          <a:ext cx="0" cy="0"/>
          <a:chOff x="0" y="0"/>
          <a:chExt cx="0" cy="0"/>
        </a:xfrm>
      </p:grpSpPr>
      <p:sp>
        <p:nvSpPr>
          <p:cNvPr id="1868538334" name="Google Shape;200;p11"/>
          <p:cNvSpPr/>
          <p:nvPr/>
        </p:nvSpPr>
        <p:spPr bwMode="auto">
          <a:xfrm>
            <a:off x="0" y="0"/>
            <a:ext cx="200880" cy="5143320"/>
          </a:xfrm>
          <a:prstGeom prst="rect">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862237902" name="Google Shape;201;p11"/>
          <p:cNvSpPr/>
          <p:nvPr/>
        </p:nvSpPr>
        <p:spPr bwMode="auto">
          <a:xfrm>
            <a:off x="457200" y="1188720"/>
            <a:ext cx="822924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300" b="0" i="1" u="none" strike="noStrike" cap="none">
                <a:solidFill>
                  <a:srgbClr val="9FB4CC"/>
                </a:solidFill>
                <a:latin typeface="Calibri"/>
                <a:ea typeface="Calibri"/>
                <a:cs typeface="Calibri"/>
              </a:rPr>
              <a:t>Section 2</a:t>
            </a:r>
            <a:endParaRPr sz="1300" b="0" i="0" u="none" strike="noStrike" cap="none">
              <a:solidFill>
                <a:srgbClr val="FFFFFF"/>
              </a:solidFill>
              <a:latin typeface="Arial"/>
              <a:ea typeface="Arial"/>
              <a:cs typeface="Arial"/>
            </a:endParaRPr>
          </a:p>
        </p:txBody>
      </p:sp>
      <p:sp>
        <p:nvSpPr>
          <p:cNvPr id="1670982319" name="Google Shape;202;p11"/>
          <p:cNvSpPr/>
          <p:nvPr/>
        </p:nvSpPr>
        <p:spPr bwMode="auto">
          <a:xfrm>
            <a:off x="457200" y="1600200"/>
            <a:ext cx="8229240" cy="18284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4000" b="1" i="0" u="none" strike="noStrike" cap="none">
                <a:solidFill>
                  <a:srgbClr val="FFFFFF"/>
                </a:solidFill>
                <a:latin typeface="Trebuchet MS"/>
                <a:ea typeface="Trebuchet MS"/>
                <a:cs typeface="Trebuchet MS"/>
              </a:rPr>
              <a:t>EaaS — Ethics</a:t>
            </a:r>
            <a:endParaRPr sz="4000" b="0" i="0" u="none" strike="noStrike" cap="none">
              <a:solidFill>
                <a:srgbClr val="FFFFFF"/>
              </a:solidFill>
              <a:latin typeface="Arial"/>
              <a:ea typeface="Arial"/>
              <a:cs typeface="Arial"/>
            </a:endParaRPr>
          </a:p>
          <a:p>
            <a:pPr marL="0" marR="0" lvl="0" indent="0" algn="l" rtl="0">
              <a:lnSpc>
                <a:spcPct val="100000"/>
              </a:lnSpc>
              <a:spcBef>
                <a:spcPts val="0"/>
              </a:spcBef>
              <a:spcAft>
                <a:spcPts val="0"/>
              </a:spcAft>
              <a:buNone/>
              <a:defRPr/>
            </a:pPr>
            <a:r>
              <a:rPr lang="en-US" sz="4000" b="1" i="0" u="none" strike="noStrike" cap="none">
                <a:solidFill>
                  <a:srgbClr val="FFFFFF"/>
                </a:solidFill>
                <a:latin typeface="Trebuchet MS"/>
                <a:ea typeface="Trebuchet MS"/>
                <a:cs typeface="Trebuchet MS"/>
              </a:rPr>
              <a:t>as a Service</a:t>
            </a:r>
            <a:endParaRPr sz="4000" b="0" i="0" u="none" strike="noStrike" cap="none">
              <a:solidFill>
                <a:srgbClr val="FFFFFF"/>
              </a:solidFill>
              <a:latin typeface="Arial"/>
              <a:ea typeface="Arial"/>
              <a:cs typeface="Arial"/>
            </a:endParaRPr>
          </a:p>
        </p:txBody>
      </p:sp>
      <p:sp>
        <p:nvSpPr>
          <p:cNvPr id="856292282" name="Google Shape;203;p11"/>
          <p:cNvSpPr/>
          <p:nvPr/>
        </p:nvSpPr>
        <p:spPr bwMode="auto">
          <a:xfrm>
            <a:off x="457200" y="4114800"/>
            <a:ext cx="8229240" cy="365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0" i="0" u="none" strike="noStrike" cap="none">
                <a:solidFill>
                  <a:srgbClr val="9FB4CC"/>
                </a:solidFill>
                <a:latin typeface="Calibri"/>
                <a:ea typeface="Calibri"/>
                <a:cs typeface="Calibri"/>
              </a:rPr>
              <a:t>Lorenzo Di Giandomenico </a:t>
            </a:r>
            <a:endParaRPr sz="1200" b="0" i="0" u="none" strike="noStrike" cap="none">
              <a:solidFill>
                <a:srgbClr val="FFFFFF"/>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1986807" name="Google Shape;209;p12"/>
          <p:cNvSpPr/>
          <p:nvPr/>
        </p:nvSpPr>
        <p:spPr bwMode="auto">
          <a:xfrm>
            <a:off x="365760" y="201240"/>
            <a:ext cx="1737000" cy="255600"/>
          </a:xfrm>
          <a:prstGeom prst="roundRect">
            <a:avLst>
              <a:gd name="adj" fmla="val 14286"/>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710140524" name="Google Shape;210;p12"/>
          <p:cNvSpPr/>
          <p:nvPr/>
        </p:nvSpPr>
        <p:spPr bwMode="auto">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i="0" u="none" strike="noStrike" cap="none">
                <a:solidFill>
                  <a:srgbClr val="FFFFFF"/>
                </a:solidFill>
                <a:latin typeface="Calibri"/>
                <a:ea typeface="Calibri"/>
                <a:cs typeface="Calibri"/>
              </a:rPr>
              <a:t>EAAS</a:t>
            </a:r>
            <a:endParaRPr sz="800" b="0" i="0" u="none" strike="noStrike" cap="none">
              <a:solidFill>
                <a:srgbClr val="000000"/>
              </a:solidFill>
              <a:latin typeface="Arial"/>
              <a:ea typeface="Arial"/>
              <a:cs typeface="Arial"/>
            </a:endParaRPr>
          </a:p>
        </p:txBody>
      </p:sp>
      <p:sp>
        <p:nvSpPr>
          <p:cNvPr id="165632402" name="Google Shape;211;p12"/>
          <p:cNvSpPr/>
          <p:nvPr/>
        </p:nvSpPr>
        <p:spPr bwMode="auto">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2600" b="1" i="0" u="none" strike="noStrike" cap="none">
                <a:solidFill>
                  <a:srgbClr val="1D2D44"/>
                </a:solidFill>
                <a:latin typeface="Trebuchet MS"/>
                <a:ea typeface="Trebuchet MS"/>
                <a:cs typeface="Trebuchet MS"/>
              </a:rPr>
              <a:t>EaaS — Evaluation Workflow</a:t>
            </a:r>
            <a:endParaRPr sz="2600" b="0" i="0" u="none" strike="noStrike" cap="none">
              <a:solidFill>
                <a:srgbClr val="000000"/>
              </a:solidFill>
              <a:latin typeface="Arial"/>
              <a:ea typeface="Arial"/>
              <a:cs typeface="Arial"/>
            </a:endParaRPr>
          </a:p>
        </p:txBody>
      </p:sp>
      <p:sp>
        <p:nvSpPr>
          <p:cNvPr id="212253755" name="Google Shape;212;p12"/>
          <p:cNvSpPr/>
          <p:nvPr/>
        </p:nvSpPr>
        <p:spPr bwMode="auto">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714219142" name="Google Shape;213;p12"/>
          <p:cNvSpPr/>
          <p:nvPr/>
        </p:nvSpPr>
        <p:spPr bwMode="auto">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defRPr/>
            </a:pPr>
            <a:r>
              <a:rPr lang="en-US" sz="900" b="0" i="0" u="none" strike="noStrike" cap="none">
                <a:solidFill>
                  <a:srgbClr val="6B7280"/>
                </a:solidFill>
                <a:latin typeface="Calibri"/>
                <a:ea typeface="Calibri"/>
                <a:cs typeface="Calibri"/>
              </a:rPr>
              <a:t>11</a:t>
            </a:r>
            <a:endParaRPr sz="900" b="0" i="0" u="none" strike="noStrike" cap="none">
              <a:solidFill>
                <a:srgbClr val="000000"/>
              </a:solidFill>
              <a:latin typeface="Arial"/>
              <a:ea typeface="Arial"/>
              <a:cs typeface="Arial"/>
            </a:endParaRPr>
          </a:p>
        </p:txBody>
      </p:sp>
      <p:sp>
        <p:nvSpPr>
          <p:cNvPr id="1597912240" name="Google Shape;214;p12"/>
          <p:cNvSpPr/>
          <p:nvPr/>
        </p:nvSpPr>
        <p:spPr bwMode="auto">
          <a:xfrm>
            <a:off x="365760" y="1408320"/>
            <a:ext cx="438480" cy="438480"/>
          </a:xfrm>
          <a:prstGeom prst="ellipse">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2092620450" name="Google Shape;215;p12"/>
          <p:cNvSpPr/>
          <p:nvPr/>
        </p:nvSpPr>
        <p:spPr bwMode="auto">
          <a:xfrm>
            <a:off x="365760" y="1408320"/>
            <a:ext cx="438480" cy="4384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400" b="1" i="0" u="none" strike="noStrike" cap="none">
                <a:solidFill>
                  <a:srgbClr val="FFFFFF"/>
                </a:solidFill>
                <a:latin typeface="Trebuchet MS"/>
                <a:ea typeface="Trebuchet MS"/>
                <a:cs typeface="Trebuchet MS"/>
              </a:rPr>
              <a:t>1</a:t>
            </a:r>
            <a:endParaRPr sz="1400" b="0" i="0" u="none" strike="noStrike" cap="none">
              <a:solidFill>
                <a:srgbClr val="000000"/>
              </a:solidFill>
              <a:latin typeface="Arial"/>
              <a:ea typeface="Arial"/>
              <a:cs typeface="Arial"/>
            </a:endParaRPr>
          </a:p>
        </p:txBody>
      </p:sp>
      <p:cxnSp>
        <p:nvCxnSpPr>
          <p:cNvPr id="1714769223" name="Google Shape;216;p12"/>
          <p:cNvCxnSpPr/>
          <p:nvPr/>
        </p:nvCxnSpPr>
        <p:spPr bwMode="auto">
          <a:xfrm>
            <a:off x="576000" y="1846800"/>
            <a:ext cx="360" cy="274320"/>
          </a:xfrm>
          <a:prstGeom prst="straightConnector1">
            <a:avLst/>
          </a:prstGeom>
          <a:noFill/>
          <a:ln w="19050" cap="flat" cmpd="sng">
            <a:solidFill>
              <a:srgbClr val="6B7280"/>
            </a:solidFill>
            <a:prstDash val="solid"/>
            <a:round/>
            <a:headEnd type="none" w="sm" len="sm"/>
            <a:tailEnd type="none" w="sm" len="sm"/>
          </a:ln>
        </p:spPr>
      </p:cxnSp>
      <p:sp>
        <p:nvSpPr>
          <p:cNvPr id="102172183" name="Google Shape;217;p12"/>
          <p:cNvSpPr/>
          <p:nvPr/>
        </p:nvSpPr>
        <p:spPr bwMode="auto">
          <a:xfrm>
            <a:off x="1005840" y="1316880"/>
            <a:ext cx="7772039" cy="621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940094738" name="Google Shape;218;p12"/>
          <p:cNvSpPr/>
          <p:nvPr/>
        </p:nvSpPr>
        <p:spPr bwMode="auto">
          <a:xfrm>
            <a:off x="1097280" y="1353240"/>
            <a:ext cx="758916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1" i="0" u="none" strike="noStrike" cap="none">
                <a:solidFill>
                  <a:srgbClr val="1D2D44"/>
                </a:solidFill>
                <a:latin typeface="Trebuchet MS"/>
                <a:ea typeface="Trebuchet MS"/>
                <a:cs typeface="Trebuchet MS"/>
              </a:rPr>
              <a:t>Structured Request</a:t>
            </a:r>
            <a:endParaRPr sz="1200" b="0" i="0" u="none" strike="noStrike" cap="none">
              <a:solidFill>
                <a:srgbClr val="000000"/>
              </a:solidFill>
              <a:latin typeface="Arial"/>
              <a:ea typeface="Arial"/>
              <a:cs typeface="Arial"/>
            </a:endParaRPr>
          </a:p>
        </p:txBody>
      </p:sp>
      <p:sp>
        <p:nvSpPr>
          <p:cNvPr id="1938447969" name="Google Shape;219;p12"/>
          <p:cNvSpPr/>
          <p:nvPr/>
        </p:nvSpPr>
        <p:spPr bwMode="auto">
          <a:xfrm>
            <a:off x="1097280" y="1591200"/>
            <a:ext cx="75891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The client sends: action, candidateId, jobId,</a:t>
            </a:r>
            <a:endParaRPr sz="10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requester, purpose, declaredRisk </a:t>
            </a:r>
            <a:endParaRPr sz="1000" b="0" i="0" u="none" strike="noStrike" cap="none">
              <a:solidFill>
                <a:srgbClr val="000000"/>
              </a:solidFill>
              <a:latin typeface="Arial"/>
              <a:ea typeface="Arial"/>
              <a:cs typeface="Arial"/>
            </a:endParaRPr>
          </a:p>
        </p:txBody>
      </p:sp>
      <p:sp>
        <p:nvSpPr>
          <p:cNvPr id="298603618" name="Google Shape;220;p12"/>
          <p:cNvSpPr/>
          <p:nvPr/>
        </p:nvSpPr>
        <p:spPr bwMode="auto">
          <a:xfrm>
            <a:off x="365760" y="2121480"/>
            <a:ext cx="438480" cy="438480"/>
          </a:xfrm>
          <a:prstGeom prst="ellipse">
            <a:avLst/>
          </a:prstGeom>
          <a:solidFill>
            <a:srgbClr val="C25A00"/>
          </a:solidFill>
          <a:ln w="12700" cap="flat" cmpd="sng">
            <a:solidFill>
              <a:srgbClr val="C25A0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96029267" name="Google Shape;221;p12"/>
          <p:cNvSpPr/>
          <p:nvPr/>
        </p:nvSpPr>
        <p:spPr bwMode="auto">
          <a:xfrm>
            <a:off x="365760" y="2121480"/>
            <a:ext cx="438480" cy="4384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400" b="1" i="0" u="none" strike="noStrike" cap="none">
                <a:solidFill>
                  <a:srgbClr val="FFFFFF"/>
                </a:solidFill>
                <a:latin typeface="Trebuchet MS"/>
                <a:ea typeface="Trebuchet MS"/>
                <a:cs typeface="Trebuchet MS"/>
              </a:rPr>
              <a:t>2</a:t>
            </a:r>
            <a:endParaRPr sz="1400" b="0" i="0" u="none" strike="noStrike" cap="none">
              <a:solidFill>
                <a:srgbClr val="000000"/>
              </a:solidFill>
              <a:latin typeface="Arial"/>
              <a:ea typeface="Arial"/>
              <a:cs typeface="Arial"/>
            </a:endParaRPr>
          </a:p>
        </p:txBody>
      </p:sp>
      <p:cxnSp>
        <p:nvCxnSpPr>
          <p:cNvPr id="1125322585" name="Google Shape;222;p12"/>
          <p:cNvCxnSpPr/>
          <p:nvPr/>
        </p:nvCxnSpPr>
        <p:spPr bwMode="auto">
          <a:xfrm>
            <a:off x="576000" y="2560320"/>
            <a:ext cx="360" cy="274320"/>
          </a:xfrm>
          <a:prstGeom prst="straightConnector1">
            <a:avLst/>
          </a:prstGeom>
          <a:noFill/>
          <a:ln w="19050" cap="flat" cmpd="sng">
            <a:solidFill>
              <a:srgbClr val="6B7280"/>
            </a:solidFill>
            <a:prstDash val="solid"/>
            <a:round/>
            <a:headEnd type="none" w="sm" len="sm"/>
            <a:tailEnd type="none" w="sm" len="sm"/>
          </a:ln>
        </p:spPr>
      </p:cxnSp>
      <p:sp>
        <p:nvSpPr>
          <p:cNvPr id="1666521026" name="Google Shape;223;p12"/>
          <p:cNvSpPr/>
          <p:nvPr/>
        </p:nvSpPr>
        <p:spPr bwMode="auto">
          <a:xfrm>
            <a:off x="1005840" y="2030040"/>
            <a:ext cx="7772039" cy="621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605585925" name="Google Shape;224;p12"/>
          <p:cNvSpPr/>
          <p:nvPr/>
        </p:nvSpPr>
        <p:spPr bwMode="auto">
          <a:xfrm>
            <a:off x="1097280" y="2066400"/>
            <a:ext cx="758916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1" i="0" u="none" strike="noStrike" cap="none">
                <a:solidFill>
                  <a:srgbClr val="1D2D44"/>
                </a:solidFill>
                <a:latin typeface="Trebuchet MS"/>
                <a:ea typeface="Trebuchet MS"/>
                <a:cs typeface="Trebuchet MS"/>
              </a:rPr>
              <a:t>Fetch Canonical Data from DaaS</a:t>
            </a:r>
            <a:endParaRPr sz="1200" b="0" i="0" u="none" strike="noStrike" cap="none">
              <a:solidFill>
                <a:srgbClr val="000000"/>
              </a:solidFill>
              <a:latin typeface="Arial"/>
              <a:ea typeface="Arial"/>
              <a:cs typeface="Arial"/>
            </a:endParaRPr>
          </a:p>
        </p:txBody>
      </p:sp>
      <p:sp>
        <p:nvSpPr>
          <p:cNvPr id="1665726773" name="Google Shape;225;p12"/>
          <p:cNvSpPr/>
          <p:nvPr/>
        </p:nvSpPr>
        <p:spPr bwMode="auto">
          <a:xfrm>
            <a:off x="1097280" y="2304360"/>
            <a:ext cx="75891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EaaS fetches candidate and offer directly</a:t>
            </a:r>
            <a:endParaRPr sz="10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from DaaS — never trust the caller</a:t>
            </a:r>
            <a:endParaRPr sz="1000" b="0" i="0" u="none" strike="noStrike" cap="none">
              <a:solidFill>
                <a:srgbClr val="000000"/>
              </a:solidFill>
              <a:latin typeface="Arial"/>
              <a:ea typeface="Arial"/>
              <a:cs typeface="Arial"/>
            </a:endParaRPr>
          </a:p>
        </p:txBody>
      </p:sp>
      <p:sp>
        <p:nvSpPr>
          <p:cNvPr id="1208891877" name="Google Shape;226;p12"/>
          <p:cNvSpPr/>
          <p:nvPr/>
        </p:nvSpPr>
        <p:spPr bwMode="auto">
          <a:xfrm>
            <a:off x="365760" y="2834640"/>
            <a:ext cx="438480" cy="438480"/>
          </a:xfrm>
          <a:prstGeom prst="ellipse">
            <a:avLst/>
          </a:prstGeom>
          <a:solidFill>
            <a:srgbClr val="D8A01A"/>
          </a:solidFill>
          <a:ln w="12700" cap="flat" cmpd="sng">
            <a:solidFill>
              <a:srgbClr val="D8A01A"/>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2010452817" name="Google Shape;227;p12"/>
          <p:cNvSpPr/>
          <p:nvPr/>
        </p:nvSpPr>
        <p:spPr bwMode="auto">
          <a:xfrm>
            <a:off x="365760" y="2834640"/>
            <a:ext cx="438480" cy="4384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400" b="1" i="0" u="none" strike="noStrike" cap="none">
                <a:solidFill>
                  <a:srgbClr val="FFFFFF"/>
                </a:solidFill>
                <a:latin typeface="Trebuchet MS"/>
                <a:ea typeface="Trebuchet MS"/>
                <a:cs typeface="Trebuchet MS"/>
              </a:rPr>
              <a:t>3</a:t>
            </a:r>
            <a:endParaRPr sz="1400" b="0" i="0" u="none" strike="noStrike" cap="none">
              <a:solidFill>
                <a:srgbClr val="000000"/>
              </a:solidFill>
              <a:latin typeface="Arial"/>
              <a:ea typeface="Arial"/>
              <a:cs typeface="Arial"/>
            </a:endParaRPr>
          </a:p>
        </p:txBody>
      </p:sp>
      <p:cxnSp>
        <p:nvCxnSpPr>
          <p:cNvPr id="2107067844" name="Google Shape;228;p12"/>
          <p:cNvCxnSpPr/>
          <p:nvPr/>
        </p:nvCxnSpPr>
        <p:spPr bwMode="auto">
          <a:xfrm>
            <a:off x="576000" y="3273480"/>
            <a:ext cx="360" cy="274320"/>
          </a:xfrm>
          <a:prstGeom prst="straightConnector1">
            <a:avLst/>
          </a:prstGeom>
          <a:noFill/>
          <a:ln w="19050" cap="flat" cmpd="sng">
            <a:solidFill>
              <a:srgbClr val="6B7280"/>
            </a:solidFill>
            <a:prstDash val="solid"/>
            <a:round/>
            <a:headEnd type="none" w="sm" len="sm"/>
            <a:tailEnd type="none" w="sm" len="sm"/>
          </a:ln>
        </p:spPr>
      </p:cxnSp>
      <p:sp>
        <p:nvSpPr>
          <p:cNvPr id="953217808" name="Google Shape;229;p12"/>
          <p:cNvSpPr/>
          <p:nvPr/>
        </p:nvSpPr>
        <p:spPr bwMode="auto">
          <a:xfrm>
            <a:off x="1005840" y="2743200"/>
            <a:ext cx="7772039" cy="621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015082916" name="Google Shape;230;p12"/>
          <p:cNvSpPr/>
          <p:nvPr/>
        </p:nvSpPr>
        <p:spPr bwMode="auto">
          <a:xfrm>
            <a:off x="1097280" y="2779920"/>
            <a:ext cx="758916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1" i="0" u="none" strike="noStrike" cap="none">
                <a:solidFill>
                  <a:srgbClr val="1D2D44"/>
                </a:solidFill>
                <a:latin typeface="Trebuchet MS"/>
                <a:ea typeface="Trebuchet MS"/>
                <a:cs typeface="Trebuchet MS"/>
              </a:rPr>
              <a:t>Case Analysis — Policy Engine</a:t>
            </a:r>
            <a:endParaRPr sz="1200" b="0" i="0" u="none" strike="noStrike" cap="none">
              <a:solidFill>
                <a:srgbClr val="000000"/>
              </a:solidFill>
              <a:latin typeface="Arial"/>
              <a:ea typeface="Arial"/>
              <a:cs typeface="Arial"/>
            </a:endParaRPr>
          </a:p>
        </p:txBody>
      </p:sp>
      <p:sp>
        <p:nvSpPr>
          <p:cNvPr id="480669042" name="Google Shape;231;p12"/>
          <p:cNvSpPr/>
          <p:nvPr/>
        </p:nvSpPr>
        <p:spPr bwMode="auto">
          <a:xfrm>
            <a:off x="1097280" y="3017519"/>
            <a:ext cx="75891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Each policy is applied to the real data.</a:t>
            </a:r>
            <a:endParaRPr sz="10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Produces findings with severity and evidence</a:t>
            </a:r>
            <a:endParaRPr sz="1000" b="0" i="0" u="none" strike="noStrike" cap="none">
              <a:solidFill>
                <a:srgbClr val="000000"/>
              </a:solidFill>
              <a:latin typeface="Arial"/>
              <a:ea typeface="Arial"/>
              <a:cs typeface="Arial"/>
            </a:endParaRPr>
          </a:p>
        </p:txBody>
      </p:sp>
      <p:sp>
        <p:nvSpPr>
          <p:cNvPr id="328828851" name="Google Shape;232;p12"/>
          <p:cNvSpPr/>
          <p:nvPr/>
        </p:nvSpPr>
        <p:spPr bwMode="auto">
          <a:xfrm>
            <a:off x="365760" y="3547800"/>
            <a:ext cx="438480" cy="438480"/>
          </a:xfrm>
          <a:prstGeom prst="ellipse">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645998569" name="Google Shape;233;p12"/>
          <p:cNvSpPr/>
          <p:nvPr/>
        </p:nvSpPr>
        <p:spPr bwMode="auto">
          <a:xfrm>
            <a:off x="365760" y="3547800"/>
            <a:ext cx="438480" cy="4384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400" b="1" i="0" u="none" strike="noStrike" cap="none">
                <a:solidFill>
                  <a:srgbClr val="FFFFFF"/>
                </a:solidFill>
                <a:latin typeface="Trebuchet MS"/>
                <a:ea typeface="Trebuchet MS"/>
                <a:cs typeface="Trebuchet MS"/>
              </a:rPr>
              <a:t>4</a:t>
            </a:r>
            <a:endParaRPr sz="1400" b="0" i="0" u="none" strike="noStrike" cap="none">
              <a:solidFill>
                <a:srgbClr val="000000"/>
              </a:solidFill>
              <a:latin typeface="Arial"/>
              <a:ea typeface="Arial"/>
              <a:cs typeface="Arial"/>
            </a:endParaRPr>
          </a:p>
        </p:txBody>
      </p:sp>
      <p:cxnSp>
        <p:nvCxnSpPr>
          <p:cNvPr id="22799473" name="Google Shape;234;p12"/>
          <p:cNvCxnSpPr/>
          <p:nvPr/>
        </p:nvCxnSpPr>
        <p:spPr bwMode="auto">
          <a:xfrm>
            <a:off x="576000" y="3986640"/>
            <a:ext cx="360" cy="274320"/>
          </a:xfrm>
          <a:prstGeom prst="straightConnector1">
            <a:avLst/>
          </a:prstGeom>
          <a:noFill/>
          <a:ln w="19050" cap="flat" cmpd="sng">
            <a:solidFill>
              <a:srgbClr val="6B7280"/>
            </a:solidFill>
            <a:prstDash val="solid"/>
            <a:round/>
            <a:headEnd type="none" w="sm" len="sm"/>
            <a:tailEnd type="none" w="sm" len="sm"/>
          </a:ln>
        </p:spPr>
      </p:cxnSp>
      <p:sp>
        <p:nvSpPr>
          <p:cNvPr id="2067162300" name="Google Shape;235;p12"/>
          <p:cNvSpPr/>
          <p:nvPr/>
        </p:nvSpPr>
        <p:spPr bwMode="auto">
          <a:xfrm>
            <a:off x="1005840" y="3456360"/>
            <a:ext cx="7772039" cy="621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971806302" name="Google Shape;236;p12"/>
          <p:cNvSpPr/>
          <p:nvPr/>
        </p:nvSpPr>
        <p:spPr bwMode="auto">
          <a:xfrm>
            <a:off x="1097280" y="3493080"/>
            <a:ext cx="758916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1" i="0" u="none" strike="noStrike" cap="none">
                <a:solidFill>
                  <a:srgbClr val="1D2D44"/>
                </a:solidFill>
                <a:latin typeface="Trebuchet MS"/>
                <a:ea typeface="Trebuchet MS"/>
                <a:cs typeface="Trebuchet MS"/>
              </a:rPr>
              <a:t>Governance Decision</a:t>
            </a:r>
            <a:endParaRPr sz="1200" b="0" i="0" u="none" strike="noStrike" cap="none">
              <a:solidFill>
                <a:srgbClr val="000000"/>
              </a:solidFill>
              <a:latin typeface="Arial"/>
              <a:ea typeface="Arial"/>
              <a:cs typeface="Arial"/>
            </a:endParaRPr>
          </a:p>
        </p:txBody>
      </p:sp>
      <p:sp>
        <p:nvSpPr>
          <p:cNvPr id="122810818" name="Google Shape;237;p12"/>
          <p:cNvSpPr/>
          <p:nvPr/>
        </p:nvSpPr>
        <p:spPr bwMode="auto">
          <a:xfrm>
            <a:off x="1097280" y="3730680"/>
            <a:ext cx="75891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DecisionMaker aggregates findings:</a:t>
            </a:r>
            <a:endParaRPr sz="10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CRITICAL→REJECT, HIGH→ESCALATE, MEDIUM→REVISE, none→PROCEED</a:t>
            </a:r>
            <a:endParaRPr sz="1000" b="0" i="0" u="none" strike="noStrike" cap="none">
              <a:solidFill>
                <a:srgbClr val="000000"/>
              </a:solidFill>
              <a:latin typeface="Arial"/>
              <a:ea typeface="Arial"/>
              <a:cs typeface="Arial"/>
            </a:endParaRPr>
          </a:p>
        </p:txBody>
      </p:sp>
      <p:sp>
        <p:nvSpPr>
          <p:cNvPr id="14484356" name="Google Shape;238;p12"/>
          <p:cNvSpPr/>
          <p:nvPr/>
        </p:nvSpPr>
        <p:spPr bwMode="auto">
          <a:xfrm>
            <a:off x="365760" y="4260960"/>
            <a:ext cx="438480" cy="438480"/>
          </a:xfrm>
          <a:prstGeom prst="ellipse">
            <a:avLst/>
          </a:prstGeom>
          <a:solidFill>
            <a:srgbClr val="9B59B6"/>
          </a:solidFill>
          <a:ln w="12700" cap="flat" cmpd="sng">
            <a:solidFill>
              <a:srgbClr val="9B59B6"/>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661114236" name="Google Shape;239;p12"/>
          <p:cNvSpPr/>
          <p:nvPr/>
        </p:nvSpPr>
        <p:spPr bwMode="auto">
          <a:xfrm>
            <a:off x="365760" y="4260960"/>
            <a:ext cx="438480" cy="4384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400" b="1" i="0" u="none" strike="noStrike" cap="none">
                <a:solidFill>
                  <a:srgbClr val="FFFFFF"/>
                </a:solidFill>
                <a:latin typeface="Trebuchet MS"/>
                <a:ea typeface="Trebuchet MS"/>
                <a:cs typeface="Trebuchet MS"/>
              </a:rPr>
              <a:t>5</a:t>
            </a:r>
            <a:endParaRPr sz="1400" b="0" i="0" u="none" strike="noStrike" cap="none">
              <a:solidFill>
                <a:srgbClr val="000000"/>
              </a:solidFill>
              <a:latin typeface="Arial"/>
              <a:ea typeface="Arial"/>
              <a:cs typeface="Arial"/>
            </a:endParaRPr>
          </a:p>
        </p:txBody>
      </p:sp>
      <p:sp>
        <p:nvSpPr>
          <p:cNvPr id="1263468420" name="Google Shape;240;p12"/>
          <p:cNvSpPr/>
          <p:nvPr/>
        </p:nvSpPr>
        <p:spPr bwMode="auto">
          <a:xfrm>
            <a:off x="1005840" y="4169519"/>
            <a:ext cx="7772039" cy="621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900942913" name="Google Shape;241;p12"/>
          <p:cNvSpPr/>
          <p:nvPr/>
        </p:nvSpPr>
        <p:spPr bwMode="auto">
          <a:xfrm>
            <a:off x="1097280" y="4206240"/>
            <a:ext cx="758916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1" i="0" u="none" strike="noStrike" cap="none">
                <a:solidFill>
                  <a:srgbClr val="1D2D44"/>
                </a:solidFill>
                <a:latin typeface="Trebuchet MS"/>
                <a:ea typeface="Trebuchet MS"/>
                <a:cs typeface="Trebuchet MS"/>
              </a:rPr>
              <a:t>Audit and Response</a:t>
            </a:r>
            <a:endParaRPr sz="1200" b="0" i="0" u="none" strike="noStrike" cap="none">
              <a:solidFill>
                <a:srgbClr val="000000"/>
              </a:solidFill>
              <a:latin typeface="Arial"/>
              <a:ea typeface="Arial"/>
              <a:cs typeface="Arial"/>
            </a:endParaRPr>
          </a:p>
        </p:txBody>
      </p:sp>
      <p:sp>
        <p:nvSpPr>
          <p:cNvPr id="1635213855" name="Google Shape;242;p12"/>
          <p:cNvSpPr/>
          <p:nvPr/>
        </p:nvSpPr>
        <p:spPr bwMode="auto">
          <a:xfrm>
            <a:off x="1097280" y="4443840"/>
            <a:ext cx="75891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AuditRecord saved to memory and JSONL.</a:t>
            </a:r>
            <a:endParaRPr sz="10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Full response with provenance and required actions</a:t>
            </a:r>
            <a:endParaRPr sz="1000" b="0" i="0" u="none" strike="noStrike" cap="none">
              <a:solidFill>
                <a:srgbClr val="000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33555994" name="Google Shape;248;p13"/>
          <p:cNvSpPr/>
          <p:nvPr/>
        </p:nvSpPr>
        <p:spPr bwMode="auto">
          <a:xfrm>
            <a:off x="365760" y="201240"/>
            <a:ext cx="1737000" cy="255600"/>
          </a:xfrm>
          <a:prstGeom prst="roundRect">
            <a:avLst>
              <a:gd name="adj" fmla="val 14286"/>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784910446" name="Google Shape;249;p13"/>
          <p:cNvSpPr/>
          <p:nvPr/>
        </p:nvSpPr>
        <p:spPr bwMode="auto">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i="0" u="none" strike="noStrike" cap="none">
                <a:solidFill>
                  <a:srgbClr val="FFFFFF"/>
                </a:solidFill>
                <a:latin typeface="Calibri"/>
                <a:ea typeface="Calibri"/>
                <a:cs typeface="Calibri"/>
              </a:rPr>
              <a:t>EAAS</a:t>
            </a:r>
            <a:endParaRPr sz="800" b="0" i="0" u="none" strike="noStrike" cap="none">
              <a:solidFill>
                <a:srgbClr val="000000"/>
              </a:solidFill>
              <a:latin typeface="Arial"/>
              <a:ea typeface="Arial"/>
              <a:cs typeface="Arial"/>
            </a:endParaRPr>
          </a:p>
        </p:txBody>
      </p:sp>
      <p:sp>
        <p:nvSpPr>
          <p:cNvPr id="1483518185" name="Google Shape;250;p13"/>
          <p:cNvSpPr/>
          <p:nvPr/>
        </p:nvSpPr>
        <p:spPr bwMode="auto">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2600" b="1" i="0" u="none" strike="noStrike" cap="none">
                <a:solidFill>
                  <a:srgbClr val="1D2D44"/>
                </a:solidFill>
                <a:latin typeface="Trebuchet MS"/>
                <a:ea typeface="Trebuchet MS"/>
                <a:cs typeface="Trebuchet MS"/>
              </a:rPr>
              <a:t>EvaluationRequest — Structure</a:t>
            </a:r>
            <a:endParaRPr sz="2600" b="0" i="0" u="none" strike="noStrike" cap="none">
              <a:solidFill>
                <a:srgbClr val="000000"/>
              </a:solidFill>
              <a:latin typeface="Arial"/>
              <a:ea typeface="Arial"/>
              <a:cs typeface="Arial"/>
            </a:endParaRPr>
          </a:p>
        </p:txBody>
      </p:sp>
      <p:sp>
        <p:nvSpPr>
          <p:cNvPr id="1650494333" name="Google Shape;251;p13"/>
          <p:cNvSpPr/>
          <p:nvPr/>
        </p:nvSpPr>
        <p:spPr bwMode="auto">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100111748" name="Google Shape;252;p13"/>
          <p:cNvSpPr/>
          <p:nvPr/>
        </p:nvSpPr>
        <p:spPr bwMode="auto">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defRPr/>
            </a:pPr>
            <a:r>
              <a:rPr lang="en-US" sz="900" b="0" i="0" u="none" strike="noStrike" cap="none">
                <a:solidFill>
                  <a:srgbClr val="6B7280"/>
                </a:solidFill>
                <a:latin typeface="Calibri"/>
                <a:ea typeface="Calibri"/>
                <a:cs typeface="Calibri"/>
              </a:rPr>
              <a:t>12</a:t>
            </a:r>
            <a:endParaRPr sz="900" b="0" i="0" u="none" strike="noStrike" cap="none">
              <a:solidFill>
                <a:srgbClr val="000000"/>
              </a:solidFill>
              <a:latin typeface="Arial"/>
              <a:ea typeface="Arial"/>
              <a:cs typeface="Arial"/>
            </a:endParaRPr>
          </a:p>
        </p:txBody>
      </p:sp>
      <p:sp>
        <p:nvSpPr>
          <p:cNvPr id="2020450052" name="Google Shape;253;p13"/>
          <p:cNvSpPr/>
          <p:nvPr/>
        </p:nvSpPr>
        <p:spPr bwMode="auto">
          <a:xfrm>
            <a:off x="365760" y="1325880"/>
            <a:ext cx="4663080" cy="3565800"/>
          </a:xfrm>
          <a:prstGeom prst="rect">
            <a:avLst/>
          </a:prstGeom>
          <a:solidFill>
            <a:srgbClr val="1E293B"/>
          </a:solidFill>
          <a:ln w="12700" cap="flat" cmpd="sng">
            <a:solidFill>
              <a:srgbClr val="1E293B"/>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080413303" name="Google Shape;254;p13"/>
          <p:cNvSpPr/>
          <p:nvPr/>
        </p:nvSpPr>
        <p:spPr bwMode="auto">
          <a:xfrm>
            <a:off x="502920" y="1371600"/>
            <a:ext cx="4388760" cy="342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defRPr/>
            </a:pPr>
            <a:r>
              <a:rPr lang="en-US" sz="1100" b="0" i="0" u="none" strike="noStrike" cap="none">
                <a:solidFill>
                  <a:srgbClr val="86EFAC"/>
                </a:solidFill>
                <a:latin typeface="Consolas"/>
                <a:ea typeface="Consolas"/>
                <a:cs typeface="Consolas"/>
              </a:rPr>
              <a:t>{</a:t>
            </a: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0" i="0" u="none" strike="noStrike" cap="none">
                <a:solidFill>
                  <a:srgbClr val="8DA9DB"/>
                </a:solidFill>
                <a:latin typeface="Consolas"/>
                <a:ea typeface="Consolas"/>
                <a:cs typeface="Consolas"/>
              </a:rPr>
              <a:t>  "action": "recommend-job",</a:t>
            </a: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0" i="0" u="none" strike="noStrike" cap="none">
                <a:solidFill>
                  <a:srgbClr val="8DA9DB"/>
                </a:solidFill>
                <a:latin typeface="Consolas"/>
                <a:ea typeface="Consolas"/>
                <a:cs typeface="Consolas"/>
              </a:rPr>
              <a:t>  "candidateId": "cand-001",</a:t>
            </a: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0" i="0" u="none" strike="noStrike" cap="none">
                <a:solidFill>
                  <a:srgbClr val="8DA9DB"/>
                </a:solidFill>
                <a:latin typeface="Consolas"/>
                <a:ea typeface="Consolas"/>
                <a:cs typeface="Consolas"/>
              </a:rPr>
              <a:t>  "jobId": "job-003",</a:t>
            </a: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0" i="0" u="none" strike="noStrike" cap="none">
                <a:solidFill>
                  <a:srgbClr val="86EFAC"/>
                </a:solidFill>
                <a:latin typeface="Consolas"/>
                <a:ea typeface="Consolas"/>
                <a:cs typeface="Consolas"/>
              </a:rPr>
              <a:t>  "requester": "ui-user:edoardo",</a:t>
            </a: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0" i="0" u="none" strike="noStrike" cap="none">
                <a:solidFill>
                  <a:srgbClr val="86EFAC"/>
                </a:solidFill>
                <a:latin typeface="Consolas"/>
                <a:ea typeface="Consolas"/>
                <a:cs typeface="Consolas"/>
              </a:rPr>
              <a:t>  "purpose": "show recommendation",</a:t>
            </a: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0" i="0" u="none" strike="noStrike" cap="none">
                <a:solidFill>
                  <a:srgbClr val="86EFAC"/>
                </a:solidFill>
                <a:latin typeface="Consolas"/>
                <a:ea typeface="Consolas"/>
                <a:cs typeface="Consolas"/>
              </a:rPr>
              <a:t>  </a:t>
            </a:r>
            <a:r>
              <a:rPr lang="en-US" sz="1100" b="0" i="0" u="none" strike="noStrike" cap="none">
                <a:solidFill>
                  <a:srgbClr val="FF0000"/>
                </a:solidFill>
                <a:latin typeface="Consolas"/>
                <a:ea typeface="Consolas"/>
                <a:cs typeface="Consolas"/>
              </a:rPr>
              <a:t>// EaaS ignores this field!</a:t>
            </a: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0" i="0" u="none" strike="noStrike" cap="none">
                <a:solidFill>
                  <a:srgbClr val="FF0000"/>
                </a:solidFill>
                <a:latin typeface="Consolas"/>
                <a:ea typeface="Consolas"/>
                <a:cs typeface="Consolas"/>
              </a:rPr>
              <a:t>  "declaredRisk": "LOW"</a:t>
            </a:r>
            <a:endParaRPr sz="11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0" i="0" u="none" strike="noStrike" cap="none">
                <a:solidFill>
                  <a:srgbClr val="86EFAC"/>
                </a:solidFill>
                <a:latin typeface="Consolas"/>
                <a:ea typeface="Consolas"/>
                <a:cs typeface="Consolas"/>
              </a:rPr>
              <a:t>}</a:t>
            </a:r>
            <a:endParaRPr sz="1100" b="0" i="0" u="none" strike="noStrike" cap="none">
              <a:solidFill>
                <a:srgbClr val="000000"/>
              </a:solidFill>
              <a:latin typeface="Arial"/>
              <a:ea typeface="Arial"/>
              <a:cs typeface="Arial"/>
            </a:endParaRPr>
          </a:p>
        </p:txBody>
      </p:sp>
      <p:cxnSp>
        <p:nvCxnSpPr>
          <p:cNvPr id="1254597987" name="Google Shape;255;p13"/>
          <p:cNvCxnSpPr/>
          <p:nvPr/>
        </p:nvCxnSpPr>
        <p:spPr bwMode="auto">
          <a:xfrm>
            <a:off x="5029200" y="1508759"/>
            <a:ext cx="548640" cy="360"/>
          </a:xfrm>
          <a:prstGeom prst="straightConnector1">
            <a:avLst/>
          </a:prstGeom>
          <a:noFill/>
          <a:ln w="12700" cap="flat" cmpd="sng">
            <a:solidFill>
              <a:srgbClr val="2C5FDC"/>
            </a:solidFill>
            <a:prstDash val="dash"/>
            <a:round/>
            <a:headEnd type="none" w="sm" len="sm"/>
            <a:tailEnd type="none" w="sm" len="sm"/>
          </a:ln>
        </p:spPr>
      </p:cxnSp>
      <p:sp>
        <p:nvSpPr>
          <p:cNvPr id="214277661" name="Google Shape;256;p13"/>
          <p:cNvSpPr/>
          <p:nvPr/>
        </p:nvSpPr>
        <p:spPr bwMode="auto">
          <a:xfrm>
            <a:off x="5669280" y="1266480"/>
            <a:ext cx="310860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2C5FDC"/>
                </a:solidFill>
                <a:latin typeface="Calibri"/>
                <a:ea typeface="Calibri"/>
                <a:cs typeface="Calibri"/>
              </a:rPr>
              <a:t>Type of requested action</a:t>
            </a:r>
            <a:endParaRPr sz="1000" b="0" i="0" u="none" strike="noStrike" cap="none">
              <a:solidFill>
                <a:srgbClr val="000000"/>
              </a:solidFill>
              <a:latin typeface="Arial"/>
              <a:ea typeface="Arial"/>
              <a:cs typeface="Arial"/>
            </a:endParaRPr>
          </a:p>
        </p:txBody>
      </p:sp>
      <p:cxnSp>
        <p:nvCxnSpPr>
          <p:cNvPr id="196702094" name="Google Shape;257;p13"/>
          <p:cNvCxnSpPr/>
          <p:nvPr/>
        </p:nvCxnSpPr>
        <p:spPr bwMode="auto">
          <a:xfrm>
            <a:off x="5029200" y="1853280"/>
            <a:ext cx="548640" cy="360"/>
          </a:xfrm>
          <a:prstGeom prst="straightConnector1">
            <a:avLst/>
          </a:prstGeom>
          <a:noFill/>
          <a:ln w="12700" cap="flat" cmpd="sng">
            <a:solidFill>
              <a:srgbClr val="2C5FDC"/>
            </a:solidFill>
            <a:prstDash val="dash"/>
            <a:round/>
            <a:headEnd type="none" w="sm" len="sm"/>
            <a:tailEnd type="none" w="sm" len="sm"/>
          </a:ln>
        </p:spPr>
      </p:cxnSp>
      <p:sp>
        <p:nvSpPr>
          <p:cNvPr id="1919158406" name="Google Shape;258;p13"/>
          <p:cNvSpPr/>
          <p:nvPr/>
        </p:nvSpPr>
        <p:spPr bwMode="auto">
          <a:xfrm>
            <a:off x="5669280" y="1613880"/>
            <a:ext cx="310860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2C5FDC"/>
                </a:solidFill>
                <a:latin typeface="Calibri"/>
                <a:ea typeface="Calibri"/>
                <a:cs typeface="Calibri"/>
              </a:rPr>
              <a:t>IDs — EaaS uses them to fetch</a:t>
            </a:r>
            <a:endParaRPr sz="10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00" b="0" i="0" u="none" strike="noStrike" cap="none">
                <a:solidFill>
                  <a:srgbClr val="2C5FDC"/>
                </a:solidFill>
                <a:latin typeface="Calibri"/>
                <a:ea typeface="Calibri"/>
                <a:cs typeface="Calibri"/>
              </a:rPr>
              <a:t>the real data from DaaS</a:t>
            </a:r>
            <a:endParaRPr sz="1000" b="0" i="0" u="none" strike="noStrike" cap="none">
              <a:solidFill>
                <a:srgbClr val="000000"/>
              </a:solidFill>
              <a:latin typeface="Arial"/>
              <a:ea typeface="Arial"/>
              <a:cs typeface="Arial"/>
            </a:endParaRPr>
          </a:p>
        </p:txBody>
      </p:sp>
      <p:cxnSp>
        <p:nvCxnSpPr>
          <p:cNvPr id="694011711" name="Google Shape;259;p13"/>
          <p:cNvCxnSpPr/>
          <p:nvPr/>
        </p:nvCxnSpPr>
        <p:spPr bwMode="auto">
          <a:xfrm>
            <a:off x="5029200" y="2225880"/>
            <a:ext cx="548640" cy="360"/>
          </a:xfrm>
          <a:prstGeom prst="straightConnector1">
            <a:avLst/>
          </a:prstGeom>
          <a:noFill/>
          <a:ln w="12700" cap="flat" cmpd="sng">
            <a:solidFill>
              <a:srgbClr val="2F8F4E"/>
            </a:solidFill>
            <a:prstDash val="dash"/>
            <a:round/>
            <a:headEnd type="none" w="sm" len="sm"/>
            <a:tailEnd type="none" w="sm" len="sm"/>
          </a:ln>
        </p:spPr>
      </p:cxnSp>
      <p:sp>
        <p:nvSpPr>
          <p:cNvPr id="210647024" name="Google Shape;260;p13"/>
          <p:cNvSpPr/>
          <p:nvPr/>
        </p:nvSpPr>
        <p:spPr bwMode="auto">
          <a:xfrm>
            <a:off x="5669280" y="1997640"/>
            <a:ext cx="310860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2F8F4E"/>
                </a:solidFill>
                <a:latin typeface="Calibri"/>
                <a:ea typeface="Calibri"/>
                <a:cs typeface="Calibri"/>
              </a:rPr>
              <a:t>Transparency: who requests and why</a:t>
            </a:r>
            <a:endParaRPr sz="1000" b="0" i="0" u="none" strike="noStrike" cap="none">
              <a:solidFill>
                <a:srgbClr val="000000"/>
              </a:solidFill>
              <a:latin typeface="Arial"/>
              <a:ea typeface="Arial"/>
              <a:cs typeface="Arial"/>
            </a:endParaRPr>
          </a:p>
        </p:txBody>
      </p:sp>
      <p:cxnSp>
        <p:nvCxnSpPr>
          <p:cNvPr id="1816499709" name="Google Shape;261;p13"/>
          <p:cNvCxnSpPr/>
          <p:nvPr/>
        </p:nvCxnSpPr>
        <p:spPr bwMode="auto">
          <a:xfrm>
            <a:off x="5029200" y="2757960"/>
            <a:ext cx="548640" cy="360"/>
          </a:xfrm>
          <a:prstGeom prst="straightConnector1">
            <a:avLst/>
          </a:prstGeom>
          <a:noFill/>
          <a:ln w="12700" cap="flat" cmpd="sng">
            <a:solidFill>
              <a:srgbClr val="B32424"/>
            </a:solidFill>
            <a:prstDash val="dash"/>
            <a:round/>
            <a:headEnd type="none" w="sm" len="sm"/>
            <a:tailEnd type="none" w="sm" len="sm"/>
          </a:ln>
        </p:spPr>
      </p:cxnSp>
      <p:sp>
        <p:nvSpPr>
          <p:cNvPr id="1031487627" name="Google Shape;262;p13"/>
          <p:cNvSpPr/>
          <p:nvPr/>
        </p:nvSpPr>
        <p:spPr bwMode="auto">
          <a:xfrm>
            <a:off x="5669280" y="2500200"/>
            <a:ext cx="310860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B32424"/>
                </a:solidFill>
                <a:latin typeface="Calibri"/>
                <a:ea typeface="Calibri"/>
                <a:cs typeface="Calibri"/>
              </a:rPr>
              <a:t>⚠ Not trusted — EaaS</a:t>
            </a:r>
            <a:endParaRPr sz="10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00" b="0" i="0" u="none" strike="noStrike" cap="none">
                <a:solidFill>
                  <a:srgbClr val="B32424"/>
                </a:solidFill>
                <a:latin typeface="Calibri"/>
                <a:ea typeface="Calibri"/>
                <a:cs typeface="Calibri"/>
              </a:rPr>
              <a:t>recalculates risk autonomously</a:t>
            </a:r>
            <a:endParaRPr sz="1000" b="0" i="0" u="none" strike="noStrike" cap="none">
              <a:solidFill>
                <a:srgbClr val="000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516777167" name="Google Shape;268;p14"/>
          <p:cNvSpPr/>
          <p:nvPr/>
        </p:nvSpPr>
        <p:spPr bwMode="auto">
          <a:xfrm>
            <a:off x="365760" y="201240"/>
            <a:ext cx="1737000" cy="255600"/>
          </a:xfrm>
          <a:prstGeom prst="roundRect">
            <a:avLst>
              <a:gd name="adj" fmla="val 14286"/>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130028734" name="Google Shape;269;p14"/>
          <p:cNvSpPr/>
          <p:nvPr/>
        </p:nvSpPr>
        <p:spPr bwMode="auto">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i="0" u="none" strike="noStrike" cap="none">
                <a:solidFill>
                  <a:srgbClr val="FFFFFF"/>
                </a:solidFill>
                <a:latin typeface="Calibri"/>
                <a:ea typeface="Calibri"/>
                <a:cs typeface="Calibri"/>
              </a:rPr>
              <a:t>POLICY</a:t>
            </a:r>
            <a:endParaRPr sz="800" b="0" i="0" u="none" strike="noStrike" cap="none">
              <a:solidFill>
                <a:srgbClr val="000000"/>
              </a:solidFill>
              <a:latin typeface="Arial"/>
              <a:ea typeface="Arial"/>
              <a:cs typeface="Arial"/>
            </a:endParaRPr>
          </a:p>
        </p:txBody>
      </p:sp>
      <p:sp>
        <p:nvSpPr>
          <p:cNvPr id="835337180" name="Google Shape;270;p14"/>
          <p:cNvSpPr/>
          <p:nvPr/>
        </p:nvSpPr>
        <p:spPr bwMode="auto">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2600" b="1" i="0" u="none" strike="noStrike" cap="none">
                <a:solidFill>
                  <a:srgbClr val="1D2D44"/>
                </a:solidFill>
                <a:latin typeface="Trebuchet MS"/>
                <a:ea typeface="Trebuchet MS"/>
                <a:cs typeface="Trebuchet MS"/>
              </a:rPr>
              <a:t>The 4 Ethical Policies — External JSON Files</a:t>
            </a:r>
            <a:endParaRPr sz="2600" b="0" i="0" u="none" strike="noStrike" cap="none">
              <a:solidFill>
                <a:srgbClr val="000000"/>
              </a:solidFill>
              <a:latin typeface="Arial"/>
              <a:ea typeface="Arial"/>
              <a:cs typeface="Arial"/>
            </a:endParaRPr>
          </a:p>
        </p:txBody>
      </p:sp>
      <p:sp>
        <p:nvSpPr>
          <p:cNvPr id="731286918" name="Google Shape;271;p14"/>
          <p:cNvSpPr/>
          <p:nvPr/>
        </p:nvSpPr>
        <p:spPr bwMode="auto">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516845510" name="Google Shape;272;p14"/>
          <p:cNvSpPr/>
          <p:nvPr/>
        </p:nvSpPr>
        <p:spPr bwMode="auto">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defRPr/>
            </a:pPr>
            <a:r>
              <a:rPr lang="en-US" sz="900" b="0" i="0" u="none" strike="noStrike" cap="none">
                <a:solidFill>
                  <a:srgbClr val="6B7280"/>
                </a:solidFill>
                <a:latin typeface="Calibri"/>
                <a:ea typeface="Calibri"/>
                <a:cs typeface="Calibri"/>
              </a:rPr>
              <a:t>13</a:t>
            </a:r>
            <a:endParaRPr sz="900" b="0" i="0" u="none" strike="noStrike" cap="none">
              <a:solidFill>
                <a:srgbClr val="000000"/>
              </a:solidFill>
              <a:latin typeface="Arial"/>
              <a:ea typeface="Arial"/>
              <a:cs typeface="Arial"/>
            </a:endParaRPr>
          </a:p>
        </p:txBody>
      </p:sp>
      <p:sp>
        <p:nvSpPr>
          <p:cNvPr id="748291894" name="Google Shape;273;p14"/>
          <p:cNvSpPr/>
          <p:nvPr/>
        </p:nvSpPr>
        <p:spPr bwMode="auto">
          <a:xfrm>
            <a:off x="365760" y="1627560"/>
            <a:ext cx="4160160" cy="157248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063020974" name="Google Shape;274;p14"/>
          <p:cNvSpPr/>
          <p:nvPr/>
        </p:nvSpPr>
        <p:spPr bwMode="auto">
          <a:xfrm>
            <a:off x="365760" y="1627560"/>
            <a:ext cx="914040" cy="292320"/>
          </a:xfrm>
          <a:prstGeom prst="rect">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528584855" name="Google Shape;275;p14"/>
          <p:cNvSpPr/>
          <p:nvPr/>
        </p:nvSpPr>
        <p:spPr bwMode="auto">
          <a:xfrm>
            <a:off x="365760" y="1627560"/>
            <a:ext cx="914040" cy="292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i="0" u="none" strike="noStrike" cap="none">
                <a:solidFill>
                  <a:srgbClr val="FFFFFF"/>
                </a:solidFill>
                <a:latin typeface="Calibri"/>
                <a:ea typeface="Calibri"/>
                <a:cs typeface="Calibri"/>
              </a:rPr>
              <a:t>CRITICAL</a:t>
            </a:r>
            <a:endParaRPr sz="800" b="0" i="0" u="none" strike="noStrike" cap="none">
              <a:solidFill>
                <a:srgbClr val="000000"/>
              </a:solidFill>
              <a:latin typeface="Arial"/>
              <a:ea typeface="Arial"/>
              <a:cs typeface="Arial"/>
            </a:endParaRPr>
          </a:p>
        </p:txBody>
      </p:sp>
      <p:sp>
        <p:nvSpPr>
          <p:cNvPr id="1560202228" name="Google Shape;276;p14"/>
          <p:cNvSpPr/>
          <p:nvPr/>
        </p:nvSpPr>
        <p:spPr bwMode="auto">
          <a:xfrm>
            <a:off x="1367216" y="1627560"/>
            <a:ext cx="1279800" cy="292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900" b="1" i="0" u="none" strike="noStrike" cap="none">
                <a:solidFill>
                  <a:srgbClr val="B32424"/>
                </a:solidFill>
                <a:latin typeface="Consolas"/>
                <a:ea typeface="Consolas"/>
                <a:cs typeface="Consolas"/>
              </a:rPr>
              <a:t>P-DISCR-001</a:t>
            </a:r>
            <a:endParaRPr sz="900" b="0" i="0" u="none" strike="noStrike" cap="none">
              <a:solidFill>
                <a:srgbClr val="000000"/>
              </a:solidFill>
              <a:latin typeface="Arial"/>
              <a:ea typeface="Arial"/>
              <a:cs typeface="Arial"/>
            </a:endParaRPr>
          </a:p>
        </p:txBody>
      </p:sp>
      <p:sp>
        <p:nvSpPr>
          <p:cNvPr id="1463216344" name="Google Shape;277;p14"/>
          <p:cNvSpPr/>
          <p:nvPr/>
        </p:nvSpPr>
        <p:spPr bwMode="auto">
          <a:xfrm>
            <a:off x="457200" y="1974960"/>
            <a:ext cx="39315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300" b="1" i="0" u="none" strike="noStrike" cap="none">
                <a:solidFill>
                  <a:srgbClr val="1D2D44"/>
                </a:solidFill>
                <a:latin typeface="Trebuchet MS"/>
                <a:ea typeface="Trebuchet MS"/>
                <a:cs typeface="Trebuchet MS"/>
              </a:rPr>
              <a:t>Discriminatory Proxies</a:t>
            </a:r>
            <a:endParaRPr sz="1300" b="0" i="0" u="none" strike="noStrike" cap="none">
              <a:solidFill>
                <a:srgbClr val="000000"/>
              </a:solidFill>
              <a:latin typeface="Arial"/>
              <a:ea typeface="Arial"/>
              <a:cs typeface="Arial"/>
            </a:endParaRPr>
          </a:p>
        </p:txBody>
      </p:sp>
      <p:sp>
        <p:nvSpPr>
          <p:cNvPr id="1757291123" name="Google Shape;278;p14"/>
          <p:cNvSpPr/>
          <p:nvPr/>
        </p:nvSpPr>
        <p:spPr bwMode="auto">
          <a:xfrm>
            <a:off x="457200" y="2313360"/>
            <a:ext cx="3931560" cy="8042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Forbidden: ageRangeMin/Max, genderPreference, nationalityReq</a:t>
            </a:r>
            <a:endParaRPr sz="10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in offers. Regulation: D.Lgs. 198/2006, EU Dir. 2000/78/EC.</a:t>
            </a:r>
            <a:endParaRPr sz="1000" b="0" i="0" u="none" strike="noStrike" cap="none">
              <a:solidFill>
                <a:srgbClr val="000000"/>
              </a:solidFill>
              <a:latin typeface="Arial"/>
              <a:ea typeface="Arial"/>
              <a:cs typeface="Arial"/>
            </a:endParaRPr>
          </a:p>
        </p:txBody>
      </p:sp>
      <p:sp>
        <p:nvSpPr>
          <p:cNvPr id="438810928" name="Google Shape;279;p14"/>
          <p:cNvSpPr/>
          <p:nvPr/>
        </p:nvSpPr>
        <p:spPr bwMode="auto">
          <a:xfrm>
            <a:off x="365760" y="3319200"/>
            <a:ext cx="4160160" cy="157248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322423307" name="Google Shape;280;p14"/>
          <p:cNvSpPr/>
          <p:nvPr/>
        </p:nvSpPr>
        <p:spPr bwMode="auto">
          <a:xfrm>
            <a:off x="365760" y="3319200"/>
            <a:ext cx="914040" cy="292320"/>
          </a:xfrm>
          <a:prstGeom prst="rect">
            <a:avLst/>
          </a:prstGeom>
          <a:solidFill>
            <a:srgbClr val="C25A00"/>
          </a:solidFill>
          <a:ln w="12700" cap="flat" cmpd="sng">
            <a:solidFill>
              <a:srgbClr val="C25A0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044080523" name="Google Shape;281;p14"/>
          <p:cNvSpPr/>
          <p:nvPr/>
        </p:nvSpPr>
        <p:spPr bwMode="auto">
          <a:xfrm>
            <a:off x="365760" y="3319200"/>
            <a:ext cx="914040" cy="292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i="0" u="none" strike="noStrike" cap="none">
                <a:solidFill>
                  <a:srgbClr val="FFFFFF"/>
                </a:solidFill>
                <a:latin typeface="Calibri"/>
                <a:ea typeface="Calibri"/>
                <a:cs typeface="Calibri"/>
              </a:rPr>
              <a:t>HIGH</a:t>
            </a:r>
            <a:endParaRPr sz="800" b="0" i="0" u="none" strike="noStrike" cap="none">
              <a:solidFill>
                <a:srgbClr val="000000"/>
              </a:solidFill>
              <a:latin typeface="Arial"/>
              <a:ea typeface="Arial"/>
              <a:cs typeface="Arial"/>
            </a:endParaRPr>
          </a:p>
        </p:txBody>
      </p:sp>
      <p:sp>
        <p:nvSpPr>
          <p:cNvPr id="301284840" name="Google Shape;282;p14"/>
          <p:cNvSpPr/>
          <p:nvPr/>
        </p:nvSpPr>
        <p:spPr bwMode="auto">
          <a:xfrm>
            <a:off x="1367216" y="3319200"/>
            <a:ext cx="1279800" cy="292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900" b="1" i="0" u="none" strike="noStrike" cap="none">
                <a:solidFill>
                  <a:srgbClr val="C25A00"/>
                </a:solidFill>
                <a:latin typeface="Consolas"/>
                <a:ea typeface="Consolas"/>
                <a:cs typeface="Consolas"/>
              </a:rPr>
              <a:t>P-PROV-002</a:t>
            </a:r>
            <a:endParaRPr sz="900" b="0" i="0" u="none" strike="noStrike" cap="none">
              <a:solidFill>
                <a:srgbClr val="000000"/>
              </a:solidFill>
              <a:latin typeface="Arial"/>
              <a:ea typeface="Arial"/>
              <a:cs typeface="Arial"/>
            </a:endParaRPr>
          </a:p>
        </p:txBody>
      </p:sp>
      <p:sp>
        <p:nvSpPr>
          <p:cNvPr id="1145308111" name="Google Shape;283;p14"/>
          <p:cNvSpPr/>
          <p:nvPr/>
        </p:nvSpPr>
        <p:spPr bwMode="auto">
          <a:xfrm>
            <a:off x="457200" y="3666600"/>
            <a:ext cx="39315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300" b="1" i="0" u="none" strike="noStrike" cap="none">
                <a:solidFill>
                  <a:srgbClr val="1D2D44"/>
                </a:solidFill>
                <a:latin typeface="Trebuchet MS"/>
                <a:ea typeface="Trebuchet MS"/>
                <a:cs typeface="Trebuchet MS"/>
              </a:rPr>
              <a:t>Provenance &amp; Data Quality</a:t>
            </a:r>
            <a:endParaRPr sz="1300" b="0" i="0" u="none" strike="noStrike" cap="none">
              <a:solidFill>
                <a:srgbClr val="000000"/>
              </a:solidFill>
              <a:latin typeface="Arial"/>
              <a:ea typeface="Arial"/>
              <a:cs typeface="Arial"/>
            </a:endParaRPr>
          </a:p>
        </p:txBody>
      </p:sp>
      <p:sp>
        <p:nvSpPr>
          <p:cNvPr id="1300476744" name="Google Shape;284;p14"/>
          <p:cNvSpPr/>
          <p:nvPr/>
        </p:nvSpPr>
        <p:spPr bwMode="auto">
          <a:xfrm>
            <a:off x="457200" y="4005000"/>
            <a:ext cx="3931560" cy="8042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Only trusted sources (company-portal, synthetic).</a:t>
            </a:r>
            <a:endParaRPr sz="10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If source = third-party-scraper / unknown → ESCALATE.</a:t>
            </a:r>
            <a:endParaRPr sz="1000" b="0" i="0" u="none" strike="noStrike" cap="none">
              <a:solidFill>
                <a:srgbClr val="000000"/>
              </a:solidFill>
              <a:latin typeface="Arial"/>
              <a:ea typeface="Arial"/>
              <a:cs typeface="Arial"/>
            </a:endParaRPr>
          </a:p>
        </p:txBody>
      </p:sp>
      <p:sp>
        <p:nvSpPr>
          <p:cNvPr id="495841203" name="Google Shape;285;p14"/>
          <p:cNvSpPr/>
          <p:nvPr/>
        </p:nvSpPr>
        <p:spPr bwMode="auto">
          <a:xfrm>
            <a:off x="4709160" y="1627560"/>
            <a:ext cx="4160160" cy="157248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851646056" name="Google Shape;286;p14"/>
          <p:cNvSpPr/>
          <p:nvPr/>
        </p:nvSpPr>
        <p:spPr bwMode="auto">
          <a:xfrm>
            <a:off x="4709160" y="1627560"/>
            <a:ext cx="914040" cy="292320"/>
          </a:xfrm>
          <a:prstGeom prst="rect">
            <a:avLst/>
          </a:prstGeom>
          <a:solidFill>
            <a:srgbClr val="D8A01A"/>
          </a:solidFill>
          <a:ln w="12700" cap="flat" cmpd="sng">
            <a:solidFill>
              <a:srgbClr val="D8A01A"/>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132573349" name="Google Shape;287;p14"/>
          <p:cNvSpPr/>
          <p:nvPr/>
        </p:nvSpPr>
        <p:spPr bwMode="auto">
          <a:xfrm>
            <a:off x="4709160" y="1627560"/>
            <a:ext cx="914040" cy="292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i="0" u="none" strike="noStrike" cap="none">
                <a:solidFill>
                  <a:srgbClr val="FFFFFF"/>
                </a:solidFill>
                <a:latin typeface="Calibri"/>
                <a:ea typeface="Calibri"/>
                <a:cs typeface="Calibri"/>
              </a:rPr>
              <a:t>MEDIUM</a:t>
            </a:r>
            <a:endParaRPr sz="800" b="0" i="0" u="none" strike="noStrike" cap="none">
              <a:solidFill>
                <a:srgbClr val="000000"/>
              </a:solidFill>
              <a:latin typeface="Arial"/>
              <a:ea typeface="Arial"/>
              <a:cs typeface="Arial"/>
            </a:endParaRPr>
          </a:p>
        </p:txBody>
      </p:sp>
      <p:sp>
        <p:nvSpPr>
          <p:cNvPr id="26257199" name="Google Shape;288;p14"/>
          <p:cNvSpPr/>
          <p:nvPr/>
        </p:nvSpPr>
        <p:spPr bwMode="auto">
          <a:xfrm>
            <a:off x="5734102" y="1627560"/>
            <a:ext cx="1279800" cy="292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900" b="1" i="0" u="none" strike="noStrike" cap="none">
                <a:solidFill>
                  <a:srgbClr val="D8A01A"/>
                </a:solidFill>
                <a:latin typeface="Consolas"/>
                <a:ea typeface="Consolas"/>
                <a:cs typeface="Consolas"/>
              </a:rPr>
              <a:t>P-ACC-003</a:t>
            </a:r>
            <a:endParaRPr sz="900" b="0" i="0" u="none" strike="noStrike" cap="none">
              <a:solidFill>
                <a:srgbClr val="000000"/>
              </a:solidFill>
              <a:latin typeface="Arial"/>
              <a:ea typeface="Arial"/>
              <a:cs typeface="Arial"/>
            </a:endParaRPr>
          </a:p>
        </p:txBody>
      </p:sp>
      <p:sp>
        <p:nvSpPr>
          <p:cNvPr id="2137782753" name="Google Shape;289;p14"/>
          <p:cNvSpPr/>
          <p:nvPr/>
        </p:nvSpPr>
        <p:spPr bwMode="auto">
          <a:xfrm>
            <a:off x="4800600" y="1974960"/>
            <a:ext cx="39315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300" b="1" i="0" u="none" strike="noStrike" cap="none">
                <a:solidFill>
                  <a:srgbClr val="1D2D44"/>
                </a:solidFill>
                <a:latin typeface="Trebuchet MS"/>
                <a:ea typeface="Trebuchet MS"/>
                <a:cs typeface="Trebuchet MS"/>
              </a:rPr>
              <a:t>Accessibility &amp; Disability</a:t>
            </a:r>
            <a:endParaRPr sz="1300" b="0" i="0" u="none" strike="noStrike" cap="none">
              <a:solidFill>
                <a:srgbClr val="000000"/>
              </a:solidFill>
              <a:latin typeface="Arial"/>
              <a:ea typeface="Arial"/>
              <a:cs typeface="Arial"/>
            </a:endParaRPr>
          </a:p>
        </p:txBody>
      </p:sp>
      <p:sp>
        <p:nvSpPr>
          <p:cNvPr id="977552489" name="Google Shape;290;p14"/>
          <p:cNvSpPr/>
          <p:nvPr/>
        </p:nvSpPr>
        <p:spPr bwMode="auto">
          <a:xfrm>
            <a:off x="4800600" y="2313360"/>
            <a:ext cx="3931560" cy="8042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If the candidate has a disability, the offer must be</a:t>
            </a:r>
            <a:endParaRPr sz="10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flagged disabilityFriendly. Otherwise → REVISE.</a:t>
            </a:r>
            <a:endParaRPr sz="10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Regulation: UN CRPD Art.27, L. 68/1999.</a:t>
            </a:r>
            <a:endParaRPr sz="1000" b="0" i="0" u="none" strike="noStrike" cap="none">
              <a:solidFill>
                <a:srgbClr val="000000"/>
              </a:solidFill>
              <a:latin typeface="Arial"/>
              <a:ea typeface="Arial"/>
              <a:cs typeface="Arial"/>
            </a:endParaRPr>
          </a:p>
        </p:txBody>
      </p:sp>
      <p:sp>
        <p:nvSpPr>
          <p:cNvPr id="870323793" name="Google Shape;291;p14"/>
          <p:cNvSpPr/>
          <p:nvPr/>
        </p:nvSpPr>
        <p:spPr bwMode="auto">
          <a:xfrm>
            <a:off x="4709160" y="3319200"/>
            <a:ext cx="4160160" cy="157248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453422482" name="Google Shape;292;p14"/>
          <p:cNvSpPr/>
          <p:nvPr/>
        </p:nvSpPr>
        <p:spPr bwMode="auto">
          <a:xfrm>
            <a:off x="4709160" y="3319200"/>
            <a:ext cx="914040" cy="29232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127939561" name="Google Shape;293;p14"/>
          <p:cNvSpPr/>
          <p:nvPr/>
        </p:nvSpPr>
        <p:spPr bwMode="auto">
          <a:xfrm>
            <a:off x="4709160" y="3319200"/>
            <a:ext cx="914040" cy="292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i="0" u="none" strike="noStrike" cap="none">
                <a:solidFill>
                  <a:srgbClr val="FFFFFF"/>
                </a:solidFill>
                <a:latin typeface="Calibri"/>
                <a:ea typeface="Calibri"/>
                <a:cs typeface="Calibri"/>
              </a:rPr>
              <a:t>LOW</a:t>
            </a:r>
            <a:endParaRPr sz="800" b="0" i="0" u="none" strike="noStrike" cap="none">
              <a:solidFill>
                <a:srgbClr val="000000"/>
              </a:solidFill>
              <a:latin typeface="Arial"/>
              <a:ea typeface="Arial"/>
              <a:cs typeface="Arial"/>
            </a:endParaRPr>
          </a:p>
        </p:txBody>
      </p:sp>
      <p:sp>
        <p:nvSpPr>
          <p:cNvPr id="321885996" name="Google Shape;294;p14"/>
          <p:cNvSpPr/>
          <p:nvPr/>
        </p:nvSpPr>
        <p:spPr bwMode="auto">
          <a:xfrm>
            <a:off x="5734102" y="3319200"/>
            <a:ext cx="1279800" cy="292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900" b="1" i="0" u="none" strike="noStrike" cap="none">
                <a:solidFill>
                  <a:srgbClr val="2C5FDC"/>
                </a:solidFill>
                <a:latin typeface="Consolas"/>
                <a:ea typeface="Consolas"/>
                <a:cs typeface="Consolas"/>
              </a:rPr>
              <a:t>P-TRANS-004</a:t>
            </a:r>
            <a:endParaRPr sz="900" b="0" i="0" u="none" strike="noStrike" cap="none">
              <a:solidFill>
                <a:srgbClr val="000000"/>
              </a:solidFill>
              <a:latin typeface="Arial"/>
              <a:ea typeface="Arial"/>
              <a:cs typeface="Arial"/>
            </a:endParaRPr>
          </a:p>
        </p:txBody>
      </p:sp>
      <p:sp>
        <p:nvSpPr>
          <p:cNvPr id="704435462" name="Google Shape;295;p14"/>
          <p:cNvSpPr/>
          <p:nvPr/>
        </p:nvSpPr>
        <p:spPr bwMode="auto">
          <a:xfrm>
            <a:off x="4800600" y="3666600"/>
            <a:ext cx="39315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300" b="1" i="0" u="none" strike="noStrike" cap="none">
                <a:solidFill>
                  <a:srgbClr val="1D2D44"/>
                </a:solidFill>
                <a:latin typeface="Trebuchet MS"/>
                <a:ea typeface="Trebuchet MS"/>
                <a:cs typeface="Trebuchet MS"/>
              </a:rPr>
              <a:t>Transparency &amp; Purpose</a:t>
            </a:r>
            <a:endParaRPr sz="1300" b="0" i="0" u="none" strike="noStrike" cap="none">
              <a:solidFill>
                <a:srgbClr val="000000"/>
              </a:solidFill>
              <a:latin typeface="Arial"/>
              <a:ea typeface="Arial"/>
              <a:cs typeface="Arial"/>
            </a:endParaRPr>
          </a:p>
        </p:txBody>
      </p:sp>
      <p:sp>
        <p:nvSpPr>
          <p:cNvPr id="136930119" name="Google Shape;296;p14"/>
          <p:cNvSpPr/>
          <p:nvPr/>
        </p:nvSpPr>
        <p:spPr bwMode="auto">
          <a:xfrm>
            <a:off x="4800600" y="4005000"/>
            <a:ext cx="3931560" cy="8042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Requester and purpose must be declared.</a:t>
            </a:r>
            <a:endParaRPr sz="10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Without them the recommendation is not transparent.</a:t>
            </a:r>
            <a:endParaRPr sz="1000" b="0" i="0" u="none" strike="noStrike" cap="non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Regulation: GDPR Art.13/22.</a:t>
            </a:r>
            <a:endParaRPr sz="1000" b="0" i="0" u="none" strike="noStrike" cap="none">
              <a:solidFill>
                <a:srgbClr val="000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56085537" name="Google Shape;302;p15"/>
          <p:cNvSpPr/>
          <p:nvPr/>
        </p:nvSpPr>
        <p:spPr bwMode="auto">
          <a:xfrm>
            <a:off x="365760" y="201240"/>
            <a:ext cx="1737000" cy="255600"/>
          </a:xfrm>
          <a:prstGeom prst="roundRect">
            <a:avLst>
              <a:gd name="adj" fmla="val 14286"/>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574497302" name="Google Shape;303;p15"/>
          <p:cNvSpPr/>
          <p:nvPr/>
        </p:nvSpPr>
        <p:spPr bwMode="auto">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i="0" u="none" strike="noStrike" cap="none">
                <a:solidFill>
                  <a:srgbClr val="FFFFFF"/>
                </a:solidFill>
                <a:latin typeface="Calibri"/>
                <a:ea typeface="Calibri"/>
                <a:cs typeface="Calibri"/>
              </a:rPr>
              <a:t>RDF DATASET</a:t>
            </a:r>
            <a:endParaRPr sz="800" b="0" i="0" u="none" strike="noStrike" cap="none">
              <a:solidFill>
                <a:srgbClr val="000000"/>
              </a:solidFill>
              <a:latin typeface="Arial"/>
              <a:ea typeface="Arial"/>
              <a:cs typeface="Arial"/>
            </a:endParaRPr>
          </a:p>
        </p:txBody>
      </p:sp>
      <p:sp>
        <p:nvSpPr>
          <p:cNvPr id="1134910188" name="Google Shape;304;p15"/>
          <p:cNvSpPr/>
          <p:nvPr/>
        </p:nvSpPr>
        <p:spPr bwMode="auto">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2600" b="1" i="0" u="none" strike="noStrike" cap="none">
                <a:solidFill>
                  <a:srgbClr val="1D2D44"/>
                </a:solidFill>
                <a:latin typeface="Trebuchet MS"/>
                <a:ea typeface="Trebuchet MS"/>
                <a:cs typeface="Trebuchet MS"/>
              </a:rPr>
              <a:t>Discriminatory Proxies in the Dataset</a:t>
            </a:r>
            <a:endParaRPr sz="2600" b="0" i="0" u="none" strike="noStrike" cap="none">
              <a:solidFill>
                <a:srgbClr val="000000"/>
              </a:solidFill>
              <a:latin typeface="Arial"/>
              <a:ea typeface="Arial"/>
              <a:cs typeface="Arial"/>
            </a:endParaRPr>
          </a:p>
        </p:txBody>
      </p:sp>
      <p:sp>
        <p:nvSpPr>
          <p:cNvPr id="1266975533" name="Google Shape;305;p15"/>
          <p:cNvSpPr/>
          <p:nvPr/>
        </p:nvSpPr>
        <p:spPr bwMode="auto">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139622669" name="Google Shape;306;p15"/>
          <p:cNvSpPr/>
          <p:nvPr/>
        </p:nvSpPr>
        <p:spPr bwMode="auto">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defRPr/>
            </a:pPr>
            <a:r>
              <a:rPr lang="en-US" sz="900" b="0" i="0" u="none" strike="noStrike" cap="none">
                <a:solidFill>
                  <a:srgbClr val="6B7280"/>
                </a:solidFill>
                <a:latin typeface="Calibri"/>
                <a:ea typeface="Calibri"/>
                <a:cs typeface="Calibri"/>
              </a:rPr>
              <a:t>7</a:t>
            </a:r>
            <a:endParaRPr sz="900" b="0" i="0" u="none" strike="noStrike" cap="none">
              <a:solidFill>
                <a:srgbClr val="000000"/>
              </a:solidFill>
              <a:latin typeface="Arial"/>
              <a:ea typeface="Arial"/>
              <a:cs typeface="Arial"/>
            </a:endParaRPr>
          </a:p>
        </p:txBody>
      </p:sp>
      <p:sp>
        <p:nvSpPr>
          <p:cNvPr id="2038480608" name="Google Shape;307;p15"/>
          <p:cNvSpPr/>
          <p:nvPr/>
        </p:nvSpPr>
        <p:spPr bwMode="auto">
          <a:xfrm>
            <a:off x="365760" y="1280160"/>
            <a:ext cx="841212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0" i="1" u="none" strike="noStrike" cap="none">
                <a:solidFill>
                  <a:srgbClr val="6B7280"/>
                </a:solidFill>
                <a:latin typeface="Calibri"/>
                <a:ea typeface="Calibri"/>
                <a:cs typeface="Calibri"/>
              </a:rPr>
              <a:t>Some offers intentionally contain problematic fields — designed to exercise EaaS policies</a:t>
            </a:r>
            <a:endParaRPr sz="1100" b="0" i="0" u="none" strike="noStrike" cap="none">
              <a:solidFill>
                <a:srgbClr val="000000"/>
              </a:solidFill>
              <a:latin typeface="Arial"/>
              <a:ea typeface="Arial"/>
              <a:cs typeface="Arial"/>
            </a:endParaRPr>
          </a:p>
        </p:txBody>
      </p:sp>
      <p:sp>
        <p:nvSpPr>
          <p:cNvPr id="147688178" name="Google Shape;308;p15"/>
          <p:cNvSpPr/>
          <p:nvPr/>
        </p:nvSpPr>
        <p:spPr bwMode="auto">
          <a:xfrm>
            <a:off x="365760" y="1719000"/>
            <a:ext cx="1005480" cy="347040"/>
          </a:xfrm>
          <a:prstGeom prst="rect">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71094528" name="Google Shape;309;p15"/>
          <p:cNvSpPr/>
          <p:nvPr/>
        </p:nvSpPr>
        <p:spPr bwMode="auto">
          <a:xfrm>
            <a:off x="365760" y="1719000"/>
            <a:ext cx="1005480"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000" b="1" i="0" u="none" strike="noStrike" cap="none">
                <a:solidFill>
                  <a:srgbClr val="FFFFFF"/>
                </a:solidFill>
                <a:latin typeface="Calibri"/>
                <a:ea typeface="Calibri"/>
                <a:cs typeface="Calibri"/>
              </a:rPr>
              <a:t>Offer ID</a:t>
            </a:r>
            <a:endParaRPr sz="1000" b="0" i="0" u="none" strike="noStrike" cap="none">
              <a:solidFill>
                <a:srgbClr val="000000"/>
              </a:solidFill>
              <a:latin typeface="Arial"/>
              <a:ea typeface="Arial"/>
              <a:cs typeface="Arial"/>
            </a:endParaRPr>
          </a:p>
        </p:txBody>
      </p:sp>
      <p:sp>
        <p:nvSpPr>
          <p:cNvPr id="2071588530" name="Google Shape;310;p15"/>
          <p:cNvSpPr/>
          <p:nvPr/>
        </p:nvSpPr>
        <p:spPr bwMode="auto">
          <a:xfrm>
            <a:off x="1371600" y="1719000"/>
            <a:ext cx="1919880" cy="347040"/>
          </a:xfrm>
          <a:prstGeom prst="rect">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903097895" name="Google Shape;311;p15"/>
          <p:cNvSpPr/>
          <p:nvPr/>
        </p:nvSpPr>
        <p:spPr bwMode="auto">
          <a:xfrm>
            <a:off x="1371600" y="1719000"/>
            <a:ext cx="1919880"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000" b="1" i="0" u="none" strike="noStrike" cap="none">
                <a:solidFill>
                  <a:srgbClr val="FFFFFF"/>
                </a:solidFill>
                <a:latin typeface="Calibri"/>
                <a:ea typeface="Calibri"/>
                <a:cs typeface="Calibri"/>
              </a:rPr>
              <a:t>Title</a:t>
            </a:r>
            <a:endParaRPr sz="1000" b="0" i="0" u="none" strike="noStrike" cap="none">
              <a:solidFill>
                <a:srgbClr val="000000"/>
              </a:solidFill>
              <a:latin typeface="Arial"/>
              <a:ea typeface="Arial"/>
              <a:cs typeface="Arial"/>
            </a:endParaRPr>
          </a:p>
        </p:txBody>
      </p:sp>
      <p:sp>
        <p:nvSpPr>
          <p:cNvPr id="1790813919" name="Google Shape;312;p15"/>
          <p:cNvSpPr/>
          <p:nvPr/>
        </p:nvSpPr>
        <p:spPr bwMode="auto">
          <a:xfrm>
            <a:off x="3291840" y="1719000"/>
            <a:ext cx="2834280" cy="347040"/>
          </a:xfrm>
          <a:prstGeom prst="rect">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2065646574" name="Google Shape;313;p15"/>
          <p:cNvSpPr/>
          <p:nvPr/>
        </p:nvSpPr>
        <p:spPr bwMode="auto">
          <a:xfrm>
            <a:off x="3291840" y="1719000"/>
            <a:ext cx="2834280"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000" b="1" i="0" u="none" strike="noStrike" cap="none">
                <a:solidFill>
                  <a:srgbClr val="FFFFFF"/>
                </a:solidFill>
                <a:latin typeface="Calibri"/>
                <a:ea typeface="Calibri"/>
                <a:cs typeface="Calibri"/>
              </a:rPr>
              <a:t>Problematic field</a:t>
            </a:r>
            <a:endParaRPr sz="1000" b="0" i="0" u="none" strike="noStrike" cap="none">
              <a:solidFill>
                <a:srgbClr val="000000"/>
              </a:solidFill>
              <a:latin typeface="Arial"/>
              <a:ea typeface="Arial"/>
              <a:cs typeface="Arial"/>
            </a:endParaRPr>
          </a:p>
        </p:txBody>
      </p:sp>
      <p:sp>
        <p:nvSpPr>
          <p:cNvPr id="1766791884" name="Google Shape;314;p15"/>
          <p:cNvSpPr/>
          <p:nvPr/>
        </p:nvSpPr>
        <p:spPr bwMode="auto">
          <a:xfrm>
            <a:off x="6126480" y="1719000"/>
            <a:ext cx="2468519" cy="347040"/>
          </a:xfrm>
          <a:prstGeom prst="rect">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767893232" name="Google Shape;315;p15"/>
          <p:cNvSpPr/>
          <p:nvPr/>
        </p:nvSpPr>
        <p:spPr bwMode="auto">
          <a:xfrm>
            <a:off x="6126480" y="1719000"/>
            <a:ext cx="2468519"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000" b="1" i="0" u="none" strike="noStrike" cap="none">
                <a:solidFill>
                  <a:srgbClr val="FFFFFF"/>
                </a:solidFill>
                <a:latin typeface="Calibri"/>
                <a:ea typeface="Calibri"/>
                <a:cs typeface="Calibri"/>
              </a:rPr>
              <a:t>Violation type</a:t>
            </a:r>
            <a:endParaRPr sz="1000" b="0" i="0" u="none" strike="noStrike" cap="none">
              <a:solidFill>
                <a:srgbClr val="000000"/>
              </a:solidFill>
              <a:latin typeface="Arial"/>
              <a:ea typeface="Arial"/>
              <a:cs typeface="Arial"/>
            </a:endParaRPr>
          </a:p>
        </p:txBody>
      </p:sp>
      <p:sp>
        <p:nvSpPr>
          <p:cNvPr id="2139913748" name="Google Shape;316;p15"/>
          <p:cNvSpPr/>
          <p:nvPr/>
        </p:nvSpPr>
        <p:spPr bwMode="auto">
          <a:xfrm>
            <a:off x="365760" y="2103120"/>
            <a:ext cx="10054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762800972" name="Google Shape;317;p15"/>
          <p:cNvSpPr/>
          <p:nvPr/>
        </p:nvSpPr>
        <p:spPr bwMode="auto">
          <a:xfrm>
            <a:off x="411480" y="2103120"/>
            <a:ext cx="9140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job-003</a:t>
            </a:r>
            <a:endParaRPr sz="1000" b="0" i="0" u="none" strike="noStrike" cap="none">
              <a:solidFill>
                <a:srgbClr val="000000"/>
              </a:solidFill>
              <a:latin typeface="Arial"/>
              <a:ea typeface="Arial"/>
              <a:cs typeface="Arial"/>
            </a:endParaRPr>
          </a:p>
        </p:txBody>
      </p:sp>
      <p:sp>
        <p:nvSpPr>
          <p:cNvPr id="1873166620" name="Google Shape;318;p15"/>
          <p:cNvSpPr/>
          <p:nvPr/>
        </p:nvSpPr>
        <p:spPr bwMode="auto">
          <a:xfrm>
            <a:off x="1371600" y="2103120"/>
            <a:ext cx="19198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286724911" name="Google Shape;319;p15"/>
          <p:cNvSpPr/>
          <p:nvPr/>
        </p:nvSpPr>
        <p:spPr bwMode="auto">
          <a:xfrm>
            <a:off x="1417320" y="2103120"/>
            <a:ext cx="18284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Junior Frontend Dev</a:t>
            </a:r>
            <a:endParaRPr sz="1000" b="0" i="0" u="none" strike="noStrike" cap="none">
              <a:solidFill>
                <a:srgbClr val="000000"/>
              </a:solidFill>
              <a:latin typeface="Arial"/>
              <a:ea typeface="Arial"/>
              <a:cs typeface="Arial"/>
            </a:endParaRPr>
          </a:p>
        </p:txBody>
      </p:sp>
      <p:sp>
        <p:nvSpPr>
          <p:cNvPr id="245241889" name="Google Shape;320;p15"/>
          <p:cNvSpPr/>
          <p:nvPr/>
        </p:nvSpPr>
        <p:spPr bwMode="auto">
          <a:xfrm>
            <a:off x="3291840" y="2103120"/>
            <a:ext cx="28342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546742606" name="Google Shape;321;p15"/>
          <p:cNvSpPr/>
          <p:nvPr/>
        </p:nvSpPr>
        <p:spPr bwMode="auto">
          <a:xfrm>
            <a:off x="3337560" y="2103120"/>
            <a:ext cx="27428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B32424"/>
                </a:solidFill>
                <a:latin typeface="Consolas"/>
                <a:ea typeface="Consolas"/>
                <a:cs typeface="Consolas"/>
              </a:rPr>
              <a:t>emp:ageRangeMax = 30</a:t>
            </a:r>
            <a:endParaRPr sz="1000" b="0" i="0" u="none" strike="noStrike" cap="none">
              <a:solidFill>
                <a:srgbClr val="000000"/>
              </a:solidFill>
              <a:latin typeface="Arial"/>
              <a:ea typeface="Arial"/>
              <a:cs typeface="Arial"/>
            </a:endParaRPr>
          </a:p>
        </p:txBody>
      </p:sp>
      <p:sp>
        <p:nvSpPr>
          <p:cNvPr id="811843784" name="Google Shape;322;p15"/>
          <p:cNvSpPr/>
          <p:nvPr/>
        </p:nvSpPr>
        <p:spPr bwMode="auto">
          <a:xfrm>
            <a:off x="6126480" y="2103120"/>
            <a:ext cx="2468519"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451929394" name="Google Shape;323;p15"/>
          <p:cNvSpPr/>
          <p:nvPr/>
        </p:nvSpPr>
        <p:spPr bwMode="auto">
          <a:xfrm>
            <a:off x="6172200" y="2103120"/>
            <a:ext cx="237708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1" i="0" u="none" strike="noStrike" cap="none">
                <a:solidFill>
                  <a:srgbClr val="B32424"/>
                </a:solidFill>
                <a:latin typeface="Calibri"/>
                <a:ea typeface="Calibri"/>
                <a:cs typeface="Calibri"/>
              </a:rPr>
              <a:t>Ageism</a:t>
            </a:r>
            <a:endParaRPr sz="1000" b="0" i="0" u="none" strike="noStrike" cap="none">
              <a:solidFill>
                <a:srgbClr val="000000"/>
              </a:solidFill>
              <a:latin typeface="Arial"/>
              <a:ea typeface="Arial"/>
              <a:cs typeface="Arial"/>
            </a:endParaRPr>
          </a:p>
        </p:txBody>
      </p:sp>
      <p:sp>
        <p:nvSpPr>
          <p:cNvPr id="870238581" name="Google Shape;324;p15"/>
          <p:cNvSpPr/>
          <p:nvPr/>
        </p:nvSpPr>
        <p:spPr bwMode="auto">
          <a:xfrm>
            <a:off x="365760" y="2578680"/>
            <a:ext cx="1005480"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116625370" name="Google Shape;325;p15"/>
          <p:cNvSpPr/>
          <p:nvPr/>
        </p:nvSpPr>
        <p:spPr bwMode="auto">
          <a:xfrm>
            <a:off x="411480" y="2578680"/>
            <a:ext cx="9140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job-004</a:t>
            </a:r>
            <a:endParaRPr sz="1000" b="0" i="0" u="none" strike="noStrike" cap="none">
              <a:solidFill>
                <a:srgbClr val="000000"/>
              </a:solidFill>
              <a:latin typeface="Arial"/>
              <a:ea typeface="Arial"/>
              <a:cs typeface="Arial"/>
            </a:endParaRPr>
          </a:p>
        </p:txBody>
      </p:sp>
      <p:sp>
        <p:nvSpPr>
          <p:cNvPr id="1452249912" name="Google Shape;326;p15"/>
          <p:cNvSpPr/>
          <p:nvPr/>
        </p:nvSpPr>
        <p:spPr bwMode="auto">
          <a:xfrm>
            <a:off x="1371600" y="2578680"/>
            <a:ext cx="1919880"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522169525" name="Google Shape;327;p15"/>
          <p:cNvSpPr/>
          <p:nvPr/>
        </p:nvSpPr>
        <p:spPr bwMode="auto">
          <a:xfrm>
            <a:off x="1417320" y="2578680"/>
            <a:ext cx="18284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Logistics Manager</a:t>
            </a:r>
            <a:endParaRPr sz="1000" b="0" i="0" u="none" strike="noStrike" cap="none">
              <a:solidFill>
                <a:srgbClr val="000000"/>
              </a:solidFill>
              <a:latin typeface="Arial"/>
              <a:ea typeface="Arial"/>
              <a:cs typeface="Arial"/>
            </a:endParaRPr>
          </a:p>
        </p:txBody>
      </p:sp>
      <p:sp>
        <p:nvSpPr>
          <p:cNvPr id="1741667264" name="Google Shape;328;p15"/>
          <p:cNvSpPr/>
          <p:nvPr/>
        </p:nvSpPr>
        <p:spPr bwMode="auto">
          <a:xfrm>
            <a:off x="3291840" y="2578680"/>
            <a:ext cx="2834280"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079929594" name="Google Shape;329;p15"/>
          <p:cNvSpPr/>
          <p:nvPr/>
        </p:nvSpPr>
        <p:spPr bwMode="auto">
          <a:xfrm>
            <a:off x="3337560" y="2578680"/>
            <a:ext cx="27428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B32424"/>
                </a:solidFill>
                <a:latin typeface="Consolas"/>
                <a:ea typeface="Consolas"/>
                <a:cs typeface="Consolas"/>
              </a:rPr>
              <a:t>emp:genderPreference = male</a:t>
            </a:r>
            <a:endParaRPr sz="1000" b="0" i="0" u="none" strike="noStrike" cap="none">
              <a:solidFill>
                <a:srgbClr val="000000"/>
              </a:solidFill>
              <a:latin typeface="Arial"/>
              <a:ea typeface="Arial"/>
              <a:cs typeface="Arial"/>
            </a:endParaRPr>
          </a:p>
        </p:txBody>
      </p:sp>
      <p:sp>
        <p:nvSpPr>
          <p:cNvPr id="12567234" name="Google Shape;330;p15"/>
          <p:cNvSpPr/>
          <p:nvPr/>
        </p:nvSpPr>
        <p:spPr bwMode="auto">
          <a:xfrm>
            <a:off x="6126480" y="2578680"/>
            <a:ext cx="2468519"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850005257" name="Google Shape;331;p15"/>
          <p:cNvSpPr/>
          <p:nvPr/>
        </p:nvSpPr>
        <p:spPr bwMode="auto">
          <a:xfrm>
            <a:off x="6172200" y="2578680"/>
            <a:ext cx="237708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1" i="0" u="none" strike="noStrike" cap="none">
                <a:solidFill>
                  <a:srgbClr val="B32424"/>
                </a:solidFill>
                <a:latin typeface="Calibri"/>
                <a:ea typeface="Calibri"/>
                <a:cs typeface="Calibri"/>
              </a:rPr>
              <a:t>Gender discrimination</a:t>
            </a:r>
            <a:endParaRPr sz="1000" b="0" i="0" u="none" strike="noStrike" cap="none">
              <a:solidFill>
                <a:srgbClr val="000000"/>
              </a:solidFill>
              <a:latin typeface="Arial"/>
              <a:ea typeface="Arial"/>
              <a:cs typeface="Arial"/>
            </a:endParaRPr>
          </a:p>
        </p:txBody>
      </p:sp>
      <p:sp>
        <p:nvSpPr>
          <p:cNvPr id="839063071" name="Google Shape;332;p15"/>
          <p:cNvSpPr/>
          <p:nvPr/>
        </p:nvSpPr>
        <p:spPr bwMode="auto">
          <a:xfrm>
            <a:off x="365760" y="3054240"/>
            <a:ext cx="10054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207015441" name="Google Shape;333;p15"/>
          <p:cNvSpPr/>
          <p:nvPr/>
        </p:nvSpPr>
        <p:spPr bwMode="auto">
          <a:xfrm>
            <a:off x="411480" y="3054240"/>
            <a:ext cx="9140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job-008</a:t>
            </a:r>
            <a:endParaRPr sz="1000" b="0" i="0" u="none" strike="noStrike" cap="none">
              <a:solidFill>
                <a:srgbClr val="000000"/>
              </a:solidFill>
              <a:latin typeface="Arial"/>
              <a:ea typeface="Arial"/>
              <a:cs typeface="Arial"/>
            </a:endParaRPr>
          </a:p>
        </p:txBody>
      </p:sp>
      <p:sp>
        <p:nvSpPr>
          <p:cNvPr id="1406915991" name="Google Shape;334;p15"/>
          <p:cNvSpPr/>
          <p:nvPr/>
        </p:nvSpPr>
        <p:spPr bwMode="auto">
          <a:xfrm>
            <a:off x="1371600" y="3054240"/>
            <a:ext cx="19198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552956124" name="Google Shape;335;p15"/>
          <p:cNvSpPr/>
          <p:nvPr/>
        </p:nvSpPr>
        <p:spPr bwMode="auto">
          <a:xfrm>
            <a:off x="1417320" y="3054240"/>
            <a:ext cx="18284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Gov. Contractor Dev</a:t>
            </a:r>
            <a:endParaRPr sz="1000" b="0" i="0" u="none" strike="noStrike" cap="none">
              <a:solidFill>
                <a:srgbClr val="000000"/>
              </a:solidFill>
              <a:latin typeface="Arial"/>
              <a:ea typeface="Arial"/>
              <a:cs typeface="Arial"/>
            </a:endParaRPr>
          </a:p>
        </p:txBody>
      </p:sp>
      <p:sp>
        <p:nvSpPr>
          <p:cNvPr id="2119436972" name="Google Shape;336;p15"/>
          <p:cNvSpPr/>
          <p:nvPr/>
        </p:nvSpPr>
        <p:spPr bwMode="auto">
          <a:xfrm>
            <a:off x="3291840" y="3054240"/>
            <a:ext cx="28342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653974346" name="Google Shape;337;p15"/>
          <p:cNvSpPr/>
          <p:nvPr/>
        </p:nvSpPr>
        <p:spPr bwMode="auto">
          <a:xfrm>
            <a:off x="3337560" y="3054240"/>
            <a:ext cx="27428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B32424"/>
                </a:solidFill>
                <a:latin typeface="Consolas"/>
                <a:ea typeface="Consolas"/>
                <a:cs typeface="Consolas"/>
              </a:rPr>
              <a:t>emp:nationalityReq = IT</a:t>
            </a:r>
            <a:endParaRPr sz="1000" b="0" i="0" u="none" strike="noStrike" cap="none">
              <a:solidFill>
                <a:srgbClr val="000000"/>
              </a:solidFill>
              <a:latin typeface="Arial"/>
              <a:ea typeface="Arial"/>
              <a:cs typeface="Arial"/>
            </a:endParaRPr>
          </a:p>
        </p:txBody>
      </p:sp>
      <p:sp>
        <p:nvSpPr>
          <p:cNvPr id="275357199" name="Google Shape;338;p15"/>
          <p:cNvSpPr/>
          <p:nvPr/>
        </p:nvSpPr>
        <p:spPr bwMode="auto">
          <a:xfrm>
            <a:off x="6126480" y="3054240"/>
            <a:ext cx="2468519"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742694767" name="Google Shape;339;p15"/>
          <p:cNvSpPr/>
          <p:nvPr/>
        </p:nvSpPr>
        <p:spPr bwMode="auto">
          <a:xfrm>
            <a:off x="6172200" y="3054240"/>
            <a:ext cx="237708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1" i="0" u="none" strike="noStrike" cap="none">
                <a:solidFill>
                  <a:srgbClr val="B32424"/>
                </a:solidFill>
                <a:latin typeface="Calibri"/>
                <a:ea typeface="Calibri"/>
                <a:cs typeface="Calibri"/>
              </a:rPr>
              <a:t>Nationality discrimination</a:t>
            </a:r>
            <a:endParaRPr sz="1000" b="0" i="0" u="none" strike="noStrike" cap="none">
              <a:solidFill>
                <a:srgbClr val="000000"/>
              </a:solidFill>
              <a:latin typeface="Arial"/>
              <a:ea typeface="Arial"/>
              <a:cs typeface="Arial"/>
            </a:endParaRPr>
          </a:p>
        </p:txBody>
      </p:sp>
      <p:sp>
        <p:nvSpPr>
          <p:cNvPr id="73215317" name="Google Shape;340;p15"/>
          <p:cNvSpPr/>
          <p:nvPr/>
        </p:nvSpPr>
        <p:spPr bwMode="auto">
          <a:xfrm>
            <a:off x="365760" y="3529440"/>
            <a:ext cx="1005480"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033507282" name="Google Shape;341;p15"/>
          <p:cNvSpPr/>
          <p:nvPr/>
        </p:nvSpPr>
        <p:spPr bwMode="auto">
          <a:xfrm>
            <a:off x="411480" y="3529440"/>
            <a:ext cx="9140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job-016</a:t>
            </a:r>
            <a:endParaRPr sz="1000" b="0" i="0" u="none" strike="noStrike" cap="none">
              <a:solidFill>
                <a:srgbClr val="000000"/>
              </a:solidFill>
              <a:latin typeface="Arial"/>
              <a:ea typeface="Arial"/>
              <a:cs typeface="Arial"/>
            </a:endParaRPr>
          </a:p>
        </p:txBody>
      </p:sp>
      <p:sp>
        <p:nvSpPr>
          <p:cNvPr id="1352892090" name="Google Shape;342;p15"/>
          <p:cNvSpPr/>
          <p:nvPr/>
        </p:nvSpPr>
        <p:spPr bwMode="auto">
          <a:xfrm>
            <a:off x="1371600" y="3529440"/>
            <a:ext cx="1919880"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3943103" name="Google Shape;343;p15"/>
          <p:cNvSpPr/>
          <p:nvPr/>
        </p:nvSpPr>
        <p:spPr bwMode="auto">
          <a:xfrm>
            <a:off x="1417320" y="3529440"/>
            <a:ext cx="18284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Trainee Sw. Eng.</a:t>
            </a:r>
            <a:endParaRPr sz="1000" b="0" i="0" u="none" strike="noStrike" cap="none">
              <a:solidFill>
                <a:srgbClr val="000000"/>
              </a:solidFill>
              <a:latin typeface="Arial"/>
              <a:ea typeface="Arial"/>
              <a:cs typeface="Arial"/>
            </a:endParaRPr>
          </a:p>
        </p:txBody>
      </p:sp>
      <p:sp>
        <p:nvSpPr>
          <p:cNvPr id="1662702695" name="Google Shape;344;p15"/>
          <p:cNvSpPr/>
          <p:nvPr/>
        </p:nvSpPr>
        <p:spPr bwMode="auto">
          <a:xfrm>
            <a:off x="3291840" y="3529440"/>
            <a:ext cx="2834280"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207010313" name="Google Shape;345;p15"/>
          <p:cNvSpPr/>
          <p:nvPr/>
        </p:nvSpPr>
        <p:spPr bwMode="auto">
          <a:xfrm>
            <a:off x="3337560" y="3529440"/>
            <a:ext cx="27428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B32424"/>
                </a:solidFill>
                <a:latin typeface="Consolas"/>
                <a:ea typeface="Consolas"/>
                <a:cs typeface="Consolas"/>
              </a:rPr>
              <a:t>emp:ageRangeMin=20, ageRangeMax=26</a:t>
            </a:r>
            <a:endParaRPr sz="1000" b="0" i="0" u="none" strike="noStrike" cap="none">
              <a:solidFill>
                <a:srgbClr val="000000"/>
              </a:solidFill>
              <a:latin typeface="Arial"/>
              <a:ea typeface="Arial"/>
              <a:cs typeface="Arial"/>
            </a:endParaRPr>
          </a:p>
        </p:txBody>
      </p:sp>
      <p:sp>
        <p:nvSpPr>
          <p:cNvPr id="1447347356" name="Google Shape;346;p15"/>
          <p:cNvSpPr/>
          <p:nvPr/>
        </p:nvSpPr>
        <p:spPr bwMode="auto">
          <a:xfrm>
            <a:off x="6126480" y="3529440"/>
            <a:ext cx="2468519"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656663464" name="Google Shape;347;p15"/>
          <p:cNvSpPr/>
          <p:nvPr/>
        </p:nvSpPr>
        <p:spPr bwMode="auto">
          <a:xfrm>
            <a:off x="6172200" y="3529440"/>
            <a:ext cx="237708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1" i="0" u="none" strike="noStrike" cap="none">
                <a:solidFill>
                  <a:srgbClr val="B32424"/>
                </a:solidFill>
                <a:latin typeface="Calibri"/>
                <a:ea typeface="Calibri"/>
                <a:cs typeface="Calibri"/>
              </a:rPr>
              <a:t>Ageism (narrow age band)</a:t>
            </a:r>
            <a:endParaRPr sz="1000" b="0" i="0" u="none" strike="noStrike" cap="none">
              <a:solidFill>
                <a:srgbClr val="000000"/>
              </a:solidFill>
              <a:latin typeface="Arial"/>
              <a:ea typeface="Arial"/>
              <a:cs typeface="Arial"/>
            </a:endParaRPr>
          </a:p>
        </p:txBody>
      </p:sp>
      <p:sp>
        <p:nvSpPr>
          <p:cNvPr id="1979485880" name="Google Shape;348;p15"/>
          <p:cNvSpPr/>
          <p:nvPr/>
        </p:nvSpPr>
        <p:spPr bwMode="auto">
          <a:xfrm>
            <a:off x="365760" y="4005000"/>
            <a:ext cx="10054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15033494" name="Google Shape;349;p15"/>
          <p:cNvSpPr/>
          <p:nvPr/>
        </p:nvSpPr>
        <p:spPr bwMode="auto">
          <a:xfrm>
            <a:off x="411480" y="4005000"/>
            <a:ext cx="9140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job-012</a:t>
            </a:r>
            <a:endParaRPr sz="1000" b="0" i="0" u="none" strike="noStrike" cap="none">
              <a:solidFill>
                <a:srgbClr val="000000"/>
              </a:solidFill>
              <a:latin typeface="Arial"/>
              <a:ea typeface="Arial"/>
              <a:cs typeface="Arial"/>
            </a:endParaRPr>
          </a:p>
        </p:txBody>
      </p:sp>
      <p:sp>
        <p:nvSpPr>
          <p:cNvPr id="114940085" name="Google Shape;350;p15"/>
          <p:cNvSpPr/>
          <p:nvPr/>
        </p:nvSpPr>
        <p:spPr bwMode="auto">
          <a:xfrm>
            <a:off x="1371600" y="4005000"/>
            <a:ext cx="19198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1532899201" name="Google Shape;351;p15"/>
          <p:cNvSpPr/>
          <p:nvPr/>
        </p:nvSpPr>
        <p:spPr bwMode="auto">
          <a:xfrm>
            <a:off x="1417320" y="4005000"/>
            <a:ext cx="18284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1D2D44"/>
                </a:solidFill>
                <a:latin typeface="Calibri"/>
                <a:ea typeface="Calibri"/>
                <a:cs typeface="Calibri"/>
              </a:rPr>
              <a:t>Sales Representative</a:t>
            </a:r>
            <a:endParaRPr sz="1000" b="0" i="0" u="none" strike="noStrike" cap="none">
              <a:solidFill>
                <a:srgbClr val="000000"/>
              </a:solidFill>
              <a:latin typeface="Arial"/>
              <a:ea typeface="Arial"/>
              <a:cs typeface="Arial"/>
            </a:endParaRPr>
          </a:p>
        </p:txBody>
      </p:sp>
      <p:sp>
        <p:nvSpPr>
          <p:cNvPr id="367606639" name="Google Shape;352;p15"/>
          <p:cNvSpPr/>
          <p:nvPr/>
        </p:nvSpPr>
        <p:spPr bwMode="auto">
          <a:xfrm>
            <a:off x="3291840" y="4005000"/>
            <a:ext cx="28342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883051287" name="Google Shape;353;p15"/>
          <p:cNvSpPr/>
          <p:nvPr/>
        </p:nvSpPr>
        <p:spPr bwMode="auto">
          <a:xfrm>
            <a:off x="3337560" y="4005000"/>
            <a:ext cx="27428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0" u="none" strike="noStrike" cap="none">
                <a:solidFill>
                  <a:srgbClr val="B32424"/>
                </a:solidFill>
                <a:latin typeface="Consolas"/>
                <a:ea typeface="Consolas"/>
                <a:cs typeface="Consolas"/>
              </a:rPr>
              <a:t>salary missing, source=unknown</a:t>
            </a:r>
            <a:endParaRPr sz="1000" b="0" i="0" u="none" strike="noStrike" cap="none">
              <a:solidFill>
                <a:srgbClr val="000000"/>
              </a:solidFill>
              <a:latin typeface="Arial"/>
              <a:ea typeface="Arial"/>
              <a:cs typeface="Arial"/>
            </a:endParaRPr>
          </a:p>
        </p:txBody>
      </p:sp>
      <p:sp>
        <p:nvSpPr>
          <p:cNvPr id="1773562959" name="Google Shape;354;p15"/>
          <p:cNvSpPr/>
          <p:nvPr/>
        </p:nvSpPr>
        <p:spPr bwMode="auto">
          <a:xfrm>
            <a:off x="6126480" y="4005000"/>
            <a:ext cx="2468519"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i="0" u="none" strike="noStrike" cap="none">
              <a:solidFill>
                <a:schemeClr val="dk1"/>
              </a:solidFill>
              <a:latin typeface="Calibri"/>
              <a:ea typeface="Calibri"/>
              <a:cs typeface="Calibri"/>
            </a:endParaRPr>
          </a:p>
        </p:txBody>
      </p:sp>
      <p:sp>
        <p:nvSpPr>
          <p:cNvPr id="403880457" name="Google Shape;355;p15"/>
          <p:cNvSpPr/>
          <p:nvPr/>
        </p:nvSpPr>
        <p:spPr bwMode="auto">
          <a:xfrm>
            <a:off x="6172200" y="4005000"/>
            <a:ext cx="237708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1" i="0" u="none" strike="noStrike" cap="none">
                <a:solidFill>
                  <a:srgbClr val="C25A00"/>
                </a:solidFill>
                <a:latin typeface="Calibri"/>
                <a:ea typeface="Calibri"/>
                <a:cs typeface="Calibri"/>
              </a:rPr>
              <a:t>Poor data quality</a:t>
            </a:r>
            <a:endParaRPr sz="1000" b="0" i="0" u="none" strike="noStrike" cap="none">
              <a:solidFill>
                <a:srgbClr val="000000"/>
              </a:solidFill>
              <a:latin typeface="Arial"/>
              <a:ea typeface="Arial"/>
              <a:cs typeface="Arial"/>
            </a:endParaRPr>
          </a:p>
        </p:txBody>
      </p:sp>
      <p:sp>
        <p:nvSpPr>
          <p:cNvPr id="565658110" name="Google Shape;356;p15"/>
          <p:cNvSpPr/>
          <p:nvPr/>
        </p:nvSpPr>
        <p:spPr bwMode="auto">
          <a:xfrm>
            <a:off x="365760" y="201240"/>
            <a:ext cx="1737000" cy="255600"/>
          </a:xfrm>
          <a:prstGeom prst="roundRect">
            <a:avLst>
              <a:gd name="adj" fmla="val 14286"/>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spcBef>
                <a:spcPts val="0"/>
              </a:spcBef>
              <a:spcAft>
                <a:spcPts val="0"/>
              </a:spcAft>
              <a:buNone/>
              <a:defRPr/>
            </a:pPr>
            <a:endParaRPr sz="1800" b="0" strike="noStrike">
              <a:solidFill>
                <a:schemeClr val="dk1"/>
              </a:solidFill>
              <a:latin typeface="Calibri"/>
              <a:ea typeface="Calibri"/>
              <a:cs typeface="Calibri"/>
            </a:endParaRPr>
          </a:p>
        </p:txBody>
      </p:sp>
      <p:sp>
        <p:nvSpPr>
          <p:cNvPr id="411839889" name="Google Shape;357;p15"/>
          <p:cNvSpPr/>
          <p:nvPr/>
        </p:nvSpPr>
        <p:spPr bwMode="auto">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strike="noStrike">
                <a:solidFill>
                  <a:srgbClr val="FFFFFF"/>
                </a:solidFill>
                <a:latin typeface="Calibri"/>
                <a:ea typeface="Calibri"/>
                <a:cs typeface="Calibri"/>
              </a:rPr>
              <a:t>RDF DATASET</a:t>
            </a:r>
            <a:endParaRPr sz="800" b="0" strike="noStrike">
              <a:solidFill>
                <a:srgbClr val="000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D2D44"/>
        </a:solidFill>
      </p:bgPr>
    </p:bg>
    <p:spTree>
      <p:nvGrpSpPr>
        <p:cNvPr id="1" name=""/>
        <p:cNvGrpSpPr/>
        <p:nvPr/>
      </p:nvGrpSpPr>
      <p:grpSpPr bwMode="auto">
        <a:xfrm>
          <a:off x="0" y="0"/>
          <a:ext cx="0" cy="0"/>
          <a:chOff x="0" y="0"/>
          <a:chExt cx="0" cy="0"/>
        </a:xfrm>
      </p:grpSpPr>
      <p:sp>
        <p:nvSpPr>
          <p:cNvPr id="540900042" name="Google Shape;363;p16"/>
          <p:cNvSpPr/>
          <p:nvPr/>
        </p:nvSpPr>
        <p:spPr bwMode="auto">
          <a:xfrm>
            <a:off x="0" y="0"/>
            <a:ext cx="200880" cy="5143320"/>
          </a:xfrm>
          <a:prstGeom prst="rect">
            <a:avLst/>
          </a:prstGeom>
          <a:solidFill>
            <a:srgbClr val="9B59B6"/>
          </a:solidFill>
          <a:ln w="12700" cap="flat" cmpd="sng">
            <a:solidFill>
              <a:srgbClr val="9B59B6"/>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22827620" name="Google Shape;364;p16"/>
          <p:cNvSpPr/>
          <p:nvPr/>
        </p:nvSpPr>
        <p:spPr bwMode="auto">
          <a:xfrm>
            <a:off x="457200" y="1188720"/>
            <a:ext cx="822924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300" b="0" i="1" strike="noStrike">
                <a:solidFill>
                  <a:srgbClr val="9FB4CC"/>
                </a:solidFill>
                <a:latin typeface="Calibri"/>
                <a:ea typeface="Calibri"/>
                <a:cs typeface="Calibri"/>
              </a:rPr>
              <a:t>Section 3</a:t>
            </a:r>
            <a:endParaRPr sz="1300" b="0" strike="noStrike">
              <a:solidFill>
                <a:srgbClr val="FFFFFF"/>
              </a:solidFill>
              <a:latin typeface="Arial"/>
              <a:ea typeface="Arial"/>
              <a:cs typeface="Arial"/>
            </a:endParaRPr>
          </a:p>
        </p:txBody>
      </p:sp>
      <p:sp>
        <p:nvSpPr>
          <p:cNvPr id="1749797812" name="Google Shape;365;p16"/>
          <p:cNvSpPr/>
          <p:nvPr/>
        </p:nvSpPr>
        <p:spPr bwMode="auto">
          <a:xfrm>
            <a:off x="457200" y="1600200"/>
            <a:ext cx="8229240" cy="18284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4000" b="1" strike="noStrike">
                <a:solidFill>
                  <a:srgbClr val="FFFFFF"/>
                </a:solidFill>
                <a:latin typeface="Trebuchet MS"/>
                <a:ea typeface="Trebuchet MS"/>
                <a:cs typeface="Trebuchet MS"/>
              </a:rPr>
              <a:t>Audit, Integration</a:t>
            </a:r>
            <a:endParaRPr sz="4000" b="0" strike="noStrike">
              <a:solidFill>
                <a:srgbClr val="FFFFFF"/>
              </a:solidFill>
              <a:latin typeface="Arial"/>
              <a:ea typeface="Arial"/>
              <a:cs typeface="Arial"/>
            </a:endParaRPr>
          </a:p>
          <a:p>
            <a:pPr marL="0" marR="0" lvl="0" indent="0" algn="l" rtl="0">
              <a:lnSpc>
                <a:spcPct val="100000"/>
              </a:lnSpc>
              <a:spcBef>
                <a:spcPts val="0"/>
              </a:spcBef>
              <a:spcAft>
                <a:spcPts val="0"/>
              </a:spcAft>
              <a:buNone/>
              <a:defRPr/>
            </a:pPr>
            <a:r>
              <a:rPr lang="en-US" sz="4000" b="1" strike="noStrike">
                <a:solidFill>
                  <a:srgbClr val="FFFFFF"/>
                </a:solidFill>
                <a:latin typeface="Trebuchet MS"/>
                <a:ea typeface="Trebuchet MS"/>
                <a:cs typeface="Trebuchet MS"/>
              </a:rPr>
              <a:t>and Reflection</a:t>
            </a:r>
            <a:endParaRPr sz="4000" b="0" strike="noStrike">
              <a:solidFill>
                <a:srgbClr val="FFFFFF"/>
              </a:solidFill>
              <a:latin typeface="Arial"/>
              <a:ea typeface="Arial"/>
              <a:cs typeface="Arial"/>
            </a:endParaRPr>
          </a:p>
        </p:txBody>
      </p:sp>
      <p:sp>
        <p:nvSpPr>
          <p:cNvPr id="14388935" name="Google Shape;366;p16"/>
          <p:cNvSpPr/>
          <p:nvPr/>
        </p:nvSpPr>
        <p:spPr bwMode="auto">
          <a:xfrm>
            <a:off x="457200" y="4114800"/>
            <a:ext cx="8229240" cy="365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0" strike="noStrike">
                <a:solidFill>
                  <a:srgbClr val="9FB4CC"/>
                </a:solidFill>
                <a:latin typeface="Calibri"/>
                <a:ea typeface="Calibri"/>
                <a:cs typeface="Calibri"/>
              </a:rPr>
              <a:t>  Federico Capricci</a:t>
            </a:r>
            <a:endParaRPr sz="1200" b="0" strike="noStrike">
              <a:solidFill>
                <a:srgbClr val="FFFFFF"/>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683285589" name="Google Shape;372;p17"/>
          <p:cNvSpPr/>
          <p:nvPr/>
        </p:nvSpPr>
        <p:spPr bwMode="auto">
          <a:xfrm>
            <a:off x="365760" y="201240"/>
            <a:ext cx="1737000" cy="255600"/>
          </a:xfrm>
          <a:prstGeom prst="roundRect">
            <a:avLst>
              <a:gd name="adj" fmla="val 14286"/>
            </a:avLst>
          </a:prstGeom>
          <a:solidFill>
            <a:srgbClr val="9B59B6"/>
          </a:solidFill>
          <a:ln w="12700" cap="flat" cmpd="sng">
            <a:solidFill>
              <a:srgbClr val="9B59B6"/>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940708590" name="Google Shape;373;p17"/>
          <p:cNvSpPr/>
          <p:nvPr/>
        </p:nvSpPr>
        <p:spPr bwMode="auto">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strike="noStrike">
                <a:solidFill>
                  <a:srgbClr val="FFFFFF"/>
                </a:solidFill>
                <a:latin typeface="Calibri"/>
                <a:ea typeface="Calibri"/>
                <a:cs typeface="Calibri"/>
              </a:rPr>
              <a:t>AUDIT TRAIL</a:t>
            </a:r>
            <a:endParaRPr sz="800" b="0" strike="noStrike">
              <a:solidFill>
                <a:srgbClr val="000000"/>
              </a:solidFill>
              <a:latin typeface="Arial"/>
              <a:ea typeface="Arial"/>
              <a:cs typeface="Arial"/>
            </a:endParaRPr>
          </a:p>
        </p:txBody>
      </p:sp>
      <p:sp>
        <p:nvSpPr>
          <p:cNvPr id="1018761405" name="Google Shape;374;p17"/>
          <p:cNvSpPr/>
          <p:nvPr/>
        </p:nvSpPr>
        <p:spPr bwMode="auto">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2600" b="1" strike="noStrike">
                <a:solidFill>
                  <a:srgbClr val="1D2D44"/>
                </a:solidFill>
                <a:latin typeface="Trebuchet MS"/>
                <a:ea typeface="Trebuchet MS"/>
                <a:cs typeface="Trebuchet MS"/>
              </a:rPr>
              <a:t>Audit Trail &amp; Provenance</a:t>
            </a:r>
            <a:endParaRPr sz="2600" b="0" strike="noStrike">
              <a:solidFill>
                <a:srgbClr val="000000"/>
              </a:solidFill>
              <a:latin typeface="Arial"/>
              <a:ea typeface="Arial"/>
              <a:cs typeface="Arial"/>
            </a:endParaRPr>
          </a:p>
        </p:txBody>
      </p:sp>
      <p:sp>
        <p:nvSpPr>
          <p:cNvPr id="805430537" name="Google Shape;375;p17"/>
          <p:cNvSpPr/>
          <p:nvPr/>
        </p:nvSpPr>
        <p:spPr bwMode="auto">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824423743" name="Google Shape;376;p17"/>
          <p:cNvSpPr/>
          <p:nvPr/>
        </p:nvSpPr>
        <p:spPr bwMode="auto">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defRPr/>
            </a:pPr>
            <a:r>
              <a:rPr lang="en-US" sz="900" b="0" strike="noStrike">
                <a:solidFill>
                  <a:srgbClr val="6B7280"/>
                </a:solidFill>
                <a:latin typeface="Calibri"/>
                <a:ea typeface="Calibri"/>
                <a:cs typeface="Calibri"/>
              </a:rPr>
              <a:t>17</a:t>
            </a:r>
            <a:endParaRPr sz="900" b="0" strike="noStrike">
              <a:solidFill>
                <a:srgbClr val="000000"/>
              </a:solidFill>
              <a:latin typeface="Arial"/>
              <a:ea typeface="Arial"/>
              <a:cs typeface="Arial"/>
            </a:endParaRPr>
          </a:p>
        </p:txBody>
      </p:sp>
      <p:sp>
        <p:nvSpPr>
          <p:cNvPr id="344620082" name="Google Shape;377;p17"/>
          <p:cNvSpPr/>
          <p:nvPr/>
        </p:nvSpPr>
        <p:spPr bwMode="auto">
          <a:xfrm>
            <a:off x="365760" y="1303200"/>
            <a:ext cx="5028840" cy="3611519"/>
          </a:xfrm>
          <a:prstGeom prst="rect">
            <a:avLst/>
          </a:prstGeom>
          <a:solidFill>
            <a:srgbClr val="1E293B"/>
          </a:solidFill>
          <a:ln w="12700" cap="flat" cmpd="sng">
            <a:solidFill>
              <a:srgbClr val="1E293B"/>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558471773" name="Google Shape;378;p17"/>
          <p:cNvSpPr/>
          <p:nvPr/>
        </p:nvSpPr>
        <p:spPr bwMode="auto">
          <a:xfrm>
            <a:off x="502920" y="1389960"/>
            <a:ext cx="4754520" cy="347436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defRPr/>
            </a:pPr>
            <a:r>
              <a:rPr lang="en-US" sz="1050" b="0" strike="noStrike">
                <a:solidFill>
                  <a:srgbClr val="86EFAC"/>
                </a:solidFill>
                <a:latin typeface="Consolas"/>
                <a:ea typeface="Consolas"/>
                <a:cs typeface="Consolas"/>
              </a:rPr>
              <a:t>{</a:t>
            </a:r>
            <a:endParaRPr sz="105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50" b="0" strike="noStrike">
                <a:solidFill>
                  <a:srgbClr val="86EFAC"/>
                </a:solidFill>
                <a:latin typeface="Consolas"/>
                <a:ea typeface="Consolas"/>
                <a:cs typeface="Consolas"/>
              </a:rPr>
              <a:t>  </a:t>
            </a:r>
            <a:r>
              <a:rPr lang="en-US" sz="1050" b="0" strike="noStrike">
                <a:solidFill>
                  <a:srgbClr val="E482F4"/>
                </a:solidFill>
                <a:latin typeface="Consolas"/>
                <a:ea typeface="Consolas"/>
                <a:cs typeface="Consolas"/>
              </a:rPr>
              <a:t>"auditId": "audit-8f43...",</a:t>
            </a:r>
            <a:endParaRPr sz="105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50" b="0" strike="noStrike">
                <a:solidFill>
                  <a:srgbClr val="86EFAC"/>
                </a:solidFill>
                <a:latin typeface="Consolas"/>
                <a:ea typeface="Consolas"/>
                <a:cs typeface="Consolas"/>
              </a:rPr>
              <a:t>  </a:t>
            </a:r>
            <a:r>
              <a:rPr lang="en-US" sz="1050" b="0" strike="noStrike">
                <a:solidFill>
                  <a:srgbClr val="E482F4"/>
                </a:solidFill>
                <a:latin typeface="Consolas"/>
                <a:ea typeface="Consolas"/>
                <a:cs typeface="Consolas"/>
              </a:rPr>
              <a:t>"timestamp": "2026-05-19T08:07:50Z",</a:t>
            </a:r>
            <a:endParaRPr sz="105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50" b="0" strike="noStrike">
                <a:solidFill>
                  <a:srgbClr val="86EFAC"/>
                </a:solidFill>
                <a:latin typeface="Consolas"/>
                <a:ea typeface="Consolas"/>
                <a:cs typeface="Consolas"/>
              </a:rPr>
              <a:t>  </a:t>
            </a:r>
            <a:r>
              <a:rPr lang="en-US" sz="1050" b="0" strike="noStrike">
                <a:solidFill>
                  <a:srgbClr val="00B0F0"/>
                </a:solidFill>
                <a:latin typeface="Consolas"/>
                <a:ea typeface="Consolas"/>
                <a:cs typeface="Consolas"/>
              </a:rPr>
              <a:t>"request": { "candidateId": "cand-001",</a:t>
            </a:r>
            <a:endParaRPr sz="105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50" b="0" strike="noStrike">
                <a:solidFill>
                  <a:srgbClr val="00B0F0"/>
                </a:solidFill>
                <a:latin typeface="Consolas"/>
                <a:ea typeface="Consolas"/>
                <a:cs typeface="Consolas"/>
              </a:rPr>
              <a:t>               "jobId": "job-003" ... },</a:t>
            </a:r>
            <a:endParaRPr sz="105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50" b="0" strike="noStrike">
                <a:solidFill>
                  <a:srgbClr val="86EFAC"/>
                </a:solidFill>
                <a:latin typeface="Consolas"/>
                <a:ea typeface="Consolas"/>
                <a:cs typeface="Consolas"/>
              </a:rPr>
              <a:t>  </a:t>
            </a:r>
            <a:r>
              <a:rPr lang="en-US" sz="1050" b="0" strike="noStrike">
                <a:solidFill>
                  <a:srgbClr val="FFFF00"/>
                </a:solidFill>
                <a:latin typeface="Consolas"/>
                <a:ea typeface="Consolas"/>
                <a:cs typeface="Consolas"/>
              </a:rPr>
              <a:t>"evaluatedCandidate": { ... },</a:t>
            </a:r>
            <a:endParaRPr sz="105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50" b="0" strike="noStrike">
                <a:solidFill>
                  <a:srgbClr val="FFFF00"/>
                </a:solidFill>
                <a:latin typeface="Consolas"/>
                <a:ea typeface="Consolas"/>
                <a:cs typeface="Consolas"/>
              </a:rPr>
              <a:t>  "evaluatedJob": { ... },</a:t>
            </a:r>
            <a:endParaRPr sz="105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50" b="0" strike="noStrike">
                <a:solidFill>
                  <a:srgbClr val="86EFAC"/>
                </a:solidFill>
                <a:latin typeface="Consolas"/>
                <a:ea typeface="Consolas"/>
                <a:cs typeface="Consolas"/>
              </a:rPr>
              <a:t>  "riskLevel": "CRITICAL",</a:t>
            </a:r>
            <a:endParaRPr sz="105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50" b="0" strike="noStrike">
                <a:solidFill>
                  <a:srgbClr val="86EFAC"/>
                </a:solidFill>
                <a:latin typeface="Consolas"/>
                <a:ea typeface="Consolas"/>
                <a:cs typeface="Consolas"/>
              </a:rPr>
              <a:t>  </a:t>
            </a:r>
            <a:r>
              <a:rPr lang="en-US" sz="1050" b="0" strike="noStrike">
                <a:solidFill>
                  <a:srgbClr val="FF0000"/>
                </a:solidFill>
                <a:latin typeface="Consolas"/>
                <a:ea typeface="Consolas"/>
                <a:cs typeface="Consolas"/>
              </a:rPr>
              <a:t>"decision": "REJECT",</a:t>
            </a:r>
            <a:endParaRPr sz="105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50" b="0" strike="noStrike">
                <a:solidFill>
                  <a:srgbClr val="86EFAC"/>
                </a:solidFill>
                <a:latin typeface="Consolas"/>
                <a:ea typeface="Consolas"/>
                <a:cs typeface="Consolas"/>
              </a:rPr>
              <a:t>  </a:t>
            </a:r>
            <a:r>
              <a:rPr lang="en-US" sz="1050" b="0" strike="noStrike">
                <a:solidFill>
                  <a:srgbClr val="FF0000"/>
                </a:solidFill>
                <a:latin typeface="Consolas"/>
                <a:ea typeface="Consolas"/>
                <a:cs typeface="Consolas"/>
              </a:rPr>
              <a:t>"findings": [ { ... } ],</a:t>
            </a:r>
            <a:endParaRPr sz="105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50" b="0" strike="noStrike">
                <a:solidFill>
                  <a:srgbClr val="86EFAC"/>
                </a:solidFill>
                <a:latin typeface="Consolas"/>
                <a:ea typeface="Consolas"/>
                <a:cs typeface="Consolas"/>
              </a:rPr>
              <a:t>  "appliedPolicies": [</a:t>
            </a:r>
            <a:endParaRPr sz="105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50" b="0" strike="noStrike">
                <a:solidFill>
                  <a:srgbClr val="86EFAC"/>
                </a:solidFill>
                <a:latin typeface="Consolas"/>
                <a:ea typeface="Consolas"/>
                <a:cs typeface="Consolas"/>
              </a:rPr>
              <a:t>    "P-ACC-003", "P-DISCR-001",</a:t>
            </a:r>
            <a:endParaRPr sz="105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50" b="0" strike="noStrike">
                <a:solidFill>
                  <a:srgbClr val="86EFAC"/>
                </a:solidFill>
                <a:latin typeface="Consolas"/>
                <a:ea typeface="Consolas"/>
                <a:cs typeface="Consolas"/>
              </a:rPr>
              <a:t>    "P-PROV-002", "P-TRANS-004"</a:t>
            </a:r>
            <a:endParaRPr sz="105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50" b="0" strike="noStrike">
                <a:solidFill>
                  <a:srgbClr val="86EFAC"/>
                </a:solidFill>
                <a:latin typeface="Consolas"/>
                <a:ea typeface="Consolas"/>
                <a:cs typeface="Consolas"/>
              </a:rPr>
              <a:t>  ]</a:t>
            </a:r>
            <a:endParaRPr sz="105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50" b="0" strike="noStrike">
                <a:solidFill>
                  <a:srgbClr val="86EFAC"/>
                </a:solidFill>
                <a:latin typeface="Consolas"/>
                <a:ea typeface="Consolas"/>
                <a:cs typeface="Consolas"/>
              </a:rPr>
              <a:t>}</a:t>
            </a:r>
            <a:endParaRPr sz="1050" b="0" strike="noStrike">
              <a:solidFill>
                <a:srgbClr val="000000"/>
              </a:solidFill>
              <a:latin typeface="Arial"/>
              <a:ea typeface="Arial"/>
              <a:cs typeface="Arial"/>
            </a:endParaRPr>
          </a:p>
        </p:txBody>
      </p:sp>
      <p:cxnSp>
        <p:nvCxnSpPr>
          <p:cNvPr id="1658513738" name="Google Shape;379;p17"/>
          <p:cNvCxnSpPr/>
          <p:nvPr/>
        </p:nvCxnSpPr>
        <p:spPr bwMode="auto">
          <a:xfrm>
            <a:off x="5394960" y="1663920"/>
            <a:ext cx="457200" cy="360"/>
          </a:xfrm>
          <a:prstGeom prst="straightConnector1">
            <a:avLst/>
          </a:prstGeom>
          <a:noFill/>
          <a:ln w="12700" cap="flat" cmpd="sng">
            <a:solidFill>
              <a:srgbClr val="9B59B6"/>
            </a:solidFill>
            <a:prstDash val="dash"/>
            <a:round/>
            <a:headEnd type="none" w="sm" len="sm"/>
            <a:tailEnd type="none" w="sm" len="sm"/>
          </a:ln>
        </p:spPr>
      </p:cxnSp>
      <p:sp>
        <p:nvSpPr>
          <p:cNvPr id="2053929379" name="Google Shape;380;p17"/>
          <p:cNvSpPr/>
          <p:nvPr/>
        </p:nvSpPr>
        <p:spPr bwMode="auto">
          <a:xfrm>
            <a:off x="5943600" y="1417320"/>
            <a:ext cx="28342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strike="noStrike">
                <a:solidFill>
                  <a:srgbClr val="9B59B6"/>
                </a:solidFill>
                <a:latin typeface="Calibri"/>
                <a:ea typeface="Calibri"/>
                <a:cs typeface="Calibri"/>
              </a:rPr>
              <a:t>Unique UUID per evaluation</a:t>
            </a:r>
            <a:endParaRPr sz="1000" b="0" strike="noStrike">
              <a:solidFill>
                <a:srgbClr val="000000"/>
              </a:solidFill>
              <a:latin typeface="Arial"/>
              <a:ea typeface="Arial"/>
              <a:cs typeface="Arial"/>
            </a:endParaRPr>
          </a:p>
        </p:txBody>
      </p:sp>
      <p:cxnSp>
        <p:nvCxnSpPr>
          <p:cNvPr id="2134801236" name="Google Shape;381;p17"/>
          <p:cNvCxnSpPr/>
          <p:nvPr/>
        </p:nvCxnSpPr>
        <p:spPr bwMode="auto">
          <a:xfrm>
            <a:off x="5394960" y="1828800"/>
            <a:ext cx="457200" cy="360"/>
          </a:xfrm>
          <a:prstGeom prst="straightConnector1">
            <a:avLst/>
          </a:prstGeom>
          <a:noFill/>
          <a:ln w="12700" cap="flat" cmpd="sng">
            <a:solidFill>
              <a:srgbClr val="9B59B6"/>
            </a:solidFill>
            <a:prstDash val="dash"/>
            <a:round/>
            <a:headEnd type="none" w="sm" len="sm"/>
            <a:tailEnd type="none" w="sm" len="sm"/>
          </a:ln>
        </p:spPr>
      </p:cxnSp>
      <p:sp>
        <p:nvSpPr>
          <p:cNvPr id="621456577" name="Google Shape;382;p17"/>
          <p:cNvSpPr/>
          <p:nvPr/>
        </p:nvSpPr>
        <p:spPr bwMode="auto">
          <a:xfrm>
            <a:off x="5943600" y="1586520"/>
            <a:ext cx="28342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strike="noStrike">
                <a:solidFill>
                  <a:srgbClr val="9B59B6"/>
                </a:solidFill>
                <a:latin typeface="Calibri"/>
                <a:ea typeface="Calibri"/>
                <a:cs typeface="Calibri"/>
              </a:rPr>
              <a:t>Timestamp ISO 8601</a:t>
            </a:r>
            <a:endParaRPr sz="1000" b="0" strike="noStrike">
              <a:solidFill>
                <a:srgbClr val="000000"/>
              </a:solidFill>
              <a:latin typeface="Arial"/>
              <a:ea typeface="Arial"/>
              <a:cs typeface="Arial"/>
            </a:endParaRPr>
          </a:p>
        </p:txBody>
      </p:sp>
      <p:cxnSp>
        <p:nvCxnSpPr>
          <p:cNvPr id="375980135" name="Google Shape;383;p17"/>
          <p:cNvCxnSpPr/>
          <p:nvPr/>
        </p:nvCxnSpPr>
        <p:spPr bwMode="auto">
          <a:xfrm>
            <a:off x="5394960" y="2043360"/>
            <a:ext cx="457200" cy="360"/>
          </a:xfrm>
          <a:prstGeom prst="straightConnector1">
            <a:avLst/>
          </a:prstGeom>
          <a:noFill/>
          <a:ln w="12700" cap="flat" cmpd="sng">
            <a:solidFill>
              <a:srgbClr val="2C5FDC"/>
            </a:solidFill>
            <a:prstDash val="dash"/>
            <a:round/>
            <a:headEnd type="none" w="sm" len="sm"/>
            <a:tailEnd type="none" w="sm" len="sm"/>
          </a:ln>
        </p:spPr>
      </p:cxnSp>
      <p:sp>
        <p:nvSpPr>
          <p:cNvPr id="1691915328" name="Google Shape;384;p17"/>
          <p:cNvSpPr/>
          <p:nvPr/>
        </p:nvSpPr>
        <p:spPr bwMode="auto">
          <a:xfrm>
            <a:off x="5943600" y="1828800"/>
            <a:ext cx="28342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strike="noStrike">
                <a:solidFill>
                  <a:srgbClr val="2C5FDC"/>
                </a:solidFill>
                <a:latin typeface="Calibri"/>
                <a:ea typeface="Calibri"/>
                <a:cs typeface="Calibri"/>
              </a:rPr>
              <a:t>Original request (snapshot)</a:t>
            </a:r>
            <a:endParaRPr sz="1000" b="0" strike="noStrike">
              <a:solidFill>
                <a:srgbClr val="000000"/>
              </a:solidFill>
              <a:latin typeface="Arial"/>
              <a:ea typeface="Arial"/>
              <a:cs typeface="Arial"/>
            </a:endParaRPr>
          </a:p>
        </p:txBody>
      </p:sp>
      <p:cxnSp>
        <p:nvCxnSpPr>
          <p:cNvPr id="924467981" name="Google Shape;385;p17"/>
          <p:cNvCxnSpPr/>
          <p:nvPr/>
        </p:nvCxnSpPr>
        <p:spPr bwMode="auto">
          <a:xfrm>
            <a:off x="5394960" y="2403720"/>
            <a:ext cx="457200" cy="360"/>
          </a:xfrm>
          <a:prstGeom prst="straightConnector1">
            <a:avLst/>
          </a:prstGeom>
          <a:noFill/>
          <a:ln w="19050" cap="flat" cmpd="sng">
            <a:solidFill>
              <a:srgbClr val="FFC000"/>
            </a:solidFill>
            <a:prstDash val="dash"/>
            <a:round/>
            <a:headEnd type="none" w="sm" len="sm"/>
            <a:tailEnd type="none" w="sm" len="sm"/>
          </a:ln>
        </p:spPr>
      </p:cxnSp>
      <p:sp>
        <p:nvSpPr>
          <p:cNvPr id="138434921" name="Google Shape;386;p17"/>
          <p:cNvSpPr/>
          <p:nvPr/>
        </p:nvSpPr>
        <p:spPr bwMode="auto">
          <a:xfrm>
            <a:off x="5943600" y="2180880"/>
            <a:ext cx="28342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strike="noStrike">
                <a:solidFill>
                  <a:srgbClr val="FFC000"/>
                </a:solidFill>
                <a:latin typeface="Calibri"/>
                <a:ea typeface="Calibri"/>
                <a:cs typeface="Calibri"/>
              </a:rPr>
              <a:t>Real data fetched from DaaS</a:t>
            </a:r>
            <a:endParaRPr sz="100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00" b="0" strike="noStrike">
                <a:solidFill>
                  <a:srgbClr val="FFC000"/>
                </a:solidFill>
                <a:latin typeface="Calibri"/>
                <a:ea typeface="Calibri"/>
                <a:cs typeface="Calibri"/>
              </a:rPr>
              <a:t>provenance tracked</a:t>
            </a:r>
            <a:endParaRPr sz="1000" b="0" strike="noStrike">
              <a:solidFill>
                <a:srgbClr val="000000"/>
              </a:solidFill>
              <a:latin typeface="Arial"/>
              <a:ea typeface="Arial"/>
              <a:cs typeface="Arial"/>
            </a:endParaRPr>
          </a:p>
        </p:txBody>
      </p:sp>
      <p:cxnSp>
        <p:nvCxnSpPr>
          <p:cNvPr id="1434774384" name="Google Shape;387;p17"/>
          <p:cNvCxnSpPr/>
          <p:nvPr/>
        </p:nvCxnSpPr>
        <p:spPr bwMode="auto">
          <a:xfrm>
            <a:off x="5386320" y="2876040"/>
            <a:ext cx="457200" cy="360"/>
          </a:xfrm>
          <a:prstGeom prst="straightConnector1">
            <a:avLst/>
          </a:prstGeom>
          <a:noFill/>
          <a:ln w="12700" cap="flat" cmpd="sng">
            <a:solidFill>
              <a:srgbClr val="B32424"/>
            </a:solidFill>
            <a:prstDash val="dash"/>
            <a:round/>
            <a:headEnd type="none" w="sm" len="sm"/>
            <a:tailEnd type="none" w="sm" len="sm"/>
          </a:ln>
        </p:spPr>
      </p:cxnSp>
      <p:sp>
        <p:nvSpPr>
          <p:cNvPr id="930892407" name="Google Shape;388;p17"/>
          <p:cNvSpPr/>
          <p:nvPr/>
        </p:nvSpPr>
        <p:spPr bwMode="auto">
          <a:xfrm>
            <a:off x="5943600" y="2648880"/>
            <a:ext cx="28342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strike="noStrike">
                <a:solidFill>
                  <a:srgbClr val="B32424"/>
                </a:solidFill>
                <a:latin typeface="Calibri"/>
                <a:ea typeface="Calibri"/>
                <a:cs typeface="Calibri"/>
              </a:rPr>
              <a:t>Final decision</a:t>
            </a:r>
            <a:endParaRPr sz="1000" b="0" strike="noStrike">
              <a:solidFill>
                <a:srgbClr val="000000"/>
              </a:solidFill>
              <a:latin typeface="Arial"/>
              <a:ea typeface="Arial"/>
              <a:cs typeface="Arial"/>
            </a:endParaRPr>
          </a:p>
        </p:txBody>
      </p:sp>
      <p:cxnSp>
        <p:nvCxnSpPr>
          <p:cNvPr id="152764512" name="Google Shape;389;p17"/>
          <p:cNvCxnSpPr/>
          <p:nvPr/>
        </p:nvCxnSpPr>
        <p:spPr bwMode="auto">
          <a:xfrm>
            <a:off x="5386320" y="3272400"/>
            <a:ext cx="457200" cy="360"/>
          </a:xfrm>
          <a:prstGeom prst="straightConnector1">
            <a:avLst/>
          </a:prstGeom>
          <a:noFill/>
          <a:ln w="12700" cap="flat" cmpd="sng">
            <a:solidFill>
              <a:srgbClr val="2F8F4E"/>
            </a:solidFill>
            <a:prstDash val="dash"/>
            <a:round/>
            <a:headEnd type="none" w="sm" len="sm"/>
            <a:tailEnd type="none" w="sm" len="sm"/>
          </a:ln>
        </p:spPr>
      </p:cxnSp>
      <p:sp>
        <p:nvSpPr>
          <p:cNvPr id="1978864600" name="Google Shape;390;p17"/>
          <p:cNvSpPr/>
          <p:nvPr/>
        </p:nvSpPr>
        <p:spPr bwMode="auto">
          <a:xfrm>
            <a:off x="5943600" y="3056400"/>
            <a:ext cx="28342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strike="noStrike">
                <a:solidFill>
                  <a:srgbClr val="2F8F4E"/>
                </a:solidFill>
                <a:latin typeface="Calibri"/>
                <a:ea typeface="Calibri"/>
                <a:cs typeface="Calibri"/>
              </a:rPr>
              <a:t>All policies evaluated</a:t>
            </a:r>
            <a:endParaRPr sz="100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000" b="0" strike="noStrike">
                <a:solidFill>
                  <a:srgbClr val="2F8F4E"/>
                </a:solidFill>
                <a:latin typeface="Calibri"/>
                <a:ea typeface="Calibri"/>
                <a:cs typeface="Calibri"/>
              </a:rPr>
              <a:t>(including those not violated)</a:t>
            </a:r>
            <a:endParaRPr sz="1000" b="0" strike="noStrike">
              <a:solidFill>
                <a:srgbClr val="000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331343856" name="Google Shape;396;p18"/>
          <p:cNvSpPr/>
          <p:nvPr/>
        </p:nvSpPr>
        <p:spPr bwMode="auto">
          <a:xfrm>
            <a:off x="365760" y="201240"/>
            <a:ext cx="1737000" cy="255600"/>
          </a:xfrm>
          <a:prstGeom prst="roundRect">
            <a:avLst>
              <a:gd name="adj" fmla="val 14286"/>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807549875" name="Google Shape;397;p18"/>
          <p:cNvSpPr/>
          <p:nvPr/>
        </p:nvSpPr>
        <p:spPr bwMode="auto">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strike="noStrike">
                <a:solidFill>
                  <a:srgbClr val="FFFFFF"/>
                </a:solidFill>
                <a:latin typeface="Calibri"/>
                <a:ea typeface="Calibri"/>
                <a:cs typeface="Calibri"/>
              </a:rPr>
              <a:t>SCENARIO 1</a:t>
            </a:r>
            <a:endParaRPr sz="800" b="0" strike="noStrike">
              <a:solidFill>
                <a:srgbClr val="000000"/>
              </a:solidFill>
              <a:latin typeface="Arial"/>
              <a:ea typeface="Arial"/>
              <a:cs typeface="Arial"/>
            </a:endParaRPr>
          </a:p>
        </p:txBody>
      </p:sp>
      <p:sp>
        <p:nvSpPr>
          <p:cNvPr id="1138009025" name="Google Shape;398;p18"/>
          <p:cNvSpPr/>
          <p:nvPr/>
        </p:nvSpPr>
        <p:spPr bwMode="auto">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2600" b="1" strike="noStrike">
                <a:solidFill>
                  <a:srgbClr val="1D2D44"/>
                </a:solidFill>
                <a:latin typeface="Trebuchet MS"/>
                <a:ea typeface="Trebuchet MS"/>
                <a:cs typeface="Trebuchet MS"/>
              </a:rPr>
              <a:t>Scenario PROCEED — cand-001 + job-001</a:t>
            </a:r>
            <a:endParaRPr sz="2600" b="0" strike="noStrike">
              <a:solidFill>
                <a:srgbClr val="000000"/>
              </a:solidFill>
              <a:latin typeface="Arial"/>
              <a:ea typeface="Arial"/>
              <a:cs typeface="Arial"/>
            </a:endParaRPr>
          </a:p>
        </p:txBody>
      </p:sp>
      <p:sp>
        <p:nvSpPr>
          <p:cNvPr id="1803339613" name="Google Shape;399;p18"/>
          <p:cNvSpPr/>
          <p:nvPr/>
        </p:nvSpPr>
        <p:spPr bwMode="auto">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940088022" name="Google Shape;400;p18"/>
          <p:cNvSpPr/>
          <p:nvPr/>
        </p:nvSpPr>
        <p:spPr bwMode="auto">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defRPr/>
            </a:pPr>
            <a:r>
              <a:rPr lang="en-US" sz="900" b="0" strike="noStrike">
                <a:solidFill>
                  <a:srgbClr val="6B7280"/>
                </a:solidFill>
                <a:latin typeface="Calibri"/>
                <a:ea typeface="Calibri"/>
                <a:cs typeface="Calibri"/>
              </a:rPr>
              <a:t>14</a:t>
            </a:r>
            <a:endParaRPr sz="900" b="0" strike="noStrike">
              <a:solidFill>
                <a:srgbClr val="000000"/>
              </a:solidFill>
              <a:latin typeface="Arial"/>
              <a:ea typeface="Arial"/>
              <a:cs typeface="Arial"/>
            </a:endParaRPr>
          </a:p>
        </p:txBody>
      </p:sp>
      <p:sp>
        <p:nvSpPr>
          <p:cNvPr id="1849808859" name="Google Shape;401;p18"/>
          <p:cNvSpPr/>
          <p:nvPr/>
        </p:nvSpPr>
        <p:spPr bwMode="auto">
          <a:xfrm>
            <a:off x="365760" y="1325880"/>
            <a:ext cx="3931560" cy="137124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321691102" name="Google Shape;402;p18"/>
          <p:cNvSpPr/>
          <p:nvPr/>
        </p:nvSpPr>
        <p:spPr bwMode="auto">
          <a:xfrm>
            <a:off x="502920" y="1371600"/>
            <a:ext cx="3565800" cy="292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1" strike="noStrike">
                <a:solidFill>
                  <a:srgbClr val="1D2D44"/>
                </a:solidFill>
                <a:latin typeface="Trebuchet MS"/>
                <a:ea typeface="Trebuchet MS"/>
                <a:cs typeface="Trebuchet MS"/>
              </a:rPr>
              <a:t>Request</a:t>
            </a:r>
            <a:endParaRPr sz="1100" b="0" strike="noStrike">
              <a:solidFill>
                <a:srgbClr val="000000"/>
              </a:solidFill>
              <a:latin typeface="Arial"/>
              <a:ea typeface="Arial"/>
              <a:cs typeface="Arial"/>
            </a:endParaRPr>
          </a:p>
        </p:txBody>
      </p:sp>
      <p:sp>
        <p:nvSpPr>
          <p:cNvPr id="744212699" name="Google Shape;403;p18"/>
          <p:cNvSpPr/>
          <p:nvPr/>
        </p:nvSpPr>
        <p:spPr bwMode="auto">
          <a:xfrm>
            <a:off x="502920" y="1719000"/>
            <a:ext cx="3657240" cy="914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0" strike="noStrike">
                <a:solidFill>
                  <a:srgbClr val="6B7280"/>
                </a:solidFill>
                <a:latin typeface="Calibri"/>
                <a:ea typeface="Calibri"/>
                <a:cs typeface="Calibri"/>
              </a:rPr>
              <a:t>candidateId: </a:t>
            </a:r>
            <a:r>
              <a:rPr lang="en-US" sz="1100" b="1" strike="noStrike">
                <a:solidFill>
                  <a:srgbClr val="1D2D44"/>
                </a:solidFill>
                <a:latin typeface="Calibri"/>
                <a:ea typeface="Calibri"/>
                <a:cs typeface="Calibri"/>
              </a:rPr>
              <a:t>cand-001</a:t>
            </a:r>
            <a:r>
              <a:rPr lang="en-US" sz="1100" b="0" strike="noStrike">
                <a:solidFill>
                  <a:srgbClr val="6B7280"/>
                </a:solidFill>
                <a:latin typeface="Calibri"/>
                <a:ea typeface="Calibri"/>
                <a:cs typeface="Calibri"/>
              </a:rPr>
              <a:t>  (Alice Bianchi)</a:t>
            </a:r>
            <a:endParaRPr sz="110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0" strike="noStrike">
                <a:solidFill>
                  <a:srgbClr val="6B7280"/>
                </a:solidFill>
                <a:latin typeface="Calibri"/>
                <a:ea typeface="Calibri"/>
                <a:cs typeface="Calibri"/>
              </a:rPr>
              <a:t>jobId: </a:t>
            </a:r>
            <a:r>
              <a:rPr lang="en-US" sz="1100" b="1" strike="noStrike">
                <a:solidFill>
                  <a:srgbClr val="1D2D44"/>
                </a:solidFill>
                <a:latin typeface="Calibri"/>
                <a:ea typeface="Calibri"/>
                <a:cs typeface="Calibri"/>
              </a:rPr>
              <a:t>job-001</a:t>
            </a:r>
            <a:r>
              <a:rPr lang="en-US" sz="1100" b="0" strike="noStrike">
                <a:solidFill>
                  <a:srgbClr val="6B7280"/>
                </a:solidFill>
                <a:latin typeface="Calibri"/>
                <a:ea typeface="Calibri"/>
                <a:cs typeface="Calibri"/>
              </a:rPr>
              <a:t>  (Backend Java Dev)</a:t>
            </a:r>
            <a:endParaRPr sz="110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0" strike="noStrike">
                <a:solidFill>
                  <a:srgbClr val="6B7280"/>
                </a:solidFill>
                <a:latin typeface="Calibri"/>
                <a:ea typeface="Calibri"/>
                <a:cs typeface="Calibri"/>
              </a:rPr>
              <a:t>source: </a:t>
            </a:r>
            <a:r>
              <a:rPr lang="en-US" sz="1100" b="1" strike="noStrike">
                <a:solidFill>
                  <a:srgbClr val="2F8F4E"/>
                </a:solidFill>
                <a:latin typeface="Calibri"/>
                <a:ea typeface="Calibri"/>
                <a:cs typeface="Calibri"/>
              </a:rPr>
              <a:t>company-portal</a:t>
            </a:r>
            <a:endParaRPr sz="1100" b="0" strike="noStrike">
              <a:solidFill>
                <a:srgbClr val="000000"/>
              </a:solidFill>
              <a:latin typeface="Arial"/>
              <a:ea typeface="Arial"/>
              <a:cs typeface="Arial"/>
            </a:endParaRPr>
          </a:p>
        </p:txBody>
      </p:sp>
      <p:sp>
        <p:nvSpPr>
          <p:cNvPr id="833165743" name="Google Shape;404;p18"/>
          <p:cNvSpPr/>
          <p:nvPr/>
        </p:nvSpPr>
        <p:spPr bwMode="auto">
          <a:xfrm>
            <a:off x="365760" y="2834640"/>
            <a:ext cx="3931560" cy="100548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297227190" name="Google Shape;405;p18"/>
          <p:cNvSpPr/>
          <p:nvPr/>
        </p:nvSpPr>
        <p:spPr bwMode="auto">
          <a:xfrm>
            <a:off x="502920" y="2889360"/>
            <a:ext cx="3565800" cy="292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1" strike="noStrike">
                <a:solidFill>
                  <a:srgbClr val="1D2D44"/>
                </a:solidFill>
                <a:latin typeface="Trebuchet MS"/>
                <a:ea typeface="Trebuchet MS"/>
                <a:cs typeface="Trebuchet MS"/>
              </a:rPr>
              <a:t>EaaS Evaluation</a:t>
            </a:r>
            <a:endParaRPr sz="1100" b="0" strike="noStrike">
              <a:solidFill>
                <a:srgbClr val="000000"/>
              </a:solidFill>
              <a:latin typeface="Arial"/>
              <a:ea typeface="Arial"/>
              <a:cs typeface="Arial"/>
            </a:endParaRPr>
          </a:p>
        </p:txBody>
      </p:sp>
      <p:sp>
        <p:nvSpPr>
          <p:cNvPr id="363586159" name="Google Shape;406;p18"/>
          <p:cNvSpPr/>
          <p:nvPr/>
        </p:nvSpPr>
        <p:spPr bwMode="auto">
          <a:xfrm>
            <a:off x="502920" y="3218760"/>
            <a:ext cx="365724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0" strike="noStrike">
                <a:solidFill>
                  <a:srgbClr val="6B7280"/>
                </a:solidFill>
                <a:latin typeface="Calibri"/>
                <a:ea typeface="Calibri"/>
                <a:cs typeface="Calibri"/>
              </a:rPr>
              <a:t>No policy violated — 4 policies evaluated</a:t>
            </a:r>
            <a:endParaRPr sz="1100" b="0" strike="noStrike">
              <a:solidFill>
                <a:srgbClr val="000000"/>
              </a:solidFill>
              <a:latin typeface="Arial"/>
              <a:ea typeface="Arial"/>
              <a:cs typeface="Arial"/>
            </a:endParaRPr>
          </a:p>
        </p:txBody>
      </p:sp>
      <p:sp>
        <p:nvSpPr>
          <p:cNvPr id="1404534015" name="Google Shape;407;p18"/>
          <p:cNvSpPr/>
          <p:nvPr/>
        </p:nvSpPr>
        <p:spPr bwMode="auto">
          <a:xfrm>
            <a:off x="502920" y="3493080"/>
            <a:ext cx="365724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1" strike="noStrike">
                <a:solidFill>
                  <a:srgbClr val="2F8F4E"/>
                </a:solidFill>
                <a:latin typeface="Calibri"/>
                <a:ea typeface="Calibri"/>
                <a:cs typeface="Calibri"/>
              </a:rPr>
              <a:t>Findings: 0</a:t>
            </a:r>
            <a:endParaRPr sz="1100" b="0" strike="noStrike">
              <a:solidFill>
                <a:srgbClr val="000000"/>
              </a:solidFill>
              <a:latin typeface="Arial"/>
              <a:ea typeface="Arial"/>
              <a:cs typeface="Arial"/>
            </a:endParaRPr>
          </a:p>
        </p:txBody>
      </p:sp>
      <p:sp>
        <p:nvSpPr>
          <p:cNvPr id="994603603" name="Google Shape;408;p18"/>
          <p:cNvSpPr/>
          <p:nvPr/>
        </p:nvSpPr>
        <p:spPr bwMode="auto">
          <a:xfrm>
            <a:off x="4434840" y="1325880"/>
            <a:ext cx="4343040" cy="2742840"/>
          </a:xfrm>
          <a:prstGeom prst="rect">
            <a:avLst/>
          </a:prstGeom>
          <a:solidFill>
            <a:srgbClr val="F0FFF4"/>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584302767" name="Google Shape;409;p18"/>
          <p:cNvSpPr/>
          <p:nvPr/>
        </p:nvSpPr>
        <p:spPr bwMode="auto">
          <a:xfrm>
            <a:off x="4434840" y="1325880"/>
            <a:ext cx="4343040" cy="383760"/>
          </a:xfrm>
          <a:prstGeom prst="rect">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7397468" name="Google Shape;410;p18"/>
          <p:cNvSpPr/>
          <p:nvPr/>
        </p:nvSpPr>
        <p:spPr bwMode="auto">
          <a:xfrm>
            <a:off x="4434840" y="1325880"/>
            <a:ext cx="434304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100" b="1" strike="noStrike">
                <a:solidFill>
                  <a:srgbClr val="FFFFFF"/>
                </a:solidFill>
                <a:latin typeface="Calibri"/>
                <a:ea typeface="Calibri"/>
                <a:cs typeface="Calibri"/>
              </a:rPr>
              <a:t>DECISION</a:t>
            </a:r>
            <a:endParaRPr sz="1100" b="0" strike="noStrike">
              <a:solidFill>
                <a:srgbClr val="000000"/>
              </a:solidFill>
              <a:latin typeface="Arial"/>
              <a:ea typeface="Arial"/>
              <a:cs typeface="Arial"/>
            </a:endParaRPr>
          </a:p>
        </p:txBody>
      </p:sp>
      <p:sp>
        <p:nvSpPr>
          <p:cNvPr id="1660791859" name="Google Shape;411;p18"/>
          <p:cNvSpPr/>
          <p:nvPr/>
        </p:nvSpPr>
        <p:spPr bwMode="auto">
          <a:xfrm>
            <a:off x="4434840" y="1828800"/>
            <a:ext cx="4343040" cy="822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4600" b="1" strike="noStrike">
                <a:solidFill>
                  <a:srgbClr val="2F8F4E"/>
                </a:solidFill>
                <a:latin typeface="Trebuchet MS"/>
                <a:ea typeface="Trebuchet MS"/>
                <a:cs typeface="Trebuchet MS"/>
              </a:rPr>
              <a:t>PROCEED</a:t>
            </a:r>
            <a:endParaRPr sz="4600" b="0" strike="noStrike">
              <a:solidFill>
                <a:srgbClr val="000000"/>
              </a:solidFill>
              <a:latin typeface="Arial"/>
              <a:ea typeface="Arial"/>
              <a:cs typeface="Arial"/>
            </a:endParaRPr>
          </a:p>
        </p:txBody>
      </p:sp>
      <p:sp>
        <p:nvSpPr>
          <p:cNvPr id="1981404815" name="Google Shape;412;p18"/>
          <p:cNvSpPr/>
          <p:nvPr/>
        </p:nvSpPr>
        <p:spPr bwMode="auto">
          <a:xfrm>
            <a:off x="4434840" y="2606040"/>
            <a:ext cx="4343040" cy="3196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400" b="1" strike="noStrike">
                <a:solidFill>
                  <a:srgbClr val="2F8F4E"/>
                </a:solidFill>
                <a:latin typeface="Calibri"/>
                <a:ea typeface="Calibri"/>
                <a:cs typeface="Calibri"/>
              </a:rPr>
              <a:t>Risk: LOW</a:t>
            </a:r>
            <a:endParaRPr sz="1400" b="0" strike="noStrike">
              <a:solidFill>
                <a:srgbClr val="000000"/>
              </a:solidFill>
              <a:latin typeface="Arial"/>
              <a:ea typeface="Arial"/>
              <a:cs typeface="Arial"/>
            </a:endParaRPr>
          </a:p>
        </p:txBody>
      </p:sp>
      <p:sp>
        <p:nvSpPr>
          <p:cNvPr id="2066584159" name="Google Shape;413;p18"/>
          <p:cNvSpPr/>
          <p:nvPr/>
        </p:nvSpPr>
        <p:spPr bwMode="auto">
          <a:xfrm>
            <a:off x="4526280" y="3017519"/>
            <a:ext cx="4160160" cy="7311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000" b="0" i="1" strike="noStrike">
                <a:solidFill>
                  <a:srgbClr val="6B7280"/>
                </a:solidFill>
                <a:latin typeface="Calibri"/>
                <a:ea typeface="Calibri"/>
                <a:cs typeface="Calibri"/>
              </a:rPr>
              <a:t>"No policy was triggered: the recommendation</a:t>
            </a:r>
            <a:endParaRPr sz="1000" b="0" strike="noStrike">
              <a:solidFill>
                <a:srgbClr val="000000"/>
              </a:solidFill>
              <a:latin typeface="Arial"/>
              <a:ea typeface="Arial"/>
              <a:cs typeface="Arial"/>
            </a:endParaRPr>
          </a:p>
          <a:p>
            <a:pPr marL="0" marR="0" lvl="0" indent="0" algn="ctr" rtl="0">
              <a:lnSpc>
                <a:spcPct val="100000"/>
              </a:lnSpc>
              <a:spcBef>
                <a:spcPts val="0"/>
              </a:spcBef>
              <a:spcAft>
                <a:spcPts val="0"/>
              </a:spcAft>
              <a:buNone/>
              <a:defRPr/>
            </a:pPr>
            <a:r>
              <a:rPr lang="en-US" sz="1000" b="0" i="1" strike="noStrike">
                <a:solidFill>
                  <a:srgbClr val="6B7280"/>
                </a:solidFill>
                <a:latin typeface="Calibri"/>
                <a:ea typeface="Calibri"/>
                <a:cs typeface="Calibri"/>
              </a:rPr>
              <a:t>is consistent with the active ethical policies."</a:t>
            </a:r>
            <a:endParaRPr sz="1000" b="0" strike="noStrike">
              <a:solidFill>
                <a:srgbClr val="000000"/>
              </a:solidFill>
              <a:latin typeface="Arial"/>
              <a:ea typeface="Arial"/>
              <a:cs typeface="Arial"/>
            </a:endParaRPr>
          </a:p>
        </p:txBody>
      </p:sp>
      <p:sp>
        <p:nvSpPr>
          <p:cNvPr id="1488133111" name="Google Shape;414;p18"/>
          <p:cNvSpPr/>
          <p:nvPr/>
        </p:nvSpPr>
        <p:spPr bwMode="auto">
          <a:xfrm>
            <a:off x="365760" y="3931920"/>
            <a:ext cx="8412120" cy="2739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strike="noStrike">
                <a:solidFill>
                  <a:srgbClr val="6B7280"/>
                </a:solidFill>
                <a:latin typeface="Calibri"/>
                <a:ea typeface="Calibri"/>
                <a:cs typeface="Calibri"/>
              </a:rPr>
              <a:t>Applied policies: P-ACC-003 · P-DISCR-001 · P-PROV-002 · P-TRANS-004</a:t>
            </a:r>
            <a:endParaRPr sz="1000" b="0" strike="noStrike">
              <a:solidFill>
                <a:srgbClr val="000000"/>
              </a:solidFill>
              <a:latin typeface="Arial"/>
              <a:ea typeface="Arial"/>
              <a:cs typeface="Arial"/>
            </a:endParaRPr>
          </a:p>
        </p:txBody>
      </p:sp>
      <p:sp>
        <p:nvSpPr>
          <p:cNvPr id="1995773427" name="Google Shape;415;p18"/>
          <p:cNvSpPr/>
          <p:nvPr/>
        </p:nvSpPr>
        <p:spPr bwMode="auto">
          <a:xfrm>
            <a:off x="365760" y="4251960"/>
            <a:ext cx="8412120" cy="2739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1" strike="noStrike">
                <a:solidFill>
                  <a:srgbClr val="2F8F4E"/>
                </a:solidFill>
                <a:latin typeface="Calibri"/>
                <a:ea typeface="Calibri"/>
                <a:cs typeface="Calibri"/>
              </a:rPr>
              <a:t>Required actions: none  ·  The offer can be shown to the candidate</a:t>
            </a:r>
            <a:endParaRPr sz="1100" b="0" strike="noStrike">
              <a:solidFill>
                <a:srgbClr val="000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519437053" name="Google Shape;421;p19"/>
          <p:cNvSpPr/>
          <p:nvPr/>
        </p:nvSpPr>
        <p:spPr bwMode="auto">
          <a:xfrm>
            <a:off x="365760" y="201240"/>
            <a:ext cx="1737000" cy="255600"/>
          </a:xfrm>
          <a:prstGeom prst="roundRect">
            <a:avLst>
              <a:gd name="adj" fmla="val 14286"/>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839795718" name="Google Shape;422;p19"/>
          <p:cNvSpPr/>
          <p:nvPr/>
        </p:nvSpPr>
        <p:spPr bwMode="auto">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strike="noStrike">
                <a:solidFill>
                  <a:srgbClr val="FFFFFF"/>
                </a:solidFill>
                <a:latin typeface="Calibri"/>
                <a:ea typeface="Calibri"/>
                <a:cs typeface="Calibri"/>
              </a:rPr>
              <a:t>SCENARIO 2</a:t>
            </a:r>
            <a:endParaRPr sz="800" b="0" strike="noStrike">
              <a:solidFill>
                <a:srgbClr val="000000"/>
              </a:solidFill>
              <a:latin typeface="Arial"/>
              <a:ea typeface="Arial"/>
              <a:cs typeface="Arial"/>
            </a:endParaRPr>
          </a:p>
        </p:txBody>
      </p:sp>
      <p:sp>
        <p:nvSpPr>
          <p:cNvPr id="617769717" name="Google Shape;423;p19"/>
          <p:cNvSpPr/>
          <p:nvPr/>
        </p:nvSpPr>
        <p:spPr bwMode="auto">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2600" b="1" strike="noStrike">
                <a:solidFill>
                  <a:srgbClr val="1D2D44"/>
                </a:solidFill>
                <a:latin typeface="Trebuchet MS"/>
                <a:ea typeface="Trebuchet MS"/>
                <a:cs typeface="Trebuchet MS"/>
              </a:rPr>
              <a:t>Scenario REJECT — cand-001 + job-003</a:t>
            </a:r>
            <a:endParaRPr sz="2600" b="0" strike="noStrike">
              <a:solidFill>
                <a:srgbClr val="000000"/>
              </a:solidFill>
              <a:latin typeface="Arial"/>
              <a:ea typeface="Arial"/>
              <a:cs typeface="Arial"/>
            </a:endParaRPr>
          </a:p>
        </p:txBody>
      </p:sp>
      <p:sp>
        <p:nvSpPr>
          <p:cNvPr id="2073914345" name="Google Shape;424;p19"/>
          <p:cNvSpPr/>
          <p:nvPr/>
        </p:nvSpPr>
        <p:spPr bwMode="auto">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602821308" name="Google Shape;425;p19"/>
          <p:cNvSpPr/>
          <p:nvPr/>
        </p:nvSpPr>
        <p:spPr bwMode="auto">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defRPr/>
            </a:pPr>
            <a:r>
              <a:rPr lang="en-US" sz="900" b="0" strike="noStrike">
                <a:solidFill>
                  <a:srgbClr val="6B7280"/>
                </a:solidFill>
                <a:latin typeface="Calibri"/>
                <a:ea typeface="Calibri"/>
                <a:cs typeface="Calibri"/>
              </a:rPr>
              <a:t>15</a:t>
            </a:r>
            <a:endParaRPr sz="900" b="0" strike="noStrike">
              <a:solidFill>
                <a:srgbClr val="000000"/>
              </a:solidFill>
              <a:latin typeface="Arial"/>
              <a:ea typeface="Arial"/>
              <a:cs typeface="Arial"/>
            </a:endParaRPr>
          </a:p>
        </p:txBody>
      </p:sp>
      <p:sp>
        <p:nvSpPr>
          <p:cNvPr id="585977068" name="Google Shape;426;p19"/>
          <p:cNvSpPr/>
          <p:nvPr/>
        </p:nvSpPr>
        <p:spPr bwMode="auto">
          <a:xfrm>
            <a:off x="365760" y="1325880"/>
            <a:ext cx="3931560" cy="137124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733773038" name="Google Shape;427;p19"/>
          <p:cNvSpPr/>
          <p:nvPr/>
        </p:nvSpPr>
        <p:spPr bwMode="auto">
          <a:xfrm>
            <a:off x="502920" y="1371600"/>
            <a:ext cx="3565800" cy="292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1" strike="noStrike">
                <a:solidFill>
                  <a:srgbClr val="1D2D44"/>
                </a:solidFill>
                <a:latin typeface="Trebuchet MS"/>
                <a:ea typeface="Trebuchet MS"/>
                <a:cs typeface="Trebuchet MS"/>
              </a:rPr>
              <a:t>Request</a:t>
            </a:r>
            <a:endParaRPr sz="1100" b="0" strike="noStrike">
              <a:solidFill>
                <a:srgbClr val="000000"/>
              </a:solidFill>
              <a:latin typeface="Arial"/>
              <a:ea typeface="Arial"/>
              <a:cs typeface="Arial"/>
            </a:endParaRPr>
          </a:p>
        </p:txBody>
      </p:sp>
      <p:sp>
        <p:nvSpPr>
          <p:cNvPr id="242780826" name="Google Shape;428;p19"/>
          <p:cNvSpPr/>
          <p:nvPr/>
        </p:nvSpPr>
        <p:spPr bwMode="auto">
          <a:xfrm>
            <a:off x="502920" y="1719000"/>
            <a:ext cx="3657240" cy="914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0" strike="noStrike">
                <a:solidFill>
                  <a:srgbClr val="6B7280"/>
                </a:solidFill>
                <a:latin typeface="Calibri"/>
                <a:ea typeface="Calibri"/>
                <a:cs typeface="Calibri"/>
              </a:rPr>
              <a:t>candidateId: </a:t>
            </a:r>
            <a:r>
              <a:rPr lang="en-US" sz="1100" b="1" strike="noStrike">
                <a:solidFill>
                  <a:srgbClr val="1D2D44"/>
                </a:solidFill>
                <a:latin typeface="Calibri"/>
                <a:ea typeface="Calibri"/>
                <a:cs typeface="Calibri"/>
              </a:rPr>
              <a:t>cand-001</a:t>
            </a:r>
            <a:r>
              <a:rPr lang="en-US" sz="1100" b="0" strike="noStrike">
                <a:solidFill>
                  <a:srgbClr val="6B7280"/>
                </a:solidFill>
                <a:latin typeface="Calibri"/>
                <a:ea typeface="Calibri"/>
                <a:cs typeface="Calibri"/>
              </a:rPr>
              <a:t>  (Alice Bianchi, 28 years old)</a:t>
            </a:r>
            <a:endParaRPr sz="110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0" strike="noStrike">
                <a:solidFill>
                  <a:srgbClr val="6B7280"/>
                </a:solidFill>
                <a:latin typeface="Calibri"/>
                <a:ea typeface="Calibri"/>
                <a:cs typeface="Calibri"/>
              </a:rPr>
              <a:t>jobId: </a:t>
            </a:r>
            <a:r>
              <a:rPr lang="en-US" sz="1100" b="1" strike="noStrike">
                <a:solidFill>
                  <a:srgbClr val="1D2D44"/>
                </a:solidFill>
                <a:latin typeface="Calibri"/>
                <a:ea typeface="Calibri"/>
                <a:cs typeface="Calibri"/>
              </a:rPr>
              <a:t>job-003</a:t>
            </a:r>
            <a:r>
              <a:rPr lang="en-US" sz="1100" b="0" strike="noStrike">
                <a:solidFill>
                  <a:srgbClr val="6B7280"/>
                </a:solidFill>
                <a:latin typeface="Calibri"/>
                <a:ea typeface="Calibri"/>
                <a:cs typeface="Calibri"/>
              </a:rPr>
              <a:t>  (Junior Frontend Dev)</a:t>
            </a:r>
            <a:endParaRPr sz="1100" b="0" strike="noStrike">
              <a:solidFill>
                <a:srgbClr val="000000"/>
              </a:solidFill>
              <a:latin typeface="Arial"/>
              <a:ea typeface="Arial"/>
              <a:cs typeface="Arial"/>
            </a:endParaRPr>
          </a:p>
          <a:p>
            <a:pPr marL="0" marR="0" lvl="0" indent="0" algn="l" rtl="0">
              <a:lnSpc>
                <a:spcPct val="100000"/>
              </a:lnSpc>
              <a:spcBef>
                <a:spcPts val="0"/>
              </a:spcBef>
              <a:spcAft>
                <a:spcPts val="0"/>
              </a:spcAft>
              <a:buNone/>
              <a:defRPr/>
            </a:pPr>
            <a:r>
              <a:rPr lang="en-US" sz="1100" b="0" strike="noStrike">
                <a:solidFill>
                  <a:srgbClr val="6B7280"/>
                </a:solidFill>
                <a:latin typeface="Calibri"/>
                <a:ea typeface="Calibri"/>
                <a:cs typeface="Calibri"/>
              </a:rPr>
              <a:t>source: </a:t>
            </a:r>
            <a:r>
              <a:rPr lang="en-US" sz="1100" b="1" strike="noStrike">
                <a:solidFill>
                  <a:srgbClr val="B32424"/>
                </a:solidFill>
                <a:latin typeface="Calibri"/>
                <a:ea typeface="Calibri"/>
                <a:cs typeface="Calibri"/>
              </a:rPr>
              <a:t>third-party-scraper</a:t>
            </a:r>
            <a:endParaRPr sz="1100" b="0" strike="noStrike">
              <a:solidFill>
                <a:srgbClr val="000000"/>
              </a:solidFill>
              <a:latin typeface="Arial"/>
              <a:ea typeface="Arial"/>
              <a:cs typeface="Arial"/>
            </a:endParaRPr>
          </a:p>
        </p:txBody>
      </p:sp>
      <p:sp>
        <p:nvSpPr>
          <p:cNvPr id="1367175490" name="Google Shape;429;p19"/>
          <p:cNvSpPr/>
          <p:nvPr/>
        </p:nvSpPr>
        <p:spPr bwMode="auto">
          <a:xfrm>
            <a:off x="365760" y="2834640"/>
            <a:ext cx="3931560" cy="804240"/>
          </a:xfrm>
          <a:prstGeom prst="rect">
            <a:avLst/>
          </a:prstGeom>
          <a:solidFill>
            <a:srgbClr val="FFF5F5"/>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613088009" name="Google Shape;430;p19"/>
          <p:cNvSpPr/>
          <p:nvPr/>
        </p:nvSpPr>
        <p:spPr bwMode="auto">
          <a:xfrm>
            <a:off x="365760" y="2834640"/>
            <a:ext cx="731160" cy="310680"/>
          </a:xfrm>
          <a:prstGeom prst="rect">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513083461" name="Google Shape;431;p19"/>
          <p:cNvSpPr/>
          <p:nvPr/>
        </p:nvSpPr>
        <p:spPr bwMode="auto">
          <a:xfrm>
            <a:off x="365760" y="2834640"/>
            <a:ext cx="731160" cy="3106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strike="noStrike">
                <a:solidFill>
                  <a:srgbClr val="FFFFFF"/>
                </a:solidFill>
                <a:latin typeface="Calibri"/>
                <a:ea typeface="Calibri"/>
                <a:cs typeface="Calibri"/>
              </a:rPr>
              <a:t>CRITICAL</a:t>
            </a:r>
            <a:endParaRPr sz="800" b="0" strike="noStrike">
              <a:solidFill>
                <a:srgbClr val="000000"/>
              </a:solidFill>
              <a:latin typeface="Arial"/>
              <a:ea typeface="Arial"/>
              <a:cs typeface="Arial"/>
            </a:endParaRPr>
          </a:p>
        </p:txBody>
      </p:sp>
      <p:sp>
        <p:nvSpPr>
          <p:cNvPr id="1874228344" name="Google Shape;432;p19"/>
          <p:cNvSpPr/>
          <p:nvPr/>
        </p:nvSpPr>
        <p:spPr bwMode="auto">
          <a:xfrm>
            <a:off x="1143000" y="2834640"/>
            <a:ext cx="1828440" cy="310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900" b="1" strike="noStrike">
                <a:solidFill>
                  <a:srgbClr val="B32424"/>
                </a:solidFill>
                <a:latin typeface="Consolas"/>
                <a:ea typeface="Consolas"/>
                <a:cs typeface="Consolas"/>
              </a:rPr>
              <a:t>P-DISCR-001</a:t>
            </a:r>
            <a:endParaRPr sz="900" b="0" strike="noStrike">
              <a:solidFill>
                <a:srgbClr val="000000"/>
              </a:solidFill>
              <a:latin typeface="Arial"/>
              <a:ea typeface="Arial"/>
              <a:cs typeface="Arial"/>
            </a:endParaRPr>
          </a:p>
        </p:txBody>
      </p:sp>
      <p:sp>
        <p:nvSpPr>
          <p:cNvPr id="145123642" name="Google Shape;433;p19"/>
          <p:cNvSpPr/>
          <p:nvPr/>
        </p:nvSpPr>
        <p:spPr bwMode="auto">
          <a:xfrm>
            <a:off x="502920" y="3182040"/>
            <a:ext cx="3657240" cy="402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1" strike="noStrike">
                <a:solidFill>
                  <a:srgbClr val="1D2D44"/>
                </a:solidFill>
                <a:latin typeface="Calibri"/>
                <a:ea typeface="Calibri"/>
                <a:cs typeface="Calibri"/>
              </a:rPr>
              <a:t>Offer carries "ageRangeMax" = 30</a:t>
            </a:r>
            <a:endParaRPr sz="1000" b="0" strike="noStrike">
              <a:solidFill>
                <a:srgbClr val="000000"/>
              </a:solidFill>
              <a:latin typeface="Arial"/>
              <a:ea typeface="Arial"/>
              <a:cs typeface="Arial"/>
            </a:endParaRPr>
          </a:p>
        </p:txBody>
      </p:sp>
      <p:sp>
        <p:nvSpPr>
          <p:cNvPr id="34568818" name="Google Shape;434;p19"/>
          <p:cNvSpPr/>
          <p:nvPr/>
        </p:nvSpPr>
        <p:spPr bwMode="auto">
          <a:xfrm>
            <a:off x="365760" y="3749040"/>
            <a:ext cx="3931560" cy="804240"/>
          </a:xfrm>
          <a:prstGeom prst="rect">
            <a:avLst/>
          </a:prstGeom>
          <a:solidFill>
            <a:srgbClr val="FFF8F0"/>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396232819" name="Google Shape;435;p19"/>
          <p:cNvSpPr/>
          <p:nvPr/>
        </p:nvSpPr>
        <p:spPr bwMode="auto">
          <a:xfrm>
            <a:off x="365760" y="3749040"/>
            <a:ext cx="731160" cy="310680"/>
          </a:xfrm>
          <a:prstGeom prst="rect">
            <a:avLst/>
          </a:prstGeom>
          <a:solidFill>
            <a:srgbClr val="C25A00"/>
          </a:solidFill>
          <a:ln w="12700" cap="flat" cmpd="sng">
            <a:solidFill>
              <a:srgbClr val="C25A0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736022671" name="Google Shape;436;p19"/>
          <p:cNvSpPr/>
          <p:nvPr/>
        </p:nvSpPr>
        <p:spPr bwMode="auto">
          <a:xfrm>
            <a:off x="365760" y="3749040"/>
            <a:ext cx="731160" cy="3106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strike="noStrike">
                <a:solidFill>
                  <a:srgbClr val="FFFFFF"/>
                </a:solidFill>
                <a:latin typeface="Calibri"/>
                <a:ea typeface="Calibri"/>
                <a:cs typeface="Calibri"/>
              </a:rPr>
              <a:t>HIGH</a:t>
            </a:r>
            <a:endParaRPr sz="800" b="0" strike="noStrike">
              <a:solidFill>
                <a:srgbClr val="000000"/>
              </a:solidFill>
              <a:latin typeface="Arial"/>
              <a:ea typeface="Arial"/>
              <a:cs typeface="Arial"/>
            </a:endParaRPr>
          </a:p>
        </p:txBody>
      </p:sp>
      <p:sp>
        <p:nvSpPr>
          <p:cNvPr id="125498682" name="Google Shape;437;p19"/>
          <p:cNvSpPr/>
          <p:nvPr/>
        </p:nvSpPr>
        <p:spPr bwMode="auto">
          <a:xfrm>
            <a:off x="1143000" y="3749040"/>
            <a:ext cx="1828440" cy="310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900" b="1" strike="noStrike">
                <a:solidFill>
                  <a:srgbClr val="C25A00"/>
                </a:solidFill>
                <a:latin typeface="Consolas"/>
                <a:ea typeface="Consolas"/>
                <a:cs typeface="Consolas"/>
              </a:rPr>
              <a:t>P-PROV-002</a:t>
            </a:r>
            <a:endParaRPr sz="900" b="0" strike="noStrike">
              <a:solidFill>
                <a:srgbClr val="000000"/>
              </a:solidFill>
              <a:latin typeface="Arial"/>
              <a:ea typeface="Arial"/>
              <a:cs typeface="Arial"/>
            </a:endParaRPr>
          </a:p>
        </p:txBody>
      </p:sp>
      <p:sp>
        <p:nvSpPr>
          <p:cNvPr id="990381380" name="Google Shape;438;p19"/>
          <p:cNvSpPr/>
          <p:nvPr/>
        </p:nvSpPr>
        <p:spPr bwMode="auto">
          <a:xfrm>
            <a:off x="502920" y="4096440"/>
            <a:ext cx="3657240" cy="402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0" i="1" strike="noStrike">
                <a:solidFill>
                  <a:srgbClr val="1D2D44"/>
                </a:solidFill>
                <a:latin typeface="Calibri"/>
                <a:ea typeface="Calibri"/>
                <a:cs typeface="Calibri"/>
              </a:rPr>
              <a:t>Source "third-party-scraper" not trusted</a:t>
            </a:r>
            <a:endParaRPr sz="1000" b="0" strike="noStrike">
              <a:solidFill>
                <a:srgbClr val="000000"/>
              </a:solidFill>
              <a:latin typeface="Arial"/>
              <a:ea typeface="Arial"/>
              <a:cs typeface="Arial"/>
            </a:endParaRPr>
          </a:p>
        </p:txBody>
      </p:sp>
      <p:sp>
        <p:nvSpPr>
          <p:cNvPr id="757620617" name="Google Shape;439;p19"/>
          <p:cNvSpPr/>
          <p:nvPr/>
        </p:nvSpPr>
        <p:spPr bwMode="auto">
          <a:xfrm>
            <a:off x="4434840" y="1325880"/>
            <a:ext cx="4343040" cy="2742840"/>
          </a:xfrm>
          <a:prstGeom prst="rect">
            <a:avLst/>
          </a:prstGeom>
          <a:solidFill>
            <a:srgbClr val="FFF5F5"/>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688494210" name="Google Shape;440;p19"/>
          <p:cNvSpPr/>
          <p:nvPr/>
        </p:nvSpPr>
        <p:spPr bwMode="auto">
          <a:xfrm>
            <a:off x="4434840" y="1325880"/>
            <a:ext cx="4343040" cy="383760"/>
          </a:xfrm>
          <a:prstGeom prst="rect">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505531434" name="Google Shape;441;p19"/>
          <p:cNvSpPr/>
          <p:nvPr/>
        </p:nvSpPr>
        <p:spPr bwMode="auto">
          <a:xfrm>
            <a:off x="4434840" y="1325880"/>
            <a:ext cx="434304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100" b="1" strike="noStrike">
                <a:solidFill>
                  <a:srgbClr val="FFFFFF"/>
                </a:solidFill>
                <a:latin typeface="Calibri"/>
                <a:ea typeface="Calibri"/>
                <a:cs typeface="Calibri"/>
              </a:rPr>
              <a:t>DECISION</a:t>
            </a:r>
            <a:endParaRPr sz="1100" b="0" strike="noStrike">
              <a:solidFill>
                <a:srgbClr val="000000"/>
              </a:solidFill>
              <a:latin typeface="Arial"/>
              <a:ea typeface="Arial"/>
              <a:cs typeface="Arial"/>
            </a:endParaRPr>
          </a:p>
        </p:txBody>
      </p:sp>
      <p:sp>
        <p:nvSpPr>
          <p:cNvPr id="1110560383" name="Google Shape;442;p19"/>
          <p:cNvSpPr/>
          <p:nvPr/>
        </p:nvSpPr>
        <p:spPr bwMode="auto">
          <a:xfrm>
            <a:off x="4434840" y="1783080"/>
            <a:ext cx="4343040" cy="822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4800" b="1" strike="noStrike">
                <a:solidFill>
                  <a:srgbClr val="B32424"/>
                </a:solidFill>
                <a:latin typeface="Trebuchet MS"/>
                <a:ea typeface="Trebuchet MS"/>
                <a:cs typeface="Trebuchet MS"/>
              </a:rPr>
              <a:t>REJECT</a:t>
            </a:r>
            <a:endParaRPr sz="4800" b="0" strike="noStrike">
              <a:solidFill>
                <a:srgbClr val="000000"/>
              </a:solidFill>
              <a:latin typeface="Arial"/>
              <a:ea typeface="Arial"/>
              <a:cs typeface="Arial"/>
            </a:endParaRPr>
          </a:p>
        </p:txBody>
      </p:sp>
      <p:sp>
        <p:nvSpPr>
          <p:cNvPr id="1365963784" name="Google Shape;443;p19"/>
          <p:cNvSpPr/>
          <p:nvPr/>
        </p:nvSpPr>
        <p:spPr bwMode="auto">
          <a:xfrm>
            <a:off x="4434840" y="2606040"/>
            <a:ext cx="4343040" cy="3196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400" b="1" strike="noStrike">
                <a:solidFill>
                  <a:srgbClr val="B32424"/>
                </a:solidFill>
                <a:latin typeface="Calibri"/>
                <a:ea typeface="Calibri"/>
                <a:cs typeface="Calibri"/>
              </a:rPr>
              <a:t>Risk: CRITICAL</a:t>
            </a:r>
            <a:endParaRPr sz="1400" b="0" strike="noStrike">
              <a:solidFill>
                <a:srgbClr val="000000"/>
              </a:solidFill>
              <a:latin typeface="Arial"/>
              <a:ea typeface="Arial"/>
              <a:cs typeface="Arial"/>
            </a:endParaRPr>
          </a:p>
        </p:txBody>
      </p:sp>
      <p:sp>
        <p:nvSpPr>
          <p:cNvPr id="1564015631" name="Google Shape;444;p19"/>
          <p:cNvSpPr/>
          <p:nvPr/>
        </p:nvSpPr>
        <p:spPr bwMode="auto">
          <a:xfrm>
            <a:off x="4526280" y="3017519"/>
            <a:ext cx="416016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000" b="1" strike="noStrike">
                <a:solidFill>
                  <a:srgbClr val="1D2D44"/>
                </a:solidFill>
                <a:latin typeface="Calibri"/>
                <a:ea typeface="Calibri"/>
                <a:cs typeface="Calibri"/>
              </a:rPr>
              <a:t>Required actions:</a:t>
            </a:r>
            <a:endParaRPr sz="1000" b="0" strike="noStrike">
              <a:solidFill>
                <a:srgbClr val="000000"/>
              </a:solidFill>
              <a:latin typeface="Arial"/>
              <a:ea typeface="Arial"/>
              <a:cs typeface="Arial"/>
            </a:endParaRPr>
          </a:p>
        </p:txBody>
      </p:sp>
      <p:sp>
        <p:nvSpPr>
          <p:cNvPr id="180014190" name="Google Shape;445;p19"/>
          <p:cNvSpPr/>
          <p:nvPr/>
        </p:nvSpPr>
        <p:spPr bwMode="auto">
          <a:xfrm>
            <a:off x="4526280" y="3291840"/>
            <a:ext cx="4160160" cy="731160"/>
          </a:xfrm>
          <a:prstGeom prst="rect">
            <a:avLst/>
          </a:prstGeom>
          <a:noFill/>
          <a:ln>
            <a:noFill/>
          </a:ln>
        </p:spPr>
        <p:txBody>
          <a:bodyPr spcFirstLastPara="1" wrap="square" lIns="0" tIns="0" rIns="0" bIns="0" anchor="ctr" anchorCtr="0">
            <a:noAutofit/>
          </a:bodyPr>
          <a:lstStyle/>
          <a:p>
            <a:pPr marL="343080" marR="0" lvl="0" indent="-343080" algn="l" rtl="0">
              <a:lnSpc>
                <a:spcPct val="100000"/>
              </a:lnSpc>
              <a:spcBef>
                <a:spcPts val="0"/>
              </a:spcBef>
              <a:spcAft>
                <a:spcPts val="0"/>
              </a:spcAft>
              <a:buClr>
                <a:srgbClr val="1D2D44"/>
              </a:buClr>
              <a:buSzPts val="1000"/>
              <a:buFont typeface="Noto Sans Symbols"/>
              <a:buChar char="∙"/>
              <a:defRPr/>
            </a:pPr>
            <a:r>
              <a:rPr lang="en-US" sz="1000" b="0" strike="noStrike">
                <a:solidFill>
                  <a:srgbClr val="1D2D44"/>
                </a:solidFill>
                <a:latin typeface="Calibri"/>
                <a:ea typeface="Calibri"/>
                <a:cs typeface="Calibri"/>
              </a:rPr>
              <a:t>Hide the offer from recommendations</a:t>
            </a:r>
            <a:endParaRPr sz="1000" b="0" strike="noStrike">
              <a:solidFill>
                <a:srgbClr val="000000"/>
              </a:solidFill>
              <a:latin typeface="Arial"/>
              <a:ea typeface="Arial"/>
              <a:cs typeface="Arial"/>
            </a:endParaRPr>
          </a:p>
          <a:p>
            <a:pPr marL="343080" marR="0" lvl="0" indent="-343080" algn="l" rtl="0">
              <a:lnSpc>
                <a:spcPct val="100000"/>
              </a:lnSpc>
              <a:spcBef>
                <a:spcPts val="0"/>
              </a:spcBef>
              <a:spcAft>
                <a:spcPts val="0"/>
              </a:spcAft>
              <a:buClr>
                <a:srgbClr val="1D2D44"/>
              </a:buClr>
              <a:buSzPts val="1000"/>
              <a:buFont typeface="Noto Sans Symbols"/>
              <a:buChar char="∙"/>
              <a:defRPr/>
            </a:pPr>
            <a:r>
              <a:rPr lang="en-US" sz="1000" b="0" strike="noStrike">
                <a:solidFill>
                  <a:srgbClr val="1D2D44"/>
                </a:solidFill>
                <a:latin typeface="Calibri"/>
                <a:ea typeface="Calibri"/>
                <a:cs typeface="Calibri"/>
              </a:rPr>
              <a:t>Notify the responsible for the discriminatory field</a:t>
            </a:r>
            <a:endParaRPr sz="1000" b="0" strike="noStrike">
              <a:solidFill>
                <a:srgbClr val="000000"/>
              </a:solidFill>
              <a:latin typeface="Arial"/>
              <a:ea typeface="Arial"/>
              <a:cs typeface="Arial"/>
            </a:endParaRPr>
          </a:p>
          <a:p>
            <a:pPr marL="343080" marR="0" lvl="0" indent="-343080" algn="l" rtl="0">
              <a:lnSpc>
                <a:spcPct val="100000"/>
              </a:lnSpc>
              <a:spcBef>
                <a:spcPts val="0"/>
              </a:spcBef>
              <a:spcAft>
                <a:spcPts val="0"/>
              </a:spcAft>
              <a:buClr>
                <a:srgbClr val="1D2D44"/>
              </a:buClr>
              <a:buSzPts val="1000"/>
              <a:buFont typeface="Noto Sans Symbols"/>
              <a:buChar char="∙"/>
              <a:defRPr/>
            </a:pPr>
            <a:r>
              <a:rPr lang="en-US" sz="1000" b="0" strike="noStrike">
                <a:solidFill>
                  <a:srgbClr val="1D2D44"/>
                </a:solidFill>
                <a:latin typeface="Calibri"/>
                <a:ea typeface="Calibri"/>
                <a:cs typeface="Calibri"/>
              </a:rPr>
              <a:t>Escalate to compliance officer</a:t>
            </a:r>
            <a:endParaRPr sz="1000" b="0" strike="noStrike">
              <a:solidFill>
                <a:srgbClr val="000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D2D44"/>
        </a:solidFill>
      </p:bgPr>
    </p:bg>
    <p:spTree>
      <p:nvGrpSpPr>
        <p:cNvPr id="1" name=""/>
        <p:cNvGrpSpPr/>
        <p:nvPr/>
      </p:nvGrpSpPr>
      <p:grpSpPr bwMode="auto">
        <a:xfrm>
          <a:off x="0" y="0"/>
          <a:ext cx="0" cy="0"/>
          <a:chOff x="0" y="0"/>
          <a:chExt cx="0" cy="0"/>
        </a:xfrm>
      </p:grpSpPr>
      <p:sp>
        <p:nvSpPr>
          <p:cNvPr id="1730220601" name="Google Shape;451;p20"/>
          <p:cNvSpPr/>
          <p:nvPr/>
        </p:nvSpPr>
        <p:spPr bwMode="auto">
          <a:xfrm>
            <a:off x="0" y="0"/>
            <a:ext cx="200880" cy="5143320"/>
          </a:xfrm>
          <a:prstGeom prst="rect">
            <a:avLst/>
          </a:prstGeom>
          <a:solidFill>
            <a:srgbClr val="9B59B6"/>
          </a:solidFill>
          <a:ln w="12700" cap="flat" cmpd="sng">
            <a:solidFill>
              <a:srgbClr val="9B59B6"/>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225152110" name="Google Shape;452;p20"/>
          <p:cNvSpPr/>
          <p:nvPr/>
        </p:nvSpPr>
        <p:spPr bwMode="auto">
          <a:xfrm>
            <a:off x="457200" y="1371600"/>
            <a:ext cx="8229240" cy="1096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5200" b="1" strike="noStrike">
                <a:solidFill>
                  <a:srgbClr val="FFFFFF"/>
                </a:solidFill>
                <a:latin typeface="Trebuchet MS"/>
                <a:ea typeface="Trebuchet MS"/>
                <a:cs typeface="Trebuchet MS"/>
              </a:rPr>
              <a:t>Live Demo</a:t>
            </a:r>
            <a:endParaRPr sz="5200" b="0" strike="noStrike">
              <a:solidFill>
                <a:srgbClr val="FFFFFF"/>
              </a:solidFill>
              <a:latin typeface="Arial"/>
              <a:ea typeface="Arial"/>
              <a:cs typeface="Arial"/>
            </a:endParaRPr>
          </a:p>
        </p:txBody>
      </p:sp>
      <p:sp>
        <p:nvSpPr>
          <p:cNvPr id="206392665" name="Google Shape;453;p20"/>
          <p:cNvSpPr/>
          <p:nvPr/>
        </p:nvSpPr>
        <p:spPr bwMode="auto">
          <a:xfrm>
            <a:off x="457200" y="2578680"/>
            <a:ext cx="8320680" cy="2422800"/>
          </a:xfrm>
          <a:prstGeom prst="rect">
            <a:avLst/>
          </a:prstGeom>
          <a:noFill/>
          <a:ln>
            <a:noFill/>
          </a:ln>
        </p:spPr>
        <p:txBody>
          <a:bodyPr spcFirstLastPara="1" wrap="square" lIns="0" tIns="0" rIns="0" bIns="0" anchor="t" anchorCtr="0">
            <a:noAutofit/>
          </a:bodyPr>
          <a:lstStyle/>
          <a:p>
            <a:pPr marL="0" marR="0" lvl="0" indent="0" algn="l" rtl="0">
              <a:lnSpc>
                <a:spcPct val="135000"/>
              </a:lnSpc>
              <a:spcBef>
                <a:spcPts val="0"/>
              </a:spcBef>
              <a:spcAft>
                <a:spcPts val="0"/>
              </a:spcAft>
              <a:buNone/>
              <a:defRPr/>
            </a:pPr>
            <a:r>
              <a:rPr lang="en-US" sz="1200" b="0" strike="noStrike">
                <a:solidFill>
                  <a:srgbClr val="CADCFC"/>
                </a:solidFill>
                <a:latin typeface="Calibri"/>
                <a:ea typeface="Calibri"/>
                <a:cs typeface="Calibri"/>
              </a:rPr>
              <a:t>1  Start DaaS (:8081) · EaaS (:8082) · Client (:8080)</a:t>
            </a:r>
            <a:endParaRPr sz="1200" b="0" strike="noStrike">
              <a:solidFill>
                <a:srgbClr val="FFFFFF"/>
              </a:solidFill>
              <a:latin typeface="Arial"/>
              <a:ea typeface="Arial"/>
              <a:cs typeface="Arial"/>
            </a:endParaRPr>
          </a:p>
          <a:p>
            <a:pPr marL="0" marR="0" lvl="0" indent="0" algn="l" rtl="0">
              <a:lnSpc>
                <a:spcPct val="135000"/>
              </a:lnSpc>
              <a:spcBef>
                <a:spcPts val="0"/>
              </a:spcBef>
              <a:spcAft>
                <a:spcPts val="0"/>
              </a:spcAft>
              <a:buNone/>
              <a:defRPr/>
            </a:pPr>
            <a:r>
              <a:rPr lang="en-US" sz="1200" b="0" strike="noStrike">
                <a:solidFill>
                  <a:srgbClr val="CADCFC"/>
                </a:solidFill>
                <a:latin typeface="Calibri"/>
                <a:ea typeface="Calibri"/>
                <a:cs typeface="Calibri"/>
              </a:rPr>
              <a:t>2  Browse Swagger UI → localhost:8081/swagger-ui.html  (explore all CRUD endpoints)</a:t>
            </a:r>
            <a:endParaRPr sz="1200" b="0" strike="noStrike">
              <a:solidFill>
                <a:srgbClr val="FFFFFF"/>
              </a:solidFill>
              <a:latin typeface="Arial"/>
              <a:ea typeface="Arial"/>
              <a:cs typeface="Arial"/>
            </a:endParaRPr>
          </a:p>
          <a:p>
            <a:pPr marL="0" marR="0" lvl="0" indent="0" algn="l" rtl="0">
              <a:lnSpc>
                <a:spcPct val="135000"/>
              </a:lnSpc>
              <a:spcBef>
                <a:spcPts val="0"/>
              </a:spcBef>
              <a:spcAft>
                <a:spcPts val="0"/>
              </a:spcAft>
              <a:buNone/>
              <a:defRPr/>
            </a:pPr>
            <a:r>
              <a:rPr lang="en-US" sz="1200" b="0" strike="noStrike">
                <a:solidFill>
                  <a:srgbClr val="CADCFC"/>
                </a:solidFill>
                <a:latin typeface="Calibri"/>
                <a:ea typeface="Calibri"/>
                <a:cs typeface="Calibri"/>
              </a:rPr>
              <a:t>3  Create a new candidate via the web form (CRUD in action)</a:t>
            </a:r>
            <a:endParaRPr sz="1200" b="0" strike="noStrike">
              <a:solidFill>
                <a:srgbClr val="FFFFFF"/>
              </a:solidFill>
              <a:latin typeface="Arial"/>
              <a:ea typeface="Arial"/>
              <a:cs typeface="Arial"/>
            </a:endParaRPr>
          </a:p>
          <a:p>
            <a:pPr marL="0" marR="0" lvl="0" indent="0" algn="l" rtl="0">
              <a:lnSpc>
                <a:spcPct val="135000"/>
              </a:lnSpc>
              <a:spcBef>
                <a:spcPts val="0"/>
              </a:spcBef>
              <a:spcAft>
                <a:spcPts val="0"/>
              </a:spcAft>
              <a:buNone/>
              <a:defRPr/>
            </a:pPr>
            <a:r>
              <a:rPr lang="en-US" sz="1200" b="0" strike="noStrike">
                <a:solidFill>
                  <a:srgbClr val="CADCFC"/>
                </a:solidFill>
                <a:latin typeface="Calibri"/>
                <a:ea typeface="Calibri"/>
                <a:cs typeface="Calibri"/>
              </a:rPr>
              <a:t>4  Select cand-001 (Alice Bianchi) → view match recommendations</a:t>
            </a:r>
            <a:endParaRPr sz="1200" b="0" strike="noStrike">
              <a:solidFill>
                <a:srgbClr val="FFFFFF"/>
              </a:solidFill>
              <a:latin typeface="Arial"/>
              <a:ea typeface="Arial"/>
              <a:cs typeface="Arial"/>
            </a:endParaRPr>
          </a:p>
          <a:p>
            <a:pPr marL="0" marR="0" lvl="0" indent="0" algn="l" rtl="0">
              <a:lnSpc>
                <a:spcPct val="135000"/>
              </a:lnSpc>
              <a:spcBef>
                <a:spcPts val="0"/>
              </a:spcBef>
              <a:spcAft>
                <a:spcPts val="0"/>
              </a:spcAft>
              <a:buNone/>
              <a:defRPr/>
            </a:pPr>
            <a:r>
              <a:rPr lang="en-US" sz="1200" b="0" strike="noStrike">
                <a:solidFill>
                  <a:srgbClr val="CADCFC"/>
                </a:solidFill>
                <a:latin typeface="Calibri"/>
                <a:ea typeface="Calibri"/>
                <a:cs typeface="Calibri"/>
              </a:rPr>
              <a:t>5  Evaluate job-001 → PROCEED</a:t>
            </a:r>
            <a:endParaRPr sz="1200" b="0" strike="noStrike">
              <a:solidFill>
                <a:srgbClr val="FFFFFF"/>
              </a:solidFill>
              <a:latin typeface="Arial"/>
              <a:ea typeface="Arial"/>
              <a:cs typeface="Arial"/>
            </a:endParaRPr>
          </a:p>
          <a:p>
            <a:pPr marL="0" marR="0" lvl="0" indent="0" algn="l" rtl="0">
              <a:lnSpc>
                <a:spcPct val="135000"/>
              </a:lnSpc>
              <a:spcBef>
                <a:spcPts val="0"/>
              </a:spcBef>
              <a:spcAft>
                <a:spcPts val="0"/>
              </a:spcAft>
              <a:buNone/>
              <a:defRPr/>
            </a:pPr>
            <a:r>
              <a:rPr lang="en-US" sz="1200" b="0" strike="noStrike">
                <a:solidFill>
                  <a:srgbClr val="CADCFC"/>
                </a:solidFill>
                <a:latin typeface="Calibri"/>
                <a:ea typeface="Calibri"/>
                <a:cs typeface="Calibri"/>
              </a:rPr>
              <a:t>6  Evaluate job-003 → REJECT  (ageRangeMax + third-party-scraper)</a:t>
            </a:r>
            <a:endParaRPr sz="1200" b="0" strike="noStrike">
              <a:solidFill>
                <a:srgbClr val="FFFFFF"/>
              </a:solidFill>
              <a:latin typeface="Arial"/>
              <a:ea typeface="Arial"/>
              <a:cs typeface="Arial"/>
            </a:endParaRPr>
          </a:p>
          <a:p>
            <a:pPr marL="0" marR="0" lvl="0" indent="0" algn="l" rtl="0">
              <a:lnSpc>
                <a:spcPct val="135000"/>
              </a:lnSpc>
              <a:spcBef>
                <a:spcPts val="0"/>
              </a:spcBef>
              <a:spcAft>
                <a:spcPts val="0"/>
              </a:spcAft>
              <a:buNone/>
              <a:defRPr/>
            </a:pPr>
            <a:r>
              <a:rPr lang="en-US" sz="1200" b="0" strike="noStrike">
                <a:solidFill>
                  <a:srgbClr val="CADCFC"/>
                </a:solidFill>
                <a:latin typeface="Calibri"/>
                <a:ea typeface="Calibri"/>
                <a:cs typeface="Calibri"/>
              </a:rPr>
              <a:t>7  Open /api/audit → verify AuditRecord · check JSONL on disk</a:t>
            </a:r>
            <a:endParaRPr sz="1200" b="0" strike="noStrike">
              <a:solidFill>
                <a:srgbClr val="FFFFFF"/>
              </a:solidFill>
              <a:latin typeface="Arial"/>
              <a:ea typeface="Arial"/>
              <a:cs typeface="Arial"/>
            </a:endParaRPr>
          </a:p>
          <a:p>
            <a:pPr marL="0" marR="0" lvl="0" indent="0" algn="l" rtl="0">
              <a:lnSpc>
                <a:spcPct val="135000"/>
              </a:lnSpc>
              <a:spcBef>
                <a:spcPts val="0"/>
              </a:spcBef>
              <a:spcAft>
                <a:spcPts val="0"/>
              </a:spcAft>
              <a:buNone/>
              <a:defRPr/>
            </a:pPr>
            <a:r>
              <a:rPr lang="en-US" sz="1200" b="0" strike="noStrike">
                <a:solidFill>
                  <a:srgbClr val="CADCFC"/>
                </a:solidFill>
                <a:latin typeface="Calibri"/>
                <a:ea typeface="Calibri"/>
                <a:cs typeface="Calibri"/>
              </a:rPr>
              <a:t>8  Edit a JSON policy file → restart EaaS → rerun evaluation</a:t>
            </a:r>
            <a:endParaRPr sz="1200" b="0" strike="noStrike">
              <a:solidFill>
                <a:srgbClr val="FFFFFF"/>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18473492" name="Google Shape;459;p21"/>
          <p:cNvSpPr/>
          <p:nvPr/>
        </p:nvSpPr>
        <p:spPr bwMode="auto">
          <a:xfrm>
            <a:off x="365760" y="201240"/>
            <a:ext cx="1737000" cy="255600"/>
          </a:xfrm>
          <a:prstGeom prst="roundRect">
            <a:avLst>
              <a:gd name="adj" fmla="val 14286"/>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448282955" name="Google Shape;460;p21"/>
          <p:cNvSpPr/>
          <p:nvPr/>
        </p:nvSpPr>
        <p:spPr bwMode="auto">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strike="noStrike">
                <a:solidFill>
                  <a:srgbClr val="FFFFFF"/>
                </a:solidFill>
                <a:latin typeface="Calibri"/>
                <a:ea typeface="Calibri"/>
                <a:cs typeface="Calibri"/>
              </a:rPr>
              <a:t>CRITICAL REFLECTION</a:t>
            </a:r>
            <a:endParaRPr sz="800" b="0" strike="noStrike">
              <a:solidFill>
                <a:srgbClr val="000000"/>
              </a:solidFill>
              <a:latin typeface="Arial"/>
              <a:ea typeface="Arial"/>
              <a:cs typeface="Arial"/>
            </a:endParaRPr>
          </a:p>
        </p:txBody>
      </p:sp>
      <p:sp>
        <p:nvSpPr>
          <p:cNvPr id="2055646411" name="Google Shape;461;p21"/>
          <p:cNvSpPr/>
          <p:nvPr/>
        </p:nvSpPr>
        <p:spPr bwMode="auto">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2600" b="1" strike="noStrike">
                <a:solidFill>
                  <a:srgbClr val="1D2D44"/>
                </a:solidFill>
                <a:latin typeface="Trebuchet MS"/>
                <a:ea typeface="Trebuchet MS"/>
                <a:cs typeface="Trebuchet MS"/>
              </a:rPr>
              <a:t>System Limitations</a:t>
            </a:r>
            <a:endParaRPr sz="2600" b="0" strike="noStrike">
              <a:solidFill>
                <a:srgbClr val="000000"/>
              </a:solidFill>
              <a:latin typeface="Arial"/>
              <a:ea typeface="Arial"/>
              <a:cs typeface="Arial"/>
            </a:endParaRPr>
          </a:p>
        </p:txBody>
      </p:sp>
      <p:sp>
        <p:nvSpPr>
          <p:cNvPr id="1225772507" name="Google Shape;462;p21"/>
          <p:cNvSpPr/>
          <p:nvPr/>
        </p:nvSpPr>
        <p:spPr bwMode="auto">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2000733974" name="Google Shape;463;p21"/>
          <p:cNvSpPr/>
          <p:nvPr/>
        </p:nvSpPr>
        <p:spPr bwMode="auto">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defRPr/>
            </a:pPr>
            <a:r>
              <a:rPr lang="en-US" sz="900" b="0" strike="noStrike">
                <a:solidFill>
                  <a:srgbClr val="6B7280"/>
                </a:solidFill>
                <a:latin typeface="Calibri"/>
                <a:ea typeface="Calibri"/>
                <a:cs typeface="Calibri"/>
              </a:rPr>
              <a:t>20</a:t>
            </a:r>
            <a:endParaRPr sz="900" b="0" strike="noStrike">
              <a:solidFill>
                <a:srgbClr val="000000"/>
              </a:solidFill>
              <a:latin typeface="Arial"/>
              <a:ea typeface="Arial"/>
              <a:cs typeface="Arial"/>
            </a:endParaRPr>
          </a:p>
        </p:txBody>
      </p:sp>
      <p:sp>
        <p:nvSpPr>
          <p:cNvPr id="1641061272" name="Google Shape;464;p21"/>
          <p:cNvSpPr/>
          <p:nvPr/>
        </p:nvSpPr>
        <p:spPr bwMode="auto">
          <a:xfrm>
            <a:off x="365760" y="1325880"/>
            <a:ext cx="4160160" cy="159984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357367694" name="Google Shape;465;p21"/>
          <p:cNvSpPr/>
          <p:nvPr/>
        </p:nvSpPr>
        <p:spPr bwMode="auto">
          <a:xfrm>
            <a:off x="365760" y="1325880"/>
            <a:ext cx="200880" cy="1599840"/>
          </a:xfrm>
          <a:prstGeom prst="rect">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596883674" name="Google Shape;466;p21"/>
          <p:cNvSpPr/>
          <p:nvPr/>
        </p:nvSpPr>
        <p:spPr bwMode="auto">
          <a:xfrm>
            <a:off x="658440" y="1417320"/>
            <a:ext cx="37486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1" strike="noStrike">
                <a:solidFill>
                  <a:srgbClr val="1D2D44"/>
                </a:solidFill>
                <a:latin typeface="Trebuchet MS"/>
                <a:ea typeface="Trebuchet MS"/>
                <a:cs typeface="Trebuchet MS"/>
              </a:rPr>
              <a:t>Indirect proxies not detected</a:t>
            </a:r>
            <a:endParaRPr sz="1200" b="0" strike="noStrike">
              <a:solidFill>
                <a:srgbClr val="000000"/>
              </a:solidFill>
              <a:latin typeface="Arial"/>
              <a:ea typeface="Arial"/>
              <a:cs typeface="Arial"/>
            </a:endParaRPr>
          </a:p>
        </p:txBody>
      </p:sp>
      <p:sp>
        <p:nvSpPr>
          <p:cNvPr id="1353254075" name="Google Shape;467;p21"/>
          <p:cNvSpPr/>
          <p:nvPr/>
        </p:nvSpPr>
        <p:spPr bwMode="auto">
          <a:xfrm>
            <a:off x="658440" y="1783080"/>
            <a:ext cx="3748680" cy="1051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0" strike="noStrike">
                <a:solidFill>
                  <a:srgbClr val="1D2D44"/>
                </a:solidFill>
                <a:latin typeface="Calibri"/>
                <a:ea typeface="Calibri"/>
                <a:cs typeface="Calibri"/>
              </a:rPr>
              <a:t>The system checks explicit fields (age, gender, nationality). Subtle proxies like postcode, university, or name are not intercepted.</a:t>
            </a:r>
            <a:endParaRPr sz="1100" b="0" strike="noStrike">
              <a:solidFill>
                <a:srgbClr val="000000"/>
              </a:solidFill>
              <a:latin typeface="Arial"/>
              <a:ea typeface="Arial"/>
              <a:cs typeface="Arial"/>
            </a:endParaRPr>
          </a:p>
        </p:txBody>
      </p:sp>
      <p:sp>
        <p:nvSpPr>
          <p:cNvPr id="723874269" name="Google Shape;468;p21"/>
          <p:cNvSpPr/>
          <p:nvPr/>
        </p:nvSpPr>
        <p:spPr bwMode="auto">
          <a:xfrm>
            <a:off x="365760" y="3063240"/>
            <a:ext cx="4160160" cy="159984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2085908720" name="Google Shape;469;p21"/>
          <p:cNvSpPr/>
          <p:nvPr/>
        </p:nvSpPr>
        <p:spPr bwMode="auto">
          <a:xfrm>
            <a:off x="365760" y="3063240"/>
            <a:ext cx="200880" cy="1599840"/>
          </a:xfrm>
          <a:prstGeom prst="rect">
            <a:avLst/>
          </a:prstGeom>
          <a:solidFill>
            <a:srgbClr val="C25A00"/>
          </a:solidFill>
          <a:ln w="12700" cap="flat" cmpd="sng">
            <a:solidFill>
              <a:srgbClr val="C25A0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881145084" name="Google Shape;470;p21"/>
          <p:cNvSpPr/>
          <p:nvPr/>
        </p:nvSpPr>
        <p:spPr bwMode="auto">
          <a:xfrm>
            <a:off x="658440" y="3154680"/>
            <a:ext cx="37486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1" strike="noStrike">
                <a:solidFill>
                  <a:srgbClr val="1D2D44"/>
                </a:solidFill>
                <a:latin typeface="Trebuchet MS"/>
                <a:ea typeface="Trebuchet MS"/>
                <a:cs typeface="Trebuchet MS"/>
              </a:rPr>
              <a:t>Synthetic dataset</a:t>
            </a:r>
            <a:endParaRPr sz="1200" b="0" strike="noStrike">
              <a:solidFill>
                <a:srgbClr val="000000"/>
              </a:solidFill>
              <a:latin typeface="Arial"/>
              <a:ea typeface="Arial"/>
              <a:cs typeface="Arial"/>
            </a:endParaRPr>
          </a:p>
        </p:txBody>
      </p:sp>
      <p:sp>
        <p:nvSpPr>
          <p:cNvPr id="1692725056" name="Google Shape;471;p21"/>
          <p:cNvSpPr/>
          <p:nvPr/>
        </p:nvSpPr>
        <p:spPr bwMode="auto">
          <a:xfrm>
            <a:off x="658440" y="3520440"/>
            <a:ext cx="3748680" cy="1051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0" strike="noStrike">
                <a:solidFill>
                  <a:srgbClr val="1D2D44"/>
                </a:solidFill>
                <a:latin typeface="Calibri"/>
                <a:ea typeface="Calibri"/>
                <a:cs typeface="Calibri"/>
              </a:rPr>
              <a:t>Data is artificially generated. In production, GDPR consent management, encryption, and right-to-explanation flows would be required.</a:t>
            </a:r>
            <a:endParaRPr sz="1100" b="0" strike="noStrike">
              <a:solidFill>
                <a:srgbClr val="000000"/>
              </a:solidFill>
              <a:latin typeface="Arial"/>
              <a:ea typeface="Arial"/>
              <a:cs typeface="Arial"/>
            </a:endParaRPr>
          </a:p>
        </p:txBody>
      </p:sp>
      <p:sp>
        <p:nvSpPr>
          <p:cNvPr id="1101180134" name="Google Shape;472;p21"/>
          <p:cNvSpPr/>
          <p:nvPr/>
        </p:nvSpPr>
        <p:spPr bwMode="auto">
          <a:xfrm>
            <a:off x="4709160" y="1325880"/>
            <a:ext cx="4160160" cy="159984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235948796" name="Google Shape;473;p21"/>
          <p:cNvSpPr/>
          <p:nvPr/>
        </p:nvSpPr>
        <p:spPr bwMode="auto">
          <a:xfrm>
            <a:off x="4709160" y="1325880"/>
            <a:ext cx="200880" cy="1599840"/>
          </a:xfrm>
          <a:prstGeom prst="rect">
            <a:avLst/>
          </a:prstGeom>
          <a:solidFill>
            <a:srgbClr val="D8A01A"/>
          </a:solidFill>
          <a:ln w="12700" cap="flat" cmpd="sng">
            <a:solidFill>
              <a:srgbClr val="D8A01A"/>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519958665" name="Google Shape;474;p21"/>
          <p:cNvSpPr/>
          <p:nvPr/>
        </p:nvSpPr>
        <p:spPr bwMode="auto">
          <a:xfrm>
            <a:off x="5001840" y="1417320"/>
            <a:ext cx="37486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1" strike="noStrike">
                <a:solidFill>
                  <a:srgbClr val="1D2D44"/>
                </a:solidFill>
                <a:latin typeface="Trebuchet MS"/>
                <a:ea typeface="Trebuchet MS"/>
                <a:cs typeface="Trebuchet MS"/>
              </a:rPr>
              <a:t>Policies written in Java</a:t>
            </a:r>
            <a:endParaRPr sz="1200" b="0" strike="noStrike">
              <a:solidFill>
                <a:srgbClr val="000000"/>
              </a:solidFill>
              <a:latin typeface="Arial"/>
              <a:ea typeface="Arial"/>
              <a:cs typeface="Arial"/>
            </a:endParaRPr>
          </a:p>
        </p:txBody>
      </p:sp>
      <p:sp>
        <p:nvSpPr>
          <p:cNvPr id="1532398232" name="Google Shape;475;p21"/>
          <p:cNvSpPr/>
          <p:nvPr/>
        </p:nvSpPr>
        <p:spPr bwMode="auto">
          <a:xfrm>
            <a:off x="5001840" y="1783080"/>
            <a:ext cx="3748680" cy="1051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0" strike="noStrike">
                <a:solidFill>
                  <a:srgbClr val="1D2D44"/>
                </a:solidFill>
                <a:latin typeface="Calibri"/>
                <a:ea typeface="Calibri"/>
                <a:cs typeface="Calibri"/>
              </a:rPr>
              <a:t>JSON rules declare severity and parameters, but the logic is Java code. Changing behavior requires a developer.</a:t>
            </a:r>
            <a:endParaRPr sz="1100" b="0" strike="noStrike">
              <a:solidFill>
                <a:srgbClr val="000000"/>
              </a:solidFill>
              <a:latin typeface="Arial"/>
              <a:ea typeface="Arial"/>
              <a:cs typeface="Arial"/>
            </a:endParaRPr>
          </a:p>
        </p:txBody>
      </p:sp>
      <p:sp>
        <p:nvSpPr>
          <p:cNvPr id="1044192147" name="Google Shape;476;p21"/>
          <p:cNvSpPr/>
          <p:nvPr/>
        </p:nvSpPr>
        <p:spPr bwMode="auto">
          <a:xfrm>
            <a:off x="4709160" y="3063240"/>
            <a:ext cx="4160160" cy="159984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584850566" name="Google Shape;477;p21"/>
          <p:cNvSpPr/>
          <p:nvPr/>
        </p:nvSpPr>
        <p:spPr bwMode="auto">
          <a:xfrm>
            <a:off x="4709160" y="3063240"/>
            <a:ext cx="200880" cy="1599840"/>
          </a:xfrm>
          <a:prstGeom prst="rect">
            <a:avLst/>
          </a:prstGeom>
          <a:solidFill>
            <a:srgbClr val="D8A01A"/>
          </a:solidFill>
          <a:ln w="12700" cap="flat" cmpd="sng">
            <a:solidFill>
              <a:srgbClr val="D8A01A"/>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3680496" name="Google Shape;478;p21"/>
          <p:cNvSpPr/>
          <p:nvPr/>
        </p:nvSpPr>
        <p:spPr bwMode="auto">
          <a:xfrm>
            <a:off x="5001840" y="3154680"/>
            <a:ext cx="37486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1" strike="noStrike">
                <a:solidFill>
                  <a:srgbClr val="1D2D44"/>
                </a:solidFill>
                <a:latin typeface="Trebuchet MS"/>
                <a:ea typeface="Trebuchet MS"/>
                <a:cs typeface="Trebuchet MS"/>
              </a:rPr>
              <a:t>No aggregate fairness metrics</a:t>
            </a:r>
            <a:endParaRPr sz="1200" b="0" strike="noStrike">
              <a:solidFill>
                <a:srgbClr val="000000"/>
              </a:solidFill>
              <a:latin typeface="Arial"/>
              <a:ea typeface="Arial"/>
              <a:cs typeface="Arial"/>
            </a:endParaRPr>
          </a:p>
        </p:txBody>
      </p:sp>
      <p:sp>
        <p:nvSpPr>
          <p:cNvPr id="1082566489" name="Google Shape;479;p21"/>
          <p:cNvSpPr/>
          <p:nvPr/>
        </p:nvSpPr>
        <p:spPr bwMode="auto">
          <a:xfrm>
            <a:off x="5001840" y="3520440"/>
            <a:ext cx="3748680" cy="1051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0" strike="noStrike">
                <a:solidFill>
                  <a:srgbClr val="1D2D44"/>
                </a:solidFill>
                <a:latin typeface="Calibri"/>
                <a:ea typeface="Calibri"/>
                <a:cs typeface="Calibri"/>
              </a:rPr>
              <a:t>Each offer is checked individually, but no systematic disparities across candidate groups are measured over time.</a:t>
            </a:r>
            <a:endParaRPr sz="1100" b="0" strike="noStrike">
              <a:solidFill>
                <a:srgbClr val="000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12991655" name="Google Shape;485;p22"/>
          <p:cNvSpPr/>
          <p:nvPr/>
        </p:nvSpPr>
        <p:spPr bwMode="auto">
          <a:xfrm>
            <a:off x="365760" y="201240"/>
            <a:ext cx="1737000" cy="255600"/>
          </a:xfrm>
          <a:prstGeom prst="roundRect">
            <a:avLst>
              <a:gd name="adj" fmla="val 14286"/>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823361956" name="Google Shape;486;p22"/>
          <p:cNvSpPr/>
          <p:nvPr/>
        </p:nvSpPr>
        <p:spPr bwMode="auto">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800" b="1" strike="noStrike">
                <a:solidFill>
                  <a:srgbClr val="FFFFFF"/>
                </a:solidFill>
                <a:latin typeface="Calibri"/>
                <a:ea typeface="Calibri"/>
                <a:cs typeface="Calibri"/>
              </a:rPr>
              <a:t>CRITICAL REFLECTION</a:t>
            </a:r>
            <a:endParaRPr sz="800" b="0" strike="noStrike">
              <a:solidFill>
                <a:srgbClr val="000000"/>
              </a:solidFill>
              <a:latin typeface="Arial"/>
              <a:ea typeface="Arial"/>
              <a:cs typeface="Arial"/>
            </a:endParaRPr>
          </a:p>
        </p:txBody>
      </p:sp>
      <p:sp>
        <p:nvSpPr>
          <p:cNvPr id="1916095140" name="Google Shape;487;p22"/>
          <p:cNvSpPr/>
          <p:nvPr/>
        </p:nvSpPr>
        <p:spPr bwMode="auto">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2600" b="1" strike="noStrike">
                <a:solidFill>
                  <a:srgbClr val="1D2D44"/>
                </a:solidFill>
                <a:latin typeface="Trebuchet MS"/>
                <a:ea typeface="Trebuchet MS"/>
                <a:cs typeface="Trebuchet MS"/>
              </a:rPr>
              <a:t>What Should NOT Be Decided Automatically</a:t>
            </a:r>
            <a:endParaRPr sz="2600" b="0" strike="noStrike">
              <a:solidFill>
                <a:srgbClr val="000000"/>
              </a:solidFill>
              <a:latin typeface="Arial"/>
              <a:ea typeface="Arial"/>
              <a:cs typeface="Arial"/>
            </a:endParaRPr>
          </a:p>
        </p:txBody>
      </p:sp>
      <p:sp>
        <p:nvSpPr>
          <p:cNvPr id="146538013" name="Google Shape;488;p22"/>
          <p:cNvSpPr/>
          <p:nvPr/>
        </p:nvSpPr>
        <p:spPr bwMode="auto">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511734732" name="Google Shape;489;p22"/>
          <p:cNvSpPr/>
          <p:nvPr/>
        </p:nvSpPr>
        <p:spPr bwMode="auto">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defRPr/>
            </a:pPr>
            <a:r>
              <a:rPr lang="en-US" sz="900" b="0" strike="noStrike">
                <a:solidFill>
                  <a:srgbClr val="6B7280"/>
                </a:solidFill>
                <a:latin typeface="Calibri"/>
                <a:ea typeface="Calibri"/>
                <a:cs typeface="Calibri"/>
              </a:rPr>
              <a:t>21</a:t>
            </a:r>
            <a:endParaRPr sz="900" b="0" strike="noStrike">
              <a:solidFill>
                <a:srgbClr val="000000"/>
              </a:solidFill>
              <a:latin typeface="Arial"/>
              <a:ea typeface="Arial"/>
              <a:cs typeface="Arial"/>
            </a:endParaRPr>
          </a:p>
        </p:txBody>
      </p:sp>
      <p:sp>
        <p:nvSpPr>
          <p:cNvPr id="1983778865" name="Google Shape;490;p22"/>
          <p:cNvSpPr/>
          <p:nvPr/>
        </p:nvSpPr>
        <p:spPr bwMode="auto">
          <a:xfrm>
            <a:off x="365760" y="1417320"/>
            <a:ext cx="411120" cy="411120"/>
          </a:xfrm>
          <a:prstGeom prst="ellipse">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804258480" name="Google Shape;491;p22"/>
          <p:cNvSpPr/>
          <p:nvPr/>
        </p:nvSpPr>
        <p:spPr bwMode="auto">
          <a:xfrm>
            <a:off x="365760" y="1417320"/>
            <a:ext cx="411120" cy="4111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400" b="1" strike="noStrike">
                <a:solidFill>
                  <a:srgbClr val="FFFFFF"/>
                </a:solidFill>
                <a:latin typeface="Calibri"/>
                <a:ea typeface="Calibri"/>
                <a:cs typeface="Calibri"/>
              </a:rPr>
              <a:t>✗</a:t>
            </a:r>
            <a:endParaRPr sz="1400" b="0" strike="noStrike">
              <a:solidFill>
                <a:srgbClr val="000000"/>
              </a:solidFill>
              <a:latin typeface="Arial"/>
              <a:ea typeface="Arial"/>
              <a:cs typeface="Arial"/>
            </a:endParaRPr>
          </a:p>
        </p:txBody>
      </p:sp>
      <p:sp>
        <p:nvSpPr>
          <p:cNvPr id="917189985" name="Google Shape;492;p22"/>
          <p:cNvSpPr/>
          <p:nvPr/>
        </p:nvSpPr>
        <p:spPr bwMode="auto">
          <a:xfrm>
            <a:off x="914400" y="1325880"/>
            <a:ext cx="78634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300" b="1" strike="noStrike">
                <a:solidFill>
                  <a:srgbClr val="1D2D44"/>
                </a:solidFill>
                <a:latin typeface="Trebuchet MS"/>
                <a:ea typeface="Trebuchet MS"/>
                <a:cs typeface="Trebuchet MS"/>
              </a:rPr>
              <a:t>Final candidate selection</a:t>
            </a:r>
            <a:endParaRPr sz="1300" b="0" strike="noStrike">
              <a:solidFill>
                <a:srgbClr val="000000"/>
              </a:solidFill>
              <a:latin typeface="Arial"/>
              <a:ea typeface="Arial"/>
              <a:cs typeface="Arial"/>
            </a:endParaRPr>
          </a:p>
        </p:txBody>
      </p:sp>
      <p:sp>
        <p:nvSpPr>
          <p:cNvPr id="248169765" name="Google Shape;493;p22"/>
          <p:cNvSpPr/>
          <p:nvPr/>
        </p:nvSpPr>
        <p:spPr bwMode="auto">
          <a:xfrm>
            <a:off x="914400" y="1673280"/>
            <a:ext cx="78634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0" strike="noStrike">
                <a:solidFill>
                  <a:srgbClr val="1D2D44"/>
                </a:solidFill>
                <a:latin typeface="Calibri"/>
                <a:ea typeface="Calibri"/>
                <a:cs typeface="Calibri"/>
              </a:rPr>
              <a:t>The system recommends and evaluates ethically, but the hiring decision must always be made by a human.</a:t>
            </a:r>
            <a:endParaRPr sz="1100" b="0" strike="noStrike">
              <a:solidFill>
                <a:srgbClr val="000000"/>
              </a:solidFill>
              <a:latin typeface="Arial"/>
              <a:ea typeface="Arial"/>
              <a:cs typeface="Arial"/>
            </a:endParaRPr>
          </a:p>
        </p:txBody>
      </p:sp>
      <p:cxnSp>
        <p:nvCxnSpPr>
          <p:cNvPr id="1711284087" name="Google Shape;494;p22"/>
          <p:cNvCxnSpPr/>
          <p:nvPr/>
        </p:nvCxnSpPr>
        <p:spPr bwMode="auto">
          <a:xfrm>
            <a:off x="365760" y="2176200"/>
            <a:ext cx="8412480" cy="360"/>
          </a:xfrm>
          <a:prstGeom prst="straightConnector1">
            <a:avLst/>
          </a:prstGeom>
          <a:noFill/>
          <a:ln w="9525" cap="flat" cmpd="sng">
            <a:solidFill>
              <a:srgbClr val="E5E7EB"/>
            </a:solidFill>
            <a:prstDash val="solid"/>
            <a:round/>
            <a:headEnd type="none" w="sm" len="sm"/>
            <a:tailEnd type="none" w="sm" len="sm"/>
          </a:ln>
        </p:spPr>
      </p:cxnSp>
      <p:sp>
        <p:nvSpPr>
          <p:cNvPr id="1020531431" name="Google Shape;495;p22"/>
          <p:cNvSpPr/>
          <p:nvPr/>
        </p:nvSpPr>
        <p:spPr bwMode="auto">
          <a:xfrm>
            <a:off x="365760" y="2304360"/>
            <a:ext cx="411120" cy="411120"/>
          </a:xfrm>
          <a:prstGeom prst="ellipse">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830183373" name="Google Shape;496;p22"/>
          <p:cNvSpPr/>
          <p:nvPr/>
        </p:nvSpPr>
        <p:spPr bwMode="auto">
          <a:xfrm>
            <a:off x="365760" y="2304360"/>
            <a:ext cx="411120" cy="4111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400" b="1" strike="noStrike">
                <a:solidFill>
                  <a:srgbClr val="FFFFFF"/>
                </a:solidFill>
                <a:latin typeface="Calibri"/>
                <a:ea typeface="Calibri"/>
                <a:cs typeface="Calibri"/>
              </a:rPr>
              <a:t>✗</a:t>
            </a:r>
            <a:endParaRPr sz="1400" b="0" strike="noStrike">
              <a:solidFill>
                <a:srgbClr val="000000"/>
              </a:solidFill>
              <a:latin typeface="Arial"/>
              <a:ea typeface="Arial"/>
              <a:cs typeface="Arial"/>
            </a:endParaRPr>
          </a:p>
        </p:txBody>
      </p:sp>
      <p:sp>
        <p:nvSpPr>
          <p:cNvPr id="812026613" name="Google Shape;497;p22"/>
          <p:cNvSpPr/>
          <p:nvPr/>
        </p:nvSpPr>
        <p:spPr bwMode="auto">
          <a:xfrm>
            <a:off x="914400" y="2212920"/>
            <a:ext cx="78634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300" b="1" strike="noStrike">
                <a:solidFill>
                  <a:srgbClr val="1D2D44"/>
                </a:solidFill>
                <a:latin typeface="Trebuchet MS"/>
                <a:ea typeface="Trebuchet MS"/>
                <a:cs typeface="Trebuchet MS"/>
              </a:rPr>
              <a:t>Permanent exclusion of an offer</a:t>
            </a:r>
            <a:endParaRPr sz="1300" b="0" strike="noStrike">
              <a:solidFill>
                <a:srgbClr val="000000"/>
              </a:solidFill>
              <a:latin typeface="Arial"/>
              <a:ea typeface="Arial"/>
              <a:cs typeface="Arial"/>
            </a:endParaRPr>
          </a:p>
        </p:txBody>
      </p:sp>
      <p:sp>
        <p:nvSpPr>
          <p:cNvPr id="456435932" name="Google Shape;498;p22"/>
          <p:cNvSpPr/>
          <p:nvPr/>
        </p:nvSpPr>
        <p:spPr bwMode="auto">
          <a:xfrm>
            <a:off x="914400" y="2560320"/>
            <a:ext cx="78634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0" strike="noStrike">
                <a:solidFill>
                  <a:srgbClr val="1D2D44"/>
                </a:solidFill>
                <a:latin typeface="Calibri"/>
                <a:ea typeface="Calibri"/>
                <a:cs typeface="Calibri"/>
              </a:rPr>
              <a:t>REJECT blocks the recommendation, not the offer from the system. Human review is required before permanently removing it.</a:t>
            </a:r>
            <a:endParaRPr sz="1100" b="0" strike="noStrike">
              <a:solidFill>
                <a:srgbClr val="000000"/>
              </a:solidFill>
              <a:latin typeface="Arial"/>
              <a:ea typeface="Arial"/>
              <a:cs typeface="Arial"/>
            </a:endParaRPr>
          </a:p>
        </p:txBody>
      </p:sp>
      <p:cxnSp>
        <p:nvCxnSpPr>
          <p:cNvPr id="986811888" name="Google Shape;499;p22"/>
          <p:cNvCxnSpPr/>
          <p:nvPr/>
        </p:nvCxnSpPr>
        <p:spPr bwMode="auto">
          <a:xfrm>
            <a:off x="365760" y="3063240"/>
            <a:ext cx="8412480" cy="360"/>
          </a:xfrm>
          <a:prstGeom prst="straightConnector1">
            <a:avLst/>
          </a:prstGeom>
          <a:noFill/>
          <a:ln w="9525" cap="flat" cmpd="sng">
            <a:solidFill>
              <a:srgbClr val="E5E7EB"/>
            </a:solidFill>
            <a:prstDash val="solid"/>
            <a:round/>
            <a:headEnd type="none" w="sm" len="sm"/>
            <a:tailEnd type="none" w="sm" len="sm"/>
          </a:ln>
        </p:spPr>
      </p:cxnSp>
      <p:sp>
        <p:nvSpPr>
          <p:cNvPr id="1097977975" name="Google Shape;500;p22"/>
          <p:cNvSpPr/>
          <p:nvPr/>
        </p:nvSpPr>
        <p:spPr bwMode="auto">
          <a:xfrm>
            <a:off x="365760" y="3191400"/>
            <a:ext cx="411120" cy="411120"/>
          </a:xfrm>
          <a:prstGeom prst="ellipse">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950181065" name="Google Shape;501;p22"/>
          <p:cNvSpPr/>
          <p:nvPr/>
        </p:nvSpPr>
        <p:spPr bwMode="auto">
          <a:xfrm>
            <a:off x="365760" y="3191400"/>
            <a:ext cx="411120" cy="4111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400" b="1" strike="noStrike">
                <a:solidFill>
                  <a:srgbClr val="FFFFFF"/>
                </a:solidFill>
                <a:latin typeface="Calibri"/>
                <a:ea typeface="Calibri"/>
                <a:cs typeface="Calibri"/>
              </a:rPr>
              <a:t>✗</a:t>
            </a:r>
            <a:endParaRPr sz="1400" b="0" strike="noStrike">
              <a:solidFill>
                <a:srgbClr val="000000"/>
              </a:solidFill>
              <a:latin typeface="Arial"/>
              <a:ea typeface="Arial"/>
              <a:cs typeface="Arial"/>
            </a:endParaRPr>
          </a:p>
        </p:txBody>
      </p:sp>
      <p:sp>
        <p:nvSpPr>
          <p:cNvPr id="252048217" name="Google Shape;502;p22"/>
          <p:cNvSpPr/>
          <p:nvPr/>
        </p:nvSpPr>
        <p:spPr bwMode="auto">
          <a:xfrm>
            <a:off x="914400" y="3099960"/>
            <a:ext cx="78634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300" b="1" strike="noStrike">
                <a:solidFill>
                  <a:srgbClr val="1D2D44"/>
                </a:solidFill>
                <a:latin typeface="Trebuchet MS"/>
                <a:ea typeface="Trebuchet MS"/>
                <a:cs typeface="Trebuchet MS"/>
              </a:rPr>
              <a:t>Interpreting complex legal contexts</a:t>
            </a:r>
            <a:endParaRPr sz="1300" b="0" strike="noStrike">
              <a:solidFill>
                <a:srgbClr val="000000"/>
              </a:solidFill>
              <a:latin typeface="Arial"/>
              <a:ea typeface="Arial"/>
              <a:cs typeface="Arial"/>
            </a:endParaRPr>
          </a:p>
        </p:txBody>
      </p:sp>
      <p:sp>
        <p:nvSpPr>
          <p:cNvPr id="1325773955" name="Google Shape;503;p22"/>
          <p:cNvSpPr/>
          <p:nvPr/>
        </p:nvSpPr>
        <p:spPr bwMode="auto">
          <a:xfrm>
            <a:off x="914400" y="3447360"/>
            <a:ext cx="78634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0" strike="noStrike">
                <a:solidFill>
                  <a:srgbClr val="1D2D44"/>
                </a:solidFill>
                <a:latin typeface="Calibri"/>
                <a:ea typeface="Calibri"/>
                <a:cs typeface="Calibri"/>
              </a:rPr>
              <a:t>A nationalityReq may be legal (e.g. national security requirements). EaaS lacks context: ESCALATE → human.</a:t>
            </a:r>
            <a:endParaRPr sz="1100" b="0" strike="noStrike">
              <a:solidFill>
                <a:srgbClr val="000000"/>
              </a:solidFill>
              <a:latin typeface="Arial"/>
              <a:ea typeface="Arial"/>
              <a:cs typeface="Arial"/>
            </a:endParaRPr>
          </a:p>
        </p:txBody>
      </p:sp>
      <p:cxnSp>
        <p:nvCxnSpPr>
          <p:cNvPr id="31613994" name="Google Shape;504;p22"/>
          <p:cNvCxnSpPr/>
          <p:nvPr/>
        </p:nvCxnSpPr>
        <p:spPr bwMode="auto">
          <a:xfrm>
            <a:off x="365760" y="3949920"/>
            <a:ext cx="8412480" cy="360"/>
          </a:xfrm>
          <a:prstGeom prst="straightConnector1">
            <a:avLst/>
          </a:prstGeom>
          <a:noFill/>
          <a:ln w="9525" cap="flat" cmpd="sng">
            <a:solidFill>
              <a:srgbClr val="E5E7EB"/>
            </a:solidFill>
            <a:prstDash val="solid"/>
            <a:round/>
            <a:headEnd type="none" w="sm" len="sm"/>
            <a:tailEnd type="none" w="sm" len="sm"/>
          </a:ln>
        </p:spPr>
      </p:cxnSp>
      <p:sp>
        <p:nvSpPr>
          <p:cNvPr id="743554327" name="Google Shape;505;p22"/>
          <p:cNvSpPr/>
          <p:nvPr/>
        </p:nvSpPr>
        <p:spPr bwMode="auto">
          <a:xfrm>
            <a:off x="365760" y="4078080"/>
            <a:ext cx="411120" cy="411120"/>
          </a:xfrm>
          <a:prstGeom prst="ellipse">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2050977217" name="Google Shape;506;p22"/>
          <p:cNvSpPr/>
          <p:nvPr/>
        </p:nvSpPr>
        <p:spPr bwMode="auto">
          <a:xfrm>
            <a:off x="365760" y="4078080"/>
            <a:ext cx="411120" cy="4111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400" b="1" strike="noStrike">
                <a:solidFill>
                  <a:srgbClr val="FFFFFF"/>
                </a:solidFill>
                <a:latin typeface="Calibri"/>
                <a:ea typeface="Calibri"/>
                <a:cs typeface="Calibri"/>
              </a:rPr>
              <a:t>✗</a:t>
            </a:r>
            <a:endParaRPr sz="1400" b="0" strike="noStrike">
              <a:solidFill>
                <a:srgbClr val="000000"/>
              </a:solidFill>
              <a:latin typeface="Arial"/>
              <a:ea typeface="Arial"/>
              <a:cs typeface="Arial"/>
            </a:endParaRPr>
          </a:p>
        </p:txBody>
      </p:sp>
      <p:sp>
        <p:nvSpPr>
          <p:cNvPr id="1160322436" name="Google Shape;507;p22"/>
          <p:cNvSpPr/>
          <p:nvPr/>
        </p:nvSpPr>
        <p:spPr bwMode="auto">
          <a:xfrm>
            <a:off x="914400" y="3986640"/>
            <a:ext cx="78634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300" b="1" strike="noStrike">
                <a:solidFill>
                  <a:srgbClr val="1D2D44"/>
                </a:solidFill>
                <a:latin typeface="Trebuchet MS"/>
                <a:ea typeface="Trebuchet MS"/>
                <a:cs typeface="Trebuchet MS"/>
              </a:rPr>
              <a:t>Evaluating capabilities and soft skills</a:t>
            </a:r>
            <a:endParaRPr sz="1300" b="0" strike="noStrike">
              <a:solidFill>
                <a:srgbClr val="000000"/>
              </a:solidFill>
              <a:latin typeface="Arial"/>
              <a:ea typeface="Arial"/>
              <a:cs typeface="Arial"/>
            </a:endParaRPr>
          </a:p>
        </p:txBody>
      </p:sp>
      <p:sp>
        <p:nvSpPr>
          <p:cNvPr id="362953119" name="Google Shape;508;p22"/>
          <p:cNvSpPr/>
          <p:nvPr/>
        </p:nvSpPr>
        <p:spPr bwMode="auto">
          <a:xfrm>
            <a:off x="914400" y="4334400"/>
            <a:ext cx="78634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100" b="0" strike="noStrike">
                <a:solidFill>
                  <a:srgbClr val="1D2D44"/>
                </a:solidFill>
                <a:latin typeface="Calibri"/>
                <a:ea typeface="Calibri"/>
                <a:cs typeface="Calibri"/>
              </a:rPr>
              <a:t>The dataset captures years of experience and technical skills. Motivation, communication, and company culture remain outside the model.</a:t>
            </a:r>
            <a:endParaRPr sz="1100" b="0" strike="noStrike">
              <a:solidFill>
                <a:srgbClr val="000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D2D44"/>
        </a:solidFill>
      </p:bgPr>
    </p:bg>
    <p:spTree>
      <p:nvGrpSpPr>
        <p:cNvPr id="1" name=""/>
        <p:cNvGrpSpPr/>
        <p:nvPr/>
      </p:nvGrpSpPr>
      <p:grpSpPr bwMode="auto">
        <a:xfrm>
          <a:off x="0" y="0"/>
          <a:ext cx="0" cy="0"/>
          <a:chOff x="0" y="0"/>
          <a:chExt cx="0" cy="0"/>
        </a:xfrm>
      </p:grpSpPr>
      <p:sp>
        <p:nvSpPr>
          <p:cNvPr id="1896429735" name="Google Shape;514;p23"/>
          <p:cNvSpPr/>
          <p:nvPr/>
        </p:nvSpPr>
        <p:spPr bwMode="auto">
          <a:xfrm>
            <a:off x="0" y="0"/>
            <a:ext cx="200880" cy="514332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009196703" name="Google Shape;515;p23"/>
          <p:cNvSpPr/>
          <p:nvPr/>
        </p:nvSpPr>
        <p:spPr bwMode="auto">
          <a:xfrm>
            <a:off x="457200" y="457200"/>
            <a:ext cx="822924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400" b="0" i="1" strike="noStrike">
                <a:solidFill>
                  <a:srgbClr val="9FB4CC"/>
                </a:solidFill>
                <a:latin typeface="Calibri"/>
                <a:ea typeface="Calibri"/>
                <a:cs typeface="Calibri"/>
              </a:rPr>
              <a:t>Conclusions</a:t>
            </a:r>
            <a:endParaRPr sz="1400" b="0" strike="noStrike">
              <a:solidFill>
                <a:srgbClr val="FFFFFF"/>
              </a:solidFill>
              <a:latin typeface="Arial"/>
              <a:ea typeface="Arial"/>
              <a:cs typeface="Arial"/>
            </a:endParaRPr>
          </a:p>
        </p:txBody>
      </p:sp>
      <p:sp>
        <p:nvSpPr>
          <p:cNvPr id="1207860722" name="Google Shape;516;p23"/>
          <p:cNvSpPr/>
          <p:nvPr/>
        </p:nvSpPr>
        <p:spPr bwMode="auto">
          <a:xfrm>
            <a:off x="457200" y="868680"/>
            <a:ext cx="8229240" cy="1279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3600" b="1" strike="noStrike">
                <a:solidFill>
                  <a:srgbClr val="FFFFFF"/>
                </a:solidFill>
                <a:latin typeface="Trebuchet MS"/>
                <a:ea typeface="Trebuchet MS"/>
                <a:cs typeface="Trebuchet MS"/>
              </a:rPr>
              <a:t>Data + Ethics + Architecture</a:t>
            </a:r>
            <a:endParaRPr sz="3600" b="0" strike="noStrike">
              <a:solidFill>
                <a:srgbClr val="FFFFFF"/>
              </a:solidFill>
              <a:latin typeface="Arial"/>
              <a:ea typeface="Arial"/>
              <a:cs typeface="Arial"/>
            </a:endParaRPr>
          </a:p>
          <a:p>
            <a:pPr marL="0" marR="0" lvl="0" indent="0" algn="l" rtl="0">
              <a:lnSpc>
                <a:spcPct val="100000"/>
              </a:lnSpc>
              <a:spcBef>
                <a:spcPts val="0"/>
              </a:spcBef>
              <a:spcAft>
                <a:spcPts val="0"/>
              </a:spcAft>
              <a:buNone/>
              <a:defRPr/>
            </a:pPr>
            <a:r>
              <a:rPr lang="en-US" sz="3600" b="0" strike="noStrike">
                <a:solidFill>
                  <a:srgbClr val="FFFFFF"/>
                </a:solidFill>
                <a:latin typeface="Trebuchet MS"/>
                <a:ea typeface="Trebuchet MS"/>
                <a:cs typeface="Trebuchet MS"/>
              </a:rPr>
              <a:t>as a unified system</a:t>
            </a:r>
            <a:endParaRPr sz="3600" b="0" strike="noStrike">
              <a:solidFill>
                <a:srgbClr val="FFFFFF"/>
              </a:solidFill>
              <a:latin typeface="Arial"/>
              <a:ea typeface="Arial"/>
              <a:cs typeface="Arial"/>
            </a:endParaRPr>
          </a:p>
        </p:txBody>
      </p:sp>
      <p:sp>
        <p:nvSpPr>
          <p:cNvPr id="557820427" name="Google Shape;517;p23"/>
          <p:cNvSpPr/>
          <p:nvPr/>
        </p:nvSpPr>
        <p:spPr bwMode="auto">
          <a:xfrm>
            <a:off x="457200" y="2286000"/>
            <a:ext cx="822600" cy="38376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814044588" name="Google Shape;518;p23"/>
          <p:cNvSpPr/>
          <p:nvPr/>
        </p:nvSpPr>
        <p:spPr bwMode="auto">
          <a:xfrm>
            <a:off x="457200" y="2286000"/>
            <a:ext cx="82260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000" b="1" strike="noStrike">
                <a:solidFill>
                  <a:srgbClr val="FFFFFF"/>
                </a:solidFill>
                <a:latin typeface="Calibri"/>
                <a:ea typeface="Calibri"/>
                <a:cs typeface="Calibri"/>
              </a:rPr>
              <a:t>DaaS</a:t>
            </a:r>
            <a:endParaRPr sz="1000" b="0" strike="noStrike">
              <a:solidFill>
                <a:srgbClr val="FFFFFF"/>
              </a:solidFill>
              <a:latin typeface="Arial"/>
              <a:ea typeface="Arial"/>
              <a:cs typeface="Arial"/>
            </a:endParaRPr>
          </a:p>
        </p:txBody>
      </p:sp>
      <p:sp>
        <p:nvSpPr>
          <p:cNvPr id="803112545" name="Google Shape;519;p23"/>
          <p:cNvSpPr/>
          <p:nvPr/>
        </p:nvSpPr>
        <p:spPr bwMode="auto">
          <a:xfrm>
            <a:off x="1417320" y="2286000"/>
            <a:ext cx="7314840" cy="383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0" strike="noStrike">
                <a:solidFill>
                  <a:srgbClr val="CADCFC"/>
                </a:solidFill>
                <a:latin typeface="Calibri"/>
                <a:ea typeface="Calibri"/>
                <a:cs typeface="Calibri"/>
              </a:rPr>
              <a:t>635 RDF/XML triples · 7 controllers · full CRUD · Swagger UI</a:t>
            </a:r>
            <a:endParaRPr sz="1200" b="0" strike="noStrike">
              <a:solidFill>
                <a:srgbClr val="FFFFFF"/>
              </a:solidFill>
              <a:latin typeface="Arial"/>
              <a:ea typeface="Arial"/>
              <a:cs typeface="Arial"/>
            </a:endParaRPr>
          </a:p>
        </p:txBody>
      </p:sp>
      <p:sp>
        <p:nvSpPr>
          <p:cNvPr id="210189510" name="Google Shape;520;p23"/>
          <p:cNvSpPr/>
          <p:nvPr/>
        </p:nvSpPr>
        <p:spPr bwMode="auto">
          <a:xfrm>
            <a:off x="457200" y="2889360"/>
            <a:ext cx="822600" cy="383760"/>
          </a:xfrm>
          <a:prstGeom prst="rect">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76308249" name="Google Shape;521;p23"/>
          <p:cNvSpPr/>
          <p:nvPr/>
        </p:nvSpPr>
        <p:spPr bwMode="auto">
          <a:xfrm>
            <a:off x="457200" y="2889360"/>
            <a:ext cx="82260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000" b="1" strike="noStrike">
                <a:solidFill>
                  <a:srgbClr val="FFFFFF"/>
                </a:solidFill>
                <a:latin typeface="Calibri"/>
                <a:ea typeface="Calibri"/>
                <a:cs typeface="Calibri"/>
              </a:rPr>
              <a:t>EaaS</a:t>
            </a:r>
            <a:endParaRPr sz="1000" b="0" strike="noStrike">
              <a:solidFill>
                <a:srgbClr val="FFFFFF"/>
              </a:solidFill>
              <a:latin typeface="Arial"/>
              <a:ea typeface="Arial"/>
              <a:cs typeface="Arial"/>
            </a:endParaRPr>
          </a:p>
        </p:txBody>
      </p:sp>
      <p:sp>
        <p:nvSpPr>
          <p:cNvPr id="1475359785" name="Google Shape;522;p23"/>
          <p:cNvSpPr/>
          <p:nvPr/>
        </p:nvSpPr>
        <p:spPr bwMode="auto">
          <a:xfrm>
            <a:off x="1417320" y="2889360"/>
            <a:ext cx="7314840" cy="383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0" strike="noStrike">
                <a:solidFill>
                  <a:srgbClr val="CADCFC"/>
                </a:solidFill>
                <a:latin typeface="Calibri"/>
                <a:ea typeface="Calibri"/>
                <a:cs typeface="Calibri"/>
              </a:rPr>
              <a:t>4 external JSON policies · PROCEED / REVISE / ESCALATE / REJECT</a:t>
            </a:r>
            <a:endParaRPr sz="1200" b="0" strike="noStrike">
              <a:solidFill>
                <a:srgbClr val="FFFFFF"/>
              </a:solidFill>
              <a:latin typeface="Arial"/>
              <a:ea typeface="Arial"/>
              <a:cs typeface="Arial"/>
            </a:endParaRPr>
          </a:p>
        </p:txBody>
      </p:sp>
      <p:sp>
        <p:nvSpPr>
          <p:cNvPr id="1151550997" name="Google Shape;523;p23"/>
          <p:cNvSpPr/>
          <p:nvPr/>
        </p:nvSpPr>
        <p:spPr bwMode="auto">
          <a:xfrm>
            <a:off x="457200" y="3493080"/>
            <a:ext cx="822600" cy="383760"/>
          </a:xfrm>
          <a:prstGeom prst="rect">
            <a:avLst/>
          </a:prstGeom>
          <a:solidFill>
            <a:srgbClr val="9B59B6"/>
          </a:solidFill>
          <a:ln w="12700" cap="flat" cmpd="sng">
            <a:solidFill>
              <a:srgbClr val="9B59B6"/>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1221728559" name="Google Shape;524;p23"/>
          <p:cNvSpPr/>
          <p:nvPr/>
        </p:nvSpPr>
        <p:spPr bwMode="auto">
          <a:xfrm>
            <a:off x="457200" y="3493080"/>
            <a:ext cx="82260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000" b="1" strike="noStrike">
                <a:solidFill>
                  <a:srgbClr val="FFFFFF"/>
                </a:solidFill>
                <a:latin typeface="Calibri"/>
                <a:ea typeface="Calibri"/>
                <a:cs typeface="Calibri"/>
              </a:rPr>
              <a:t>Audit</a:t>
            </a:r>
            <a:endParaRPr sz="1000" b="0" strike="noStrike">
              <a:solidFill>
                <a:srgbClr val="FFFFFF"/>
              </a:solidFill>
              <a:latin typeface="Arial"/>
              <a:ea typeface="Arial"/>
              <a:cs typeface="Arial"/>
            </a:endParaRPr>
          </a:p>
        </p:txBody>
      </p:sp>
      <p:sp>
        <p:nvSpPr>
          <p:cNvPr id="1426715866" name="Google Shape;525;p23"/>
          <p:cNvSpPr/>
          <p:nvPr/>
        </p:nvSpPr>
        <p:spPr bwMode="auto">
          <a:xfrm>
            <a:off x="1417320" y="3493080"/>
            <a:ext cx="7314840" cy="383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0" strike="noStrike">
                <a:solidFill>
                  <a:srgbClr val="CADCFC"/>
                </a:solidFill>
                <a:latin typeface="Calibri"/>
                <a:ea typeface="Calibri"/>
                <a:cs typeface="Calibri"/>
              </a:rPr>
              <a:t>Every decision is tracked, justified, and persisted to disk</a:t>
            </a:r>
            <a:endParaRPr sz="1200" b="0" strike="noStrike">
              <a:solidFill>
                <a:srgbClr val="FFFFFF"/>
              </a:solidFill>
              <a:latin typeface="Arial"/>
              <a:ea typeface="Arial"/>
              <a:cs typeface="Arial"/>
            </a:endParaRPr>
          </a:p>
        </p:txBody>
      </p:sp>
      <p:sp>
        <p:nvSpPr>
          <p:cNvPr id="316556103" name="Google Shape;526;p23"/>
          <p:cNvSpPr/>
          <p:nvPr/>
        </p:nvSpPr>
        <p:spPr bwMode="auto">
          <a:xfrm>
            <a:off x="457200" y="4096440"/>
            <a:ext cx="822600" cy="383760"/>
          </a:xfrm>
          <a:prstGeom prst="rect">
            <a:avLst/>
          </a:prstGeom>
          <a:solidFill>
            <a:srgbClr val="D8A01A"/>
          </a:solidFill>
          <a:ln w="12700" cap="flat" cmpd="sng">
            <a:solidFill>
              <a:srgbClr val="D8A01A"/>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defRPr/>
            </a:pPr>
            <a:endParaRPr sz="1800" b="0" strike="noStrike">
              <a:solidFill>
                <a:schemeClr val="dk1"/>
              </a:solidFill>
              <a:latin typeface="Calibri"/>
              <a:ea typeface="Calibri"/>
              <a:cs typeface="Calibri"/>
            </a:endParaRPr>
          </a:p>
        </p:txBody>
      </p:sp>
      <p:sp>
        <p:nvSpPr>
          <p:cNvPr id="681877245" name="Google Shape;527;p23"/>
          <p:cNvSpPr/>
          <p:nvPr/>
        </p:nvSpPr>
        <p:spPr bwMode="auto">
          <a:xfrm>
            <a:off x="457200" y="4096440"/>
            <a:ext cx="82260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defRPr/>
            </a:pPr>
            <a:r>
              <a:rPr lang="en-US" sz="1000" b="1" strike="noStrike">
                <a:solidFill>
                  <a:srgbClr val="FFFFFF"/>
                </a:solidFill>
                <a:latin typeface="Calibri"/>
                <a:ea typeface="Calibri"/>
                <a:cs typeface="Calibri"/>
              </a:rPr>
              <a:t>Ethics</a:t>
            </a:r>
            <a:endParaRPr sz="1000" b="0" strike="noStrike">
              <a:solidFill>
                <a:srgbClr val="FFFFFF"/>
              </a:solidFill>
              <a:latin typeface="Arial"/>
              <a:ea typeface="Arial"/>
              <a:cs typeface="Arial"/>
            </a:endParaRPr>
          </a:p>
        </p:txBody>
      </p:sp>
      <p:sp>
        <p:nvSpPr>
          <p:cNvPr id="1426241087" name="Google Shape;528;p23"/>
          <p:cNvSpPr/>
          <p:nvPr/>
        </p:nvSpPr>
        <p:spPr bwMode="auto">
          <a:xfrm>
            <a:off x="1417320" y="4096440"/>
            <a:ext cx="7314840" cy="383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0" strike="noStrike">
                <a:solidFill>
                  <a:srgbClr val="CADCFC"/>
                </a:solidFill>
                <a:latin typeface="Calibri"/>
                <a:ea typeface="Calibri"/>
                <a:cs typeface="Calibri"/>
              </a:rPr>
              <a:t>Not a final checkbox: ethics is an integral part of the architecture</a:t>
            </a:r>
            <a:endParaRPr sz="1200" b="0" strike="noStrike">
              <a:solidFill>
                <a:srgbClr val="FFFFFF"/>
              </a:solidFill>
              <a:latin typeface="Arial"/>
              <a:ea typeface="Arial"/>
              <a:cs typeface="Arial"/>
            </a:endParaRPr>
          </a:p>
        </p:txBody>
      </p:sp>
      <p:cxnSp>
        <p:nvCxnSpPr>
          <p:cNvPr id="1165579279" name="Google Shape;529;p23"/>
          <p:cNvCxnSpPr/>
          <p:nvPr/>
        </p:nvCxnSpPr>
        <p:spPr bwMode="auto">
          <a:xfrm>
            <a:off x="457200" y="4663440"/>
            <a:ext cx="3657600" cy="360"/>
          </a:xfrm>
          <a:prstGeom prst="straightConnector1">
            <a:avLst/>
          </a:prstGeom>
          <a:noFill/>
          <a:ln w="12700" cap="flat" cmpd="sng">
            <a:solidFill>
              <a:srgbClr val="2C5FDC"/>
            </a:solidFill>
            <a:prstDash val="solid"/>
            <a:round/>
            <a:headEnd type="none" w="sm" len="sm"/>
            <a:tailEnd type="none" w="sm" len="sm"/>
          </a:ln>
        </p:spPr>
      </p:cxnSp>
      <p:sp>
        <p:nvSpPr>
          <p:cNvPr id="40708000" name="Google Shape;530;p23"/>
          <p:cNvSpPr/>
          <p:nvPr/>
        </p:nvSpPr>
        <p:spPr bwMode="auto">
          <a:xfrm>
            <a:off x="457200" y="4709160"/>
            <a:ext cx="8229240" cy="2739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defRPr/>
            </a:pPr>
            <a:r>
              <a:rPr lang="en-US" sz="1200" b="0" i="1" strike="noStrike">
                <a:solidFill>
                  <a:srgbClr val="9FB4CC"/>
                </a:solidFill>
                <a:latin typeface="Calibri"/>
                <a:ea typeface="Calibri"/>
                <a:cs typeface="Calibri"/>
              </a:rPr>
              <a:t>Questions?</a:t>
            </a:r>
            <a:endParaRPr sz="1200" b="0" strike="noStrike">
              <a:solidFill>
                <a:srgbClr val="FFFFFF"/>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21</Slides>
  <Notes>21</Notes>
  <HiddenSlides>0</HiddenSlides>
  <MMClips>2</MMClips>
  <ScaleCrop>0</ScaleCrop>
  <HeadingPairs>
    <vt:vector size="4" baseType="variant">
      <vt:variant>
        <vt:lpstr>Theme</vt:lpstr>
      </vt:variant>
      <vt:variant>
        <vt:i4>1</vt:i4>
      </vt:variant>
      <vt:variant>
        <vt:lpstr>Slide Titles</vt:lpstr>
      </vt:variant>
      <vt:variant>
        <vt:i4>21</vt:i4>
      </vt:variant>
    </vt:vector>
  </HeadingPairs>
  <TitlesOfParts>
    <vt:vector size="2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2</cp:revision>
  <dcterms:modified xsi:type="dcterms:W3CDTF">2026-05-28T10:12:55Z</dcterms:modified>
</cp:coreProperties>
</file>