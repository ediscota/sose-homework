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D3EC31-FA75-A3EC-9897-4DD7EFD0154C}" v="9" dt="2026-05-27T09:41:45.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GB"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GB"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strike="noStrike" spc="-1">
                <a:solidFill>
                  <a:srgbClr val="000000"/>
                </a:solidFill>
                <a:latin typeface="Times New Roman"/>
              </a:defRPr>
            </a:lvl1pPr>
          </a:lstStyle>
          <a:p>
            <a:pPr indent="0" algn="r">
              <a:buNone/>
            </a:pPr>
            <a:r>
              <a:rPr lang="en-GB"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GB" sz="1400" b="0" strike="noStrike" spc="-1">
                <a:solidFill>
                  <a:srgbClr val="000000"/>
                </a:solidFill>
                <a:latin typeface="Times New Roman"/>
              </a:defRPr>
            </a:lvl1pPr>
          </a:lstStyle>
          <a:p>
            <a:pPr indent="0">
              <a:buNone/>
            </a:pPr>
            <a:r>
              <a:rPr lang="en-GB"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strike="noStrike" spc="-1">
                <a:solidFill>
                  <a:srgbClr val="000000"/>
                </a:solidFill>
                <a:latin typeface="Times New Roman"/>
              </a:defRPr>
            </a:lvl1pPr>
          </a:lstStyle>
          <a:p>
            <a:pPr indent="0" algn="r">
              <a:buNone/>
            </a:pPr>
            <a:fld id="{FDF1EDAE-1E4A-4724-B06C-A6DFA440E6D1}" type="slidenum">
              <a:rPr lang="en-GB" sz="1400" b="0" strike="noStrike" spc="-1">
                <a:solidFill>
                  <a:srgbClr val="000000"/>
                </a:solidFill>
                <a:latin typeface="Times New Roman"/>
              </a:rPr>
              <a:t>‹#›</a:t>
            </a:fld>
            <a:endParaRPr lang="en-GB"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PlaceHolder 1"/>
          <p:cNvSpPr>
            <a:spLocks noGrp="1" noRot="1" noChangeAspect="1"/>
          </p:cNvSpPr>
          <p:nvPr>
            <p:ph type="sldImg"/>
          </p:nvPr>
        </p:nvSpPr>
        <p:spPr>
          <a:xfrm>
            <a:off x="0" y="0"/>
            <a:ext cx="0" cy="0"/>
          </a:xfrm>
          <a:prstGeom prst="rect">
            <a:avLst/>
          </a:prstGeom>
          <a:ln w="0">
            <a:noFill/>
          </a:ln>
        </p:spPr>
      </p:sp>
      <p:sp>
        <p:nvSpPr>
          <p:cNvPr id="42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24"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4D845CB3-BBAA-4B8E-AE06-31CAB8363A01}" type="slidenum">
              <a:rPr lang="en-US" sz="1800" b="0" strike="noStrike" spc="-1">
                <a:solidFill>
                  <a:schemeClr val="dk1"/>
                </a:solidFill>
                <a:latin typeface="+mn-lt"/>
                <a:ea typeface="+mn-ea"/>
              </a:rPr>
              <a:t>1</a:t>
            </a:fld>
            <a:endParaRPr lang="en-GB" sz="18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PlaceHolder 1"/>
          <p:cNvSpPr>
            <a:spLocks noGrp="1" noRot="1" noChangeAspect="1"/>
          </p:cNvSpPr>
          <p:nvPr>
            <p:ph type="sldImg"/>
          </p:nvPr>
        </p:nvSpPr>
        <p:spPr>
          <a:xfrm>
            <a:off x="0" y="0"/>
            <a:ext cx="0" cy="0"/>
          </a:xfrm>
          <a:prstGeom prst="rect">
            <a:avLst/>
          </a:prstGeom>
          <a:ln w="0">
            <a:noFill/>
          </a:ln>
        </p:spPr>
      </p:sp>
      <p:sp>
        <p:nvSpPr>
          <p:cNvPr id="42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27"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EDEB89C-D290-49C2-A855-2D0B166411A6}" type="slidenum">
              <a:rPr lang="en-US" sz="1800" b="0" strike="noStrike" spc="-1">
                <a:solidFill>
                  <a:schemeClr val="dk1"/>
                </a:solidFill>
                <a:latin typeface="+mn-lt"/>
                <a:ea typeface="+mn-ea"/>
              </a:rPr>
              <a:t>2</a:t>
            </a:fld>
            <a:endParaRPr lang="en-GB" sz="18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PlaceHolder 1"/>
          <p:cNvSpPr>
            <a:spLocks noGrp="1" noRot="1" noChangeAspect="1"/>
          </p:cNvSpPr>
          <p:nvPr>
            <p:ph type="sldImg"/>
          </p:nvPr>
        </p:nvSpPr>
        <p:spPr>
          <a:xfrm>
            <a:off x="0" y="0"/>
            <a:ext cx="0" cy="0"/>
          </a:xfrm>
          <a:prstGeom prst="rect">
            <a:avLst/>
          </a:prstGeom>
          <a:ln w="0">
            <a:noFill/>
          </a:ln>
        </p:spPr>
      </p:sp>
      <p:sp>
        <p:nvSpPr>
          <p:cNvPr id="42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30"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AF9060C-D4ED-4C32-B3BD-0B722270B8FA}" type="slidenum">
              <a:rPr lang="en-US" sz="1800" b="0" strike="noStrike" spc="-1">
                <a:solidFill>
                  <a:schemeClr val="dk1"/>
                </a:solidFill>
                <a:latin typeface="+mn-lt"/>
                <a:ea typeface="+mn-ea"/>
              </a:rPr>
              <a:t>3</a:t>
            </a:fld>
            <a:endParaRPr lang="en-GB" sz="18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PlaceHolder 1"/>
          <p:cNvSpPr>
            <a:spLocks noGrp="1" noRot="1" noChangeAspect="1"/>
          </p:cNvSpPr>
          <p:nvPr>
            <p:ph type="sldImg"/>
          </p:nvPr>
        </p:nvSpPr>
        <p:spPr>
          <a:xfrm>
            <a:off x="0" y="0"/>
            <a:ext cx="0" cy="0"/>
          </a:xfrm>
          <a:prstGeom prst="rect">
            <a:avLst/>
          </a:prstGeom>
          <a:ln w="0">
            <a:noFill/>
          </a:ln>
        </p:spPr>
      </p:sp>
      <p:sp>
        <p:nvSpPr>
          <p:cNvPr id="43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33"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2927E319-0198-4E92-8B4A-B6C7EB572ECE}" type="slidenum">
              <a:rPr lang="en-US" sz="1800" b="0" strike="noStrike" spc="-1">
                <a:solidFill>
                  <a:schemeClr val="dk1"/>
                </a:solidFill>
                <a:latin typeface="+mn-lt"/>
                <a:ea typeface="+mn-ea"/>
              </a:rPr>
              <a:t>4</a:t>
            </a:fld>
            <a:endParaRPr lang="en-GB" sz="18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 name="PlaceHolder 1"/>
          <p:cNvSpPr>
            <a:spLocks noGrp="1" noRot="1" noChangeAspect="1"/>
          </p:cNvSpPr>
          <p:nvPr>
            <p:ph type="sldImg"/>
          </p:nvPr>
        </p:nvSpPr>
        <p:spPr>
          <a:xfrm>
            <a:off x="0" y="0"/>
            <a:ext cx="0" cy="0"/>
          </a:xfrm>
          <a:prstGeom prst="rect">
            <a:avLst/>
          </a:prstGeom>
          <a:ln w="0">
            <a:noFill/>
          </a:ln>
        </p:spPr>
      </p:sp>
      <p:sp>
        <p:nvSpPr>
          <p:cNvPr id="43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36"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0A1BFF51-C0DA-4462-B1B9-ADB47AE831F6}" type="slidenum">
              <a:rPr lang="en-US" sz="1800" b="0" strike="noStrike" spc="-1">
                <a:solidFill>
                  <a:schemeClr val="dk1"/>
                </a:solidFill>
                <a:latin typeface="+mn-lt"/>
                <a:ea typeface="+mn-ea"/>
              </a:rPr>
              <a:t>5</a:t>
            </a:fld>
            <a:endParaRPr lang="en-GB" sz="18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PlaceHolder 1"/>
          <p:cNvSpPr>
            <a:spLocks noGrp="1" noRot="1" noChangeAspect="1"/>
          </p:cNvSpPr>
          <p:nvPr>
            <p:ph type="sldImg"/>
          </p:nvPr>
        </p:nvSpPr>
        <p:spPr>
          <a:xfrm>
            <a:off x="0" y="0"/>
            <a:ext cx="0" cy="0"/>
          </a:xfrm>
          <a:prstGeom prst="rect">
            <a:avLst/>
          </a:prstGeom>
          <a:ln w="0">
            <a:noFill/>
          </a:ln>
        </p:spPr>
      </p:sp>
      <p:sp>
        <p:nvSpPr>
          <p:cNvPr id="43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39"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48CC61E-EC54-4717-82DC-2BFEE366F8F4}" type="slidenum">
              <a:rPr lang="en-US" sz="1800" b="0" strike="noStrike" spc="-1">
                <a:solidFill>
                  <a:schemeClr val="dk1"/>
                </a:solidFill>
                <a:latin typeface="+mn-lt"/>
                <a:ea typeface="+mn-ea"/>
              </a:rPr>
              <a:t>6</a:t>
            </a:fld>
            <a:endParaRPr lang="en-GB" sz="18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PlaceHolder 1"/>
          <p:cNvSpPr>
            <a:spLocks noGrp="1" noRot="1" noChangeAspect="1"/>
          </p:cNvSpPr>
          <p:nvPr>
            <p:ph type="sldImg"/>
          </p:nvPr>
        </p:nvSpPr>
        <p:spPr>
          <a:xfrm>
            <a:off x="0" y="0"/>
            <a:ext cx="0" cy="0"/>
          </a:xfrm>
          <a:prstGeom prst="rect">
            <a:avLst/>
          </a:prstGeom>
          <a:ln w="0">
            <a:noFill/>
          </a:ln>
        </p:spPr>
      </p:sp>
      <p:sp>
        <p:nvSpPr>
          <p:cNvPr id="44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42"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42D09869-086C-40DD-B7B2-6F773D661477}" type="slidenum">
              <a:rPr lang="en-US" sz="1800" b="0" strike="noStrike" spc="-1">
                <a:solidFill>
                  <a:schemeClr val="dk1"/>
                </a:solidFill>
                <a:latin typeface="+mn-lt"/>
                <a:ea typeface="+mn-ea"/>
              </a:rPr>
              <a:t>7</a:t>
            </a:fld>
            <a:endParaRPr lang="en-GB" sz="18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PlaceHolder 1"/>
          <p:cNvSpPr>
            <a:spLocks noGrp="1" noRot="1" noChangeAspect="1"/>
          </p:cNvSpPr>
          <p:nvPr>
            <p:ph type="sldImg"/>
          </p:nvPr>
        </p:nvSpPr>
        <p:spPr>
          <a:xfrm>
            <a:off x="0" y="0"/>
            <a:ext cx="0" cy="0"/>
          </a:xfrm>
          <a:prstGeom prst="rect">
            <a:avLst/>
          </a:prstGeom>
          <a:ln w="0">
            <a:noFill/>
          </a:ln>
        </p:spPr>
      </p:sp>
      <p:sp>
        <p:nvSpPr>
          <p:cNvPr id="44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45"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48CED361-1CDC-4B0D-A6E0-096061909E10}" type="slidenum">
              <a:rPr lang="en-US" sz="1800" b="0" strike="noStrike" spc="-1">
                <a:solidFill>
                  <a:schemeClr val="dk1"/>
                </a:solidFill>
                <a:latin typeface="+mn-lt"/>
                <a:ea typeface="+mn-ea"/>
              </a:rPr>
              <a:t>8</a:t>
            </a:fld>
            <a:endParaRPr lang="en-GB" sz="18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PlaceHolder 1"/>
          <p:cNvSpPr>
            <a:spLocks noGrp="1" noRot="1" noChangeAspect="1"/>
          </p:cNvSpPr>
          <p:nvPr>
            <p:ph type="sldImg"/>
          </p:nvPr>
        </p:nvSpPr>
        <p:spPr>
          <a:xfrm>
            <a:off x="0" y="0"/>
            <a:ext cx="0" cy="0"/>
          </a:xfrm>
          <a:prstGeom prst="rect">
            <a:avLst/>
          </a:prstGeom>
          <a:ln w="0">
            <a:noFill/>
          </a:ln>
        </p:spPr>
      </p:sp>
      <p:sp>
        <p:nvSpPr>
          <p:cNvPr id="44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en-GB" spc="-1">
                <a:solidFill>
                  <a:srgbClr val="000000"/>
                </a:solidFill>
              </a:rPr>
              <a:t>Thank you, Edoardo, for clearly illustrating the data architecture and the inner workings of our DaaS module.</a:t>
            </a:r>
            <a:endParaRPr lang="en-US"/>
          </a:p>
          <a:p>
            <a:r>
              <a:rPr lang="en-GB" spc="-1" dirty="0">
                <a:solidFill>
                  <a:srgbClr val="000000"/>
                </a:solidFill>
                <a:cs typeface="Arial"/>
              </a:rPr>
              <a:t>With my section, we enter the second fundamental pillar of our project: </a:t>
            </a:r>
            <a:r>
              <a:rPr lang="en-GB" b="1" spc="-1" dirty="0">
                <a:solidFill>
                  <a:srgbClr val="000000"/>
                </a:solidFill>
                <a:cs typeface="Arial"/>
              </a:rPr>
              <a:t>Ethics as a Service</a:t>
            </a:r>
            <a:r>
              <a:rPr lang="en-GB" spc="-1" dirty="0">
                <a:solidFill>
                  <a:srgbClr val="000000"/>
                </a:solidFill>
                <a:cs typeface="Arial"/>
              </a:rPr>
              <a:t>. As Edoardo just explained, managing large amounts of structured data within the employment domain offers extraordinary matching opportunities, but it also exposes us to massive risks regarding structural discrimination and regulatory violations.</a:t>
            </a:r>
            <a:endParaRPr lang="en-GB" dirty="0">
              <a:cs typeface="Arial"/>
            </a:endParaRPr>
          </a:p>
          <a:p>
            <a:r>
              <a:rPr lang="en-GB" spc="-1" dirty="0">
                <a:solidFill>
                  <a:srgbClr val="000000"/>
                </a:solidFill>
                <a:cs typeface="Arial"/>
              </a:rPr>
              <a:t>Our goal was not to build a simple data filter module, but to conceptualize ethics as an independent, fully decoupled microservice. The EaaS module was born from this exact philosophy: separating the computational logic of data storage from the logic of ethical and legal evaluation. In the next few slides, we will look in detail at how this architecture receives requests, how the policy engine applies rules, and the objective criteria we use to validate the compliance of a job recommendation.</a:t>
            </a:r>
            <a:endParaRPr lang="en-GB" dirty="0">
              <a:cs typeface="Arial"/>
            </a:endParaRPr>
          </a:p>
        </p:txBody>
      </p:sp>
      <p:sp>
        <p:nvSpPr>
          <p:cNvPr id="448"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E53B7AA8-2364-49EC-8C53-38C60A875490}" type="slidenum">
              <a:rPr lang="en-US" sz="1800" b="0" strike="noStrike" spc="-1">
                <a:solidFill>
                  <a:schemeClr val="dk1"/>
                </a:solidFill>
                <a:latin typeface="+mn-lt"/>
                <a:ea typeface="+mn-ea"/>
              </a:rPr>
              <a:t>9</a:t>
            </a:fld>
            <a:endParaRPr lang="en-GB" sz="18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PlaceHolder 1"/>
          <p:cNvSpPr>
            <a:spLocks noGrp="1" noRot="1" noChangeAspect="1"/>
          </p:cNvSpPr>
          <p:nvPr>
            <p:ph type="sldImg"/>
          </p:nvPr>
        </p:nvSpPr>
        <p:spPr>
          <a:xfrm>
            <a:off x="0" y="0"/>
            <a:ext cx="0" cy="0"/>
          </a:xfrm>
          <a:prstGeom prst="rect">
            <a:avLst/>
          </a:prstGeom>
          <a:ln w="0">
            <a:noFill/>
          </a:ln>
        </p:spPr>
      </p:sp>
      <p:sp>
        <p:nvSpPr>
          <p:cNvPr id="45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en-GB" spc="-1" dirty="0">
                <a:solidFill>
                  <a:srgbClr val="000000"/>
                </a:solidFill>
                <a:cs typeface="Arial"/>
              </a:rPr>
              <a:t>To understand how the EaaS module operates in practice, let's </a:t>
            </a:r>
            <a:r>
              <a:rPr lang="en-GB" spc="-1" dirty="0" err="1">
                <a:solidFill>
                  <a:srgbClr val="000000"/>
                </a:solidFill>
                <a:cs typeface="Arial"/>
              </a:rPr>
              <a:t>analyze</a:t>
            </a:r>
            <a:r>
              <a:rPr lang="en-GB" spc="-1" dirty="0">
                <a:solidFill>
                  <a:srgbClr val="000000"/>
                </a:solidFill>
                <a:cs typeface="Arial"/>
              </a:rPr>
              <a:t> its </a:t>
            </a:r>
            <a:r>
              <a:rPr lang="en-GB" b="1" spc="-1" dirty="0">
                <a:solidFill>
                  <a:srgbClr val="000000"/>
                </a:solidFill>
                <a:cs typeface="Arial"/>
              </a:rPr>
              <a:t>Evaluation Workflow</a:t>
            </a:r>
            <a:r>
              <a:rPr lang="en-GB" spc="-1" dirty="0">
                <a:solidFill>
                  <a:srgbClr val="000000"/>
                </a:solidFill>
                <a:cs typeface="Arial"/>
              </a:rPr>
              <a:t>, which is broken down into five sequential and rigidly defined macro-phases.</a:t>
            </a:r>
            <a:endParaRPr lang="en-US" dirty="0">
              <a:cs typeface="Arial"/>
            </a:endParaRPr>
          </a:p>
          <a:p>
            <a:pPr marL="285750" indent="-285750">
              <a:buFont typeface="Arial"/>
              <a:buChar char="•"/>
            </a:pPr>
            <a:r>
              <a:rPr lang="en-GB" b="1" spc="-1">
                <a:solidFill>
                  <a:srgbClr val="000000"/>
                </a:solidFill>
              </a:rPr>
              <a:t>Phase 1: Structured Request.</a:t>
            </a:r>
            <a:r>
              <a:rPr lang="en-GB" spc="-1">
                <a:solidFill>
                  <a:srgbClr val="000000"/>
                </a:solidFill>
              </a:rPr>
              <a:t> It all begins when the Client sends a formal request to the EaaS endpoint. Inside this JSON payload, specific and crucial metadata are outlined: the action to perform, the candidate ID, the job offer ID, the requester, the purpose, and a self-declared risk level.</a:t>
            </a:r>
            <a:endParaRPr lang="en-GB"/>
          </a:p>
          <a:p>
            <a:pPr marL="285750" indent="-285750">
              <a:buFont typeface="Arial"/>
              <a:buChar char="•"/>
            </a:pPr>
            <a:r>
              <a:rPr lang="en-GB" b="1" spc="-1" dirty="0">
                <a:solidFill>
                  <a:srgbClr val="000000"/>
                </a:solidFill>
                <a:cs typeface="Arial"/>
              </a:rPr>
              <a:t>Phase 2: Fetch Canonical Data from DaaS.</a:t>
            </a:r>
            <a:r>
              <a:rPr lang="en-GB" spc="-1" dirty="0">
                <a:solidFill>
                  <a:srgbClr val="000000"/>
                </a:solidFill>
                <a:cs typeface="Arial"/>
              </a:rPr>
              <a:t> This is a critical step from an architectural security standpoint. The EaaS adheres to a strict principle: </a:t>
            </a:r>
            <a:r>
              <a:rPr lang="en-GB" i="1" spc="-1" dirty="0">
                <a:solidFill>
                  <a:srgbClr val="000000"/>
                </a:solidFill>
                <a:cs typeface="Arial"/>
              </a:rPr>
              <a:t>never trust the caller</a:t>
            </a:r>
            <a:r>
              <a:rPr lang="en-GB" spc="-1" dirty="0">
                <a:solidFill>
                  <a:srgbClr val="000000"/>
                </a:solidFill>
                <a:cs typeface="Arial"/>
              </a:rPr>
              <a:t>. Consequently, EaaS takes only the candidate and job IDs and directly queries the DaaS to retrieve the canonical, certified data straight from the RDF </a:t>
            </a:r>
            <a:r>
              <a:rPr lang="en-GB" spc="-1" dirty="0" err="1">
                <a:solidFill>
                  <a:srgbClr val="000000"/>
                </a:solidFill>
                <a:cs typeface="Arial"/>
              </a:rPr>
              <a:t>triplestore</a:t>
            </a:r>
            <a:r>
              <a:rPr lang="en-GB" spc="-1" dirty="0">
                <a:solidFill>
                  <a:srgbClr val="000000"/>
                </a:solidFill>
                <a:cs typeface="Arial"/>
              </a:rPr>
              <a:t>. This prevents a malicious client from altering real profile or job data to bypass our ethical checks.</a:t>
            </a:r>
            <a:endParaRPr lang="en-GB" dirty="0">
              <a:cs typeface="Arial"/>
            </a:endParaRPr>
          </a:p>
          <a:p>
            <a:pPr marL="285750" indent="-285750">
              <a:buFont typeface="Arial"/>
              <a:buChar char="•"/>
            </a:pPr>
            <a:r>
              <a:rPr lang="en-GB" b="1" spc="-1" dirty="0">
                <a:solidFill>
                  <a:srgbClr val="000000"/>
                </a:solidFill>
                <a:cs typeface="Arial"/>
              </a:rPr>
              <a:t>Phase 3: Case Analysis via the Policy Engine.</a:t>
            </a:r>
            <a:r>
              <a:rPr lang="en-GB" spc="-1" dirty="0">
                <a:solidFill>
                  <a:srgbClr val="000000"/>
                </a:solidFill>
                <a:cs typeface="Arial"/>
              </a:rPr>
              <a:t> Once the actual, immutable data is fetched, the core of EaaS takes over: the policy engine. Each of our ethical policies is applied individually to the real data. The engine doesn't just perform a binary </a:t>
            </a:r>
            <a:r>
              <a:rPr lang="en-GB" spc="-1" dirty="0" err="1">
                <a:solidFill>
                  <a:srgbClr val="000000"/>
                </a:solidFill>
                <a:cs typeface="Arial"/>
              </a:rPr>
              <a:t>boolean</a:t>
            </a:r>
            <a:r>
              <a:rPr lang="en-GB" spc="-1" dirty="0">
                <a:solidFill>
                  <a:srgbClr val="000000"/>
                </a:solidFill>
                <a:cs typeface="Arial"/>
              </a:rPr>
              <a:t> check; it produces detailed "findings", mapping each potential violation to a specific severity level and its supporting evidence.</a:t>
            </a:r>
            <a:endParaRPr lang="en-GB" dirty="0">
              <a:cs typeface="Arial"/>
            </a:endParaRPr>
          </a:p>
          <a:p>
            <a:pPr marL="285750" indent="-285750">
              <a:buFont typeface="Arial"/>
              <a:buChar char="•"/>
            </a:pPr>
            <a:r>
              <a:rPr lang="en-GB" b="1" spc="-1" dirty="0">
                <a:solidFill>
                  <a:srgbClr val="000000"/>
                </a:solidFill>
                <a:cs typeface="Arial"/>
              </a:rPr>
              <a:t>Phase 4: Governance Decision.</a:t>
            </a:r>
            <a:r>
              <a:rPr lang="en-GB" spc="-1" dirty="0">
                <a:solidFill>
                  <a:srgbClr val="000000"/>
                </a:solidFill>
                <a:cs typeface="Arial"/>
              </a:rPr>
              <a:t> At the end of the analysis, the Decision Maker aggregates all gathered findings. The final verdict is calculated based on the maximum severity found: an extreme violation leads to a </a:t>
            </a:r>
            <a:r>
              <a:rPr lang="en-GB" i="1" spc="-1" dirty="0">
                <a:solidFill>
                  <a:srgbClr val="000000"/>
                </a:solidFill>
                <a:cs typeface="Arial"/>
              </a:rPr>
              <a:t>CRITICAL REJECT</a:t>
            </a:r>
            <a:r>
              <a:rPr lang="en-GB" spc="-1" dirty="0">
                <a:solidFill>
                  <a:srgbClr val="000000"/>
                </a:solidFill>
                <a:cs typeface="Arial"/>
              </a:rPr>
              <a:t>; high-severity issues trigger an </a:t>
            </a:r>
            <a:r>
              <a:rPr lang="en-GB" i="1" spc="-1" dirty="0">
                <a:solidFill>
                  <a:srgbClr val="000000"/>
                </a:solidFill>
                <a:cs typeface="Arial"/>
              </a:rPr>
              <a:t>HIGH ESCALATE</a:t>
            </a:r>
            <a:r>
              <a:rPr lang="en-GB" spc="-1" dirty="0">
                <a:solidFill>
                  <a:srgbClr val="000000"/>
                </a:solidFill>
                <a:cs typeface="Arial"/>
              </a:rPr>
              <a:t>; minor anomalies result in a </a:t>
            </a:r>
            <a:r>
              <a:rPr lang="en-GB" i="1" spc="-1" dirty="0">
                <a:solidFill>
                  <a:srgbClr val="000000"/>
                </a:solidFill>
                <a:cs typeface="Arial"/>
              </a:rPr>
              <a:t>MEDIUM REVISE</a:t>
            </a:r>
            <a:r>
              <a:rPr lang="en-GB" spc="-1" dirty="0">
                <a:solidFill>
                  <a:srgbClr val="000000"/>
                </a:solidFill>
                <a:cs typeface="Arial"/>
              </a:rPr>
              <a:t>; and if no policies are triggered, the system grants a green light, resulting in a </a:t>
            </a:r>
            <a:r>
              <a:rPr lang="en-GB" i="1" spc="-1" dirty="0">
                <a:solidFill>
                  <a:srgbClr val="000000"/>
                </a:solidFill>
                <a:cs typeface="Arial"/>
              </a:rPr>
              <a:t>PROCEED</a:t>
            </a:r>
            <a:r>
              <a:rPr lang="en-GB" spc="-1" dirty="0">
                <a:solidFill>
                  <a:srgbClr val="000000"/>
                </a:solidFill>
                <a:cs typeface="Arial"/>
              </a:rPr>
              <a:t> status.</a:t>
            </a:r>
            <a:endParaRPr lang="en-GB" dirty="0">
              <a:cs typeface="Arial"/>
            </a:endParaRPr>
          </a:p>
          <a:p>
            <a:pPr marL="285750" indent="-285750">
              <a:buFont typeface="Arial"/>
              <a:buChar char="•"/>
            </a:pPr>
            <a:r>
              <a:rPr lang="en-GB" b="1" spc="-1" dirty="0">
                <a:solidFill>
                  <a:srgbClr val="000000"/>
                </a:solidFill>
                <a:cs typeface="Arial"/>
              </a:rPr>
              <a:t>Phase 5: Audit and Response.</a:t>
            </a:r>
            <a:r>
              <a:rPr lang="en-GB" spc="-1" dirty="0">
                <a:solidFill>
                  <a:srgbClr val="000000"/>
                </a:solidFill>
                <a:cs typeface="Arial"/>
              </a:rPr>
              <a:t> The final step guarantees absolute system transparency and accountability. An all-encompassing </a:t>
            </a:r>
            <a:r>
              <a:rPr lang="en-GB" spc="-1" dirty="0" err="1">
                <a:solidFill>
                  <a:srgbClr val="000000"/>
                </a:solidFill>
                <a:cs typeface="Arial"/>
              </a:rPr>
              <a:t>AuditRecord</a:t>
            </a:r>
            <a:r>
              <a:rPr lang="en-GB" spc="-1" dirty="0">
                <a:solidFill>
                  <a:srgbClr val="000000"/>
                </a:solidFill>
                <a:cs typeface="Arial"/>
              </a:rPr>
              <a:t> is generated, saved to volatile memory, and permanently persisted to disk in JSONL format. The client then receives a complete response containing the final decision, full provenance tracking, and any required corrective actions.</a:t>
            </a:r>
            <a:endParaRPr lang="en-GB" dirty="0">
              <a:cs typeface="Arial"/>
            </a:endParaRPr>
          </a:p>
        </p:txBody>
      </p:sp>
      <p:sp>
        <p:nvSpPr>
          <p:cNvPr id="451"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EFFD58E-F7CA-4DC0-8B26-643D462F5BA3}" type="slidenum">
              <a:rPr lang="en-US" sz="1800" b="0" strike="noStrike" spc="-1">
                <a:solidFill>
                  <a:schemeClr val="dk1"/>
                </a:solidFill>
                <a:latin typeface="+mn-lt"/>
                <a:ea typeface="+mn-ea"/>
              </a:rPr>
              <a:t>10</a:t>
            </a:fld>
            <a:endParaRPr lang="en-GB" sz="18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PlaceHolder 1"/>
          <p:cNvSpPr>
            <a:spLocks noGrp="1" noRot="1" noChangeAspect="1"/>
          </p:cNvSpPr>
          <p:nvPr>
            <p:ph type="sldImg"/>
          </p:nvPr>
        </p:nvSpPr>
        <p:spPr>
          <a:xfrm>
            <a:off x="0" y="0"/>
            <a:ext cx="0" cy="0"/>
          </a:xfrm>
          <a:prstGeom prst="rect">
            <a:avLst/>
          </a:prstGeom>
          <a:ln w="0">
            <a:noFill/>
          </a:ln>
        </p:spPr>
      </p:sp>
      <p:sp>
        <p:nvSpPr>
          <p:cNvPr id="45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en-GB" spc="-1" dirty="0">
                <a:solidFill>
                  <a:srgbClr val="000000"/>
                </a:solidFill>
                <a:cs typeface="Arial"/>
              </a:rPr>
              <a:t>Let's now see how this theory translates into actual software implementation by looking closely at the structure of an </a:t>
            </a:r>
            <a:r>
              <a:rPr lang="en-GB" b="1" spc="-1" dirty="0" err="1">
                <a:solidFill>
                  <a:srgbClr val="000000"/>
                </a:solidFill>
                <a:cs typeface="Arial"/>
              </a:rPr>
              <a:t>EvaluationRequest</a:t>
            </a:r>
            <a:r>
              <a:rPr lang="en-GB" spc="-1" dirty="0">
                <a:solidFill>
                  <a:srgbClr val="000000"/>
                </a:solidFill>
                <a:cs typeface="Arial"/>
              </a:rPr>
              <a:t> via a real JSON payload.</a:t>
            </a:r>
            <a:endParaRPr lang="en-US" dirty="0">
              <a:cs typeface="Arial"/>
            </a:endParaRPr>
          </a:p>
          <a:p>
            <a:r>
              <a:rPr lang="en-GB" spc="-1" dirty="0">
                <a:solidFill>
                  <a:srgbClr val="000000"/>
                </a:solidFill>
                <a:cs typeface="Arial"/>
              </a:rPr>
              <a:t>As you can see on the slide, the structure is clean and strongly typed. We find the "action" field, which in this specific scenario is set to "recommend-job", defining the nature of the operation. Next, we have the "</a:t>
            </a:r>
            <a:r>
              <a:rPr lang="en-GB" spc="-1" dirty="0" err="1">
                <a:solidFill>
                  <a:srgbClr val="000000"/>
                </a:solidFill>
                <a:cs typeface="Arial"/>
              </a:rPr>
              <a:t>candidateId</a:t>
            </a:r>
            <a:r>
              <a:rPr lang="en-GB" spc="-1" dirty="0">
                <a:solidFill>
                  <a:srgbClr val="000000"/>
                </a:solidFill>
                <a:cs typeface="Arial"/>
              </a:rPr>
              <a:t>" and "</a:t>
            </a:r>
            <a:r>
              <a:rPr lang="en-GB" spc="-1" dirty="0" err="1">
                <a:solidFill>
                  <a:srgbClr val="000000"/>
                </a:solidFill>
                <a:cs typeface="Arial"/>
              </a:rPr>
              <a:t>jobId</a:t>
            </a:r>
            <a:r>
              <a:rPr lang="en-GB" spc="-1" dirty="0">
                <a:solidFill>
                  <a:srgbClr val="000000"/>
                </a:solidFill>
                <a:cs typeface="Arial"/>
              </a:rPr>
              <a:t>" keys, valued as "cand-001" and "job-003" respectively. As I highlighted moments ago, these IDs are the only hooks EaaS will use to trigger the backend data synchronization call toward the DaaS module.</a:t>
            </a:r>
            <a:endParaRPr lang="en-GB" dirty="0">
              <a:cs typeface="Arial"/>
            </a:endParaRPr>
          </a:p>
          <a:p>
            <a:r>
              <a:rPr lang="en-GB" spc="-1" dirty="0">
                <a:solidFill>
                  <a:srgbClr val="000000"/>
                </a:solidFill>
                <a:cs typeface="Arial"/>
              </a:rPr>
              <a:t>The subsequent fields are "requester", set to the interface user and "purpose", which describes the scope of the request, defined here as "show recommendation". These two parameters are vital for meeting transparency requirements under current regulations, ensuring we always know who initiated the action and why.</a:t>
            </a:r>
            <a:endParaRPr lang="en-GB" dirty="0">
              <a:cs typeface="Arial"/>
            </a:endParaRPr>
          </a:p>
          <a:p>
            <a:r>
              <a:rPr lang="en-GB" spc="-1" dirty="0">
                <a:solidFill>
                  <a:srgbClr val="000000"/>
                </a:solidFill>
                <a:cs typeface="Arial"/>
              </a:rPr>
              <a:t>Finally, I would like to direct your attention to the very last field: "</a:t>
            </a:r>
            <a:r>
              <a:rPr lang="en-GB" spc="-1" dirty="0" err="1">
                <a:solidFill>
                  <a:srgbClr val="000000"/>
                </a:solidFill>
                <a:cs typeface="Arial"/>
              </a:rPr>
              <a:t>declaredRisk</a:t>
            </a:r>
            <a:r>
              <a:rPr lang="en-GB" spc="-1" dirty="0">
                <a:solidFill>
                  <a:srgbClr val="000000"/>
                </a:solidFill>
                <a:cs typeface="Arial"/>
              </a:rPr>
              <a:t>": "LOW". As noted on the slide, the EaaS module </a:t>
            </a:r>
            <a:r>
              <a:rPr lang="en-GB" b="1" spc="-1" dirty="0">
                <a:solidFill>
                  <a:srgbClr val="000000"/>
                </a:solidFill>
                <a:cs typeface="Arial"/>
              </a:rPr>
              <a:t>completely ignores this field</a:t>
            </a:r>
            <a:r>
              <a:rPr lang="en-GB" spc="-1" dirty="0">
                <a:solidFill>
                  <a:srgbClr val="000000"/>
                </a:solidFill>
                <a:cs typeface="Arial"/>
              </a:rPr>
              <a:t>. Because our application embraces a paradigm of autonomous and decentralized validation, self-declared risk from the client side is treated as untrusted. EaaS recalculates the risk level entirely on its own based solely on the objective execution of its internal rules, neutralizing any attempt at fraudulent self-certification or tempering by the client application.</a:t>
            </a:r>
            <a:endParaRPr lang="en-GB" dirty="0">
              <a:cs typeface="Arial"/>
            </a:endParaRPr>
          </a:p>
        </p:txBody>
      </p:sp>
      <p:sp>
        <p:nvSpPr>
          <p:cNvPr id="454"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F19676A6-5EDD-48F2-85B4-E41A820496E1}" type="slidenum">
              <a:rPr lang="en-US" sz="1800" b="0" strike="noStrike" spc="-1">
                <a:solidFill>
                  <a:schemeClr val="dk1"/>
                </a:solidFill>
                <a:latin typeface="+mn-lt"/>
                <a:ea typeface="+mn-ea"/>
              </a:rPr>
              <a:t>11</a:t>
            </a:fld>
            <a:endParaRPr lang="en-GB" sz="18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PlaceHolder 1"/>
          <p:cNvSpPr>
            <a:spLocks noGrp="1" noRot="1" noChangeAspect="1"/>
          </p:cNvSpPr>
          <p:nvPr>
            <p:ph type="sldImg"/>
          </p:nvPr>
        </p:nvSpPr>
        <p:spPr>
          <a:xfrm>
            <a:off x="0" y="0"/>
            <a:ext cx="0" cy="0"/>
          </a:xfrm>
          <a:prstGeom prst="rect">
            <a:avLst/>
          </a:prstGeom>
          <a:ln w="0">
            <a:noFill/>
          </a:ln>
        </p:spPr>
      </p:sp>
      <p:sp>
        <p:nvSpPr>
          <p:cNvPr id="45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en-GB" spc="-1" dirty="0">
                <a:solidFill>
                  <a:srgbClr val="000000"/>
                </a:solidFill>
                <a:cs typeface="Arial"/>
              </a:rPr>
              <a:t>As you can see we have formalized and implemented </a:t>
            </a:r>
            <a:r>
              <a:rPr lang="en-GB" b="1" spc="-1" dirty="0">
                <a:solidFill>
                  <a:srgbClr val="000000"/>
                </a:solidFill>
                <a:cs typeface="Arial"/>
              </a:rPr>
              <a:t>4 distinct Ethical Policies</a:t>
            </a:r>
            <a:r>
              <a:rPr lang="en-GB" spc="-1" dirty="0">
                <a:solidFill>
                  <a:srgbClr val="000000"/>
                </a:solidFill>
                <a:cs typeface="Arial"/>
              </a:rPr>
              <a:t>, mapped across four different severity tiers. A key technical choice here is that these policies reside in external JSON files, allowing us to dynamically update regulatory thresholds and parameters without modifying the core engine.</a:t>
            </a:r>
            <a:endParaRPr lang="en-US" dirty="0">
              <a:cs typeface="Arial"/>
            </a:endParaRPr>
          </a:p>
          <a:p>
            <a:pPr marL="285750" indent="-285750">
              <a:buFont typeface="Arial"/>
              <a:buChar char="•"/>
            </a:pPr>
            <a:r>
              <a:rPr lang="en-GB" spc="-1" dirty="0">
                <a:solidFill>
                  <a:srgbClr val="000000"/>
                </a:solidFill>
                <a:cs typeface="Arial"/>
              </a:rPr>
              <a:t>Our first policy, with a </a:t>
            </a:r>
            <a:r>
              <a:rPr lang="en-GB" b="1" spc="-1" dirty="0">
                <a:solidFill>
                  <a:srgbClr val="000000"/>
                </a:solidFill>
                <a:cs typeface="Arial"/>
              </a:rPr>
              <a:t>CRITICAL</a:t>
            </a:r>
            <a:r>
              <a:rPr lang="en-GB" spc="-1" dirty="0">
                <a:solidFill>
                  <a:srgbClr val="000000"/>
                </a:solidFill>
                <a:cs typeface="Arial"/>
              </a:rPr>
              <a:t> severity tier, is a </a:t>
            </a:r>
            <a:r>
              <a:rPr lang="en-GB" i="1" spc="-1" dirty="0">
                <a:solidFill>
                  <a:srgbClr val="000000"/>
                </a:solidFill>
                <a:cs typeface="Arial"/>
              </a:rPr>
              <a:t>Discriminatory Proxies</a:t>
            </a:r>
            <a:r>
              <a:rPr lang="en-GB" spc="-1" dirty="0">
                <a:solidFill>
                  <a:srgbClr val="000000"/>
                </a:solidFill>
                <a:cs typeface="Arial"/>
              </a:rPr>
              <a:t>. This rule strictly forbids the inclusion or evaluation of explicit exclusion criteria based on fixed age ranges, gender preferences, or unjustified nationality requirements within job offers. From a legal compliance perspective, this policy enforces alignment with the Italian Legislative Decree 198 of 2006 (the Equal Opportunities Code) and the European Directive 2000/78/EC for equal treatment in employment.</a:t>
            </a:r>
            <a:endParaRPr lang="en-GB" dirty="0">
              <a:cs typeface="Arial"/>
            </a:endParaRPr>
          </a:p>
          <a:p>
            <a:pPr marL="285750" indent="-285750">
              <a:buFont typeface="Arial"/>
              <a:buChar char="•"/>
            </a:pPr>
            <a:r>
              <a:rPr lang="en-GB" spc="-1">
                <a:solidFill>
                  <a:srgbClr val="000000"/>
                </a:solidFill>
                <a:cs typeface="Arial"/>
              </a:rPr>
              <a:t>Moving up to the </a:t>
            </a:r>
            <a:r>
              <a:rPr lang="en-GB" b="1" spc="-1">
                <a:solidFill>
                  <a:srgbClr val="000000"/>
                </a:solidFill>
                <a:cs typeface="Arial"/>
              </a:rPr>
              <a:t>HIGH</a:t>
            </a:r>
            <a:r>
              <a:rPr lang="en-GB" spc="-1">
                <a:solidFill>
                  <a:srgbClr val="000000"/>
                </a:solidFill>
                <a:cs typeface="Arial"/>
              </a:rPr>
              <a:t> tier, we find </a:t>
            </a:r>
            <a:r>
              <a:rPr lang="en-GB" i="1" spc="-1">
                <a:solidFill>
                  <a:srgbClr val="000000"/>
                </a:solidFill>
                <a:cs typeface="Arial"/>
              </a:rPr>
              <a:t>Provenance &amp; Data Quality</a:t>
            </a:r>
            <a:r>
              <a:rPr lang="en-GB" spc="-1">
                <a:solidFill>
                  <a:srgbClr val="000000"/>
                </a:solidFill>
                <a:cs typeface="Arial"/>
              </a:rPr>
              <a:t>. The core principle here is that the ethical reliability of a recommendation depends heavily on the integrity of its source. The system natively trusts certified sources, such as direct company portals or controlled synthetic datasets. However, if an offer originates from unverified channels, such as a third-party web scraper or an unknown source, it instantly triggers an </a:t>
            </a:r>
            <a:r>
              <a:rPr lang="en-GB" i="1" spc="-1">
                <a:solidFill>
                  <a:srgbClr val="000000"/>
                </a:solidFill>
                <a:cs typeface="Arial"/>
              </a:rPr>
              <a:t>ESCALATE</a:t>
            </a:r>
            <a:r>
              <a:rPr lang="en-GB" spc="-1">
                <a:solidFill>
                  <a:srgbClr val="000000"/>
                </a:solidFill>
                <a:cs typeface="Arial"/>
              </a:rPr>
              <a:t> flag, halting the automation and demanding human oversight.</a:t>
            </a:r>
            <a:endParaRPr lang="en-GB">
              <a:cs typeface="Arial"/>
            </a:endParaRPr>
          </a:p>
          <a:p>
            <a:pPr marL="285750" indent="-285750">
              <a:buFont typeface="Arial"/>
              <a:buChar char="•"/>
            </a:pPr>
            <a:r>
              <a:rPr lang="en-GB" spc="-1" dirty="0">
                <a:solidFill>
                  <a:srgbClr val="000000"/>
                </a:solidFill>
                <a:cs typeface="Arial"/>
              </a:rPr>
              <a:t>The third policy sits at a </a:t>
            </a:r>
            <a:r>
              <a:rPr lang="en-GB" b="1" spc="-1" dirty="0">
                <a:solidFill>
                  <a:srgbClr val="000000"/>
                </a:solidFill>
                <a:cs typeface="Arial"/>
              </a:rPr>
              <a:t>MEDIUM</a:t>
            </a:r>
            <a:r>
              <a:rPr lang="en-GB" spc="-1" dirty="0">
                <a:solidFill>
                  <a:srgbClr val="000000"/>
                </a:solidFill>
                <a:cs typeface="Arial"/>
              </a:rPr>
              <a:t> severity tier and is called </a:t>
            </a:r>
            <a:r>
              <a:rPr lang="en-GB" i="1" spc="-1" dirty="0">
                <a:solidFill>
                  <a:srgbClr val="000000"/>
                </a:solidFill>
                <a:cs typeface="Arial"/>
              </a:rPr>
              <a:t>Accessibility &amp; Disability</a:t>
            </a:r>
            <a:r>
              <a:rPr lang="en-GB" spc="-1" dirty="0">
                <a:solidFill>
                  <a:srgbClr val="000000"/>
                </a:solidFill>
                <a:cs typeface="Arial"/>
              </a:rPr>
              <a:t>. This rule dictates that if a candidate's profile flags a disability, the recommended job offer must explicitly carry a "</a:t>
            </a:r>
            <a:r>
              <a:rPr lang="en-GB" spc="-1" dirty="0" err="1">
                <a:solidFill>
                  <a:srgbClr val="000000"/>
                </a:solidFill>
                <a:cs typeface="Arial"/>
              </a:rPr>
              <a:t>disabilityFriendly</a:t>
            </a:r>
            <a:r>
              <a:rPr lang="en-GB" spc="-1" dirty="0">
                <a:solidFill>
                  <a:srgbClr val="000000"/>
                </a:solidFill>
                <a:cs typeface="Arial"/>
              </a:rPr>
              <a:t>" tag. If this matching requirement is not met, the system forces a </a:t>
            </a:r>
            <a:r>
              <a:rPr lang="en-GB" i="1" spc="-1" dirty="0">
                <a:solidFill>
                  <a:srgbClr val="000000"/>
                </a:solidFill>
                <a:cs typeface="Arial"/>
              </a:rPr>
              <a:t>REVISE</a:t>
            </a:r>
            <a:r>
              <a:rPr lang="en-GB" spc="-1" dirty="0">
                <a:solidFill>
                  <a:srgbClr val="000000"/>
                </a:solidFill>
                <a:cs typeface="Arial"/>
              </a:rPr>
              <a:t> state, flagging the recommendation for lacking inclusivity. The stringent legal frameworks referenced here are Article 27 of the UN Convention on the Rights of Persons with Disabilities and the Italian Law 68 of 1999 concerning the right to work for disabled individuals.</a:t>
            </a:r>
            <a:endParaRPr lang="en-GB" dirty="0">
              <a:cs typeface="Arial"/>
            </a:endParaRPr>
          </a:p>
          <a:p>
            <a:pPr marL="285750" indent="-285750">
              <a:buFont typeface="Arial"/>
              <a:buChar char="•"/>
            </a:pPr>
            <a:r>
              <a:rPr lang="en-GB" spc="-1" dirty="0">
                <a:solidFill>
                  <a:srgbClr val="000000"/>
                </a:solidFill>
                <a:cs typeface="Arial"/>
              </a:rPr>
              <a:t>Lastly, at the </a:t>
            </a:r>
            <a:r>
              <a:rPr lang="en-GB" b="1" spc="-1" dirty="0">
                <a:solidFill>
                  <a:srgbClr val="000000"/>
                </a:solidFill>
                <a:cs typeface="Arial"/>
              </a:rPr>
              <a:t>LOW</a:t>
            </a:r>
            <a:r>
              <a:rPr lang="en-GB" spc="-1" dirty="0">
                <a:solidFill>
                  <a:srgbClr val="000000"/>
                </a:solidFill>
                <a:cs typeface="Arial"/>
              </a:rPr>
              <a:t> severity tier, we have a policy governing </a:t>
            </a:r>
            <a:r>
              <a:rPr lang="en-GB" i="1" spc="-1" dirty="0">
                <a:solidFill>
                  <a:srgbClr val="000000"/>
                </a:solidFill>
                <a:cs typeface="Arial"/>
              </a:rPr>
              <a:t>Transparency &amp; Purpose</a:t>
            </a:r>
            <a:r>
              <a:rPr lang="en-GB" spc="-1" dirty="0">
                <a:solidFill>
                  <a:srgbClr val="000000"/>
                </a:solidFill>
                <a:cs typeface="Arial"/>
              </a:rPr>
              <a:t>. This rule verifies the actual presence of the requester identity and the purpose fields that we looked at in the previous slide. If these fields are omitted, the recommendation loses the basic transparency requirements mandated by Articles 13 and 22 of the GDPR, triggering a low-level risk alert.</a:t>
            </a:r>
            <a:endParaRPr lang="en-GB" dirty="0">
              <a:cs typeface="Arial"/>
            </a:endParaRPr>
          </a:p>
        </p:txBody>
      </p:sp>
      <p:sp>
        <p:nvSpPr>
          <p:cNvPr id="457"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114DC62-7E3F-4F70-B03A-F0B640E763A0}" type="slidenum">
              <a:rPr lang="en-US" sz="1800" b="0" strike="noStrike" spc="-1">
                <a:solidFill>
                  <a:schemeClr val="dk1"/>
                </a:solidFill>
                <a:latin typeface="+mn-lt"/>
                <a:ea typeface="+mn-ea"/>
              </a:rPr>
              <a:t>12</a:t>
            </a:fld>
            <a:endParaRPr lang="en-GB" sz="18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PlaceHolder 1"/>
          <p:cNvSpPr>
            <a:spLocks noGrp="1" noRot="1" noChangeAspect="1"/>
          </p:cNvSpPr>
          <p:nvPr>
            <p:ph type="sldImg"/>
          </p:nvPr>
        </p:nvSpPr>
        <p:spPr>
          <a:xfrm>
            <a:off x="0" y="0"/>
            <a:ext cx="0" cy="0"/>
          </a:xfrm>
          <a:prstGeom prst="rect">
            <a:avLst/>
          </a:prstGeom>
          <a:ln w="0">
            <a:noFill/>
          </a:ln>
        </p:spPr>
      </p:sp>
      <p:sp>
        <p:nvSpPr>
          <p:cNvPr id="45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en-GB" spc="-1" dirty="0">
                <a:solidFill>
                  <a:srgbClr val="000000"/>
                </a:solidFill>
                <a:cs typeface="Arial"/>
              </a:rPr>
              <a:t>To test the robustness and responsiveness of our Policy Engine in pseudo real-world conditions, we didn't just stick to ideal, clean scenarios. We intentionally injected several "problematic" job offers into our synthetic RDF dataset, embedding clear ethical anti-patterns designed to put our EaaS policies to the test.</a:t>
            </a:r>
            <a:endParaRPr lang="en-US" dirty="0">
              <a:cs typeface="Arial"/>
            </a:endParaRPr>
          </a:p>
          <a:p>
            <a:pPr marL="285750" indent="-285750">
              <a:buFont typeface="Arial"/>
              <a:buChar char="•"/>
            </a:pPr>
            <a:r>
              <a:rPr lang="en-GB" spc="-1" dirty="0">
                <a:solidFill>
                  <a:srgbClr val="000000"/>
                </a:solidFill>
                <a:cs typeface="Arial"/>
              </a:rPr>
              <a:t>Job offer </a:t>
            </a:r>
            <a:r>
              <a:rPr lang="en-GB" b="1" spc="-1" dirty="0">
                <a:solidFill>
                  <a:srgbClr val="000000"/>
                </a:solidFill>
                <a:cs typeface="Arial"/>
              </a:rPr>
              <a:t>job-003</a:t>
            </a:r>
            <a:r>
              <a:rPr lang="en-GB" spc="-1" dirty="0">
                <a:solidFill>
                  <a:srgbClr val="000000"/>
                </a:solidFill>
                <a:cs typeface="Arial"/>
              </a:rPr>
              <a:t>, titled </a:t>
            </a:r>
            <a:r>
              <a:rPr lang="en-GB" i="1" spc="-1" dirty="0">
                <a:solidFill>
                  <a:srgbClr val="000000"/>
                </a:solidFill>
                <a:cs typeface="Arial"/>
              </a:rPr>
              <a:t>"Junior Frontend Dev"</a:t>
            </a:r>
            <a:r>
              <a:rPr lang="en-GB" spc="-1" dirty="0">
                <a:solidFill>
                  <a:srgbClr val="000000"/>
                </a:solidFill>
                <a:cs typeface="Arial"/>
              </a:rPr>
              <a:t>, contains a critical flaw: a maximum age limit capped at 30 years (</a:t>
            </a:r>
            <a:r>
              <a:rPr lang="en-GB" spc="-1" dirty="0" err="1">
                <a:solidFill>
                  <a:srgbClr val="000000"/>
                </a:solidFill>
                <a:cs typeface="Arial"/>
              </a:rPr>
              <a:t>emp:ageRangeMax</a:t>
            </a:r>
            <a:r>
              <a:rPr lang="en-GB" spc="-1" dirty="0">
                <a:solidFill>
                  <a:srgbClr val="000000"/>
                </a:solidFill>
                <a:cs typeface="Arial"/>
              </a:rPr>
              <a:t> = 30). This represents a blatant case of </a:t>
            </a:r>
            <a:r>
              <a:rPr lang="en-GB" i="1" spc="-1" dirty="0">
                <a:solidFill>
                  <a:srgbClr val="000000"/>
                </a:solidFill>
                <a:cs typeface="Arial"/>
              </a:rPr>
              <a:t>Ageism</a:t>
            </a:r>
            <a:r>
              <a:rPr lang="en-GB" spc="-1" dirty="0">
                <a:solidFill>
                  <a:srgbClr val="000000"/>
                </a:solidFill>
                <a:cs typeface="Arial"/>
              </a:rPr>
              <a:t>, designed specifically to trip our critical Discrimination policy.</a:t>
            </a:r>
            <a:endParaRPr lang="en-GB" dirty="0">
              <a:cs typeface="Arial"/>
            </a:endParaRPr>
          </a:p>
          <a:p>
            <a:pPr marL="285750" indent="-285750">
              <a:buFont typeface="Arial"/>
              <a:buChar char="•"/>
            </a:pPr>
            <a:r>
              <a:rPr lang="en-GB" spc="-1" dirty="0">
                <a:solidFill>
                  <a:srgbClr val="000000"/>
                </a:solidFill>
                <a:cs typeface="Arial"/>
              </a:rPr>
              <a:t>Job offer </a:t>
            </a:r>
            <a:r>
              <a:rPr lang="en-GB" b="1" spc="-1" dirty="0">
                <a:solidFill>
                  <a:srgbClr val="000000"/>
                </a:solidFill>
                <a:cs typeface="Arial"/>
              </a:rPr>
              <a:t>job-004</a:t>
            </a:r>
            <a:r>
              <a:rPr lang="en-GB" spc="-1" dirty="0">
                <a:solidFill>
                  <a:srgbClr val="000000"/>
                </a:solidFill>
                <a:cs typeface="Arial"/>
              </a:rPr>
              <a:t>, for a </a:t>
            </a:r>
            <a:r>
              <a:rPr lang="en-GB" i="1" spc="-1" dirty="0">
                <a:solidFill>
                  <a:srgbClr val="000000"/>
                </a:solidFill>
                <a:cs typeface="Arial"/>
              </a:rPr>
              <a:t>"Logistics Manager"</a:t>
            </a:r>
            <a:r>
              <a:rPr lang="en-GB" spc="-1" dirty="0">
                <a:solidFill>
                  <a:srgbClr val="000000"/>
                </a:solidFill>
                <a:cs typeface="Arial"/>
              </a:rPr>
              <a:t> role, has its </a:t>
            </a:r>
            <a:r>
              <a:rPr lang="en-GB" spc="-1" dirty="0" err="1">
                <a:solidFill>
                  <a:srgbClr val="000000"/>
                </a:solidFill>
                <a:cs typeface="Arial"/>
              </a:rPr>
              <a:t>genderPreference</a:t>
            </a:r>
            <a:r>
              <a:rPr lang="en-GB" spc="-1" dirty="0">
                <a:solidFill>
                  <a:srgbClr val="000000"/>
                </a:solidFill>
                <a:cs typeface="Arial"/>
              </a:rPr>
              <a:t> property rigidly set to "male". This allows us to test direct gender discrimination.</a:t>
            </a:r>
            <a:endParaRPr lang="en-GB" dirty="0">
              <a:cs typeface="Arial"/>
            </a:endParaRPr>
          </a:p>
          <a:p>
            <a:pPr marL="285750" indent="-285750">
              <a:buFont typeface="Arial"/>
              <a:buChar char="•"/>
            </a:pPr>
            <a:r>
              <a:rPr lang="en-GB" spc="-1" dirty="0">
                <a:solidFill>
                  <a:srgbClr val="000000"/>
                </a:solidFill>
                <a:cs typeface="Arial"/>
              </a:rPr>
              <a:t>For </a:t>
            </a:r>
            <a:r>
              <a:rPr lang="en-GB" b="1" spc="-1" dirty="0">
                <a:solidFill>
                  <a:srgbClr val="000000"/>
                </a:solidFill>
                <a:cs typeface="Arial"/>
              </a:rPr>
              <a:t>job-008</a:t>
            </a:r>
            <a:r>
              <a:rPr lang="en-GB" spc="-1" dirty="0">
                <a:solidFill>
                  <a:srgbClr val="000000"/>
                </a:solidFill>
                <a:cs typeface="Arial"/>
              </a:rPr>
              <a:t>, a </a:t>
            </a:r>
            <a:r>
              <a:rPr lang="en-GB" i="1" spc="-1" dirty="0">
                <a:solidFill>
                  <a:srgbClr val="000000"/>
                </a:solidFill>
                <a:cs typeface="Arial"/>
              </a:rPr>
              <a:t>"Gov. Contractor Dev"</a:t>
            </a:r>
            <a:r>
              <a:rPr lang="en-GB" spc="-1" dirty="0">
                <a:solidFill>
                  <a:srgbClr val="000000"/>
                </a:solidFill>
                <a:cs typeface="Arial"/>
              </a:rPr>
              <a:t> posting, we introduced the constraint </a:t>
            </a:r>
            <a:r>
              <a:rPr lang="en-GB" spc="-1" dirty="0" err="1">
                <a:solidFill>
                  <a:srgbClr val="000000"/>
                </a:solidFill>
                <a:cs typeface="Arial"/>
              </a:rPr>
              <a:t>nationalityRequirement</a:t>
            </a:r>
            <a:r>
              <a:rPr lang="en-GB" spc="-1" dirty="0">
                <a:solidFill>
                  <a:srgbClr val="000000"/>
                </a:solidFill>
                <a:cs typeface="Arial"/>
              </a:rPr>
              <a:t> = IT. This serves to evaluate nationality-based discrimination, a highly sensitive factor in both public and private contracts.</a:t>
            </a:r>
            <a:endParaRPr lang="en-GB" dirty="0">
              <a:cs typeface="Arial"/>
            </a:endParaRPr>
          </a:p>
          <a:p>
            <a:pPr marL="285750" indent="-285750">
              <a:buFont typeface="Arial"/>
              <a:buChar char="•"/>
            </a:pPr>
            <a:r>
              <a:rPr lang="en-GB" spc="-1" dirty="0">
                <a:solidFill>
                  <a:srgbClr val="000000"/>
                </a:solidFill>
                <a:cs typeface="Arial"/>
              </a:rPr>
              <a:t>Another variation of age discrimination can be seen in </a:t>
            </a:r>
            <a:r>
              <a:rPr lang="en-GB" b="1" spc="-1" dirty="0">
                <a:solidFill>
                  <a:srgbClr val="000000"/>
                </a:solidFill>
                <a:cs typeface="Arial"/>
              </a:rPr>
              <a:t>job-016</a:t>
            </a:r>
            <a:r>
              <a:rPr lang="en-GB" spc="-1" dirty="0">
                <a:solidFill>
                  <a:srgbClr val="000000"/>
                </a:solidFill>
                <a:cs typeface="Arial"/>
              </a:rPr>
              <a:t> (</a:t>
            </a:r>
            <a:r>
              <a:rPr lang="en-GB" i="1" spc="-1" dirty="0">
                <a:solidFill>
                  <a:srgbClr val="000000"/>
                </a:solidFill>
                <a:cs typeface="Arial"/>
              </a:rPr>
              <a:t>"Trainee Sw. Eng."</a:t>
            </a:r>
            <a:r>
              <a:rPr lang="en-GB" spc="-1" dirty="0">
                <a:solidFill>
                  <a:srgbClr val="000000"/>
                </a:solidFill>
                <a:cs typeface="Arial"/>
              </a:rPr>
              <a:t>), where an extremely narrow age band was defined, restricting candidates to between 20 and 26 years of age. This record further stresses our </a:t>
            </a:r>
            <a:r>
              <a:rPr lang="en-GB" spc="-1" dirty="0" err="1">
                <a:solidFill>
                  <a:srgbClr val="000000"/>
                </a:solidFill>
                <a:cs typeface="Arial"/>
              </a:rPr>
              <a:t>defenses</a:t>
            </a:r>
            <a:r>
              <a:rPr lang="en-GB" spc="-1" dirty="0">
                <a:solidFill>
                  <a:srgbClr val="000000"/>
                </a:solidFill>
                <a:cs typeface="Arial"/>
              </a:rPr>
              <a:t> against generational bias.</a:t>
            </a:r>
            <a:endParaRPr lang="en-GB" dirty="0">
              <a:cs typeface="Arial"/>
            </a:endParaRPr>
          </a:p>
          <a:p>
            <a:pPr marL="285750" indent="-285750">
              <a:buFont typeface="Arial"/>
              <a:buChar char="•"/>
            </a:pPr>
            <a:r>
              <a:rPr lang="en-GB" spc="-1" dirty="0">
                <a:solidFill>
                  <a:srgbClr val="000000"/>
                </a:solidFill>
                <a:cs typeface="Arial"/>
              </a:rPr>
              <a:t>Finally, to evaluate our data quality and provenance metrics, we included job offer </a:t>
            </a:r>
            <a:r>
              <a:rPr lang="en-GB" b="1" spc="-1" dirty="0">
                <a:solidFill>
                  <a:srgbClr val="000000"/>
                </a:solidFill>
                <a:cs typeface="Arial"/>
              </a:rPr>
              <a:t>job-012</a:t>
            </a:r>
            <a:r>
              <a:rPr lang="en-GB" spc="-1" dirty="0">
                <a:solidFill>
                  <a:srgbClr val="000000"/>
                </a:solidFill>
                <a:cs typeface="Arial"/>
              </a:rPr>
              <a:t> (</a:t>
            </a:r>
            <a:r>
              <a:rPr lang="en-GB" i="1" spc="-1" dirty="0">
                <a:solidFill>
                  <a:srgbClr val="000000"/>
                </a:solidFill>
                <a:cs typeface="Arial"/>
              </a:rPr>
              <a:t>"Sales Representative"</a:t>
            </a:r>
            <a:r>
              <a:rPr lang="en-GB" spc="-1" dirty="0">
                <a:solidFill>
                  <a:srgbClr val="000000"/>
                </a:solidFill>
                <a:cs typeface="Arial"/>
              </a:rPr>
              <a:t>). This posting leaves the salary field completely missing and sets its source value to "unknown". This record immediately activates the policy Provenance and Data Quality, pushing the system into an escalation state due to poor data quality and structural opacity.</a:t>
            </a:r>
            <a:endParaRPr lang="en-GB" dirty="0">
              <a:cs typeface="Arial"/>
            </a:endParaRPr>
          </a:p>
          <a:p>
            <a:r>
              <a:rPr lang="en-GB" spc="-1" dirty="0">
                <a:solidFill>
                  <a:srgbClr val="000000"/>
                </a:solidFill>
                <a:cs typeface="Arial"/>
              </a:rPr>
              <a:t>By utilizing this highly polarized dataset, we have shown that the EaaS module is capable of intercepting every single regulatory deviation before it can ever reach the client's UI or populate a candidate's recommendation list.</a:t>
            </a:r>
            <a:endParaRPr lang="en-GB" dirty="0">
              <a:cs typeface="Arial"/>
            </a:endParaRPr>
          </a:p>
          <a:p>
            <a:r>
              <a:rPr lang="en-GB" spc="-1">
                <a:solidFill>
                  <a:srgbClr val="000000"/>
                </a:solidFill>
              </a:rPr>
              <a:t>I will now hand over the presentation to Federico, who will show you how these decisions and findings are immutably logged within the Audit Trail, and how the DaaS and EaaS modules seamlessly cooperate within the overall system. Thank you.</a:t>
            </a:r>
            <a:endParaRPr lang="en-GB"/>
          </a:p>
        </p:txBody>
      </p:sp>
      <p:sp>
        <p:nvSpPr>
          <p:cNvPr id="460"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72E46B39-D675-41D6-A71A-2463DC3BA188}" type="slidenum">
              <a:rPr lang="en-US" sz="1800" b="0" strike="noStrike" spc="-1">
                <a:solidFill>
                  <a:schemeClr val="dk1"/>
                </a:solidFill>
                <a:latin typeface="+mn-lt"/>
                <a:ea typeface="+mn-ea"/>
              </a:rPr>
              <a:t>13</a:t>
            </a:fld>
            <a:endParaRPr lang="en-GB" sz="18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PlaceHolder 1"/>
          <p:cNvSpPr>
            <a:spLocks noGrp="1" noRot="1" noChangeAspect="1"/>
          </p:cNvSpPr>
          <p:nvPr>
            <p:ph type="sldImg"/>
          </p:nvPr>
        </p:nvSpPr>
        <p:spPr>
          <a:xfrm>
            <a:off x="0" y="0"/>
            <a:ext cx="0" cy="0"/>
          </a:xfrm>
          <a:prstGeom prst="rect">
            <a:avLst/>
          </a:prstGeom>
          <a:ln w="0">
            <a:noFill/>
          </a:ln>
        </p:spPr>
      </p:sp>
      <p:sp>
        <p:nvSpPr>
          <p:cNvPr id="46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2000" b="0" strike="noStrike" spc="-1">
                <a:solidFill>
                  <a:srgbClr val="000000"/>
                </a:solidFill>
                <a:latin typeface="Arial"/>
              </a:rPr>
              <a:t>Good morning everyone.</a:t>
            </a:r>
            <a:br>
              <a:rPr sz="2000"/>
            </a:br>
            <a:r>
              <a:rPr lang="en-US" sz="2000" b="0" strike="noStrike" spc="-1">
                <a:solidFill>
                  <a:srgbClr val="000000"/>
                </a:solidFill>
                <a:latin typeface="Arial"/>
              </a:rPr>
              <a:t>In this final part of the presentation, I would like to focus on the governance and reflection aspects of our project, especially the audit trail, the ethical decision process, and the main limitations of the system.</a:t>
            </a:r>
            <a:endParaRPr lang="en-GB" sz="2000" b="0" strike="noStrike" spc="-1">
              <a:solidFill>
                <a:srgbClr val="000000"/>
              </a:solidFill>
              <a:latin typeface="Arial"/>
            </a:endParaRPr>
          </a:p>
          <a:p>
            <a:pPr indent="0" defTabSz="914400">
              <a:lnSpc>
                <a:spcPct val="100000"/>
              </a:lnSpc>
              <a:buNone/>
              <a:tabLst>
                <a:tab pos="0" algn="l"/>
              </a:tabLst>
            </a:pPr>
            <a:endParaRPr lang="en-GB" sz="2000" b="0" strike="noStrike" spc="-1">
              <a:solidFill>
                <a:srgbClr val="000000"/>
              </a:solidFill>
              <a:latin typeface="Arial"/>
            </a:endParaRPr>
          </a:p>
        </p:txBody>
      </p:sp>
      <p:sp>
        <p:nvSpPr>
          <p:cNvPr id="463"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B54DEF8-F89E-4AB6-9D33-0558A86DFBC3}" type="slidenum">
              <a:rPr lang="en-US" sz="1800" b="0" strike="noStrike" spc="-1">
                <a:solidFill>
                  <a:schemeClr val="dk1"/>
                </a:solidFill>
                <a:latin typeface="+mn-lt"/>
                <a:ea typeface="+mn-ea"/>
              </a:rPr>
              <a:t>14</a:t>
            </a:fld>
            <a:endParaRPr lang="en-GB" sz="18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PlaceHolder 1"/>
          <p:cNvSpPr>
            <a:spLocks noGrp="1" noRot="1" noChangeAspect="1"/>
          </p:cNvSpPr>
          <p:nvPr>
            <p:ph type="sldImg"/>
          </p:nvPr>
        </p:nvSpPr>
        <p:spPr>
          <a:xfrm>
            <a:off x="0" y="0"/>
            <a:ext cx="0" cy="0"/>
          </a:xfrm>
          <a:prstGeom prst="rect">
            <a:avLst/>
          </a:prstGeom>
          <a:ln w="0">
            <a:noFill/>
          </a:ln>
        </p:spPr>
      </p:sp>
      <p:sp>
        <p:nvSpPr>
          <p:cNvPr id="46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pPr>
            <a:r>
              <a:rPr lang="en-US" sz="2000" b="0" strike="noStrike" spc="-1">
                <a:solidFill>
                  <a:srgbClr val="000000"/>
                </a:solidFill>
                <a:latin typeface="Arial"/>
              </a:rPr>
              <a:t>One of the core ideas behind our EaaS module is accountability.</a:t>
            </a:r>
            <a:br>
              <a:rPr sz="2000"/>
            </a:br>
            <a:r>
              <a:rPr lang="en-US" sz="2000" b="0" strike="noStrike" spc="-1">
                <a:solidFill>
                  <a:srgbClr val="000000"/>
                </a:solidFill>
                <a:latin typeface="Arial"/>
              </a:rPr>
              <a:t>Every ethical evaluation performed by the system is fully tracked through an audit trail.</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For each evaluation, the system stores a complete audit record containing:</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 unique identifier,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 timestamp,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original request,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candidate and job data used during evaluation,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final risk level,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final decision,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and all evaluated policies.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This is important because it allows us to reconstruct every decision made by the system.</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For example, if a recommendation is rejected, we can later verify:</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who requested the evaluation,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which data was analyzed,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which ethical policies were triggered,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and why the system produced that result.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Another important aspect is provenance tracking.</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EaaS stores the real data fetched from the DaaS during the evaluation process.</a:t>
            </a:r>
            <a:br>
              <a:rPr sz="2000"/>
            </a:br>
            <a:r>
              <a:rPr lang="en-US" sz="2000" b="0" strike="noStrike" spc="-1">
                <a:solidFill>
                  <a:srgbClr val="000000"/>
                </a:solidFill>
                <a:latin typeface="Arial"/>
              </a:rPr>
              <a:t>This means that even if the dataset changes later, we still preserve the exact snapshot that was used when the decision was made.</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This improves transparency and reproducibility, which are fundamental concepts in ethical and trustworthy systems.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audit trail is persisted using the JSONL format, meaning one JSON object per line.</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This creates an append-only history of evaluations.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Previous records are never modified or overwritten.</a:t>
            </a:r>
            <a:br>
              <a:rPr sz="2000"/>
            </a:br>
            <a:r>
              <a:rPr lang="en-US" sz="2000" b="0" strike="noStrike" spc="-1">
                <a:solidFill>
                  <a:srgbClr val="000000"/>
                </a:solidFill>
                <a:latin typeface="Arial"/>
              </a:rPr>
              <a:t>New evaluations are simply appended to the log.</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This approach is commonly used in governance and compliance systems because it preserves historical evidence and improves traceability.</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p:txBody>
      </p:sp>
      <p:sp>
        <p:nvSpPr>
          <p:cNvPr id="466"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D297C8D-C3B7-4572-AC57-A047CC0794AC}" type="slidenum">
              <a:rPr lang="en-US" sz="1800" b="0" strike="noStrike" spc="-1">
                <a:solidFill>
                  <a:schemeClr val="dk1"/>
                </a:solidFill>
                <a:latin typeface="+mn-lt"/>
                <a:ea typeface="+mn-ea"/>
              </a:rPr>
              <a:t>15</a:t>
            </a:fld>
            <a:endParaRPr lang="en-GB" sz="18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PlaceHolder 1"/>
          <p:cNvSpPr>
            <a:spLocks noGrp="1" noRot="1" noChangeAspect="1"/>
          </p:cNvSpPr>
          <p:nvPr>
            <p:ph type="sldImg"/>
          </p:nvPr>
        </p:nvSpPr>
        <p:spPr>
          <a:xfrm>
            <a:off x="0" y="0"/>
            <a:ext cx="0" cy="0"/>
          </a:xfrm>
          <a:prstGeom prst="rect">
            <a:avLst/>
          </a:prstGeom>
          <a:ln w="0">
            <a:noFill/>
          </a:ln>
        </p:spPr>
      </p:sp>
      <p:sp>
        <p:nvSpPr>
          <p:cNvPr id="46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pPr>
            <a:r>
              <a:rPr lang="en-US" sz="2000" b="0" strike="noStrike" spc="-1">
                <a:solidFill>
                  <a:srgbClr val="000000"/>
                </a:solidFill>
                <a:latin typeface="Arial"/>
              </a:rPr>
              <a:t>Regarding the ethical decision process itself, the EaaS evaluates all active policies and then aggregates the results.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If no policy is violated, the recommendation is accepted with a PROCEED decision and a LOW risk level.</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p:txBody>
      </p:sp>
      <p:sp>
        <p:nvSpPr>
          <p:cNvPr id="469"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C56AE87-BA2C-4012-84DC-D6DD97AA7285}" type="slidenum">
              <a:rPr lang="en-US" sz="1800" b="0" strike="noStrike" spc="-1">
                <a:solidFill>
                  <a:schemeClr val="dk1"/>
                </a:solidFill>
                <a:latin typeface="+mn-lt"/>
                <a:ea typeface="+mn-ea"/>
              </a:rPr>
              <a:t>16</a:t>
            </a:fld>
            <a:endParaRPr lang="en-GB" sz="18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PlaceHolder 1"/>
          <p:cNvSpPr>
            <a:spLocks noGrp="1" noRot="1" noChangeAspect="1"/>
          </p:cNvSpPr>
          <p:nvPr>
            <p:ph type="sldImg"/>
          </p:nvPr>
        </p:nvSpPr>
        <p:spPr>
          <a:xfrm>
            <a:off x="0" y="0"/>
            <a:ext cx="0" cy="0"/>
          </a:xfrm>
          <a:prstGeom prst="rect">
            <a:avLst/>
          </a:prstGeom>
          <a:ln w="0">
            <a:noFill/>
          </a:ln>
        </p:spPr>
      </p:sp>
      <p:sp>
        <p:nvSpPr>
          <p:cNvPr id="47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pPr>
            <a:r>
              <a:rPr lang="en-US" sz="2000" b="0" strike="noStrike" spc="-1">
                <a:solidFill>
                  <a:srgbClr val="000000"/>
                </a:solidFill>
                <a:latin typeface="Arial"/>
              </a:rPr>
              <a:t>Instead, if severe violations are detected, the recommendation may be rejected.</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For example, in our second scenario, the offer contains an explicit age restriction and also comes from an untrusted source.</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These elements trigger two different policies: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discriminatory proxy policy,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and the provenance policy.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Because the discriminatory policy produces a CRITICAL severity finding, the final decision becomes REJECT.</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However, an important clarification is that REJECT does not permanently remove the offer from the system.</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EaaS only blocks the automatic recommendation process.</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p:txBody>
      </p:sp>
      <p:sp>
        <p:nvSpPr>
          <p:cNvPr id="472"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05BB1770-D7E3-40FD-A127-93D15A3286E5}" type="slidenum">
              <a:rPr lang="en-US" sz="1800" b="0" strike="noStrike" spc="-1">
                <a:solidFill>
                  <a:schemeClr val="dk1"/>
                </a:solidFill>
                <a:latin typeface="+mn-lt"/>
                <a:ea typeface="+mn-ea"/>
              </a:rPr>
              <a:t>17</a:t>
            </a:fld>
            <a:endParaRPr lang="en-GB" sz="18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PlaceHolder 1"/>
          <p:cNvSpPr>
            <a:spLocks noGrp="1" noRot="1" noChangeAspect="1"/>
          </p:cNvSpPr>
          <p:nvPr>
            <p:ph type="sldImg"/>
          </p:nvPr>
        </p:nvSpPr>
        <p:spPr>
          <a:xfrm>
            <a:off x="0" y="0"/>
            <a:ext cx="0" cy="0"/>
          </a:xfrm>
          <a:prstGeom prst="rect">
            <a:avLst/>
          </a:prstGeom>
          <a:ln w="0">
            <a:noFill/>
          </a:ln>
        </p:spPr>
      </p:sp>
      <p:sp>
        <p:nvSpPr>
          <p:cNvPr id="47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75"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EC875CC-D2CD-4DD6-A0BB-479CA38A00CA}" type="slidenum">
              <a:rPr lang="en-US" sz="1800" b="0" strike="noStrike" spc="-1">
                <a:solidFill>
                  <a:schemeClr val="dk1"/>
                </a:solidFill>
                <a:latin typeface="+mn-lt"/>
                <a:ea typeface="+mn-ea"/>
              </a:rPr>
              <a:t>18</a:t>
            </a:fld>
            <a:endParaRPr lang="en-GB" sz="18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PlaceHolder 1"/>
          <p:cNvSpPr>
            <a:spLocks noGrp="1" noRot="1" noChangeAspect="1"/>
          </p:cNvSpPr>
          <p:nvPr>
            <p:ph type="sldImg"/>
          </p:nvPr>
        </p:nvSpPr>
        <p:spPr>
          <a:xfrm>
            <a:off x="0" y="0"/>
            <a:ext cx="0" cy="0"/>
          </a:xfrm>
          <a:prstGeom prst="rect">
            <a:avLst/>
          </a:prstGeom>
          <a:ln w="0">
            <a:noFill/>
          </a:ln>
        </p:spPr>
      </p:sp>
      <p:sp>
        <p:nvSpPr>
          <p:cNvPr id="47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pPr>
            <a:r>
              <a:rPr lang="en-US" sz="2000" b="0" strike="noStrike" spc="-1">
                <a:solidFill>
                  <a:srgbClr val="000000"/>
                </a:solidFill>
                <a:latin typeface="Arial"/>
              </a:rPr>
              <a:t>Human review is still required before taking permanent actions.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This leads to the critical reflection section of the project.</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Our system has several important limitations.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First, it only detects explicit discriminatory fields such as: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age limits,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gender preferences,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and nationality requirements.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It does not detect indirect or subtle proxies such as: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postcode,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university,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names,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or employment gaps.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These forms of bias are much more difficult to identify and would require advanced statistical or machine learning techniques.</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Another limitation is that the ethical logic is still implemented in Java code.</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JSON policy files contain metadata and configuration parameters, but the actual evaluation behavior is hardcoded.</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As a consequence, modifying the behavior of the policies still requires developer intervention.</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system also does not compute aggregate fairness metrics over time.</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Each recommendation is evaluated individually, but the platform cannot detect systemic disparities across demographic groups.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For example, it cannot determine whether a specific category of candidates consistently receives fewer recommendations than others.</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Another limitation is that the dataset used in the project is synthetic.</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In a real production environment, additional concerns would be necessary, including:</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GDPR consent management,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encryption,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retention policies,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and right-to-explanation procedures.</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p:txBody>
      </p:sp>
      <p:sp>
        <p:nvSpPr>
          <p:cNvPr id="478"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FDE37F54-9286-4E7C-99F4-059C16AA65F1}" type="slidenum">
              <a:rPr lang="en-US" sz="1800" b="0" strike="noStrike" spc="-1">
                <a:solidFill>
                  <a:schemeClr val="dk1"/>
                </a:solidFill>
                <a:latin typeface="+mn-lt"/>
                <a:ea typeface="+mn-ea"/>
              </a:rPr>
              <a:t>19</a:t>
            </a:fld>
            <a:endParaRPr lang="en-GB" sz="18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PlaceHolder 1"/>
          <p:cNvSpPr>
            <a:spLocks noGrp="1" noRot="1" noChangeAspect="1"/>
          </p:cNvSpPr>
          <p:nvPr>
            <p:ph type="sldImg"/>
          </p:nvPr>
        </p:nvSpPr>
        <p:spPr>
          <a:xfrm>
            <a:off x="0" y="0"/>
            <a:ext cx="0" cy="0"/>
          </a:xfrm>
          <a:prstGeom prst="rect">
            <a:avLst/>
          </a:prstGeom>
          <a:ln w="0">
            <a:noFill/>
          </a:ln>
        </p:spPr>
      </p:sp>
      <p:sp>
        <p:nvSpPr>
          <p:cNvPr id="48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pPr>
            <a:r>
              <a:rPr lang="en-US" sz="2000" b="0" strike="noStrike" spc="-1">
                <a:solidFill>
                  <a:srgbClr val="000000"/>
                </a:solidFill>
                <a:latin typeface="Arial"/>
              </a:rPr>
              <a:t>Finally, there are several decisions that we intentionally decided not to automate.</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platform does not perform final hiring decisions.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It only provides recommendations and ethical evaluations.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final responsibility must always remain with human decision makers.</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Similarly, the system does not permanently exclude job offers automatically.</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 REJECT decision only blocks automated recommendation flows until a human review is performed.</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EaaS also cannot interpret complex legal contexts.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For instance, a nationality requirement may sometimes be discriminatory, but in other cases it could be legally justified due to national security regulations.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system lacks the contextual understanding required for those situations, so escalation to human review is necessary.</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Finally, the platform does not evaluate soft skills or human qualities such as:</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motivation,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communication,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leadership,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empathy,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or cultural fit. </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Those dimensions remain outside the scope of our RDF model and should not be delegated to automated systems.</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So the key message of this project is that ethics should not be treated as a final checkbox added after development.</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Instead, governance, transparency, auditing, and human oversight should be integrated directly into the architecture of the system itself.</a:t>
            </a:r>
            <a:endParaRPr lang="en-GB"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Thank you.</a:t>
            </a:r>
            <a:endParaRPr lang="en-GB" sz="2000" b="0" strike="noStrike" spc="-1">
              <a:solidFill>
                <a:srgbClr val="000000"/>
              </a:solidFill>
              <a:latin typeface="Arial"/>
            </a:endParaRPr>
          </a:p>
          <a:p>
            <a:pPr marL="216000" indent="0">
              <a:lnSpc>
                <a:spcPct val="100000"/>
              </a:lnSpc>
              <a:buNone/>
            </a:pPr>
            <a:endParaRPr lang="en-GB" sz="2000" b="0" strike="noStrike" spc="-1">
              <a:solidFill>
                <a:srgbClr val="000000"/>
              </a:solidFill>
              <a:latin typeface="Arial"/>
            </a:endParaRPr>
          </a:p>
        </p:txBody>
      </p:sp>
      <p:sp>
        <p:nvSpPr>
          <p:cNvPr id="481"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A5EB6AC-CAD1-40E0-84EB-60DDA0893BBB}" type="slidenum">
              <a:rPr lang="en-US" sz="1800" b="0" strike="noStrike" spc="-1">
                <a:solidFill>
                  <a:schemeClr val="dk1"/>
                </a:solidFill>
                <a:latin typeface="+mn-lt"/>
                <a:ea typeface="+mn-ea"/>
              </a:rPr>
              <a:t>20</a:t>
            </a:fld>
            <a:endParaRPr lang="en-GB" sz="18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 name="PlaceHolder 1"/>
          <p:cNvSpPr>
            <a:spLocks noGrp="1" noRot="1" noChangeAspect="1"/>
          </p:cNvSpPr>
          <p:nvPr>
            <p:ph type="sldImg"/>
          </p:nvPr>
        </p:nvSpPr>
        <p:spPr>
          <a:xfrm>
            <a:off x="0" y="0"/>
            <a:ext cx="0" cy="0"/>
          </a:xfrm>
          <a:prstGeom prst="rect">
            <a:avLst/>
          </a:prstGeom>
          <a:ln w="0">
            <a:noFill/>
          </a:ln>
        </p:spPr>
      </p:sp>
      <p:sp>
        <p:nvSpPr>
          <p:cNvPr id="48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GB" sz="1800" b="0" strike="noStrike" spc="-1">
              <a:solidFill>
                <a:srgbClr val="000000"/>
              </a:solidFill>
              <a:latin typeface="Arial"/>
            </a:endParaRPr>
          </a:p>
        </p:txBody>
      </p:sp>
      <p:sp>
        <p:nvSpPr>
          <p:cNvPr id="484"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1D9FD8A5-FC83-452D-A6B2-FA016441D191}" type="slidenum">
              <a:rPr lang="en-US" sz="1800" b="0" strike="noStrike" spc="-1">
                <a:solidFill>
                  <a:schemeClr val="dk1"/>
                </a:solidFill>
                <a:latin typeface="+mn-lt"/>
                <a:ea typeface="+mn-ea"/>
              </a:rPr>
              <a:t>21</a:t>
            </a:fld>
            <a:endParaRPr lang="en-GB" sz="18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GB"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fontScale="95303"/>
          </a:bodyPr>
          <a:lstStyle/>
          <a:p>
            <a:pPr marL="432000" indent="-324000">
              <a:spcBef>
                <a:spcPts val="1417"/>
              </a:spcBef>
              <a:buClr>
                <a:srgbClr val="000000"/>
              </a:buClr>
              <a:buSzPct val="45000"/>
              <a:buFont typeface="Wingdings" charset="2"/>
              <a:buChar char=""/>
            </a:pPr>
            <a:r>
              <a:rPr lang="en-GB"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GB"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GB"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GB"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GB"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GB"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GB"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D2D44"/>
        </a:solidFill>
        <a:effectLst/>
      </p:bgPr>
    </p:bg>
    <p:spTree>
      <p:nvGrpSpPr>
        <p:cNvPr id="1" name=""/>
        <p:cNvGrpSpPr/>
        <p:nvPr/>
      </p:nvGrpSpPr>
      <p:grpSpPr>
        <a:xfrm>
          <a:off x="0" y="0"/>
          <a:ext cx="0" cy="0"/>
          <a:chOff x="0" y="0"/>
          <a:chExt cx="0" cy="0"/>
        </a:xfrm>
      </p:grpSpPr>
      <p:sp>
        <p:nvSpPr>
          <p:cNvPr id="8" name="Shape 0"/>
          <p:cNvSpPr/>
          <p:nvPr/>
        </p:nvSpPr>
        <p:spPr>
          <a:xfrm>
            <a:off x="0" y="0"/>
            <a:ext cx="200880" cy="514332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9" name="Text 1"/>
          <p:cNvSpPr/>
          <p:nvPr/>
        </p:nvSpPr>
        <p:spPr>
          <a:xfrm>
            <a:off x="457200" y="822960"/>
            <a:ext cx="85035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400" b="0" strike="noStrike" spc="-1">
              <a:solidFill>
                <a:schemeClr val="dk1"/>
              </a:solidFill>
              <a:latin typeface="Calibri"/>
            </a:endParaRPr>
          </a:p>
        </p:txBody>
      </p:sp>
      <p:sp>
        <p:nvSpPr>
          <p:cNvPr id="10" name="Text 2"/>
          <p:cNvSpPr/>
          <p:nvPr/>
        </p:nvSpPr>
        <p:spPr>
          <a:xfrm>
            <a:off x="457200" y="1417320"/>
            <a:ext cx="85035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200" b="1" strike="noStrike" spc="-1">
                <a:solidFill>
                  <a:srgbClr val="FFFFFF"/>
                </a:solidFill>
                <a:latin typeface="Trebuchet MS"/>
              </a:rPr>
              <a:t>Employment Platform</a:t>
            </a:r>
            <a:endParaRPr lang="en-GB" sz="5200" b="0" strike="noStrike" spc="-1">
              <a:solidFill>
                <a:srgbClr val="FFFFFF"/>
              </a:solidFill>
              <a:latin typeface="Arial"/>
            </a:endParaRPr>
          </a:p>
        </p:txBody>
      </p:sp>
      <p:sp>
        <p:nvSpPr>
          <p:cNvPr id="11" name="Text 3"/>
          <p:cNvSpPr/>
          <p:nvPr/>
        </p:nvSpPr>
        <p:spPr>
          <a:xfrm>
            <a:off x="457200" y="2514600"/>
            <a:ext cx="85035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strike="noStrike" spc="-1">
                <a:solidFill>
                  <a:srgbClr val="CADCFC"/>
                </a:solidFill>
                <a:latin typeface="Trebuchet MS"/>
                <a:ea typeface="Trebuchet MS"/>
              </a:rPr>
              <a:t>Data as a Service &amp; Ethics as a Service</a:t>
            </a:r>
            <a:endParaRPr lang="en-GB" sz="2000" b="0" strike="noStrike" spc="-1">
              <a:solidFill>
                <a:srgbClr val="FFFFFF"/>
              </a:solidFill>
              <a:latin typeface="Arial"/>
            </a:endParaRPr>
          </a:p>
        </p:txBody>
      </p:sp>
      <p:sp>
        <p:nvSpPr>
          <p:cNvPr id="12" name="Shape 4"/>
          <p:cNvSpPr/>
          <p:nvPr/>
        </p:nvSpPr>
        <p:spPr>
          <a:xfrm>
            <a:off x="457200" y="3127320"/>
            <a:ext cx="3200040" cy="3636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it-IT" sz="1800" b="0" strike="noStrike" spc="-1">
              <a:solidFill>
                <a:schemeClr val="dk1"/>
              </a:solidFill>
              <a:latin typeface="Calibri"/>
            </a:endParaRPr>
          </a:p>
        </p:txBody>
      </p:sp>
      <p:sp>
        <p:nvSpPr>
          <p:cNvPr id="13" name="Text 5"/>
          <p:cNvSpPr/>
          <p:nvPr/>
        </p:nvSpPr>
        <p:spPr>
          <a:xfrm>
            <a:off x="457200" y="3291840"/>
            <a:ext cx="85035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9FB4CC"/>
                </a:solidFill>
                <a:latin typeface="Calibri"/>
                <a:ea typeface="Calibri"/>
              </a:rPr>
              <a:t>Service-Oriented Software Engineering  ·  A.Y. 2025/2026</a:t>
            </a:r>
            <a:endParaRPr lang="en-GB" sz="1300" b="0" strike="noStrike" spc="-1">
              <a:solidFill>
                <a:srgbClr val="FFFFFF"/>
              </a:solidFill>
              <a:latin typeface="Arial"/>
            </a:endParaRPr>
          </a:p>
          <a:p>
            <a:pPr defTabSz="914400">
              <a:lnSpc>
                <a:spcPct val="100000"/>
              </a:lnSpc>
              <a:tabLst>
                <a:tab pos="0" algn="l"/>
              </a:tabLst>
            </a:pPr>
            <a:r>
              <a:rPr lang="en-US" sz="1300" b="0" strike="noStrike" spc="-1">
                <a:solidFill>
                  <a:srgbClr val="9FB4CC"/>
                </a:solidFill>
                <a:latin typeface="Calibri"/>
                <a:ea typeface="Calibri"/>
              </a:rPr>
              <a:t>Università degli Studi dell'Aquila</a:t>
            </a:r>
            <a:endParaRPr lang="en-GB" sz="1300" b="0" strike="noStrike" spc="-1">
              <a:solidFill>
                <a:srgbClr val="FFFFFF"/>
              </a:solidFill>
              <a:latin typeface="Arial"/>
            </a:endParaRPr>
          </a:p>
          <a:p>
            <a:pPr defTabSz="914400">
              <a:lnSpc>
                <a:spcPct val="100000"/>
              </a:lnSpc>
              <a:tabLst>
                <a:tab pos="0" algn="l"/>
              </a:tabLst>
            </a:pPr>
            <a:r>
              <a:rPr lang="en-US" sz="1300" b="0" strike="noStrike" spc="-1">
                <a:solidFill>
                  <a:srgbClr val="9FB4CC"/>
                </a:solidFill>
                <a:latin typeface="Calibri"/>
                <a:ea typeface="Calibri"/>
              </a:rPr>
              <a:t>Edoardo Di Giuseppe. Lorenzo Di Giandomenico, Federico Capricci</a:t>
            </a:r>
            <a:endParaRPr lang="en-GB" sz="13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D2D44"/>
        </a:solidFill>
        <a:effectLst/>
      </p:bgPr>
    </p:bg>
    <p:spTree>
      <p:nvGrpSpPr>
        <p:cNvPr id="1" name=""/>
        <p:cNvGrpSpPr/>
        <p:nvPr/>
      </p:nvGrpSpPr>
      <p:grpSpPr>
        <a:xfrm>
          <a:off x="0" y="0"/>
          <a:ext cx="0" cy="0"/>
          <a:chOff x="0" y="0"/>
          <a:chExt cx="0" cy="0"/>
        </a:xfrm>
      </p:grpSpPr>
      <p:sp>
        <p:nvSpPr>
          <p:cNvPr id="14" name="Shape 0"/>
          <p:cNvSpPr/>
          <p:nvPr/>
        </p:nvSpPr>
        <p:spPr>
          <a:xfrm>
            <a:off x="0" y="0"/>
            <a:ext cx="200880" cy="514332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5" name="Text 1"/>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FFFFFF"/>
                </a:solidFill>
                <a:latin typeface="Trebuchet MS"/>
                <a:ea typeface="Trebuchet MS"/>
              </a:rPr>
              <a:t>Agenda</a:t>
            </a:r>
            <a:endParaRPr lang="en-GB" sz="3200" b="0" strike="noStrike" spc="-1">
              <a:solidFill>
                <a:srgbClr val="FFFFFF"/>
              </a:solidFill>
              <a:latin typeface="Arial"/>
            </a:endParaRPr>
          </a:p>
        </p:txBody>
      </p:sp>
      <p:sp>
        <p:nvSpPr>
          <p:cNvPr id="16" name="Shape 2"/>
          <p:cNvSpPr/>
          <p:nvPr/>
        </p:nvSpPr>
        <p:spPr>
          <a:xfrm>
            <a:off x="457200" y="1097280"/>
            <a:ext cx="2605680" cy="3565800"/>
          </a:xfrm>
          <a:prstGeom prst="rect">
            <a:avLst/>
          </a:prstGeom>
          <a:solidFill>
            <a:srgbClr val="FFFFFF"/>
          </a:solidFill>
          <a:ln w="12700">
            <a:solidFill>
              <a:srgbClr val="FFFFFF"/>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7" name="Shape 3"/>
          <p:cNvSpPr/>
          <p:nvPr/>
        </p:nvSpPr>
        <p:spPr>
          <a:xfrm>
            <a:off x="457200" y="1097280"/>
            <a:ext cx="2605680" cy="38376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8" name="Text 4"/>
          <p:cNvSpPr/>
          <p:nvPr/>
        </p:nvSpPr>
        <p:spPr>
          <a:xfrm>
            <a:off x="457200" y="1097280"/>
            <a:ext cx="2605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Calibri"/>
                <a:ea typeface="Calibri"/>
              </a:rPr>
              <a:t>Edoardo</a:t>
            </a:r>
            <a:endParaRPr lang="en-GB" sz="1200" b="0" strike="noStrike" spc="-1">
              <a:solidFill>
                <a:srgbClr val="FFFFFF"/>
              </a:solidFill>
              <a:latin typeface="Arial"/>
            </a:endParaRPr>
          </a:p>
        </p:txBody>
      </p:sp>
      <p:sp>
        <p:nvSpPr>
          <p:cNvPr id="19" name="Text 5"/>
          <p:cNvSpPr/>
          <p:nvPr/>
        </p:nvSpPr>
        <p:spPr>
          <a:xfrm>
            <a:off x="567000" y="1554480"/>
            <a:ext cx="2377080" cy="301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Domain &amp; Motivation</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Application Architecture</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RDF Dataset &amp; Ontology</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SPARQL Queries</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DaaS REST APIs</a:t>
            </a:r>
            <a:endParaRPr lang="en-GB" sz="1100" b="0" strike="noStrike" spc="-1">
              <a:solidFill>
                <a:srgbClr val="FFFFFF"/>
              </a:solidFill>
              <a:latin typeface="Arial"/>
            </a:endParaRPr>
          </a:p>
        </p:txBody>
      </p:sp>
      <p:sp>
        <p:nvSpPr>
          <p:cNvPr id="20" name="Shape 6"/>
          <p:cNvSpPr/>
          <p:nvPr/>
        </p:nvSpPr>
        <p:spPr>
          <a:xfrm>
            <a:off x="3291840" y="1097280"/>
            <a:ext cx="2605680" cy="3565800"/>
          </a:xfrm>
          <a:prstGeom prst="rect">
            <a:avLst/>
          </a:prstGeom>
          <a:solidFill>
            <a:srgbClr val="FFFFFF"/>
          </a:solidFill>
          <a:ln w="12700">
            <a:solidFill>
              <a:srgbClr val="FFFFFF"/>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1" name="Shape 7"/>
          <p:cNvSpPr/>
          <p:nvPr/>
        </p:nvSpPr>
        <p:spPr>
          <a:xfrm>
            <a:off x="3291840" y="1097280"/>
            <a:ext cx="2605680" cy="383760"/>
          </a:xfrm>
          <a:prstGeom prst="rect">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2" name="Text 8"/>
          <p:cNvSpPr/>
          <p:nvPr/>
        </p:nvSpPr>
        <p:spPr>
          <a:xfrm>
            <a:off x="3291840" y="1097280"/>
            <a:ext cx="2605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Calibri"/>
                <a:ea typeface="Calibri"/>
              </a:rPr>
              <a:t>Lorenzo</a:t>
            </a:r>
            <a:endParaRPr lang="en-GB" sz="1200" b="0" strike="noStrike" spc="-1">
              <a:solidFill>
                <a:srgbClr val="FFFFFF"/>
              </a:solidFill>
              <a:latin typeface="Arial"/>
            </a:endParaRPr>
          </a:p>
        </p:txBody>
      </p:sp>
      <p:sp>
        <p:nvSpPr>
          <p:cNvPr id="23" name="Text 9"/>
          <p:cNvSpPr/>
          <p:nvPr/>
        </p:nvSpPr>
        <p:spPr>
          <a:xfrm>
            <a:off x="3401640" y="1554480"/>
            <a:ext cx="2377080" cy="301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EaaS – Workflow &amp; Architecture</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Ethical Policies (4 policies)</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Scenario PROCEED</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Scenario REJECT</a:t>
            </a:r>
            <a:endParaRPr lang="en-GB" sz="1100" b="0" strike="noStrike" spc="-1">
              <a:solidFill>
                <a:srgbClr val="FFFFFF"/>
              </a:solidFill>
              <a:latin typeface="Arial"/>
            </a:endParaRPr>
          </a:p>
        </p:txBody>
      </p:sp>
      <p:sp>
        <p:nvSpPr>
          <p:cNvPr id="24" name="Shape 10"/>
          <p:cNvSpPr/>
          <p:nvPr/>
        </p:nvSpPr>
        <p:spPr>
          <a:xfrm>
            <a:off x="6126480" y="1097280"/>
            <a:ext cx="2605680" cy="3565800"/>
          </a:xfrm>
          <a:prstGeom prst="rect">
            <a:avLst/>
          </a:prstGeom>
          <a:solidFill>
            <a:srgbClr val="FFFFFF"/>
          </a:solidFill>
          <a:ln w="12700">
            <a:solidFill>
              <a:srgbClr val="FFFFFF"/>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5" name="Shape 11"/>
          <p:cNvSpPr/>
          <p:nvPr/>
        </p:nvSpPr>
        <p:spPr>
          <a:xfrm>
            <a:off x="6126480" y="1097280"/>
            <a:ext cx="2605680" cy="383760"/>
          </a:xfrm>
          <a:prstGeom prst="rect">
            <a:avLst/>
          </a:prstGeom>
          <a:solidFill>
            <a:srgbClr val="9B59B6"/>
          </a:solidFill>
          <a:ln w="12700">
            <a:solidFill>
              <a:srgbClr val="9B59B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6" name="Text 12"/>
          <p:cNvSpPr/>
          <p:nvPr/>
        </p:nvSpPr>
        <p:spPr>
          <a:xfrm>
            <a:off x="6126480" y="1097280"/>
            <a:ext cx="2605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Calibri"/>
                <a:ea typeface="Calibri"/>
              </a:rPr>
              <a:t>Federico</a:t>
            </a:r>
            <a:endParaRPr lang="en-GB" sz="1200" b="0" strike="noStrike" spc="-1">
              <a:solidFill>
                <a:srgbClr val="FFFFFF"/>
              </a:solidFill>
              <a:latin typeface="Arial"/>
            </a:endParaRPr>
          </a:p>
        </p:txBody>
      </p:sp>
      <p:sp>
        <p:nvSpPr>
          <p:cNvPr id="27" name="Text 13"/>
          <p:cNvSpPr/>
          <p:nvPr/>
        </p:nvSpPr>
        <p:spPr>
          <a:xfrm>
            <a:off x="6236280" y="1554480"/>
            <a:ext cx="2377080" cy="301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Audit Trail &amp; Provenance</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DaaS ↔ EaaS Integration</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Live Demo</a:t>
            </a:r>
            <a:endParaRPr lang="en-GB" sz="1100" b="0" strike="noStrike" spc="-1">
              <a:solidFill>
                <a:srgbClr val="FFFFFF"/>
              </a:solidFill>
              <a:latin typeface="Arial"/>
            </a:endParaRPr>
          </a:p>
          <a:p>
            <a:pPr marL="343080" indent="-343080" defTabSz="914400">
              <a:lnSpc>
                <a:spcPct val="100000"/>
              </a:lnSpc>
              <a:buClr>
                <a:srgbClr val="1E293B"/>
              </a:buClr>
              <a:buFont typeface="Symbol" charset="2"/>
              <a:buChar char=""/>
            </a:pPr>
            <a:r>
              <a:rPr lang="en-US" sz="1100" b="0" strike="noStrike" spc="-1">
                <a:solidFill>
                  <a:srgbClr val="1E293B"/>
                </a:solidFill>
                <a:latin typeface="Calibri"/>
                <a:ea typeface="Calibri"/>
              </a:rPr>
              <a:t>Critical Reflection</a:t>
            </a:r>
            <a:endParaRPr lang="en-GB" sz="1100" b="0" strike="noStrike" spc="-1">
              <a:solidFill>
                <a:srgbClr val="FFFFFF"/>
              </a:solidFill>
              <a:latin typeface="Arial"/>
            </a:endParaRPr>
          </a:p>
        </p:txBody>
      </p:sp>
      <p:sp>
        <p:nvSpPr>
          <p:cNvPr id="28" name="Text 14"/>
          <p:cNvSpPr/>
          <p:nvPr/>
        </p:nvSpPr>
        <p:spPr>
          <a:xfrm>
            <a:off x="457200" y="475488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000" b="0" strike="noStrike" spc="-1">
              <a:solidFill>
                <a:schemeClr val="dk1"/>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D2D44"/>
        </a:solidFill>
        <a:effectLst/>
      </p:bgPr>
    </p:bg>
    <p:spTree>
      <p:nvGrpSpPr>
        <p:cNvPr id="1" name=""/>
        <p:cNvGrpSpPr/>
        <p:nvPr/>
      </p:nvGrpSpPr>
      <p:grpSpPr>
        <a:xfrm>
          <a:off x="0" y="0"/>
          <a:ext cx="0" cy="0"/>
          <a:chOff x="0" y="0"/>
          <a:chExt cx="0" cy="0"/>
        </a:xfrm>
      </p:grpSpPr>
      <p:sp>
        <p:nvSpPr>
          <p:cNvPr id="29" name="Shape 0"/>
          <p:cNvSpPr/>
          <p:nvPr/>
        </p:nvSpPr>
        <p:spPr>
          <a:xfrm>
            <a:off x="0" y="0"/>
            <a:ext cx="200880" cy="514332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0" name="Text 1"/>
          <p:cNvSpPr/>
          <p:nvPr/>
        </p:nvSpPr>
        <p:spPr>
          <a:xfrm>
            <a:off x="457200" y="11887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9FB4CC"/>
                </a:solidFill>
                <a:latin typeface="Calibri"/>
                <a:ea typeface="Calibri"/>
              </a:rPr>
              <a:t>Section 1</a:t>
            </a:r>
            <a:endParaRPr lang="en-GB" sz="1300" b="0" strike="noStrike" spc="-1">
              <a:solidFill>
                <a:srgbClr val="FFFFFF"/>
              </a:solidFill>
              <a:latin typeface="Arial"/>
            </a:endParaRPr>
          </a:p>
        </p:txBody>
      </p:sp>
      <p:sp>
        <p:nvSpPr>
          <p:cNvPr id="31" name="Text 2"/>
          <p:cNvSpPr/>
          <p:nvPr/>
        </p:nvSpPr>
        <p:spPr>
          <a:xfrm>
            <a:off x="457200" y="1600200"/>
            <a:ext cx="822924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strike="noStrike" spc="-1">
                <a:solidFill>
                  <a:srgbClr val="FFFFFF"/>
                </a:solidFill>
                <a:latin typeface="Trebuchet MS"/>
                <a:ea typeface="Trebuchet MS"/>
              </a:rPr>
              <a:t>Domain, Dataset</a:t>
            </a:r>
            <a:endParaRPr lang="en-GB" sz="4000" b="0" strike="noStrike" spc="-1">
              <a:solidFill>
                <a:srgbClr val="FFFFFF"/>
              </a:solidFill>
              <a:latin typeface="Arial"/>
            </a:endParaRPr>
          </a:p>
          <a:p>
            <a:pPr defTabSz="914400">
              <a:lnSpc>
                <a:spcPct val="100000"/>
              </a:lnSpc>
              <a:tabLst>
                <a:tab pos="0" algn="l"/>
              </a:tabLst>
            </a:pPr>
            <a:r>
              <a:rPr lang="en-US" sz="4000" b="1" strike="noStrike" spc="-1">
                <a:solidFill>
                  <a:srgbClr val="FFFFFF"/>
                </a:solidFill>
                <a:latin typeface="Trebuchet MS"/>
                <a:ea typeface="Trebuchet MS"/>
              </a:rPr>
              <a:t>and DaaS</a:t>
            </a:r>
            <a:endParaRPr lang="en-GB" sz="4000" b="0" strike="noStrike" spc="-1">
              <a:solidFill>
                <a:srgbClr val="FFFFFF"/>
              </a:solidFill>
              <a:latin typeface="Arial"/>
            </a:endParaRPr>
          </a:p>
        </p:txBody>
      </p:sp>
      <p:sp>
        <p:nvSpPr>
          <p:cNvPr id="32" name="Text 3"/>
          <p:cNvSpPr/>
          <p:nvPr/>
        </p:nvSpPr>
        <p:spPr>
          <a:xfrm>
            <a:off x="457200" y="41148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9FB4CC"/>
                </a:solidFill>
                <a:latin typeface="Calibri"/>
                <a:ea typeface="Calibri"/>
              </a:rPr>
              <a:t>Edoardo Di Giuseppe</a:t>
            </a:r>
            <a:endParaRPr lang="en-GB" sz="1200" b="0" strike="noStrike" spc="-1">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Shape 0"/>
          <p:cNvSpPr/>
          <p:nvPr/>
        </p:nvSpPr>
        <p:spPr>
          <a:xfrm>
            <a:off x="365760" y="201240"/>
            <a:ext cx="1737000" cy="255600"/>
          </a:xfrm>
          <a:prstGeom prst="roundRect">
            <a:avLst>
              <a:gd name="adj" fmla="val 14286"/>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4"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DOMAIN</a:t>
            </a:r>
            <a:endParaRPr lang="en-GB" sz="800" b="0" strike="noStrike" spc="-1">
              <a:solidFill>
                <a:srgbClr val="000000"/>
              </a:solidFill>
              <a:latin typeface="Arial"/>
            </a:endParaRPr>
          </a:p>
        </p:txBody>
      </p:sp>
      <p:sp>
        <p:nvSpPr>
          <p:cNvPr id="35"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Chosen Domain: Employment</a:t>
            </a:r>
            <a:endParaRPr lang="en-GB" sz="2600" b="0" strike="noStrike" spc="-1">
              <a:solidFill>
                <a:srgbClr val="000000"/>
              </a:solidFill>
              <a:latin typeface="Arial"/>
            </a:endParaRPr>
          </a:p>
        </p:txBody>
      </p:sp>
      <p:sp>
        <p:nvSpPr>
          <p:cNvPr id="36"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37"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4</a:t>
            </a:r>
            <a:endParaRPr lang="en-GB" sz="900" b="0" strike="noStrike" spc="-1">
              <a:solidFill>
                <a:srgbClr val="000000"/>
              </a:solidFill>
              <a:latin typeface="Arial"/>
            </a:endParaRPr>
          </a:p>
        </p:txBody>
      </p:sp>
      <p:sp>
        <p:nvSpPr>
          <p:cNvPr id="38" name="Shape 5"/>
          <p:cNvSpPr/>
          <p:nvPr/>
        </p:nvSpPr>
        <p:spPr>
          <a:xfrm>
            <a:off x="365760" y="1325880"/>
            <a:ext cx="3977280" cy="3474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9" name="Text 6"/>
          <p:cNvSpPr/>
          <p:nvPr/>
        </p:nvSpPr>
        <p:spPr>
          <a:xfrm>
            <a:off x="548640" y="1463040"/>
            <a:ext cx="3565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D2D44"/>
                </a:solidFill>
                <a:latin typeface="Trebuchet MS"/>
                <a:ea typeface="Trebuchet MS"/>
              </a:rPr>
              <a:t>Why Employment Domain?</a:t>
            </a:r>
            <a:endParaRPr lang="en-GB" sz="1400" b="0" strike="noStrike" spc="-1">
              <a:solidFill>
                <a:srgbClr val="000000"/>
              </a:solidFill>
              <a:latin typeface="Arial"/>
            </a:endParaRPr>
          </a:p>
        </p:txBody>
      </p:sp>
      <p:sp>
        <p:nvSpPr>
          <p:cNvPr id="40" name="Text 7"/>
          <p:cNvSpPr/>
          <p:nvPr/>
        </p:nvSpPr>
        <p:spPr>
          <a:xfrm>
            <a:off x="548640" y="1920240"/>
            <a:ext cx="3657240" cy="2742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buClr>
                <a:srgbClr val="1D2D44"/>
              </a:buClr>
              <a:buFont typeface="Symbol" charset="2"/>
              <a:buChar char=""/>
            </a:pPr>
            <a:r>
              <a:rPr lang="en-US" sz="1200" b="0" strike="noStrike" spc="-1">
                <a:solidFill>
                  <a:srgbClr val="1D2D44"/>
                </a:solidFill>
                <a:latin typeface="Calibri"/>
                <a:ea typeface="Calibri"/>
              </a:rPr>
              <a:t>Rich structured data domain</a:t>
            </a:r>
            <a:endParaRPr lang="en-GB" sz="1200" b="0" strike="noStrike" spc="-1">
              <a:solidFill>
                <a:srgbClr val="000000"/>
              </a:solidFill>
              <a:latin typeface="Arial"/>
            </a:endParaRPr>
          </a:p>
          <a:p>
            <a:pPr marL="343080" indent="-343080" defTabSz="914400">
              <a:lnSpc>
                <a:spcPct val="100000"/>
              </a:lnSpc>
              <a:buClr>
                <a:srgbClr val="1D2D44"/>
              </a:buClr>
              <a:buFont typeface="Symbol" charset="2"/>
              <a:buChar char=""/>
            </a:pPr>
            <a:r>
              <a:rPr lang="en-US" sz="1200" b="0" strike="noStrike" spc="-1">
                <a:solidFill>
                  <a:srgbClr val="1D2D44"/>
                </a:solidFill>
                <a:latin typeface="Calibri"/>
                <a:ea typeface="Calibri"/>
              </a:rPr>
              <a:t>High-impact decisions affecting people's lives</a:t>
            </a:r>
            <a:endParaRPr lang="en-GB" sz="1200" b="0" strike="noStrike" spc="-1">
              <a:solidFill>
                <a:srgbClr val="000000"/>
              </a:solidFill>
              <a:latin typeface="Arial"/>
            </a:endParaRPr>
          </a:p>
          <a:p>
            <a:pPr marL="343080" indent="-343080" defTabSz="914400">
              <a:lnSpc>
                <a:spcPct val="100000"/>
              </a:lnSpc>
              <a:buClr>
                <a:srgbClr val="1D2D44"/>
              </a:buClr>
              <a:buFont typeface="Symbol" charset="2"/>
              <a:buChar char=""/>
            </a:pPr>
            <a:r>
              <a:rPr lang="en-US" sz="1200" b="0" strike="noStrike" spc="-1">
                <a:solidFill>
                  <a:srgbClr val="1D2D44"/>
                </a:solidFill>
                <a:latin typeface="Calibri"/>
                <a:ea typeface="Calibri"/>
              </a:rPr>
              <a:t>High risk of algorithmic bias and discrimination</a:t>
            </a:r>
            <a:endParaRPr lang="en-GB" sz="1200" b="0" strike="noStrike" spc="-1">
              <a:solidFill>
                <a:srgbClr val="000000"/>
              </a:solidFill>
              <a:latin typeface="Arial"/>
            </a:endParaRPr>
          </a:p>
          <a:p>
            <a:pPr marL="343080" indent="-343080" defTabSz="914400">
              <a:lnSpc>
                <a:spcPct val="100000"/>
              </a:lnSpc>
              <a:buClr>
                <a:srgbClr val="1D2D44"/>
              </a:buClr>
              <a:buFont typeface="Symbol" charset="2"/>
              <a:buChar char=""/>
            </a:pPr>
            <a:r>
              <a:rPr lang="en-US" sz="1200" b="0" strike="noStrike" spc="-1">
                <a:solidFill>
                  <a:srgbClr val="1D2D44"/>
                </a:solidFill>
                <a:latin typeface="Calibri"/>
                <a:ea typeface="Calibri"/>
              </a:rPr>
              <a:t>Relevant to existing regulations (D.Lgs. 198/2006, GDPR, UN CRPD)</a:t>
            </a:r>
            <a:endParaRPr lang="en-GB" sz="1200" b="0" strike="noStrike" spc="-1">
              <a:solidFill>
                <a:srgbClr val="000000"/>
              </a:solidFill>
              <a:latin typeface="Arial"/>
            </a:endParaRPr>
          </a:p>
        </p:txBody>
      </p:sp>
      <p:sp>
        <p:nvSpPr>
          <p:cNvPr id="41" name="Shape 8"/>
          <p:cNvSpPr/>
          <p:nvPr/>
        </p:nvSpPr>
        <p:spPr>
          <a:xfrm>
            <a:off x="4480560" y="1325880"/>
            <a:ext cx="4297320" cy="3474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2" name="Text 9"/>
          <p:cNvSpPr/>
          <p:nvPr/>
        </p:nvSpPr>
        <p:spPr>
          <a:xfrm>
            <a:off x="4663440" y="1463040"/>
            <a:ext cx="3931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D2D44"/>
                </a:solidFill>
                <a:latin typeface="Trebuchet MS"/>
                <a:ea typeface="Trebuchet MS"/>
              </a:rPr>
              <a:t>Project Use Case</a:t>
            </a:r>
            <a:endParaRPr lang="en-GB" sz="1400" b="0" strike="noStrike" spc="-1">
              <a:solidFill>
                <a:srgbClr val="000000"/>
              </a:solidFill>
              <a:latin typeface="Arial"/>
            </a:endParaRPr>
          </a:p>
        </p:txBody>
      </p:sp>
      <p:sp>
        <p:nvSpPr>
          <p:cNvPr id="43" name="Shape 10"/>
          <p:cNvSpPr/>
          <p:nvPr/>
        </p:nvSpPr>
        <p:spPr>
          <a:xfrm>
            <a:off x="4663440" y="1874520"/>
            <a:ext cx="347040" cy="347040"/>
          </a:xfrm>
          <a:prstGeom prst="ellipse">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4" name="Text 11"/>
          <p:cNvSpPr/>
          <p:nvPr/>
        </p:nvSpPr>
        <p:spPr>
          <a:xfrm>
            <a:off x="4663440" y="18745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Calibri"/>
                <a:ea typeface="Calibri"/>
              </a:rPr>
              <a:t>1</a:t>
            </a:r>
            <a:endParaRPr lang="en-GB" sz="1100" b="0" strike="noStrike" spc="-1">
              <a:solidFill>
                <a:srgbClr val="000000"/>
              </a:solidFill>
              <a:latin typeface="Arial"/>
            </a:endParaRPr>
          </a:p>
        </p:txBody>
      </p:sp>
      <p:sp>
        <p:nvSpPr>
          <p:cNvPr id="45" name="Text 12"/>
          <p:cNvSpPr/>
          <p:nvPr/>
        </p:nvSpPr>
        <p:spPr>
          <a:xfrm>
            <a:off x="5120640" y="1874520"/>
            <a:ext cx="3474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Calibri"/>
                <a:ea typeface="Calibri"/>
              </a:rPr>
              <a:t>Employment agent  </a:t>
            </a:r>
            <a:r>
              <a:rPr lang="en-US" sz="1200" b="0" strike="noStrike" spc="-1">
                <a:solidFill>
                  <a:srgbClr val="6B7280"/>
                </a:solidFill>
                <a:latin typeface="Calibri"/>
                <a:ea typeface="Calibri"/>
              </a:rPr>
              <a:t>Searches jobs in the system for the candidate</a:t>
            </a:r>
            <a:endParaRPr lang="en-GB" sz="1200" b="0" strike="noStrike" spc="-1">
              <a:solidFill>
                <a:srgbClr val="000000"/>
              </a:solidFill>
              <a:latin typeface="Arial"/>
            </a:endParaRPr>
          </a:p>
        </p:txBody>
      </p:sp>
      <p:sp>
        <p:nvSpPr>
          <p:cNvPr id="46" name="Shape 13"/>
          <p:cNvSpPr/>
          <p:nvPr/>
        </p:nvSpPr>
        <p:spPr>
          <a:xfrm>
            <a:off x="4827960" y="2221920"/>
            <a:ext cx="360" cy="402120"/>
          </a:xfrm>
          <a:prstGeom prst="line">
            <a:avLst/>
          </a:prstGeom>
          <a:ln w="1905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47" name="Shape 14"/>
          <p:cNvSpPr/>
          <p:nvPr/>
        </p:nvSpPr>
        <p:spPr>
          <a:xfrm>
            <a:off x="4663440" y="2624400"/>
            <a:ext cx="347040" cy="347040"/>
          </a:xfrm>
          <a:prstGeom prst="ellipse">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8" name="Text 15"/>
          <p:cNvSpPr/>
          <p:nvPr/>
        </p:nvSpPr>
        <p:spPr>
          <a:xfrm>
            <a:off x="4663440" y="26244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Calibri"/>
                <a:ea typeface="Calibri"/>
              </a:rPr>
              <a:t>2</a:t>
            </a:r>
            <a:endParaRPr lang="en-GB" sz="1100" b="0" strike="noStrike" spc="-1">
              <a:solidFill>
                <a:srgbClr val="000000"/>
              </a:solidFill>
              <a:latin typeface="Arial"/>
            </a:endParaRPr>
          </a:p>
        </p:txBody>
      </p:sp>
      <p:sp>
        <p:nvSpPr>
          <p:cNvPr id="49" name="Text 16"/>
          <p:cNvSpPr/>
          <p:nvPr/>
        </p:nvSpPr>
        <p:spPr>
          <a:xfrm>
            <a:off x="5120640" y="2624400"/>
            <a:ext cx="3474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Calibri"/>
                <a:ea typeface="Calibri"/>
              </a:rPr>
              <a:t>DaaS Module  </a:t>
            </a:r>
            <a:r>
              <a:rPr lang="en-US" sz="1200" b="0" strike="noStrike" spc="-1">
                <a:solidFill>
                  <a:srgbClr val="6B7280"/>
                </a:solidFill>
                <a:latin typeface="Calibri"/>
                <a:ea typeface="Calibri"/>
              </a:rPr>
              <a:t>Recommends offers via SPARQL</a:t>
            </a:r>
            <a:endParaRPr lang="en-GB" sz="1200" b="0" strike="noStrike" spc="-1">
              <a:solidFill>
                <a:srgbClr val="000000"/>
              </a:solidFill>
              <a:latin typeface="Arial"/>
            </a:endParaRPr>
          </a:p>
        </p:txBody>
      </p:sp>
      <p:sp>
        <p:nvSpPr>
          <p:cNvPr id="50" name="Shape 17"/>
          <p:cNvSpPr/>
          <p:nvPr/>
        </p:nvSpPr>
        <p:spPr>
          <a:xfrm>
            <a:off x="4827960" y="2971800"/>
            <a:ext cx="360" cy="402120"/>
          </a:xfrm>
          <a:prstGeom prst="line">
            <a:avLst/>
          </a:prstGeom>
          <a:ln w="1905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51" name="Shape 18"/>
          <p:cNvSpPr/>
          <p:nvPr/>
        </p:nvSpPr>
        <p:spPr>
          <a:xfrm>
            <a:off x="4663440" y="3374280"/>
            <a:ext cx="347040" cy="347040"/>
          </a:xfrm>
          <a:prstGeom prst="ellipse">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52" name="Text 19"/>
          <p:cNvSpPr/>
          <p:nvPr/>
        </p:nvSpPr>
        <p:spPr>
          <a:xfrm>
            <a:off x="4663440" y="33742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Calibri"/>
                <a:ea typeface="Calibri"/>
              </a:rPr>
              <a:t>3</a:t>
            </a:r>
            <a:endParaRPr lang="en-GB" sz="1100" b="0" strike="noStrike" spc="-1">
              <a:solidFill>
                <a:srgbClr val="000000"/>
              </a:solidFill>
              <a:latin typeface="Arial"/>
            </a:endParaRPr>
          </a:p>
        </p:txBody>
      </p:sp>
      <p:sp>
        <p:nvSpPr>
          <p:cNvPr id="53" name="Text 20"/>
          <p:cNvSpPr/>
          <p:nvPr/>
        </p:nvSpPr>
        <p:spPr>
          <a:xfrm>
            <a:off x="5120640" y="3374280"/>
            <a:ext cx="3474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Calibri"/>
                <a:ea typeface="Calibri"/>
              </a:rPr>
              <a:t>EaaS Module  </a:t>
            </a:r>
            <a:r>
              <a:rPr lang="en-US" sz="1200" b="0" strike="noStrike" spc="-1">
                <a:solidFill>
                  <a:srgbClr val="6B7280"/>
                </a:solidFill>
                <a:latin typeface="Calibri"/>
                <a:ea typeface="Calibri"/>
              </a:rPr>
              <a:t>Evaluates the recommendation</a:t>
            </a:r>
            <a:endParaRPr lang="en-GB" sz="1200" b="0" strike="noStrike" spc="-1">
              <a:solidFill>
                <a:srgbClr val="000000"/>
              </a:solidFill>
              <a:latin typeface="Arial"/>
            </a:endParaRPr>
          </a:p>
        </p:txBody>
      </p:sp>
      <p:sp>
        <p:nvSpPr>
          <p:cNvPr id="54" name="Shape 21"/>
          <p:cNvSpPr/>
          <p:nvPr/>
        </p:nvSpPr>
        <p:spPr>
          <a:xfrm>
            <a:off x="4827960" y="3721320"/>
            <a:ext cx="360" cy="402480"/>
          </a:xfrm>
          <a:prstGeom prst="line">
            <a:avLst/>
          </a:prstGeom>
          <a:ln w="1905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55" name="Shape 22"/>
          <p:cNvSpPr/>
          <p:nvPr/>
        </p:nvSpPr>
        <p:spPr>
          <a:xfrm>
            <a:off x="4663440" y="4123800"/>
            <a:ext cx="347040" cy="347040"/>
          </a:xfrm>
          <a:prstGeom prst="ellipse">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56" name="Text 23"/>
          <p:cNvSpPr/>
          <p:nvPr/>
        </p:nvSpPr>
        <p:spPr>
          <a:xfrm>
            <a:off x="4663440" y="41238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Calibri"/>
                <a:ea typeface="Calibri"/>
              </a:rPr>
              <a:t>4</a:t>
            </a:r>
            <a:endParaRPr lang="en-GB" sz="1100" b="0" strike="noStrike" spc="-1">
              <a:solidFill>
                <a:srgbClr val="000000"/>
              </a:solidFill>
              <a:latin typeface="Arial"/>
            </a:endParaRPr>
          </a:p>
        </p:txBody>
      </p:sp>
      <p:sp>
        <p:nvSpPr>
          <p:cNvPr id="57" name="Text 24"/>
          <p:cNvSpPr/>
          <p:nvPr/>
        </p:nvSpPr>
        <p:spPr>
          <a:xfrm>
            <a:off x="5120640" y="4123800"/>
            <a:ext cx="3474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Calibri"/>
                <a:ea typeface="Calibri"/>
              </a:rPr>
              <a:t>AUDIT  </a:t>
            </a:r>
            <a:r>
              <a:rPr lang="en-US" sz="1200" b="0" strike="noStrike" spc="-1">
                <a:solidFill>
                  <a:srgbClr val="6B7280"/>
                </a:solidFill>
                <a:latin typeface="Calibri"/>
                <a:ea typeface="Calibri"/>
              </a:rPr>
              <a:t>Every decision is tracked</a:t>
            </a:r>
            <a:endParaRPr lang="en-GB" sz="12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Shape 0"/>
          <p:cNvSpPr/>
          <p:nvPr/>
        </p:nvSpPr>
        <p:spPr>
          <a:xfrm>
            <a:off x="365760" y="201240"/>
            <a:ext cx="1737000" cy="255600"/>
          </a:xfrm>
          <a:prstGeom prst="roundRect">
            <a:avLst>
              <a:gd name="adj" fmla="val 14286"/>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59"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ARCHITECTURE</a:t>
            </a:r>
            <a:endParaRPr lang="en-GB" sz="800" b="0" strike="noStrike" spc="-1">
              <a:solidFill>
                <a:srgbClr val="000000"/>
              </a:solidFill>
              <a:latin typeface="Arial"/>
            </a:endParaRPr>
          </a:p>
        </p:txBody>
      </p:sp>
      <p:sp>
        <p:nvSpPr>
          <p:cNvPr id="60"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Application Architecture</a:t>
            </a:r>
            <a:endParaRPr lang="en-GB" sz="2600" b="0" strike="noStrike" spc="-1">
              <a:solidFill>
                <a:srgbClr val="000000"/>
              </a:solidFill>
              <a:latin typeface="Arial"/>
            </a:endParaRPr>
          </a:p>
        </p:txBody>
      </p:sp>
      <p:sp>
        <p:nvSpPr>
          <p:cNvPr id="61"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62"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5</a:t>
            </a:r>
            <a:endParaRPr lang="en-GB" sz="900" b="0" strike="noStrike" spc="-1">
              <a:solidFill>
                <a:srgbClr val="000000"/>
              </a:solidFill>
              <a:latin typeface="Arial"/>
            </a:endParaRPr>
          </a:p>
        </p:txBody>
      </p:sp>
      <p:sp>
        <p:nvSpPr>
          <p:cNvPr id="63" name="Shape 5"/>
          <p:cNvSpPr/>
          <p:nvPr/>
        </p:nvSpPr>
        <p:spPr>
          <a:xfrm>
            <a:off x="365760" y="1325880"/>
            <a:ext cx="2559960" cy="3474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64" name="Shape 6"/>
          <p:cNvSpPr/>
          <p:nvPr/>
        </p:nvSpPr>
        <p:spPr>
          <a:xfrm>
            <a:off x="365760" y="1325880"/>
            <a:ext cx="2559960" cy="456840"/>
          </a:xfrm>
          <a:prstGeom prst="rect">
            <a:avLst/>
          </a:prstGeom>
          <a:solidFill>
            <a:srgbClr val="9B59B6"/>
          </a:solidFill>
          <a:ln w="12700">
            <a:solidFill>
              <a:srgbClr val="9B59B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65" name="Text 7"/>
          <p:cNvSpPr/>
          <p:nvPr/>
        </p:nvSpPr>
        <p:spPr>
          <a:xfrm>
            <a:off x="365760" y="1325880"/>
            <a:ext cx="25599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CLIENT  :8080</a:t>
            </a:r>
            <a:endParaRPr lang="en-GB" sz="1400" b="0" strike="noStrike" spc="-1">
              <a:solidFill>
                <a:srgbClr val="000000"/>
              </a:solidFill>
              <a:latin typeface="Arial"/>
            </a:endParaRPr>
          </a:p>
        </p:txBody>
      </p:sp>
      <p:sp>
        <p:nvSpPr>
          <p:cNvPr id="66" name="Text 8"/>
          <p:cNvSpPr/>
          <p:nvPr/>
        </p:nvSpPr>
        <p:spPr>
          <a:xfrm>
            <a:off x="457200" y="1874520"/>
            <a:ext cx="23770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9B59B6"/>
                </a:solidFill>
                <a:latin typeface="Consolas"/>
                <a:ea typeface="Consolas"/>
              </a:rPr>
              <a:t>Spring Boot</a:t>
            </a:r>
            <a:endParaRPr lang="en-GB" sz="1100" b="0" strike="noStrike" spc="-1">
              <a:solidFill>
                <a:srgbClr val="000000"/>
              </a:solidFill>
              <a:latin typeface="Arial"/>
            </a:endParaRPr>
          </a:p>
          <a:p>
            <a:pPr defTabSz="914400">
              <a:lnSpc>
                <a:spcPct val="100000"/>
              </a:lnSpc>
              <a:tabLst>
                <a:tab pos="0" algn="l"/>
              </a:tabLst>
            </a:pPr>
            <a:r>
              <a:rPr lang="en-US" sz="1100" b="1" strike="noStrike" spc="-1">
                <a:solidFill>
                  <a:srgbClr val="9B59B6"/>
                </a:solidFill>
                <a:latin typeface="Consolas"/>
                <a:ea typeface="Consolas"/>
              </a:rPr>
              <a:t>Thymeleaf</a:t>
            </a:r>
            <a:endParaRPr lang="en-GB" sz="1100" b="0" strike="noStrike" spc="-1">
              <a:solidFill>
                <a:srgbClr val="000000"/>
              </a:solidFill>
              <a:latin typeface="Arial"/>
            </a:endParaRPr>
          </a:p>
        </p:txBody>
      </p:sp>
      <p:sp>
        <p:nvSpPr>
          <p:cNvPr id="67" name="Shape 9"/>
          <p:cNvSpPr/>
          <p:nvPr/>
        </p:nvSpPr>
        <p:spPr>
          <a:xfrm>
            <a:off x="457200" y="2651760"/>
            <a:ext cx="2377440" cy="360"/>
          </a:xfrm>
          <a:prstGeom prst="line">
            <a:avLst/>
          </a:prstGeom>
          <a:ln w="12700">
            <a:solidFill>
              <a:srgbClr val="D4DCF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68" name="Text 10"/>
          <p:cNvSpPr/>
          <p:nvPr/>
        </p:nvSpPr>
        <p:spPr>
          <a:xfrm>
            <a:off x="457200" y="2743200"/>
            <a:ext cx="237708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rgbClr val="1D2D44"/>
                </a:solidFill>
                <a:latin typeface="Calibri"/>
                <a:ea typeface="Calibri"/>
              </a:rPr>
              <a:t>Web UI: candidate browsing, recommendations, evaluation</a:t>
            </a:r>
            <a:endParaRPr lang="en-GB" sz="1100" b="0" strike="noStrike" spc="-1">
              <a:solidFill>
                <a:srgbClr val="000000"/>
              </a:solidFill>
              <a:latin typeface="Arial"/>
            </a:endParaRPr>
          </a:p>
        </p:txBody>
      </p:sp>
      <p:sp>
        <p:nvSpPr>
          <p:cNvPr id="69" name="Shape 11"/>
          <p:cNvSpPr/>
          <p:nvPr/>
        </p:nvSpPr>
        <p:spPr>
          <a:xfrm>
            <a:off x="3200400" y="1325880"/>
            <a:ext cx="2559960" cy="3474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70" name="Shape 12"/>
          <p:cNvSpPr/>
          <p:nvPr/>
        </p:nvSpPr>
        <p:spPr>
          <a:xfrm>
            <a:off x="3200400" y="1325880"/>
            <a:ext cx="2559960" cy="45684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71" name="Text 13"/>
          <p:cNvSpPr/>
          <p:nvPr/>
        </p:nvSpPr>
        <p:spPr>
          <a:xfrm>
            <a:off x="3200400" y="1325880"/>
            <a:ext cx="25599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DaaS  :8081</a:t>
            </a:r>
            <a:endParaRPr lang="en-GB" sz="1400" b="0" strike="noStrike" spc="-1">
              <a:solidFill>
                <a:srgbClr val="000000"/>
              </a:solidFill>
              <a:latin typeface="Arial"/>
            </a:endParaRPr>
          </a:p>
        </p:txBody>
      </p:sp>
      <p:sp>
        <p:nvSpPr>
          <p:cNvPr id="72" name="Text 14"/>
          <p:cNvSpPr/>
          <p:nvPr/>
        </p:nvSpPr>
        <p:spPr>
          <a:xfrm>
            <a:off x="3291840" y="1874520"/>
            <a:ext cx="23770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C5FDC"/>
                </a:solidFill>
                <a:latin typeface="Consolas"/>
                <a:ea typeface="Consolas"/>
              </a:rPr>
              <a:t>Spring Boot</a:t>
            </a:r>
            <a:endParaRPr lang="en-GB" sz="1100" b="0" strike="noStrike" spc="-1">
              <a:solidFill>
                <a:srgbClr val="000000"/>
              </a:solidFill>
              <a:latin typeface="Arial"/>
            </a:endParaRPr>
          </a:p>
          <a:p>
            <a:pPr defTabSz="914400">
              <a:lnSpc>
                <a:spcPct val="100000"/>
              </a:lnSpc>
              <a:tabLst>
                <a:tab pos="0" algn="l"/>
              </a:tabLst>
            </a:pPr>
            <a:r>
              <a:rPr lang="en-US" sz="1100" b="1" strike="noStrike" spc="-1">
                <a:solidFill>
                  <a:srgbClr val="2C5FDC"/>
                </a:solidFill>
                <a:latin typeface="Consolas"/>
                <a:ea typeface="Consolas"/>
              </a:rPr>
              <a:t>Apache Jena 5.1</a:t>
            </a:r>
            <a:endParaRPr lang="en-GB" sz="1100" b="0" strike="noStrike" spc="-1">
              <a:solidFill>
                <a:srgbClr val="000000"/>
              </a:solidFill>
              <a:latin typeface="Arial"/>
            </a:endParaRPr>
          </a:p>
          <a:p>
            <a:pPr defTabSz="914400">
              <a:lnSpc>
                <a:spcPct val="100000"/>
              </a:lnSpc>
              <a:tabLst>
                <a:tab pos="0" algn="l"/>
              </a:tabLst>
            </a:pPr>
            <a:r>
              <a:rPr lang="en-US" sz="1100" b="1" strike="noStrike" spc="-1">
                <a:solidFill>
                  <a:srgbClr val="2C5FDC"/>
                </a:solidFill>
                <a:latin typeface="Consolas"/>
                <a:ea typeface="Consolas"/>
              </a:rPr>
              <a:t>RDF/XML + SPARQL</a:t>
            </a:r>
            <a:endParaRPr lang="en-GB" sz="1100" b="0" strike="noStrike" spc="-1">
              <a:solidFill>
                <a:srgbClr val="000000"/>
              </a:solidFill>
              <a:latin typeface="Arial"/>
            </a:endParaRPr>
          </a:p>
        </p:txBody>
      </p:sp>
      <p:sp>
        <p:nvSpPr>
          <p:cNvPr id="73" name="Shape 15"/>
          <p:cNvSpPr/>
          <p:nvPr/>
        </p:nvSpPr>
        <p:spPr>
          <a:xfrm>
            <a:off x="3291840" y="2651760"/>
            <a:ext cx="2377440" cy="360"/>
          </a:xfrm>
          <a:prstGeom prst="line">
            <a:avLst/>
          </a:prstGeom>
          <a:ln w="12700">
            <a:solidFill>
              <a:srgbClr val="D4DCF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74" name="Text 16"/>
          <p:cNvSpPr/>
          <p:nvPr/>
        </p:nvSpPr>
        <p:spPr>
          <a:xfrm>
            <a:off x="3291840" y="2743200"/>
            <a:ext cx="237708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rgbClr val="1D2D44"/>
                </a:solidFill>
                <a:latin typeface="Calibri"/>
                <a:ea typeface="Calibri"/>
              </a:rPr>
              <a:t>Full CRUD operations</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1D2D44"/>
                </a:solidFill>
                <a:latin typeface="Calibri"/>
                <a:ea typeface="Calibri"/>
              </a:rPr>
              <a:t>SPARQL Queries</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1D2D44"/>
                </a:solidFill>
                <a:latin typeface="Calibri"/>
                <a:ea typeface="Calibri"/>
              </a:rPr>
              <a:t>Swagger UI documentation</a:t>
            </a:r>
            <a:endParaRPr lang="en-GB" sz="1100" b="0" strike="noStrike" spc="-1">
              <a:solidFill>
                <a:srgbClr val="000000"/>
              </a:solidFill>
              <a:latin typeface="Arial"/>
            </a:endParaRPr>
          </a:p>
        </p:txBody>
      </p:sp>
      <p:sp>
        <p:nvSpPr>
          <p:cNvPr id="75" name="Shape 17"/>
          <p:cNvSpPr/>
          <p:nvPr/>
        </p:nvSpPr>
        <p:spPr>
          <a:xfrm>
            <a:off x="6035040" y="1325880"/>
            <a:ext cx="2559960" cy="3474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76" name="Shape 18"/>
          <p:cNvSpPr/>
          <p:nvPr/>
        </p:nvSpPr>
        <p:spPr>
          <a:xfrm>
            <a:off x="6035040" y="1325880"/>
            <a:ext cx="2559960" cy="456840"/>
          </a:xfrm>
          <a:prstGeom prst="rect">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77" name="Text 19"/>
          <p:cNvSpPr/>
          <p:nvPr/>
        </p:nvSpPr>
        <p:spPr>
          <a:xfrm>
            <a:off x="6035040" y="1325880"/>
            <a:ext cx="25599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EaaS  :8082</a:t>
            </a:r>
            <a:endParaRPr lang="en-GB" sz="1400" b="0" strike="noStrike" spc="-1">
              <a:solidFill>
                <a:srgbClr val="000000"/>
              </a:solidFill>
              <a:latin typeface="Arial"/>
            </a:endParaRPr>
          </a:p>
        </p:txBody>
      </p:sp>
      <p:sp>
        <p:nvSpPr>
          <p:cNvPr id="78" name="Text 20"/>
          <p:cNvSpPr/>
          <p:nvPr/>
        </p:nvSpPr>
        <p:spPr>
          <a:xfrm>
            <a:off x="6126480" y="1874520"/>
            <a:ext cx="23770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F8F4E"/>
                </a:solidFill>
                <a:latin typeface="Consolas"/>
                <a:ea typeface="Consolas"/>
              </a:rPr>
              <a:t>Spring Boot</a:t>
            </a:r>
            <a:endParaRPr lang="en-GB" sz="1100" b="0" strike="noStrike" spc="-1">
              <a:solidFill>
                <a:srgbClr val="000000"/>
              </a:solidFill>
              <a:latin typeface="Arial"/>
            </a:endParaRPr>
          </a:p>
          <a:p>
            <a:pPr defTabSz="914400">
              <a:lnSpc>
                <a:spcPct val="100000"/>
              </a:lnSpc>
              <a:tabLst>
                <a:tab pos="0" algn="l"/>
              </a:tabLst>
            </a:pPr>
            <a:r>
              <a:rPr lang="en-US" sz="1100" b="1" strike="noStrike" spc="-1">
                <a:solidFill>
                  <a:srgbClr val="2F8F4E"/>
                </a:solidFill>
                <a:latin typeface="Consolas"/>
                <a:ea typeface="Consolas"/>
              </a:rPr>
              <a:t>Policy engine</a:t>
            </a:r>
            <a:endParaRPr lang="en-GB" sz="1100" b="0" strike="noStrike" spc="-1">
              <a:solidFill>
                <a:srgbClr val="000000"/>
              </a:solidFill>
              <a:latin typeface="Arial"/>
            </a:endParaRPr>
          </a:p>
          <a:p>
            <a:pPr defTabSz="914400">
              <a:lnSpc>
                <a:spcPct val="100000"/>
              </a:lnSpc>
              <a:tabLst>
                <a:tab pos="0" algn="l"/>
              </a:tabLst>
            </a:pPr>
            <a:r>
              <a:rPr lang="en-US" sz="1100" b="1" strike="noStrike" spc="-1">
                <a:solidFill>
                  <a:srgbClr val="2F8F4E"/>
                </a:solidFill>
                <a:latin typeface="Consolas"/>
                <a:ea typeface="Consolas"/>
              </a:rPr>
              <a:t>Audit JSONL</a:t>
            </a:r>
            <a:endParaRPr lang="en-GB" sz="1100" b="0" strike="noStrike" spc="-1">
              <a:solidFill>
                <a:srgbClr val="000000"/>
              </a:solidFill>
              <a:latin typeface="Arial"/>
            </a:endParaRPr>
          </a:p>
        </p:txBody>
      </p:sp>
      <p:sp>
        <p:nvSpPr>
          <p:cNvPr id="79" name="Shape 21"/>
          <p:cNvSpPr/>
          <p:nvPr/>
        </p:nvSpPr>
        <p:spPr>
          <a:xfrm>
            <a:off x="6126480" y="2651760"/>
            <a:ext cx="2377440" cy="360"/>
          </a:xfrm>
          <a:prstGeom prst="line">
            <a:avLst/>
          </a:prstGeom>
          <a:ln w="12700">
            <a:solidFill>
              <a:srgbClr val="D4DCF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80" name="Text 22"/>
          <p:cNvSpPr/>
          <p:nvPr/>
        </p:nvSpPr>
        <p:spPr>
          <a:xfrm>
            <a:off x="6126480" y="2743200"/>
            <a:ext cx="237708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rgbClr val="1D2D44"/>
                </a:solidFill>
                <a:latin typeface="Calibri"/>
                <a:ea typeface="Calibri"/>
              </a:rPr>
              <a:t>Loads JSON policies, evaluates requests, produces decisions and audit</a:t>
            </a:r>
            <a:endParaRPr lang="en-GB" sz="1100" b="0" strike="noStrike" spc="-1">
              <a:solidFill>
                <a:srgbClr val="000000"/>
              </a:solidFill>
              <a:latin typeface="Arial"/>
            </a:endParaRPr>
          </a:p>
        </p:txBody>
      </p:sp>
      <p:sp>
        <p:nvSpPr>
          <p:cNvPr id="81" name="Shape 23"/>
          <p:cNvSpPr/>
          <p:nvPr/>
        </p:nvSpPr>
        <p:spPr>
          <a:xfrm>
            <a:off x="2926080" y="3017520"/>
            <a:ext cx="274320" cy="360"/>
          </a:xfrm>
          <a:prstGeom prst="line">
            <a:avLst/>
          </a:prstGeom>
          <a:ln w="25400">
            <a:solidFill>
              <a:srgbClr val="6B728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82" name="Text 24"/>
          <p:cNvSpPr/>
          <p:nvPr/>
        </p:nvSpPr>
        <p:spPr>
          <a:xfrm>
            <a:off x="2651760" y="3154680"/>
            <a:ext cx="822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i="1" strike="noStrike" spc="-1">
                <a:solidFill>
                  <a:srgbClr val="6B7280"/>
                </a:solidFill>
                <a:latin typeface="Calibri"/>
                <a:ea typeface="Calibri"/>
              </a:rPr>
              <a:t>HTTP/JSON</a:t>
            </a:r>
            <a:endParaRPr lang="en-GB" sz="800" b="0" strike="noStrike" spc="-1">
              <a:solidFill>
                <a:srgbClr val="000000"/>
              </a:solidFill>
              <a:latin typeface="Arial"/>
            </a:endParaRPr>
          </a:p>
          <a:p>
            <a:pPr algn="ctr" defTabSz="914400">
              <a:lnSpc>
                <a:spcPct val="100000"/>
              </a:lnSpc>
              <a:tabLst>
                <a:tab pos="0" algn="l"/>
              </a:tabLst>
            </a:pPr>
            <a:r>
              <a:rPr lang="en-US" sz="800" b="0" i="1" strike="noStrike" spc="-1">
                <a:solidFill>
                  <a:srgbClr val="6B7280"/>
                </a:solidFill>
                <a:latin typeface="Calibri"/>
                <a:ea typeface="Calibri"/>
              </a:rPr>
              <a:t>↔ DaaS</a:t>
            </a:r>
            <a:endParaRPr lang="en-GB" sz="800" b="0" strike="noStrike" spc="-1">
              <a:solidFill>
                <a:srgbClr val="000000"/>
              </a:solidFill>
              <a:latin typeface="Arial"/>
            </a:endParaRPr>
          </a:p>
        </p:txBody>
      </p:sp>
      <p:sp>
        <p:nvSpPr>
          <p:cNvPr id="83" name="Shape 25"/>
          <p:cNvSpPr/>
          <p:nvPr/>
        </p:nvSpPr>
        <p:spPr>
          <a:xfrm>
            <a:off x="5760720" y="3017520"/>
            <a:ext cx="274320" cy="360"/>
          </a:xfrm>
          <a:prstGeom prst="line">
            <a:avLst/>
          </a:prstGeom>
          <a:ln w="25400">
            <a:solidFill>
              <a:srgbClr val="6B728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84" name="Text 26"/>
          <p:cNvSpPr/>
          <p:nvPr/>
        </p:nvSpPr>
        <p:spPr>
          <a:xfrm>
            <a:off x="5486400" y="3154680"/>
            <a:ext cx="822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i="1" strike="noStrike" spc="-1">
                <a:solidFill>
                  <a:srgbClr val="6B7280"/>
                </a:solidFill>
                <a:latin typeface="Calibri"/>
                <a:ea typeface="Calibri"/>
              </a:rPr>
              <a:t>HTTP/JSON</a:t>
            </a:r>
            <a:endParaRPr lang="en-GB" sz="800" b="0" strike="noStrike" spc="-1">
              <a:solidFill>
                <a:srgbClr val="000000"/>
              </a:solidFill>
              <a:latin typeface="Arial"/>
            </a:endParaRPr>
          </a:p>
          <a:p>
            <a:pPr algn="ctr" defTabSz="914400">
              <a:lnSpc>
                <a:spcPct val="100000"/>
              </a:lnSpc>
              <a:tabLst>
                <a:tab pos="0" algn="l"/>
              </a:tabLst>
            </a:pPr>
            <a:r>
              <a:rPr lang="en-US" sz="800" b="0" i="1" strike="noStrike" spc="-1">
                <a:solidFill>
                  <a:srgbClr val="6B7280"/>
                </a:solidFill>
                <a:latin typeface="Calibri"/>
                <a:ea typeface="Calibri"/>
              </a:rPr>
              <a:t>↔ EaaS</a:t>
            </a:r>
            <a:endParaRPr lang="en-GB" sz="800" b="0" strike="noStrike" spc="-1">
              <a:solidFill>
                <a:srgbClr val="000000"/>
              </a:solidFill>
              <a:latin typeface="Arial"/>
            </a:endParaRPr>
          </a:p>
        </p:txBody>
      </p:sp>
      <p:sp>
        <p:nvSpPr>
          <p:cNvPr id="85" name="Text 27"/>
          <p:cNvSpPr/>
          <p:nvPr/>
        </p:nvSpPr>
        <p:spPr>
          <a:xfrm>
            <a:off x="365760" y="4709160"/>
            <a:ext cx="8412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000" b="0" strike="noStrike" spc="-1">
              <a:solidFill>
                <a:schemeClr val="dk1"/>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Shape 0"/>
          <p:cNvSpPr/>
          <p:nvPr/>
        </p:nvSpPr>
        <p:spPr>
          <a:xfrm>
            <a:off x="365760" y="201240"/>
            <a:ext cx="1737000" cy="255600"/>
          </a:xfrm>
          <a:prstGeom prst="roundRect">
            <a:avLst>
              <a:gd name="adj" fmla="val 14286"/>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87"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RDF DATASET</a:t>
            </a:r>
            <a:endParaRPr lang="en-GB" sz="800" b="0" strike="noStrike" spc="-1">
              <a:solidFill>
                <a:srgbClr val="000000"/>
              </a:solidFill>
              <a:latin typeface="Arial"/>
            </a:endParaRPr>
          </a:p>
        </p:txBody>
      </p:sp>
      <p:sp>
        <p:nvSpPr>
          <p:cNvPr id="88"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2600" b="1" strike="noStrike" spc="-1">
                <a:solidFill>
                  <a:srgbClr val="1D2D44"/>
                </a:solidFill>
                <a:latin typeface="Trebuchet MS"/>
                <a:ea typeface="Trebuchet MS"/>
              </a:rPr>
              <a:t>Starting RDF Dataset — Ontology</a:t>
            </a:r>
            <a:endParaRPr lang="en-GB" sz="2600" b="0" strike="noStrike" spc="-1">
              <a:solidFill>
                <a:srgbClr val="000000"/>
              </a:solidFill>
              <a:latin typeface="Arial"/>
            </a:endParaRPr>
          </a:p>
        </p:txBody>
      </p:sp>
      <p:sp>
        <p:nvSpPr>
          <p:cNvPr id="89"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90"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6</a:t>
            </a:r>
            <a:endParaRPr lang="en-GB" sz="900" b="0" strike="noStrike" spc="-1">
              <a:solidFill>
                <a:srgbClr val="000000"/>
              </a:solidFill>
              <a:latin typeface="Arial"/>
            </a:endParaRPr>
          </a:p>
        </p:txBody>
      </p:sp>
      <p:sp>
        <p:nvSpPr>
          <p:cNvPr id="91" name="Shape 5"/>
          <p:cNvSpPr/>
          <p:nvPr/>
        </p:nvSpPr>
        <p:spPr>
          <a:xfrm>
            <a:off x="407880" y="1325880"/>
            <a:ext cx="1234080" cy="822600"/>
          </a:xfrm>
          <a:prstGeom prst="rect">
            <a:avLst/>
          </a:prstGeom>
          <a:solidFill>
            <a:srgbClr val="1D2D44"/>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92" name="Text 6"/>
          <p:cNvSpPr/>
          <p:nvPr/>
        </p:nvSpPr>
        <p:spPr>
          <a:xfrm>
            <a:off x="365760" y="1371600"/>
            <a:ext cx="12340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FFFFFF"/>
                </a:solidFill>
                <a:latin typeface="Trebuchet MS"/>
                <a:ea typeface="Trebuchet MS"/>
              </a:rPr>
              <a:t>7</a:t>
            </a:r>
            <a:endParaRPr lang="en-GB" sz="2200" b="0" strike="noStrike" spc="-1">
              <a:solidFill>
                <a:srgbClr val="000000"/>
              </a:solidFill>
              <a:latin typeface="Arial"/>
            </a:endParaRPr>
          </a:p>
        </p:txBody>
      </p:sp>
      <p:sp>
        <p:nvSpPr>
          <p:cNvPr id="93" name="Text 7"/>
          <p:cNvSpPr/>
          <p:nvPr/>
        </p:nvSpPr>
        <p:spPr>
          <a:xfrm>
            <a:off x="365760" y="1828800"/>
            <a:ext cx="12340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9FB4CC"/>
                </a:solidFill>
                <a:latin typeface="Calibri"/>
                <a:ea typeface="Calibri"/>
              </a:rPr>
              <a:t>Location</a:t>
            </a:r>
            <a:endParaRPr lang="en-GB" sz="800" b="0" strike="noStrike" spc="-1">
              <a:solidFill>
                <a:srgbClr val="000000"/>
              </a:solidFill>
              <a:latin typeface="Arial"/>
            </a:endParaRPr>
          </a:p>
        </p:txBody>
      </p:sp>
      <p:sp>
        <p:nvSpPr>
          <p:cNvPr id="94" name="Shape 8"/>
          <p:cNvSpPr/>
          <p:nvPr/>
        </p:nvSpPr>
        <p:spPr>
          <a:xfrm>
            <a:off x="1783080" y="1325880"/>
            <a:ext cx="1234080" cy="822600"/>
          </a:xfrm>
          <a:prstGeom prst="rect">
            <a:avLst/>
          </a:prstGeom>
          <a:solidFill>
            <a:srgbClr val="1D2D44"/>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95" name="Text 9"/>
          <p:cNvSpPr/>
          <p:nvPr/>
        </p:nvSpPr>
        <p:spPr>
          <a:xfrm>
            <a:off x="1783080" y="1371600"/>
            <a:ext cx="12340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FFFFFF"/>
                </a:solidFill>
                <a:latin typeface="Trebuchet MS"/>
                <a:ea typeface="Trebuchet MS"/>
              </a:rPr>
              <a:t>25</a:t>
            </a:r>
            <a:endParaRPr lang="en-GB" sz="2200" b="0" strike="noStrike" spc="-1">
              <a:solidFill>
                <a:srgbClr val="000000"/>
              </a:solidFill>
              <a:latin typeface="Arial"/>
            </a:endParaRPr>
          </a:p>
        </p:txBody>
      </p:sp>
      <p:sp>
        <p:nvSpPr>
          <p:cNvPr id="96" name="Text 10"/>
          <p:cNvSpPr/>
          <p:nvPr/>
        </p:nvSpPr>
        <p:spPr>
          <a:xfrm>
            <a:off x="1783080" y="1828800"/>
            <a:ext cx="12340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9FB4CC"/>
                </a:solidFill>
                <a:latin typeface="Calibri"/>
                <a:ea typeface="Calibri"/>
              </a:rPr>
              <a:t>Candidates</a:t>
            </a:r>
            <a:endParaRPr lang="en-GB" sz="800" b="0" strike="noStrike" spc="-1">
              <a:solidFill>
                <a:srgbClr val="000000"/>
              </a:solidFill>
              <a:latin typeface="Arial"/>
            </a:endParaRPr>
          </a:p>
        </p:txBody>
      </p:sp>
      <p:sp>
        <p:nvSpPr>
          <p:cNvPr id="97" name="Shape 11"/>
          <p:cNvSpPr/>
          <p:nvPr/>
        </p:nvSpPr>
        <p:spPr>
          <a:xfrm>
            <a:off x="3200400" y="1325880"/>
            <a:ext cx="1234080" cy="822600"/>
          </a:xfrm>
          <a:prstGeom prst="rect">
            <a:avLst/>
          </a:prstGeom>
          <a:solidFill>
            <a:srgbClr val="1D2D44"/>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98" name="Text 12"/>
          <p:cNvSpPr/>
          <p:nvPr/>
        </p:nvSpPr>
        <p:spPr>
          <a:xfrm>
            <a:off x="3200400" y="1371600"/>
            <a:ext cx="12340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FFFFFF"/>
                </a:solidFill>
                <a:latin typeface="Trebuchet MS"/>
                <a:ea typeface="Trebuchet MS"/>
              </a:rPr>
              <a:t>18</a:t>
            </a:r>
            <a:endParaRPr lang="en-GB" sz="2200" b="0" strike="noStrike" spc="-1">
              <a:solidFill>
                <a:srgbClr val="000000"/>
              </a:solidFill>
              <a:latin typeface="Arial"/>
            </a:endParaRPr>
          </a:p>
        </p:txBody>
      </p:sp>
      <p:sp>
        <p:nvSpPr>
          <p:cNvPr id="99" name="Text 13"/>
          <p:cNvSpPr/>
          <p:nvPr/>
        </p:nvSpPr>
        <p:spPr>
          <a:xfrm>
            <a:off x="3200400" y="1828800"/>
            <a:ext cx="12340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9FB4CC"/>
                </a:solidFill>
                <a:latin typeface="Calibri"/>
                <a:ea typeface="Calibri"/>
              </a:rPr>
              <a:t>Offers</a:t>
            </a:r>
            <a:endParaRPr lang="en-GB" sz="800" b="0" strike="noStrike" spc="-1">
              <a:solidFill>
                <a:srgbClr val="000000"/>
              </a:solidFill>
              <a:latin typeface="Arial"/>
            </a:endParaRPr>
          </a:p>
        </p:txBody>
      </p:sp>
      <p:sp>
        <p:nvSpPr>
          <p:cNvPr id="100" name="Shape 14"/>
          <p:cNvSpPr/>
          <p:nvPr/>
        </p:nvSpPr>
        <p:spPr>
          <a:xfrm>
            <a:off x="4617720" y="1325880"/>
            <a:ext cx="1234080" cy="822600"/>
          </a:xfrm>
          <a:prstGeom prst="rect">
            <a:avLst/>
          </a:prstGeom>
          <a:solidFill>
            <a:srgbClr val="1D2D44"/>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01" name="Text 15"/>
          <p:cNvSpPr/>
          <p:nvPr/>
        </p:nvSpPr>
        <p:spPr>
          <a:xfrm>
            <a:off x="4617720" y="1371600"/>
            <a:ext cx="12340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FFFFFF"/>
                </a:solidFill>
                <a:latin typeface="Trebuchet MS"/>
                <a:ea typeface="Trebuchet MS"/>
              </a:rPr>
              <a:t>12</a:t>
            </a:r>
            <a:endParaRPr lang="en-GB" sz="2200" b="0" strike="noStrike" spc="-1">
              <a:solidFill>
                <a:srgbClr val="000000"/>
              </a:solidFill>
              <a:latin typeface="Arial"/>
            </a:endParaRPr>
          </a:p>
        </p:txBody>
      </p:sp>
      <p:sp>
        <p:nvSpPr>
          <p:cNvPr id="102" name="Text 16"/>
          <p:cNvSpPr/>
          <p:nvPr/>
        </p:nvSpPr>
        <p:spPr>
          <a:xfrm>
            <a:off x="4617720" y="1828800"/>
            <a:ext cx="12340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9FB4CC"/>
                </a:solidFill>
                <a:latin typeface="Calibri"/>
                <a:ea typeface="Calibri"/>
              </a:rPr>
              <a:t>Skills</a:t>
            </a:r>
            <a:endParaRPr lang="en-GB" sz="800" b="0" strike="noStrike" spc="-1">
              <a:solidFill>
                <a:srgbClr val="000000"/>
              </a:solidFill>
              <a:latin typeface="Arial"/>
            </a:endParaRPr>
          </a:p>
        </p:txBody>
      </p:sp>
      <p:sp>
        <p:nvSpPr>
          <p:cNvPr id="103" name="Shape 17"/>
          <p:cNvSpPr/>
          <p:nvPr/>
        </p:nvSpPr>
        <p:spPr>
          <a:xfrm>
            <a:off x="6035040" y="1325880"/>
            <a:ext cx="1234080" cy="822600"/>
          </a:xfrm>
          <a:prstGeom prst="rect">
            <a:avLst/>
          </a:prstGeom>
          <a:solidFill>
            <a:srgbClr val="1D2D44"/>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04" name="Text 18"/>
          <p:cNvSpPr/>
          <p:nvPr/>
        </p:nvSpPr>
        <p:spPr>
          <a:xfrm>
            <a:off x="6035040" y="1371600"/>
            <a:ext cx="12340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FFFFFF"/>
                </a:solidFill>
                <a:latin typeface="Trebuchet MS"/>
                <a:ea typeface="Trebuchet MS"/>
              </a:rPr>
              <a:t>5</a:t>
            </a:r>
            <a:endParaRPr lang="en-GB" sz="2200" b="0" strike="noStrike" spc="-1">
              <a:solidFill>
                <a:srgbClr val="000000"/>
              </a:solidFill>
              <a:latin typeface="Arial"/>
            </a:endParaRPr>
          </a:p>
        </p:txBody>
      </p:sp>
      <p:sp>
        <p:nvSpPr>
          <p:cNvPr id="105" name="Text 19"/>
          <p:cNvSpPr/>
          <p:nvPr/>
        </p:nvSpPr>
        <p:spPr>
          <a:xfrm>
            <a:off x="6035040" y="1828800"/>
            <a:ext cx="12340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9FB4CC"/>
                </a:solidFill>
                <a:latin typeface="Calibri"/>
                <a:ea typeface="Calibri"/>
              </a:rPr>
              <a:t>Sectors</a:t>
            </a:r>
            <a:endParaRPr lang="en-GB" sz="800" b="0" strike="noStrike" spc="-1">
              <a:solidFill>
                <a:srgbClr val="000000"/>
              </a:solidFill>
              <a:latin typeface="Arial"/>
            </a:endParaRPr>
          </a:p>
        </p:txBody>
      </p:sp>
      <p:sp>
        <p:nvSpPr>
          <p:cNvPr id="106" name="Shape 20"/>
          <p:cNvSpPr/>
          <p:nvPr/>
        </p:nvSpPr>
        <p:spPr>
          <a:xfrm>
            <a:off x="7452360" y="1325880"/>
            <a:ext cx="1234080" cy="822600"/>
          </a:xfrm>
          <a:prstGeom prst="rect">
            <a:avLst/>
          </a:prstGeom>
          <a:solidFill>
            <a:srgbClr val="1D2D44"/>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07" name="Text 21"/>
          <p:cNvSpPr/>
          <p:nvPr/>
        </p:nvSpPr>
        <p:spPr>
          <a:xfrm>
            <a:off x="7452360" y="1371600"/>
            <a:ext cx="12340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FFFFFF"/>
                </a:solidFill>
                <a:latin typeface="Trebuchet MS"/>
                <a:ea typeface="Trebuchet MS"/>
              </a:rPr>
              <a:t>7</a:t>
            </a:r>
            <a:endParaRPr lang="en-GB" sz="2200" b="0" strike="noStrike" spc="-1">
              <a:solidFill>
                <a:srgbClr val="000000"/>
              </a:solidFill>
              <a:latin typeface="Arial"/>
            </a:endParaRPr>
          </a:p>
        </p:txBody>
      </p:sp>
      <p:sp>
        <p:nvSpPr>
          <p:cNvPr id="108" name="Text 22"/>
          <p:cNvSpPr/>
          <p:nvPr/>
        </p:nvSpPr>
        <p:spPr>
          <a:xfrm>
            <a:off x="7452360" y="1828800"/>
            <a:ext cx="12340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9FB4CC"/>
                </a:solidFill>
                <a:latin typeface="Calibri"/>
                <a:ea typeface="Calibri"/>
              </a:rPr>
              <a:t>Companies</a:t>
            </a:r>
            <a:endParaRPr lang="en-GB" sz="800" b="0" strike="noStrike" spc="-1">
              <a:solidFill>
                <a:srgbClr val="000000"/>
              </a:solidFill>
              <a:latin typeface="Arial"/>
            </a:endParaRPr>
          </a:p>
        </p:txBody>
      </p:sp>
      <p:sp>
        <p:nvSpPr>
          <p:cNvPr id="109" name="Shape 23"/>
          <p:cNvSpPr/>
          <p:nvPr/>
        </p:nvSpPr>
        <p:spPr>
          <a:xfrm>
            <a:off x="365760" y="2331720"/>
            <a:ext cx="3840120" cy="594000"/>
          </a:xfrm>
          <a:prstGeom prst="rect">
            <a:avLst/>
          </a:prstGeom>
          <a:solidFill>
            <a:srgbClr val="F0F8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10" name="Text 24"/>
          <p:cNvSpPr/>
          <p:nvPr/>
        </p:nvSpPr>
        <p:spPr>
          <a:xfrm>
            <a:off x="502920" y="2395800"/>
            <a:ext cx="914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6B7280"/>
                </a:solidFill>
                <a:latin typeface="Calibri"/>
                <a:ea typeface="Calibri"/>
              </a:rPr>
              <a:t>Namespace: </a:t>
            </a:r>
            <a:endParaRPr lang="en-GB" sz="1000" b="0" strike="noStrike" spc="-1">
              <a:solidFill>
                <a:srgbClr val="000000"/>
              </a:solidFill>
              <a:latin typeface="Arial"/>
            </a:endParaRPr>
          </a:p>
        </p:txBody>
      </p:sp>
      <p:sp>
        <p:nvSpPr>
          <p:cNvPr id="111" name="Text 25"/>
          <p:cNvSpPr/>
          <p:nvPr/>
        </p:nvSpPr>
        <p:spPr>
          <a:xfrm>
            <a:off x="1280160" y="2395800"/>
            <a:ext cx="28342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2C5FDC"/>
                </a:solidFill>
                <a:latin typeface="Consolas"/>
                <a:ea typeface="Consolas"/>
              </a:rPr>
              <a:t>http://sose.univaq.it/employment#  (prefix emp:)</a:t>
            </a:r>
            <a:endParaRPr lang="en-GB" sz="1000" b="0" strike="noStrike" spc="-1">
              <a:solidFill>
                <a:srgbClr val="000000"/>
              </a:solidFill>
              <a:latin typeface="Arial"/>
            </a:endParaRPr>
          </a:p>
        </p:txBody>
      </p:sp>
      <p:sp>
        <p:nvSpPr>
          <p:cNvPr id="112" name="Text 26"/>
          <p:cNvSpPr/>
          <p:nvPr/>
        </p:nvSpPr>
        <p:spPr>
          <a:xfrm>
            <a:off x="502920" y="2633400"/>
            <a:ext cx="3657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900" b="0" strike="noStrike" spc="-1">
              <a:solidFill>
                <a:schemeClr val="dk1"/>
              </a:solidFill>
              <a:latin typeface="Calibri"/>
            </a:endParaRPr>
          </a:p>
        </p:txBody>
      </p:sp>
      <p:sp>
        <p:nvSpPr>
          <p:cNvPr id="113" name="Shape 27"/>
          <p:cNvSpPr/>
          <p:nvPr/>
        </p:nvSpPr>
        <p:spPr>
          <a:xfrm>
            <a:off x="365760" y="3063240"/>
            <a:ext cx="4068720" cy="41112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14" name="Text 28"/>
          <p:cNvSpPr/>
          <p:nvPr/>
        </p:nvSpPr>
        <p:spPr>
          <a:xfrm>
            <a:off x="457200" y="306324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C5FDC"/>
                </a:solidFill>
                <a:latin typeface="Consolas"/>
                <a:ea typeface="Consolas"/>
              </a:rPr>
              <a:t>emp:Candidate</a:t>
            </a:r>
            <a:endParaRPr lang="en-GB" sz="1100" b="0" strike="noStrike" spc="-1">
              <a:solidFill>
                <a:srgbClr val="000000"/>
              </a:solidFill>
              <a:latin typeface="Arial"/>
            </a:endParaRPr>
          </a:p>
        </p:txBody>
      </p:sp>
      <p:sp>
        <p:nvSpPr>
          <p:cNvPr id="115" name="Text 29"/>
          <p:cNvSpPr/>
          <p:nvPr/>
        </p:nvSpPr>
        <p:spPr>
          <a:xfrm>
            <a:off x="2468880" y="3063240"/>
            <a:ext cx="1919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6B7280"/>
                </a:solidFill>
                <a:latin typeface="Calibri"/>
                <a:ea typeface="Calibri"/>
              </a:rPr>
              <a:t>subClassOf foaf:Person</a:t>
            </a:r>
            <a:endParaRPr lang="en-GB" sz="1000" b="0" strike="noStrike" spc="-1">
              <a:solidFill>
                <a:srgbClr val="000000"/>
              </a:solidFill>
              <a:latin typeface="Arial"/>
            </a:endParaRPr>
          </a:p>
        </p:txBody>
      </p:sp>
      <p:sp>
        <p:nvSpPr>
          <p:cNvPr id="116" name="Shape 30"/>
          <p:cNvSpPr/>
          <p:nvPr/>
        </p:nvSpPr>
        <p:spPr>
          <a:xfrm>
            <a:off x="365760" y="3575160"/>
            <a:ext cx="4068720" cy="41112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17" name="Text 31"/>
          <p:cNvSpPr/>
          <p:nvPr/>
        </p:nvSpPr>
        <p:spPr>
          <a:xfrm>
            <a:off x="457200" y="357516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C5FDC"/>
                </a:solidFill>
                <a:latin typeface="Consolas"/>
                <a:ea typeface="Consolas"/>
              </a:rPr>
              <a:t>emp:JobOffer</a:t>
            </a:r>
            <a:endParaRPr lang="en-GB" sz="1100" b="0" strike="noStrike" spc="-1">
              <a:solidFill>
                <a:srgbClr val="000000"/>
              </a:solidFill>
              <a:latin typeface="Arial"/>
            </a:endParaRPr>
          </a:p>
        </p:txBody>
      </p:sp>
      <p:sp>
        <p:nvSpPr>
          <p:cNvPr id="118" name="Text 32"/>
          <p:cNvSpPr/>
          <p:nvPr/>
        </p:nvSpPr>
        <p:spPr>
          <a:xfrm>
            <a:off x="2468880" y="3575160"/>
            <a:ext cx="1919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6B7280"/>
                </a:solidFill>
                <a:latin typeface="Calibri"/>
                <a:ea typeface="Calibri"/>
              </a:rPr>
              <a:t>job offer</a:t>
            </a:r>
            <a:endParaRPr lang="en-GB" sz="1000" b="0" strike="noStrike" spc="-1">
              <a:solidFill>
                <a:srgbClr val="000000"/>
              </a:solidFill>
              <a:latin typeface="Arial"/>
            </a:endParaRPr>
          </a:p>
        </p:txBody>
      </p:sp>
      <p:sp>
        <p:nvSpPr>
          <p:cNvPr id="119" name="Shape 33"/>
          <p:cNvSpPr/>
          <p:nvPr/>
        </p:nvSpPr>
        <p:spPr>
          <a:xfrm>
            <a:off x="365760" y="4087440"/>
            <a:ext cx="4068720" cy="41112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20" name="Text 34"/>
          <p:cNvSpPr/>
          <p:nvPr/>
        </p:nvSpPr>
        <p:spPr>
          <a:xfrm>
            <a:off x="457200" y="408744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C5FDC"/>
                </a:solidFill>
                <a:latin typeface="Consolas"/>
                <a:ea typeface="Consolas"/>
              </a:rPr>
              <a:t>emp:Company</a:t>
            </a:r>
            <a:endParaRPr lang="en-GB" sz="1100" b="0" strike="noStrike" spc="-1">
              <a:solidFill>
                <a:srgbClr val="000000"/>
              </a:solidFill>
              <a:latin typeface="Arial"/>
            </a:endParaRPr>
          </a:p>
        </p:txBody>
      </p:sp>
      <p:sp>
        <p:nvSpPr>
          <p:cNvPr id="121" name="Text 35"/>
          <p:cNvSpPr/>
          <p:nvPr/>
        </p:nvSpPr>
        <p:spPr>
          <a:xfrm>
            <a:off x="2468880" y="4087440"/>
            <a:ext cx="1919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6B7280"/>
                </a:solidFill>
                <a:latin typeface="Calibri"/>
                <a:ea typeface="Calibri"/>
              </a:rPr>
              <a:t>subClassOf schema:Organization</a:t>
            </a:r>
            <a:endParaRPr lang="en-GB" sz="1000" b="0" strike="noStrike" spc="-1">
              <a:solidFill>
                <a:srgbClr val="000000"/>
              </a:solidFill>
              <a:latin typeface="Arial"/>
            </a:endParaRPr>
          </a:p>
        </p:txBody>
      </p:sp>
      <p:sp>
        <p:nvSpPr>
          <p:cNvPr id="122" name="Shape 36"/>
          <p:cNvSpPr/>
          <p:nvPr/>
        </p:nvSpPr>
        <p:spPr>
          <a:xfrm>
            <a:off x="4663440" y="3063240"/>
            <a:ext cx="4068720" cy="41112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23" name="Text 37"/>
          <p:cNvSpPr/>
          <p:nvPr/>
        </p:nvSpPr>
        <p:spPr>
          <a:xfrm>
            <a:off x="4754880" y="306324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C5FDC"/>
                </a:solidFill>
                <a:latin typeface="Consolas"/>
                <a:ea typeface="Consolas"/>
              </a:rPr>
              <a:t>emp:Skill</a:t>
            </a:r>
            <a:endParaRPr lang="en-GB" sz="1100" b="0" strike="noStrike" spc="-1">
              <a:solidFill>
                <a:srgbClr val="000000"/>
              </a:solidFill>
              <a:latin typeface="Arial"/>
            </a:endParaRPr>
          </a:p>
        </p:txBody>
      </p:sp>
      <p:sp>
        <p:nvSpPr>
          <p:cNvPr id="124" name="Text 38"/>
          <p:cNvSpPr/>
          <p:nvPr/>
        </p:nvSpPr>
        <p:spPr>
          <a:xfrm>
            <a:off x="6766560" y="3063240"/>
            <a:ext cx="1919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6B7280"/>
                </a:solidFill>
                <a:latin typeface="Calibri"/>
                <a:ea typeface="Calibri"/>
              </a:rPr>
              <a:t>skill / competence</a:t>
            </a:r>
            <a:endParaRPr lang="en-GB" sz="1000" b="0" strike="noStrike" spc="-1">
              <a:solidFill>
                <a:srgbClr val="000000"/>
              </a:solidFill>
              <a:latin typeface="Arial"/>
            </a:endParaRPr>
          </a:p>
        </p:txBody>
      </p:sp>
      <p:sp>
        <p:nvSpPr>
          <p:cNvPr id="125" name="Shape 39"/>
          <p:cNvSpPr/>
          <p:nvPr/>
        </p:nvSpPr>
        <p:spPr>
          <a:xfrm>
            <a:off x="4663440" y="3575160"/>
            <a:ext cx="4068720" cy="41112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26" name="Text 40"/>
          <p:cNvSpPr/>
          <p:nvPr/>
        </p:nvSpPr>
        <p:spPr>
          <a:xfrm>
            <a:off x="4754880" y="357516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C5FDC"/>
                </a:solidFill>
                <a:latin typeface="Consolas"/>
                <a:ea typeface="Consolas"/>
              </a:rPr>
              <a:t>emp:Sector</a:t>
            </a:r>
            <a:endParaRPr lang="en-GB" sz="1100" b="0" strike="noStrike" spc="-1">
              <a:solidFill>
                <a:srgbClr val="000000"/>
              </a:solidFill>
              <a:latin typeface="Arial"/>
            </a:endParaRPr>
          </a:p>
        </p:txBody>
      </p:sp>
      <p:sp>
        <p:nvSpPr>
          <p:cNvPr id="127" name="Text 41"/>
          <p:cNvSpPr/>
          <p:nvPr/>
        </p:nvSpPr>
        <p:spPr>
          <a:xfrm>
            <a:off x="6766560" y="3575160"/>
            <a:ext cx="1919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6B7280"/>
                </a:solidFill>
                <a:latin typeface="Calibri"/>
                <a:ea typeface="Calibri"/>
              </a:rPr>
              <a:t>work sector</a:t>
            </a:r>
            <a:endParaRPr lang="en-GB" sz="1000" b="0" strike="noStrike" spc="-1">
              <a:solidFill>
                <a:srgbClr val="000000"/>
              </a:solidFill>
              <a:latin typeface="Arial"/>
            </a:endParaRPr>
          </a:p>
        </p:txBody>
      </p:sp>
      <p:sp>
        <p:nvSpPr>
          <p:cNvPr id="128" name="Shape 42"/>
          <p:cNvSpPr/>
          <p:nvPr/>
        </p:nvSpPr>
        <p:spPr>
          <a:xfrm>
            <a:off x="4663440" y="4087440"/>
            <a:ext cx="4068720" cy="41112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29" name="Text 43"/>
          <p:cNvSpPr/>
          <p:nvPr/>
        </p:nvSpPr>
        <p:spPr>
          <a:xfrm>
            <a:off x="4754880" y="408744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C5FDC"/>
                </a:solidFill>
                <a:latin typeface="Consolas"/>
                <a:ea typeface="Consolas"/>
              </a:rPr>
              <a:t>emp:Location</a:t>
            </a:r>
            <a:endParaRPr lang="en-GB" sz="1100" b="0" strike="noStrike" spc="-1">
              <a:solidFill>
                <a:srgbClr val="000000"/>
              </a:solidFill>
              <a:latin typeface="Arial"/>
            </a:endParaRPr>
          </a:p>
        </p:txBody>
      </p:sp>
      <p:sp>
        <p:nvSpPr>
          <p:cNvPr id="130" name="Text 44"/>
          <p:cNvSpPr/>
          <p:nvPr/>
        </p:nvSpPr>
        <p:spPr>
          <a:xfrm>
            <a:off x="6766560" y="4087440"/>
            <a:ext cx="1919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6B7280"/>
                </a:solidFill>
                <a:latin typeface="Calibri"/>
                <a:ea typeface="Calibri"/>
              </a:rPr>
              <a:t>geographic location</a:t>
            </a:r>
            <a:endParaRPr lang="en-GB" sz="10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 name="Shape 0"/>
          <p:cNvSpPr/>
          <p:nvPr/>
        </p:nvSpPr>
        <p:spPr>
          <a:xfrm>
            <a:off x="365760" y="201240"/>
            <a:ext cx="1737000" cy="255600"/>
          </a:xfrm>
          <a:prstGeom prst="roundRect">
            <a:avLst>
              <a:gd name="adj" fmla="val 14286"/>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32"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SPARQL</a:t>
            </a:r>
            <a:endParaRPr lang="en-GB" sz="800" b="0" strike="noStrike" spc="-1">
              <a:solidFill>
                <a:srgbClr val="000000"/>
              </a:solidFill>
              <a:latin typeface="Arial"/>
            </a:endParaRPr>
          </a:p>
        </p:txBody>
      </p:sp>
      <p:sp>
        <p:nvSpPr>
          <p:cNvPr id="133"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SPARQL Queries — Examples</a:t>
            </a:r>
            <a:endParaRPr lang="en-GB" sz="2600" b="0" strike="noStrike" spc="-1">
              <a:solidFill>
                <a:srgbClr val="000000"/>
              </a:solidFill>
              <a:latin typeface="Arial"/>
            </a:endParaRPr>
          </a:p>
        </p:txBody>
      </p:sp>
      <p:sp>
        <p:nvSpPr>
          <p:cNvPr id="134"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135"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8</a:t>
            </a:r>
            <a:endParaRPr lang="en-GB" sz="900" b="0" strike="noStrike" spc="-1">
              <a:solidFill>
                <a:srgbClr val="000000"/>
              </a:solidFill>
              <a:latin typeface="Arial"/>
            </a:endParaRPr>
          </a:p>
        </p:txBody>
      </p:sp>
      <p:sp>
        <p:nvSpPr>
          <p:cNvPr id="136" name="Text 5"/>
          <p:cNvSpPr/>
          <p:nvPr/>
        </p:nvSpPr>
        <p:spPr>
          <a:xfrm>
            <a:off x="365760" y="1325880"/>
            <a:ext cx="84121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Query 1 · Offers by sector</a:t>
            </a:r>
            <a:endParaRPr lang="en-GB" sz="1200" b="0" strike="noStrike" spc="-1">
              <a:solidFill>
                <a:srgbClr val="000000"/>
              </a:solidFill>
              <a:latin typeface="Arial"/>
            </a:endParaRPr>
          </a:p>
        </p:txBody>
      </p:sp>
      <p:sp>
        <p:nvSpPr>
          <p:cNvPr id="137" name="Shape 6"/>
          <p:cNvSpPr/>
          <p:nvPr/>
        </p:nvSpPr>
        <p:spPr>
          <a:xfrm>
            <a:off x="365760" y="1691640"/>
            <a:ext cx="8412120" cy="1188360"/>
          </a:xfrm>
          <a:prstGeom prst="rect">
            <a:avLst/>
          </a:prstGeom>
          <a:solidFill>
            <a:srgbClr val="1E293B"/>
          </a:solidFill>
          <a:ln w="12700">
            <a:solidFill>
              <a:srgbClr val="1E293B"/>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38" name="Text 7"/>
          <p:cNvSpPr/>
          <p:nvPr/>
        </p:nvSpPr>
        <p:spPr>
          <a:xfrm>
            <a:off x="502920" y="1737360"/>
            <a:ext cx="82292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0" strike="noStrike" spc="-1">
                <a:solidFill>
                  <a:srgbClr val="86EFAC"/>
                </a:solidFill>
                <a:latin typeface="Consolas"/>
                <a:ea typeface="Consolas"/>
              </a:rPr>
              <a:t>SELECT ?j ?title ?sal ?loc WHERE {</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86EFAC"/>
                </a:solidFill>
                <a:latin typeface="Consolas"/>
                <a:ea typeface="Consolas"/>
              </a:rPr>
              <a:t>  ?j a emp:JobOffer ; dct:title ?title ; emp:hasSector ?sec ;</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86EFAC"/>
                </a:solidFill>
                <a:latin typeface="Consolas"/>
                <a:ea typeface="Consolas"/>
              </a:rPr>
              <a:t>     emp:hasLocation ?locR ; emp:salary ?sal .</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86EFAC"/>
                </a:solidFill>
                <a:latin typeface="Consolas"/>
                <a:ea typeface="Consolas"/>
              </a:rPr>
              <a:t>  ?sec rdfs:label "Information Technology" .</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86EFAC"/>
                </a:solidFill>
                <a:latin typeface="Consolas"/>
                <a:ea typeface="Consolas"/>
              </a:rPr>
              <a:t>  ?locR rdfs:label ?loc</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86EFAC"/>
                </a:solidFill>
                <a:latin typeface="Consolas"/>
                <a:ea typeface="Consolas"/>
              </a:rPr>
              <a:t>}</a:t>
            </a:r>
            <a:endParaRPr lang="en-GB" sz="1000" b="0" strike="noStrike" spc="-1">
              <a:solidFill>
                <a:srgbClr val="000000"/>
              </a:solidFill>
              <a:latin typeface="Arial"/>
            </a:endParaRPr>
          </a:p>
        </p:txBody>
      </p:sp>
      <p:sp>
        <p:nvSpPr>
          <p:cNvPr id="139" name="Text 8"/>
          <p:cNvSpPr/>
          <p:nvPr/>
        </p:nvSpPr>
        <p:spPr>
          <a:xfrm>
            <a:off x="365760" y="2999160"/>
            <a:ext cx="84121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Query 2 · Multi-condition match (skill overlap + location + experience)</a:t>
            </a:r>
            <a:endParaRPr lang="en-GB" sz="1200" b="0" strike="noStrike" spc="-1">
              <a:solidFill>
                <a:srgbClr val="000000"/>
              </a:solidFill>
              <a:latin typeface="Arial"/>
            </a:endParaRPr>
          </a:p>
        </p:txBody>
      </p:sp>
      <p:sp>
        <p:nvSpPr>
          <p:cNvPr id="140" name="Shape 9"/>
          <p:cNvSpPr/>
          <p:nvPr/>
        </p:nvSpPr>
        <p:spPr>
          <a:xfrm>
            <a:off x="365760" y="3364920"/>
            <a:ext cx="8412120" cy="1554120"/>
          </a:xfrm>
          <a:prstGeom prst="rect">
            <a:avLst/>
          </a:prstGeom>
          <a:solidFill>
            <a:srgbClr val="1E293B"/>
          </a:solidFill>
          <a:ln w="12700">
            <a:solidFill>
              <a:srgbClr val="1E293B"/>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41" name="Text 10"/>
          <p:cNvSpPr/>
          <p:nvPr/>
        </p:nvSpPr>
        <p:spPr>
          <a:xfrm>
            <a:off x="502920" y="3410640"/>
            <a:ext cx="822924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50" b="0" strike="noStrike" spc="-1">
                <a:solidFill>
                  <a:srgbClr val="86EFAC"/>
                </a:solidFill>
                <a:latin typeface="Consolas"/>
                <a:ea typeface="Consolas"/>
              </a:rPr>
              <a:t>SELECT ?j ?title ?candLoc ?jobLoc ?remote ?reqExp ?yoe</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       (COUNT(DISTINCT ?sharedSkill) AS ?shared)</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WHERE {</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  emp:cand-001 emp:hasLocation ?cLoc ; emp:yearsOfExperience ?yoe ; emp:hasSkill ?sharedSkill .</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  ?cLoc rdfs:label ?candLoc .</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  ?j a emp:JobOffer ; dct:title ?title ; emp:hasSkill ?sharedSkill ;</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     emp:requiredExperience ?reqExp ; emp:remote ?remote ; emp:hasLocation ?jLoc .</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  ?jLoc rdfs:label ?jobLoc</a:t>
            </a:r>
            <a:endParaRPr lang="en-GB" sz="950" b="0" strike="noStrike" spc="-1">
              <a:solidFill>
                <a:srgbClr val="000000"/>
              </a:solidFill>
              <a:latin typeface="Arial"/>
            </a:endParaRPr>
          </a:p>
          <a:p>
            <a:pPr defTabSz="914400">
              <a:lnSpc>
                <a:spcPct val="100000"/>
              </a:lnSpc>
              <a:tabLst>
                <a:tab pos="0" algn="l"/>
              </a:tabLst>
            </a:pPr>
            <a:r>
              <a:rPr lang="en-US" sz="950" b="0" strike="noStrike" spc="-1">
                <a:solidFill>
                  <a:srgbClr val="86EFAC"/>
                </a:solidFill>
                <a:latin typeface="Consolas"/>
                <a:ea typeface="Consolas"/>
              </a:rPr>
              <a:t>} GROUP BY ... ORDER BY DESC(?shared)</a:t>
            </a:r>
            <a:endParaRPr lang="en-GB" sz="95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 name="Shape 0"/>
          <p:cNvSpPr/>
          <p:nvPr/>
        </p:nvSpPr>
        <p:spPr>
          <a:xfrm>
            <a:off x="365760" y="201240"/>
            <a:ext cx="1737000" cy="255600"/>
          </a:xfrm>
          <a:prstGeom prst="roundRect">
            <a:avLst>
              <a:gd name="adj" fmla="val 14286"/>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43"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DAAS REST</a:t>
            </a:r>
            <a:endParaRPr lang="en-GB" sz="800" b="0" strike="noStrike" spc="-1">
              <a:solidFill>
                <a:srgbClr val="000000"/>
              </a:solidFill>
              <a:latin typeface="Arial"/>
            </a:endParaRPr>
          </a:p>
        </p:txBody>
      </p:sp>
      <p:sp>
        <p:nvSpPr>
          <p:cNvPr id="144" name="Text 2"/>
          <p:cNvSpPr/>
          <p:nvPr/>
        </p:nvSpPr>
        <p:spPr>
          <a:xfrm>
            <a:off x="365760" y="56016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DaaS — Full REST API  (http://localhost:8081)</a:t>
            </a:r>
            <a:endParaRPr lang="en-GB" sz="2600" b="0" strike="noStrike" spc="-1">
              <a:solidFill>
                <a:srgbClr val="000000"/>
              </a:solidFill>
              <a:latin typeface="Arial"/>
            </a:endParaRPr>
          </a:p>
        </p:txBody>
      </p:sp>
      <p:sp>
        <p:nvSpPr>
          <p:cNvPr id="145"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146"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9</a:t>
            </a:r>
            <a:endParaRPr lang="en-GB" sz="900" b="0" strike="noStrike" spc="-1">
              <a:solidFill>
                <a:srgbClr val="000000"/>
              </a:solidFill>
              <a:latin typeface="Arial"/>
            </a:endParaRPr>
          </a:p>
        </p:txBody>
      </p:sp>
      <p:sp>
        <p:nvSpPr>
          <p:cNvPr id="147" name="Shape 90"/>
          <p:cNvSpPr/>
          <p:nvPr/>
        </p:nvSpPr>
        <p:spPr>
          <a:xfrm>
            <a:off x="365760" y="4215240"/>
            <a:ext cx="8412120" cy="273960"/>
          </a:xfrm>
          <a:prstGeom prst="roundRect">
            <a:avLst>
              <a:gd name="adj" fmla="val 16667"/>
            </a:avLst>
          </a:prstGeom>
          <a:solidFill>
            <a:srgbClr val="EFF6FF"/>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48" name="Text 91"/>
          <p:cNvSpPr/>
          <p:nvPr/>
        </p:nvSpPr>
        <p:spPr>
          <a:xfrm>
            <a:off x="502920" y="421524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2C5FDC"/>
                </a:solidFill>
                <a:latin typeface="Calibri"/>
                <a:ea typeface="Calibri"/>
              </a:rPr>
              <a:t> Swagger UI: http://localhost:8081/swagger-ui.html  —  interactive API documentation for all endpoints</a:t>
            </a:r>
            <a:endParaRPr lang="en-GB" sz="950" b="0" strike="noStrike" spc="-1">
              <a:solidFill>
                <a:srgbClr val="000000"/>
              </a:solidFill>
              <a:latin typeface="Arial"/>
            </a:endParaRPr>
          </a:p>
        </p:txBody>
      </p:sp>
      <p:pic>
        <p:nvPicPr>
          <p:cNvPr id="149" name="Immagine 98"/>
          <p:cNvPicPr/>
          <p:nvPr/>
        </p:nvPicPr>
        <p:blipFill>
          <a:blip r:embed="rId3"/>
          <a:stretch/>
        </p:blipFill>
        <p:spPr>
          <a:xfrm>
            <a:off x="21240" y="1292760"/>
            <a:ext cx="8894880" cy="279432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2D44"/>
        </a:solidFill>
        <a:effectLst/>
      </p:bgPr>
    </p:bg>
    <p:spTree>
      <p:nvGrpSpPr>
        <p:cNvPr id="1" name=""/>
        <p:cNvGrpSpPr/>
        <p:nvPr/>
      </p:nvGrpSpPr>
      <p:grpSpPr>
        <a:xfrm>
          <a:off x="0" y="0"/>
          <a:ext cx="0" cy="0"/>
          <a:chOff x="0" y="0"/>
          <a:chExt cx="0" cy="0"/>
        </a:xfrm>
      </p:grpSpPr>
      <p:sp>
        <p:nvSpPr>
          <p:cNvPr id="150" name="Shape 0"/>
          <p:cNvSpPr/>
          <p:nvPr/>
        </p:nvSpPr>
        <p:spPr>
          <a:xfrm>
            <a:off x="0" y="0"/>
            <a:ext cx="200880" cy="5143320"/>
          </a:xfrm>
          <a:prstGeom prst="rect">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51" name="Text 1"/>
          <p:cNvSpPr/>
          <p:nvPr/>
        </p:nvSpPr>
        <p:spPr>
          <a:xfrm>
            <a:off x="457200" y="11887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9FB4CC"/>
                </a:solidFill>
                <a:latin typeface="Calibri"/>
                <a:ea typeface="Calibri"/>
              </a:rPr>
              <a:t>Section 2</a:t>
            </a:r>
            <a:endParaRPr lang="en-GB" sz="1300" b="0" strike="noStrike" spc="-1">
              <a:solidFill>
                <a:srgbClr val="FFFFFF"/>
              </a:solidFill>
              <a:latin typeface="Arial"/>
            </a:endParaRPr>
          </a:p>
        </p:txBody>
      </p:sp>
      <p:sp>
        <p:nvSpPr>
          <p:cNvPr id="152" name="Text 2"/>
          <p:cNvSpPr/>
          <p:nvPr/>
        </p:nvSpPr>
        <p:spPr>
          <a:xfrm>
            <a:off x="457200" y="1600200"/>
            <a:ext cx="822924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strike="noStrike" spc="-1">
                <a:solidFill>
                  <a:srgbClr val="FFFFFF"/>
                </a:solidFill>
                <a:latin typeface="Trebuchet MS"/>
                <a:ea typeface="Trebuchet MS"/>
              </a:rPr>
              <a:t>EaaS — Ethics</a:t>
            </a:r>
            <a:endParaRPr lang="en-GB" sz="4000" b="0" strike="noStrike" spc="-1">
              <a:solidFill>
                <a:srgbClr val="FFFFFF"/>
              </a:solidFill>
              <a:latin typeface="Arial"/>
            </a:endParaRPr>
          </a:p>
          <a:p>
            <a:pPr defTabSz="914400">
              <a:lnSpc>
                <a:spcPct val="100000"/>
              </a:lnSpc>
              <a:tabLst>
                <a:tab pos="0" algn="l"/>
              </a:tabLst>
            </a:pPr>
            <a:r>
              <a:rPr lang="en-US" sz="4000" b="1" strike="noStrike" spc="-1">
                <a:solidFill>
                  <a:srgbClr val="FFFFFF"/>
                </a:solidFill>
                <a:latin typeface="Trebuchet MS"/>
                <a:ea typeface="Trebuchet MS"/>
              </a:rPr>
              <a:t>as a Service</a:t>
            </a:r>
            <a:endParaRPr lang="en-GB" sz="4000" b="0" strike="noStrike" spc="-1">
              <a:solidFill>
                <a:srgbClr val="FFFFFF"/>
              </a:solidFill>
              <a:latin typeface="Arial"/>
            </a:endParaRPr>
          </a:p>
        </p:txBody>
      </p:sp>
      <p:sp>
        <p:nvSpPr>
          <p:cNvPr id="153" name="Text 3"/>
          <p:cNvSpPr/>
          <p:nvPr/>
        </p:nvSpPr>
        <p:spPr>
          <a:xfrm>
            <a:off x="457200" y="41148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9FB4CC"/>
                </a:solidFill>
                <a:latin typeface="Calibri"/>
                <a:ea typeface="Calibri"/>
              </a:rPr>
              <a:t>Lorenzo Di Giandomenico </a:t>
            </a:r>
            <a:endParaRPr lang="en-GB" sz="1200" b="0" strike="noStrike" spc="-1">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 name="Shape 0"/>
          <p:cNvSpPr/>
          <p:nvPr/>
        </p:nvSpPr>
        <p:spPr>
          <a:xfrm>
            <a:off x="365760" y="201240"/>
            <a:ext cx="1737000" cy="255600"/>
          </a:xfrm>
          <a:prstGeom prst="roundRect">
            <a:avLst>
              <a:gd name="adj" fmla="val 14286"/>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55"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EAAS</a:t>
            </a:r>
            <a:endParaRPr lang="en-GB" sz="800" b="0" strike="noStrike" spc="-1">
              <a:solidFill>
                <a:srgbClr val="000000"/>
              </a:solidFill>
              <a:latin typeface="Arial"/>
            </a:endParaRPr>
          </a:p>
        </p:txBody>
      </p:sp>
      <p:sp>
        <p:nvSpPr>
          <p:cNvPr id="156"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EaaS — Evaluation Workflow</a:t>
            </a:r>
            <a:endParaRPr lang="en-GB" sz="2600" b="0" strike="noStrike" spc="-1">
              <a:solidFill>
                <a:srgbClr val="000000"/>
              </a:solidFill>
              <a:latin typeface="Arial"/>
            </a:endParaRPr>
          </a:p>
        </p:txBody>
      </p:sp>
      <p:sp>
        <p:nvSpPr>
          <p:cNvPr id="157"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158"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11</a:t>
            </a:r>
            <a:endParaRPr lang="en-GB" sz="900" b="0" strike="noStrike" spc="-1">
              <a:solidFill>
                <a:srgbClr val="000000"/>
              </a:solidFill>
              <a:latin typeface="Arial"/>
            </a:endParaRPr>
          </a:p>
        </p:txBody>
      </p:sp>
      <p:sp>
        <p:nvSpPr>
          <p:cNvPr id="159" name="Shape 5"/>
          <p:cNvSpPr/>
          <p:nvPr/>
        </p:nvSpPr>
        <p:spPr>
          <a:xfrm>
            <a:off x="365760" y="1408320"/>
            <a:ext cx="438480" cy="438480"/>
          </a:xfrm>
          <a:prstGeom prst="ellipse">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60" name="Text 6"/>
          <p:cNvSpPr/>
          <p:nvPr/>
        </p:nvSpPr>
        <p:spPr>
          <a:xfrm>
            <a:off x="365760" y="1408320"/>
            <a:ext cx="438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1</a:t>
            </a:r>
            <a:endParaRPr lang="en-GB" sz="1400" b="0" strike="noStrike" spc="-1">
              <a:solidFill>
                <a:srgbClr val="000000"/>
              </a:solidFill>
              <a:latin typeface="Arial"/>
            </a:endParaRPr>
          </a:p>
        </p:txBody>
      </p:sp>
      <p:sp>
        <p:nvSpPr>
          <p:cNvPr id="161" name="Shape 7"/>
          <p:cNvSpPr/>
          <p:nvPr/>
        </p:nvSpPr>
        <p:spPr>
          <a:xfrm>
            <a:off x="576000" y="1846800"/>
            <a:ext cx="360" cy="274320"/>
          </a:xfrm>
          <a:prstGeom prst="line">
            <a:avLst/>
          </a:prstGeom>
          <a:ln w="19050">
            <a:solidFill>
              <a:srgbClr val="6B728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162" name="Shape 8"/>
          <p:cNvSpPr/>
          <p:nvPr/>
        </p:nvSpPr>
        <p:spPr>
          <a:xfrm>
            <a:off x="1005840" y="1316880"/>
            <a:ext cx="7772040" cy="621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63" name="Text 9"/>
          <p:cNvSpPr/>
          <p:nvPr/>
        </p:nvSpPr>
        <p:spPr>
          <a:xfrm>
            <a:off x="1097280" y="1353240"/>
            <a:ext cx="7589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Structured Request</a:t>
            </a:r>
            <a:endParaRPr lang="en-GB" sz="1200" b="0" strike="noStrike" spc="-1">
              <a:solidFill>
                <a:srgbClr val="000000"/>
              </a:solidFill>
              <a:latin typeface="Arial"/>
            </a:endParaRPr>
          </a:p>
        </p:txBody>
      </p:sp>
      <p:sp>
        <p:nvSpPr>
          <p:cNvPr id="164" name="Text 10"/>
          <p:cNvSpPr/>
          <p:nvPr/>
        </p:nvSpPr>
        <p:spPr>
          <a:xfrm>
            <a:off x="1097280" y="159120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The client sends: action, candidateId, jobId,</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requester, purpose, declaredRisk </a:t>
            </a:r>
            <a:endParaRPr lang="en-GB" sz="1000" b="0" strike="noStrike" spc="-1">
              <a:solidFill>
                <a:srgbClr val="000000"/>
              </a:solidFill>
              <a:latin typeface="Arial"/>
            </a:endParaRPr>
          </a:p>
        </p:txBody>
      </p:sp>
      <p:sp>
        <p:nvSpPr>
          <p:cNvPr id="165" name="Shape 11"/>
          <p:cNvSpPr/>
          <p:nvPr/>
        </p:nvSpPr>
        <p:spPr>
          <a:xfrm>
            <a:off x="365760" y="2121480"/>
            <a:ext cx="438480" cy="438480"/>
          </a:xfrm>
          <a:prstGeom prst="ellipse">
            <a:avLst/>
          </a:prstGeom>
          <a:solidFill>
            <a:srgbClr val="C25A00"/>
          </a:solidFill>
          <a:ln w="12700">
            <a:solidFill>
              <a:srgbClr val="C2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66" name="Text 12"/>
          <p:cNvSpPr/>
          <p:nvPr/>
        </p:nvSpPr>
        <p:spPr>
          <a:xfrm>
            <a:off x="365760" y="2121480"/>
            <a:ext cx="438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2</a:t>
            </a:r>
            <a:endParaRPr lang="en-GB" sz="1400" b="0" strike="noStrike" spc="-1">
              <a:solidFill>
                <a:srgbClr val="000000"/>
              </a:solidFill>
              <a:latin typeface="Arial"/>
            </a:endParaRPr>
          </a:p>
        </p:txBody>
      </p:sp>
      <p:sp>
        <p:nvSpPr>
          <p:cNvPr id="167" name="Shape 13"/>
          <p:cNvSpPr/>
          <p:nvPr/>
        </p:nvSpPr>
        <p:spPr>
          <a:xfrm>
            <a:off x="576000" y="2560320"/>
            <a:ext cx="360" cy="274320"/>
          </a:xfrm>
          <a:prstGeom prst="line">
            <a:avLst/>
          </a:prstGeom>
          <a:ln w="19050">
            <a:solidFill>
              <a:srgbClr val="6B728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168" name="Shape 14"/>
          <p:cNvSpPr/>
          <p:nvPr/>
        </p:nvSpPr>
        <p:spPr>
          <a:xfrm>
            <a:off x="1005840" y="2030040"/>
            <a:ext cx="7772040" cy="621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69" name="Text 15"/>
          <p:cNvSpPr/>
          <p:nvPr/>
        </p:nvSpPr>
        <p:spPr>
          <a:xfrm>
            <a:off x="1097280" y="2066400"/>
            <a:ext cx="7589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Fetch Canonical Data from DaaS</a:t>
            </a:r>
            <a:endParaRPr lang="en-GB" sz="1200" b="0" strike="noStrike" spc="-1">
              <a:solidFill>
                <a:srgbClr val="000000"/>
              </a:solidFill>
              <a:latin typeface="Arial"/>
            </a:endParaRPr>
          </a:p>
        </p:txBody>
      </p:sp>
      <p:sp>
        <p:nvSpPr>
          <p:cNvPr id="170" name="Text 16"/>
          <p:cNvSpPr/>
          <p:nvPr/>
        </p:nvSpPr>
        <p:spPr>
          <a:xfrm>
            <a:off x="1097280" y="230436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EaaS fetches candidate and offer directly</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from DaaS — never trust the caller</a:t>
            </a:r>
            <a:endParaRPr lang="en-GB" sz="1000" b="0" strike="noStrike" spc="-1">
              <a:solidFill>
                <a:srgbClr val="000000"/>
              </a:solidFill>
              <a:latin typeface="Arial"/>
            </a:endParaRPr>
          </a:p>
        </p:txBody>
      </p:sp>
      <p:sp>
        <p:nvSpPr>
          <p:cNvPr id="171" name="Shape 17"/>
          <p:cNvSpPr/>
          <p:nvPr/>
        </p:nvSpPr>
        <p:spPr>
          <a:xfrm>
            <a:off x="365760" y="2834640"/>
            <a:ext cx="438480" cy="438480"/>
          </a:xfrm>
          <a:prstGeom prst="ellipse">
            <a:avLst/>
          </a:prstGeom>
          <a:solidFill>
            <a:srgbClr val="D8A01A"/>
          </a:solidFill>
          <a:ln w="12700">
            <a:solidFill>
              <a:srgbClr val="D8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72" name="Text 18"/>
          <p:cNvSpPr/>
          <p:nvPr/>
        </p:nvSpPr>
        <p:spPr>
          <a:xfrm>
            <a:off x="365760" y="2834640"/>
            <a:ext cx="438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3</a:t>
            </a:r>
            <a:endParaRPr lang="en-GB" sz="1400" b="0" strike="noStrike" spc="-1">
              <a:solidFill>
                <a:srgbClr val="000000"/>
              </a:solidFill>
              <a:latin typeface="Arial"/>
            </a:endParaRPr>
          </a:p>
        </p:txBody>
      </p:sp>
      <p:sp>
        <p:nvSpPr>
          <p:cNvPr id="173" name="Shape 19"/>
          <p:cNvSpPr/>
          <p:nvPr/>
        </p:nvSpPr>
        <p:spPr>
          <a:xfrm>
            <a:off x="576000" y="3273480"/>
            <a:ext cx="360" cy="274320"/>
          </a:xfrm>
          <a:prstGeom prst="line">
            <a:avLst/>
          </a:prstGeom>
          <a:ln w="19050">
            <a:solidFill>
              <a:srgbClr val="6B728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174" name="Shape 20"/>
          <p:cNvSpPr/>
          <p:nvPr/>
        </p:nvSpPr>
        <p:spPr>
          <a:xfrm>
            <a:off x="1005840" y="2743200"/>
            <a:ext cx="7772040" cy="621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75" name="Text 21"/>
          <p:cNvSpPr/>
          <p:nvPr/>
        </p:nvSpPr>
        <p:spPr>
          <a:xfrm>
            <a:off x="1097280" y="2779920"/>
            <a:ext cx="7589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Case Analysis — Policy Engine</a:t>
            </a:r>
            <a:endParaRPr lang="en-GB" sz="1200" b="0" strike="noStrike" spc="-1">
              <a:solidFill>
                <a:srgbClr val="000000"/>
              </a:solidFill>
              <a:latin typeface="Arial"/>
            </a:endParaRPr>
          </a:p>
        </p:txBody>
      </p:sp>
      <p:sp>
        <p:nvSpPr>
          <p:cNvPr id="176" name="Text 22"/>
          <p:cNvSpPr/>
          <p:nvPr/>
        </p:nvSpPr>
        <p:spPr>
          <a:xfrm>
            <a:off x="1097280" y="301752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Each policy is applied to the real data.</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Produces findings with severity and evidence</a:t>
            </a:r>
            <a:endParaRPr lang="en-GB" sz="1000" b="0" strike="noStrike" spc="-1">
              <a:solidFill>
                <a:srgbClr val="000000"/>
              </a:solidFill>
              <a:latin typeface="Arial"/>
            </a:endParaRPr>
          </a:p>
        </p:txBody>
      </p:sp>
      <p:sp>
        <p:nvSpPr>
          <p:cNvPr id="177" name="Shape 23"/>
          <p:cNvSpPr/>
          <p:nvPr/>
        </p:nvSpPr>
        <p:spPr>
          <a:xfrm>
            <a:off x="365760" y="3547800"/>
            <a:ext cx="438480" cy="438480"/>
          </a:xfrm>
          <a:prstGeom prst="ellipse">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78" name="Text 24"/>
          <p:cNvSpPr/>
          <p:nvPr/>
        </p:nvSpPr>
        <p:spPr>
          <a:xfrm>
            <a:off x="365760" y="3547800"/>
            <a:ext cx="438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4</a:t>
            </a:r>
            <a:endParaRPr lang="en-GB" sz="1400" b="0" strike="noStrike" spc="-1">
              <a:solidFill>
                <a:srgbClr val="000000"/>
              </a:solidFill>
              <a:latin typeface="Arial"/>
            </a:endParaRPr>
          </a:p>
        </p:txBody>
      </p:sp>
      <p:sp>
        <p:nvSpPr>
          <p:cNvPr id="179" name="Shape 25"/>
          <p:cNvSpPr/>
          <p:nvPr/>
        </p:nvSpPr>
        <p:spPr>
          <a:xfrm>
            <a:off x="576000" y="3986640"/>
            <a:ext cx="360" cy="274320"/>
          </a:xfrm>
          <a:prstGeom prst="line">
            <a:avLst/>
          </a:prstGeom>
          <a:ln w="19050">
            <a:solidFill>
              <a:srgbClr val="6B728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180" name="Shape 26"/>
          <p:cNvSpPr/>
          <p:nvPr/>
        </p:nvSpPr>
        <p:spPr>
          <a:xfrm>
            <a:off x="1005840" y="3456360"/>
            <a:ext cx="7772040" cy="621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81" name="Text 27"/>
          <p:cNvSpPr/>
          <p:nvPr/>
        </p:nvSpPr>
        <p:spPr>
          <a:xfrm>
            <a:off x="1097280" y="3493080"/>
            <a:ext cx="7589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Governance Decision</a:t>
            </a:r>
            <a:endParaRPr lang="en-GB" sz="1200" b="0" strike="noStrike" spc="-1">
              <a:solidFill>
                <a:srgbClr val="000000"/>
              </a:solidFill>
              <a:latin typeface="Arial"/>
            </a:endParaRPr>
          </a:p>
        </p:txBody>
      </p:sp>
      <p:sp>
        <p:nvSpPr>
          <p:cNvPr id="182" name="Text 28"/>
          <p:cNvSpPr/>
          <p:nvPr/>
        </p:nvSpPr>
        <p:spPr>
          <a:xfrm>
            <a:off x="1097280" y="373068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DecisionMaker aggregates findings:</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CRITICAL→REJECT, HIGH→ESCALATE, MEDIUM→REVISE, none→PROCEED</a:t>
            </a:r>
            <a:endParaRPr lang="en-GB" sz="1000" b="0" strike="noStrike" spc="-1">
              <a:solidFill>
                <a:srgbClr val="000000"/>
              </a:solidFill>
              <a:latin typeface="Arial"/>
            </a:endParaRPr>
          </a:p>
        </p:txBody>
      </p:sp>
      <p:sp>
        <p:nvSpPr>
          <p:cNvPr id="183" name="Shape 29"/>
          <p:cNvSpPr/>
          <p:nvPr/>
        </p:nvSpPr>
        <p:spPr>
          <a:xfrm>
            <a:off x="365760" y="4260960"/>
            <a:ext cx="438480" cy="438480"/>
          </a:xfrm>
          <a:prstGeom prst="ellipse">
            <a:avLst/>
          </a:prstGeom>
          <a:solidFill>
            <a:srgbClr val="9B59B6"/>
          </a:solidFill>
          <a:ln w="12700">
            <a:solidFill>
              <a:srgbClr val="9B59B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84" name="Text 30"/>
          <p:cNvSpPr/>
          <p:nvPr/>
        </p:nvSpPr>
        <p:spPr>
          <a:xfrm>
            <a:off x="365760" y="4260960"/>
            <a:ext cx="438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ea typeface="Trebuchet MS"/>
              </a:rPr>
              <a:t>5</a:t>
            </a:r>
            <a:endParaRPr lang="en-GB" sz="1400" b="0" strike="noStrike" spc="-1">
              <a:solidFill>
                <a:srgbClr val="000000"/>
              </a:solidFill>
              <a:latin typeface="Arial"/>
            </a:endParaRPr>
          </a:p>
        </p:txBody>
      </p:sp>
      <p:sp>
        <p:nvSpPr>
          <p:cNvPr id="185" name="Shape 31"/>
          <p:cNvSpPr/>
          <p:nvPr/>
        </p:nvSpPr>
        <p:spPr>
          <a:xfrm>
            <a:off x="1005840" y="4169520"/>
            <a:ext cx="7772040" cy="62136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86" name="Text 32"/>
          <p:cNvSpPr/>
          <p:nvPr/>
        </p:nvSpPr>
        <p:spPr>
          <a:xfrm>
            <a:off x="1097280" y="4206240"/>
            <a:ext cx="7589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Audit and Response</a:t>
            </a:r>
            <a:endParaRPr lang="en-GB" sz="1200" b="0" strike="noStrike" spc="-1">
              <a:solidFill>
                <a:srgbClr val="000000"/>
              </a:solidFill>
              <a:latin typeface="Arial"/>
            </a:endParaRPr>
          </a:p>
        </p:txBody>
      </p:sp>
      <p:sp>
        <p:nvSpPr>
          <p:cNvPr id="187" name="Text 33"/>
          <p:cNvSpPr/>
          <p:nvPr/>
        </p:nvSpPr>
        <p:spPr>
          <a:xfrm>
            <a:off x="1097280" y="444384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AuditRecord saved to memory and JSONL.</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Full response with provenance and required actions</a:t>
            </a:r>
            <a:endParaRPr lang="en-GB" sz="10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8" name="Shape 0"/>
          <p:cNvSpPr/>
          <p:nvPr/>
        </p:nvSpPr>
        <p:spPr>
          <a:xfrm>
            <a:off x="365760" y="201240"/>
            <a:ext cx="1737000" cy="255600"/>
          </a:xfrm>
          <a:prstGeom prst="roundRect">
            <a:avLst>
              <a:gd name="adj" fmla="val 14286"/>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89"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EAAS</a:t>
            </a:r>
            <a:endParaRPr lang="en-GB" sz="800" b="0" strike="noStrike" spc="-1">
              <a:solidFill>
                <a:srgbClr val="000000"/>
              </a:solidFill>
              <a:latin typeface="Arial"/>
            </a:endParaRPr>
          </a:p>
        </p:txBody>
      </p:sp>
      <p:sp>
        <p:nvSpPr>
          <p:cNvPr id="190"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EvaluationRequest — Structure</a:t>
            </a:r>
            <a:endParaRPr lang="en-GB" sz="2600" b="0" strike="noStrike" spc="-1">
              <a:solidFill>
                <a:srgbClr val="000000"/>
              </a:solidFill>
              <a:latin typeface="Arial"/>
            </a:endParaRPr>
          </a:p>
        </p:txBody>
      </p:sp>
      <p:sp>
        <p:nvSpPr>
          <p:cNvPr id="191"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192"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12</a:t>
            </a:r>
            <a:endParaRPr lang="en-GB" sz="900" b="0" strike="noStrike" spc="-1">
              <a:solidFill>
                <a:srgbClr val="000000"/>
              </a:solidFill>
              <a:latin typeface="Arial"/>
            </a:endParaRPr>
          </a:p>
        </p:txBody>
      </p:sp>
      <p:sp>
        <p:nvSpPr>
          <p:cNvPr id="193" name="Shape 5"/>
          <p:cNvSpPr/>
          <p:nvPr/>
        </p:nvSpPr>
        <p:spPr>
          <a:xfrm>
            <a:off x="365760" y="1325880"/>
            <a:ext cx="4663080" cy="3565800"/>
          </a:xfrm>
          <a:prstGeom prst="rect">
            <a:avLst/>
          </a:prstGeom>
          <a:solidFill>
            <a:srgbClr val="1E293B"/>
          </a:solidFill>
          <a:ln w="12700">
            <a:solidFill>
              <a:srgbClr val="1E293B"/>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194" name="Text 6"/>
          <p:cNvSpPr/>
          <p:nvPr/>
        </p:nvSpPr>
        <p:spPr>
          <a:xfrm>
            <a:off x="502920" y="1371600"/>
            <a:ext cx="4388760" cy="342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rgbClr val="86EFAC"/>
                </a:solidFill>
                <a:latin typeface="Consolas"/>
                <a:ea typeface="Consolas"/>
              </a:rPr>
              <a:t>{</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chemeClr val="accent1">
                    <a:lumMod val="60000"/>
                    <a:lumOff val="40000"/>
                  </a:schemeClr>
                </a:solidFill>
                <a:latin typeface="Consolas"/>
                <a:ea typeface="Consolas"/>
              </a:rPr>
              <a:t>  "action": "recommend-job",</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chemeClr val="accent1">
                    <a:lumMod val="60000"/>
                    <a:lumOff val="40000"/>
                  </a:schemeClr>
                </a:solidFill>
                <a:latin typeface="Consolas"/>
                <a:ea typeface="Consolas"/>
              </a:rPr>
              <a:t>  "candidateId": "cand-001",</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chemeClr val="accent1">
                    <a:lumMod val="60000"/>
                    <a:lumOff val="40000"/>
                  </a:schemeClr>
                </a:solidFill>
                <a:latin typeface="Consolas"/>
                <a:ea typeface="Consolas"/>
              </a:rPr>
              <a:t>  "jobId": "job-003",</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86EFAC"/>
                </a:solidFill>
                <a:latin typeface="Consolas"/>
                <a:ea typeface="Consolas"/>
              </a:rPr>
              <a:t>  "requester": "ui-user:edoardo",</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86EFAC"/>
                </a:solidFill>
                <a:latin typeface="Consolas"/>
                <a:ea typeface="Consolas"/>
              </a:rPr>
              <a:t>  "purpose": "show recommendation",</a:t>
            </a:r>
            <a:endParaRPr lang="en-GB" sz="1100" b="0" strike="noStrike" spc="-1">
              <a:solidFill>
                <a:srgbClr val="000000"/>
              </a:solidFill>
              <a:latin typeface="Arial"/>
            </a:endParaRPr>
          </a:p>
          <a:p>
            <a:pPr defTabSz="914400">
              <a:lnSpc>
                <a:spcPct val="100000"/>
              </a:lnSpc>
              <a:tabLst>
                <a:tab pos="0" algn="l"/>
              </a:tabLst>
            </a:pP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86EFAC"/>
                </a:solidFill>
                <a:latin typeface="Consolas"/>
                <a:ea typeface="Consolas"/>
              </a:rPr>
              <a:t>  </a:t>
            </a:r>
            <a:r>
              <a:rPr lang="en-US" sz="1100" b="0" strike="noStrike" spc="-1">
                <a:solidFill>
                  <a:srgbClr val="FF0000"/>
                </a:solidFill>
                <a:latin typeface="Consolas"/>
                <a:ea typeface="Consolas"/>
              </a:rPr>
              <a:t>// EaaS ignores this field!</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FF0000"/>
                </a:solidFill>
                <a:latin typeface="Consolas"/>
                <a:ea typeface="Consolas"/>
              </a:rPr>
              <a:t>  "declaredRisk": "LOW"</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86EFAC"/>
                </a:solidFill>
                <a:latin typeface="Consolas"/>
                <a:ea typeface="Consolas"/>
              </a:rPr>
              <a:t>}</a:t>
            </a:r>
            <a:endParaRPr lang="en-GB" sz="1100" b="0" strike="noStrike" spc="-1">
              <a:solidFill>
                <a:srgbClr val="000000"/>
              </a:solidFill>
              <a:latin typeface="Arial"/>
            </a:endParaRPr>
          </a:p>
        </p:txBody>
      </p:sp>
      <p:sp>
        <p:nvSpPr>
          <p:cNvPr id="195" name="Shape 7"/>
          <p:cNvSpPr/>
          <p:nvPr/>
        </p:nvSpPr>
        <p:spPr>
          <a:xfrm>
            <a:off x="5029200" y="1508760"/>
            <a:ext cx="548640" cy="360"/>
          </a:xfrm>
          <a:prstGeom prst="line">
            <a:avLst/>
          </a:prstGeom>
          <a:ln w="12700">
            <a:solidFill>
              <a:srgbClr val="2C5FDC"/>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196" name="Text 8"/>
          <p:cNvSpPr/>
          <p:nvPr/>
        </p:nvSpPr>
        <p:spPr>
          <a:xfrm>
            <a:off x="5669280" y="1266480"/>
            <a:ext cx="3108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2C5FDC"/>
                </a:solidFill>
                <a:latin typeface="Calibri"/>
                <a:ea typeface="Calibri"/>
              </a:rPr>
              <a:t>Type of requested action</a:t>
            </a:r>
            <a:endParaRPr lang="en-GB" sz="1000" b="0" strike="noStrike" spc="-1">
              <a:solidFill>
                <a:srgbClr val="000000"/>
              </a:solidFill>
              <a:latin typeface="Arial"/>
            </a:endParaRPr>
          </a:p>
        </p:txBody>
      </p:sp>
      <p:sp>
        <p:nvSpPr>
          <p:cNvPr id="197" name="Shape 9"/>
          <p:cNvSpPr/>
          <p:nvPr/>
        </p:nvSpPr>
        <p:spPr>
          <a:xfrm>
            <a:off x="5029200" y="1853280"/>
            <a:ext cx="548640" cy="360"/>
          </a:xfrm>
          <a:prstGeom prst="line">
            <a:avLst/>
          </a:prstGeom>
          <a:ln w="12700">
            <a:solidFill>
              <a:srgbClr val="2C5FDC"/>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198" name="Text 10"/>
          <p:cNvSpPr/>
          <p:nvPr/>
        </p:nvSpPr>
        <p:spPr>
          <a:xfrm>
            <a:off x="5669280" y="1613880"/>
            <a:ext cx="3108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2C5FDC"/>
                </a:solidFill>
                <a:latin typeface="Calibri"/>
                <a:ea typeface="Calibri"/>
              </a:rPr>
              <a:t>IDs — EaaS uses them to fetch</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2C5FDC"/>
                </a:solidFill>
                <a:latin typeface="Calibri"/>
                <a:ea typeface="Calibri"/>
              </a:rPr>
              <a:t>the real data from DaaS</a:t>
            </a:r>
            <a:endParaRPr lang="en-GB" sz="1000" b="0" strike="noStrike" spc="-1">
              <a:solidFill>
                <a:srgbClr val="000000"/>
              </a:solidFill>
              <a:latin typeface="Arial"/>
            </a:endParaRPr>
          </a:p>
        </p:txBody>
      </p:sp>
      <p:sp>
        <p:nvSpPr>
          <p:cNvPr id="199" name="Shape 11"/>
          <p:cNvSpPr/>
          <p:nvPr/>
        </p:nvSpPr>
        <p:spPr>
          <a:xfrm>
            <a:off x="5029200" y="2225880"/>
            <a:ext cx="548640" cy="360"/>
          </a:xfrm>
          <a:prstGeom prst="line">
            <a:avLst/>
          </a:prstGeom>
          <a:ln w="12700">
            <a:solidFill>
              <a:srgbClr val="2F8F4E"/>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200" name="Text 12"/>
          <p:cNvSpPr/>
          <p:nvPr/>
        </p:nvSpPr>
        <p:spPr>
          <a:xfrm>
            <a:off x="5669280" y="1997640"/>
            <a:ext cx="3108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2F8F4E"/>
                </a:solidFill>
                <a:latin typeface="Calibri"/>
                <a:ea typeface="Calibri"/>
              </a:rPr>
              <a:t>Transparency: who requests and why</a:t>
            </a:r>
            <a:endParaRPr lang="en-GB" sz="1000" b="0" strike="noStrike" spc="-1">
              <a:solidFill>
                <a:srgbClr val="000000"/>
              </a:solidFill>
              <a:latin typeface="Arial"/>
            </a:endParaRPr>
          </a:p>
        </p:txBody>
      </p:sp>
      <p:sp>
        <p:nvSpPr>
          <p:cNvPr id="201" name="Shape 13"/>
          <p:cNvSpPr/>
          <p:nvPr/>
        </p:nvSpPr>
        <p:spPr>
          <a:xfrm>
            <a:off x="5029200" y="2757960"/>
            <a:ext cx="548640" cy="360"/>
          </a:xfrm>
          <a:prstGeom prst="line">
            <a:avLst/>
          </a:prstGeom>
          <a:ln w="12700">
            <a:solidFill>
              <a:srgbClr val="B32424"/>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202" name="Text 14"/>
          <p:cNvSpPr/>
          <p:nvPr/>
        </p:nvSpPr>
        <p:spPr>
          <a:xfrm>
            <a:off x="5669280" y="2500200"/>
            <a:ext cx="31086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B32424"/>
                </a:solidFill>
                <a:latin typeface="Calibri"/>
                <a:ea typeface="Calibri"/>
              </a:rPr>
              <a:t>⚠ Not trusted — EaaS</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B32424"/>
                </a:solidFill>
                <a:latin typeface="Calibri"/>
                <a:ea typeface="Calibri"/>
              </a:rPr>
              <a:t>recalculates risk autonomously</a:t>
            </a:r>
            <a:endParaRPr lang="en-GB" sz="10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 name="Shape 0"/>
          <p:cNvSpPr/>
          <p:nvPr/>
        </p:nvSpPr>
        <p:spPr>
          <a:xfrm>
            <a:off x="365760" y="201240"/>
            <a:ext cx="1737000" cy="255600"/>
          </a:xfrm>
          <a:prstGeom prst="roundRect">
            <a:avLst>
              <a:gd name="adj" fmla="val 14286"/>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04"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POLICY</a:t>
            </a:r>
            <a:endParaRPr lang="en-GB" sz="800" b="0" strike="noStrike" spc="-1">
              <a:solidFill>
                <a:srgbClr val="000000"/>
              </a:solidFill>
              <a:latin typeface="Arial"/>
            </a:endParaRPr>
          </a:p>
        </p:txBody>
      </p:sp>
      <p:sp>
        <p:nvSpPr>
          <p:cNvPr id="205"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The 4 Ethical Policies — External JSON Files</a:t>
            </a:r>
            <a:endParaRPr lang="en-GB" sz="2600" b="0" strike="noStrike" spc="-1">
              <a:solidFill>
                <a:srgbClr val="000000"/>
              </a:solidFill>
              <a:latin typeface="Arial"/>
            </a:endParaRPr>
          </a:p>
        </p:txBody>
      </p:sp>
      <p:sp>
        <p:nvSpPr>
          <p:cNvPr id="206"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207"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13</a:t>
            </a:r>
            <a:endParaRPr lang="en-GB" sz="900" b="0" strike="noStrike" spc="-1">
              <a:solidFill>
                <a:srgbClr val="000000"/>
              </a:solidFill>
              <a:latin typeface="Arial"/>
            </a:endParaRPr>
          </a:p>
        </p:txBody>
      </p:sp>
      <p:sp>
        <p:nvSpPr>
          <p:cNvPr id="208" name="Shape 6"/>
          <p:cNvSpPr/>
          <p:nvPr/>
        </p:nvSpPr>
        <p:spPr>
          <a:xfrm>
            <a:off x="365760" y="1627560"/>
            <a:ext cx="4160160" cy="157248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09" name="Shape 7"/>
          <p:cNvSpPr/>
          <p:nvPr/>
        </p:nvSpPr>
        <p:spPr>
          <a:xfrm>
            <a:off x="365760" y="1627560"/>
            <a:ext cx="914040" cy="292320"/>
          </a:xfrm>
          <a:prstGeom prst="rect">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10" name="Text 8"/>
          <p:cNvSpPr/>
          <p:nvPr/>
        </p:nvSpPr>
        <p:spPr>
          <a:xfrm>
            <a:off x="365760" y="1627560"/>
            <a:ext cx="914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CRITICAL</a:t>
            </a:r>
            <a:endParaRPr lang="en-GB" sz="800" b="0" strike="noStrike" spc="-1">
              <a:solidFill>
                <a:srgbClr val="000000"/>
              </a:solidFill>
              <a:latin typeface="Arial"/>
            </a:endParaRPr>
          </a:p>
        </p:txBody>
      </p:sp>
      <p:sp>
        <p:nvSpPr>
          <p:cNvPr id="211" name="Text 9"/>
          <p:cNvSpPr/>
          <p:nvPr/>
        </p:nvSpPr>
        <p:spPr>
          <a:xfrm>
            <a:off x="1367216" y="1627560"/>
            <a:ext cx="127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B32424"/>
                </a:solidFill>
                <a:latin typeface="Consolas"/>
                <a:ea typeface="Consolas"/>
              </a:rPr>
              <a:t>      P-DISCR-001</a:t>
            </a:r>
            <a:endParaRPr lang="en-GB" sz="900" b="0" strike="noStrike" spc="-1">
              <a:solidFill>
                <a:srgbClr val="000000"/>
              </a:solidFill>
              <a:latin typeface="Arial"/>
            </a:endParaRPr>
          </a:p>
        </p:txBody>
      </p:sp>
      <p:sp>
        <p:nvSpPr>
          <p:cNvPr id="212" name="Text 10"/>
          <p:cNvSpPr/>
          <p:nvPr/>
        </p:nvSpPr>
        <p:spPr>
          <a:xfrm>
            <a:off x="457200" y="197496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Discriminatory Proxies</a:t>
            </a:r>
            <a:endParaRPr lang="en-GB" sz="1300" b="0" strike="noStrike" spc="-1">
              <a:solidFill>
                <a:srgbClr val="000000"/>
              </a:solidFill>
              <a:latin typeface="Arial"/>
            </a:endParaRPr>
          </a:p>
        </p:txBody>
      </p:sp>
      <p:sp>
        <p:nvSpPr>
          <p:cNvPr id="213" name="Text 11"/>
          <p:cNvSpPr/>
          <p:nvPr/>
        </p:nvSpPr>
        <p:spPr>
          <a:xfrm>
            <a:off x="457200" y="2313360"/>
            <a:ext cx="3931560" cy="80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Forbidden: ageRangeMin/Max, genderPreference, nationalityReq</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in offers. Regulation: D.Lgs. 198/2006, EU Dir. 2000/78/EC.</a:t>
            </a:r>
            <a:endParaRPr lang="en-GB" sz="1000" b="0" strike="noStrike" spc="-1">
              <a:solidFill>
                <a:srgbClr val="000000"/>
              </a:solidFill>
              <a:latin typeface="Arial"/>
            </a:endParaRPr>
          </a:p>
        </p:txBody>
      </p:sp>
      <p:sp>
        <p:nvSpPr>
          <p:cNvPr id="214" name="Shape 12"/>
          <p:cNvSpPr/>
          <p:nvPr/>
        </p:nvSpPr>
        <p:spPr>
          <a:xfrm>
            <a:off x="365760" y="3319200"/>
            <a:ext cx="4160160" cy="157248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15" name="Shape 13"/>
          <p:cNvSpPr/>
          <p:nvPr/>
        </p:nvSpPr>
        <p:spPr>
          <a:xfrm>
            <a:off x="365760" y="3319200"/>
            <a:ext cx="914040" cy="292320"/>
          </a:xfrm>
          <a:prstGeom prst="rect">
            <a:avLst/>
          </a:prstGeom>
          <a:solidFill>
            <a:srgbClr val="C25A00"/>
          </a:solidFill>
          <a:ln w="12700">
            <a:solidFill>
              <a:srgbClr val="C2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16" name="Text 14"/>
          <p:cNvSpPr/>
          <p:nvPr/>
        </p:nvSpPr>
        <p:spPr>
          <a:xfrm>
            <a:off x="365760" y="3319200"/>
            <a:ext cx="914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HIGH</a:t>
            </a:r>
            <a:endParaRPr lang="en-GB" sz="800" b="0" strike="noStrike" spc="-1">
              <a:solidFill>
                <a:srgbClr val="000000"/>
              </a:solidFill>
              <a:latin typeface="Arial"/>
            </a:endParaRPr>
          </a:p>
        </p:txBody>
      </p:sp>
      <p:sp>
        <p:nvSpPr>
          <p:cNvPr id="217" name="Text 15"/>
          <p:cNvSpPr/>
          <p:nvPr/>
        </p:nvSpPr>
        <p:spPr>
          <a:xfrm>
            <a:off x="1367216" y="3319200"/>
            <a:ext cx="127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C25A00"/>
                </a:solidFill>
                <a:latin typeface="Consolas"/>
                <a:ea typeface="Consolas"/>
              </a:rPr>
              <a:t>      P-PROV-002</a:t>
            </a:r>
            <a:endParaRPr lang="en-GB" sz="900" b="0" strike="noStrike" spc="-1">
              <a:solidFill>
                <a:srgbClr val="000000"/>
              </a:solidFill>
              <a:latin typeface="Arial"/>
            </a:endParaRPr>
          </a:p>
        </p:txBody>
      </p:sp>
      <p:sp>
        <p:nvSpPr>
          <p:cNvPr id="218" name="Text 16"/>
          <p:cNvSpPr/>
          <p:nvPr/>
        </p:nvSpPr>
        <p:spPr>
          <a:xfrm>
            <a:off x="457200" y="366660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Provenance &amp; Data Quality</a:t>
            </a:r>
            <a:endParaRPr lang="en-GB" sz="1300" b="0" strike="noStrike" spc="-1">
              <a:solidFill>
                <a:srgbClr val="000000"/>
              </a:solidFill>
              <a:latin typeface="Arial"/>
            </a:endParaRPr>
          </a:p>
        </p:txBody>
      </p:sp>
      <p:sp>
        <p:nvSpPr>
          <p:cNvPr id="219" name="Text 17"/>
          <p:cNvSpPr/>
          <p:nvPr/>
        </p:nvSpPr>
        <p:spPr>
          <a:xfrm>
            <a:off x="457200" y="4005000"/>
            <a:ext cx="3931560" cy="80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Only trusted sources (company-portal, synthetic).</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If source = third-party-scraper / unknown → ESCALATE.</a:t>
            </a:r>
            <a:endParaRPr lang="en-GB" sz="1000" b="0" strike="noStrike" spc="-1">
              <a:solidFill>
                <a:srgbClr val="000000"/>
              </a:solidFill>
              <a:latin typeface="Arial"/>
            </a:endParaRPr>
          </a:p>
        </p:txBody>
      </p:sp>
      <p:sp>
        <p:nvSpPr>
          <p:cNvPr id="220" name="Shape 18"/>
          <p:cNvSpPr/>
          <p:nvPr/>
        </p:nvSpPr>
        <p:spPr>
          <a:xfrm>
            <a:off x="4709160" y="1627560"/>
            <a:ext cx="4160160" cy="157248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21" name="Shape 19"/>
          <p:cNvSpPr/>
          <p:nvPr/>
        </p:nvSpPr>
        <p:spPr>
          <a:xfrm>
            <a:off x="4709160" y="1627560"/>
            <a:ext cx="914040" cy="292320"/>
          </a:xfrm>
          <a:prstGeom prst="rect">
            <a:avLst/>
          </a:prstGeom>
          <a:solidFill>
            <a:srgbClr val="D8A01A"/>
          </a:solidFill>
          <a:ln w="12700">
            <a:solidFill>
              <a:srgbClr val="D8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22" name="Text 20"/>
          <p:cNvSpPr/>
          <p:nvPr/>
        </p:nvSpPr>
        <p:spPr>
          <a:xfrm>
            <a:off x="4709160" y="1627560"/>
            <a:ext cx="914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MEDIUM</a:t>
            </a:r>
            <a:endParaRPr lang="en-GB" sz="800" b="0" strike="noStrike" spc="-1">
              <a:solidFill>
                <a:srgbClr val="000000"/>
              </a:solidFill>
              <a:latin typeface="Arial"/>
            </a:endParaRPr>
          </a:p>
        </p:txBody>
      </p:sp>
      <p:sp>
        <p:nvSpPr>
          <p:cNvPr id="223" name="Text 21"/>
          <p:cNvSpPr/>
          <p:nvPr/>
        </p:nvSpPr>
        <p:spPr>
          <a:xfrm>
            <a:off x="5734102" y="1627560"/>
            <a:ext cx="127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D8A01A"/>
                </a:solidFill>
                <a:latin typeface="Consolas"/>
                <a:ea typeface="Consolas"/>
              </a:rPr>
              <a:t>       P-ACC-003</a:t>
            </a:r>
            <a:endParaRPr lang="en-GB" sz="900" b="0" strike="noStrike" spc="-1">
              <a:solidFill>
                <a:srgbClr val="000000"/>
              </a:solidFill>
              <a:latin typeface="Arial"/>
            </a:endParaRPr>
          </a:p>
        </p:txBody>
      </p:sp>
      <p:sp>
        <p:nvSpPr>
          <p:cNvPr id="224" name="Text 22"/>
          <p:cNvSpPr/>
          <p:nvPr/>
        </p:nvSpPr>
        <p:spPr>
          <a:xfrm>
            <a:off x="4800600" y="197496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Accessibility &amp; Disability</a:t>
            </a:r>
            <a:endParaRPr lang="en-GB" sz="1300" b="0" strike="noStrike" spc="-1">
              <a:solidFill>
                <a:srgbClr val="000000"/>
              </a:solidFill>
              <a:latin typeface="Arial"/>
            </a:endParaRPr>
          </a:p>
        </p:txBody>
      </p:sp>
      <p:sp>
        <p:nvSpPr>
          <p:cNvPr id="225" name="Text 23"/>
          <p:cNvSpPr/>
          <p:nvPr/>
        </p:nvSpPr>
        <p:spPr>
          <a:xfrm>
            <a:off x="4800600" y="2313360"/>
            <a:ext cx="3931560" cy="80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If the candidate has a disability, the offer must be</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flagged disabilityFriendly. Otherwise → REVISE.</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Regulation: UN CRPD Art.27, L. 68/1999.</a:t>
            </a:r>
            <a:endParaRPr lang="en-GB" sz="1000" b="0" strike="noStrike" spc="-1">
              <a:solidFill>
                <a:srgbClr val="000000"/>
              </a:solidFill>
              <a:latin typeface="Arial"/>
            </a:endParaRPr>
          </a:p>
        </p:txBody>
      </p:sp>
      <p:sp>
        <p:nvSpPr>
          <p:cNvPr id="226" name="Shape 24"/>
          <p:cNvSpPr/>
          <p:nvPr/>
        </p:nvSpPr>
        <p:spPr>
          <a:xfrm>
            <a:off x="4709160" y="3319200"/>
            <a:ext cx="4160160" cy="157248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27" name="Shape 25"/>
          <p:cNvSpPr/>
          <p:nvPr/>
        </p:nvSpPr>
        <p:spPr>
          <a:xfrm>
            <a:off x="4709160" y="3319200"/>
            <a:ext cx="914040" cy="29232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28" name="Text 26"/>
          <p:cNvSpPr/>
          <p:nvPr/>
        </p:nvSpPr>
        <p:spPr>
          <a:xfrm>
            <a:off x="4709160" y="3319200"/>
            <a:ext cx="914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LOW</a:t>
            </a:r>
            <a:endParaRPr lang="en-GB" sz="800" b="0" strike="noStrike" spc="-1">
              <a:solidFill>
                <a:srgbClr val="000000"/>
              </a:solidFill>
              <a:latin typeface="Arial"/>
            </a:endParaRPr>
          </a:p>
        </p:txBody>
      </p:sp>
      <p:sp>
        <p:nvSpPr>
          <p:cNvPr id="229" name="Text 27"/>
          <p:cNvSpPr/>
          <p:nvPr/>
        </p:nvSpPr>
        <p:spPr>
          <a:xfrm>
            <a:off x="5734102" y="3319200"/>
            <a:ext cx="1279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2C5FDC"/>
                </a:solidFill>
                <a:latin typeface="Consolas"/>
                <a:ea typeface="Consolas"/>
              </a:rPr>
              <a:t>      P-TRANS-004</a:t>
            </a:r>
            <a:endParaRPr lang="en-GB" sz="900" b="0" strike="noStrike" spc="-1">
              <a:solidFill>
                <a:srgbClr val="000000"/>
              </a:solidFill>
              <a:latin typeface="Arial"/>
            </a:endParaRPr>
          </a:p>
        </p:txBody>
      </p:sp>
      <p:sp>
        <p:nvSpPr>
          <p:cNvPr id="230" name="Text 28"/>
          <p:cNvSpPr/>
          <p:nvPr/>
        </p:nvSpPr>
        <p:spPr>
          <a:xfrm>
            <a:off x="4800600" y="366660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Transparency &amp; Purpose</a:t>
            </a:r>
            <a:endParaRPr lang="en-GB" sz="1300" b="0" strike="noStrike" spc="-1">
              <a:solidFill>
                <a:srgbClr val="000000"/>
              </a:solidFill>
              <a:latin typeface="Arial"/>
            </a:endParaRPr>
          </a:p>
        </p:txBody>
      </p:sp>
      <p:sp>
        <p:nvSpPr>
          <p:cNvPr id="231" name="Text 29"/>
          <p:cNvSpPr/>
          <p:nvPr/>
        </p:nvSpPr>
        <p:spPr>
          <a:xfrm>
            <a:off x="4800600" y="4005000"/>
            <a:ext cx="3931560" cy="80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Requester and purpose must be declared.</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Without them the recommendation is not transparent.</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1D2D44"/>
                </a:solidFill>
                <a:latin typeface="Calibri"/>
                <a:ea typeface="Calibri"/>
              </a:rPr>
              <a:t>Regulation: GDPR Art.13/22.</a:t>
            </a:r>
            <a:endParaRPr lang="en-GB" sz="10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2" name="Shape 0"/>
          <p:cNvSpPr/>
          <p:nvPr/>
        </p:nvSpPr>
        <p:spPr>
          <a:xfrm>
            <a:off x="365760" y="201240"/>
            <a:ext cx="1737000" cy="255600"/>
          </a:xfrm>
          <a:prstGeom prst="roundRect">
            <a:avLst>
              <a:gd name="adj" fmla="val 14286"/>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33"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RDF DATASET</a:t>
            </a:r>
            <a:endParaRPr lang="en-GB" sz="800" b="0" strike="noStrike" spc="-1">
              <a:solidFill>
                <a:srgbClr val="000000"/>
              </a:solidFill>
              <a:latin typeface="Arial"/>
            </a:endParaRPr>
          </a:p>
        </p:txBody>
      </p:sp>
      <p:sp>
        <p:nvSpPr>
          <p:cNvPr id="234"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Discriminatory Proxies in the Dataset</a:t>
            </a:r>
            <a:endParaRPr lang="en-GB" sz="2600" b="0" strike="noStrike" spc="-1">
              <a:solidFill>
                <a:srgbClr val="000000"/>
              </a:solidFill>
              <a:latin typeface="Arial"/>
            </a:endParaRPr>
          </a:p>
        </p:txBody>
      </p:sp>
      <p:sp>
        <p:nvSpPr>
          <p:cNvPr id="235"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236"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7</a:t>
            </a:r>
            <a:endParaRPr lang="en-GB" sz="900" b="0" strike="noStrike" spc="-1">
              <a:solidFill>
                <a:srgbClr val="000000"/>
              </a:solidFill>
              <a:latin typeface="Arial"/>
            </a:endParaRPr>
          </a:p>
        </p:txBody>
      </p:sp>
      <p:sp>
        <p:nvSpPr>
          <p:cNvPr id="237" name="Text 5"/>
          <p:cNvSpPr/>
          <p:nvPr/>
        </p:nvSpPr>
        <p:spPr>
          <a:xfrm>
            <a:off x="365760" y="1280160"/>
            <a:ext cx="84121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strike="noStrike" spc="-1">
                <a:solidFill>
                  <a:srgbClr val="6B7280"/>
                </a:solidFill>
                <a:latin typeface="Calibri"/>
                <a:ea typeface="Calibri"/>
              </a:rPr>
              <a:t>Some offers intentionally contain problematic fields — designed to exercise EaaS policies</a:t>
            </a:r>
            <a:endParaRPr lang="en-GB" sz="1100" b="0" strike="noStrike" spc="-1">
              <a:solidFill>
                <a:srgbClr val="000000"/>
              </a:solidFill>
              <a:latin typeface="Arial"/>
            </a:endParaRPr>
          </a:p>
        </p:txBody>
      </p:sp>
      <p:sp>
        <p:nvSpPr>
          <p:cNvPr id="238" name="Shape 6"/>
          <p:cNvSpPr/>
          <p:nvPr/>
        </p:nvSpPr>
        <p:spPr>
          <a:xfrm>
            <a:off x="365760" y="1719000"/>
            <a:ext cx="1005480" cy="347040"/>
          </a:xfrm>
          <a:prstGeom prst="rect">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39" name="Text 7"/>
          <p:cNvSpPr/>
          <p:nvPr/>
        </p:nvSpPr>
        <p:spPr>
          <a:xfrm>
            <a:off x="365760" y="1719000"/>
            <a:ext cx="10054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Offer ID</a:t>
            </a:r>
            <a:endParaRPr lang="en-GB" sz="1000" b="0" strike="noStrike" spc="-1">
              <a:solidFill>
                <a:srgbClr val="000000"/>
              </a:solidFill>
              <a:latin typeface="Arial"/>
            </a:endParaRPr>
          </a:p>
        </p:txBody>
      </p:sp>
      <p:sp>
        <p:nvSpPr>
          <p:cNvPr id="240" name="Shape 8"/>
          <p:cNvSpPr/>
          <p:nvPr/>
        </p:nvSpPr>
        <p:spPr>
          <a:xfrm>
            <a:off x="1371600" y="1719000"/>
            <a:ext cx="1919880" cy="347040"/>
          </a:xfrm>
          <a:prstGeom prst="rect">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41" name="Text 9"/>
          <p:cNvSpPr/>
          <p:nvPr/>
        </p:nvSpPr>
        <p:spPr>
          <a:xfrm>
            <a:off x="1371600" y="1719000"/>
            <a:ext cx="19198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Title</a:t>
            </a:r>
            <a:endParaRPr lang="en-GB" sz="1000" b="0" strike="noStrike" spc="-1">
              <a:solidFill>
                <a:srgbClr val="000000"/>
              </a:solidFill>
              <a:latin typeface="Arial"/>
            </a:endParaRPr>
          </a:p>
        </p:txBody>
      </p:sp>
      <p:sp>
        <p:nvSpPr>
          <p:cNvPr id="242" name="Shape 10"/>
          <p:cNvSpPr/>
          <p:nvPr/>
        </p:nvSpPr>
        <p:spPr>
          <a:xfrm>
            <a:off x="3291840" y="1719000"/>
            <a:ext cx="2834280" cy="347040"/>
          </a:xfrm>
          <a:prstGeom prst="rect">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43" name="Text 11"/>
          <p:cNvSpPr/>
          <p:nvPr/>
        </p:nvSpPr>
        <p:spPr>
          <a:xfrm>
            <a:off x="3291840" y="1719000"/>
            <a:ext cx="28342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Problematic field</a:t>
            </a:r>
            <a:endParaRPr lang="en-GB" sz="1000" b="0" strike="noStrike" spc="-1">
              <a:solidFill>
                <a:srgbClr val="000000"/>
              </a:solidFill>
              <a:latin typeface="Arial"/>
            </a:endParaRPr>
          </a:p>
        </p:txBody>
      </p:sp>
      <p:sp>
        <p:nvSpPr>
          <p:cNvPr id="244" name="Shape 12"/>
          <p:cNvSpPr/>
          <p:nvPr/>
        </p:nvSpPr>
        <p:spPr>
          <a:xfrm>
            <a:off x="6126480" y="1719000"/>
            <a:ext cx="2468520" cy="347040"/>
          </a:xfrm>
          <a:prstGeom prst="rect">
            <a:avLst/>
          </a:prstGeom>
          <a:solidFill>
            <a:srgbClr val="1D2D44"/>
          </a:solidFill>
          <a:ln w="12700">
            <a:solidFill>
              <a:srgbClr val="1D2D4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45" name="Text 13"/>
          <p:cNvSpPr/>
          <p:nvPr/>
        </p:nvSpPr>
        <p:spPr>
          <a:xfrm>
            <a:off x="6126480" y="1719000"/>
            <a:ext cx="24685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Violation type</a:t>
            </a:r>
            <a:endParaRPr lang="en-GB" sz="1000" b="0" strike="noStrike" spc="-1">
              <a:solidFill>
                <a:srgbClr val="000000"/>
              </a:solidFill>
              <a:latin typeface="Arial"/>
            </a:endParaRPr>
          </a:p>
        </p:txBody>
      </p:sp>
      <p:sp>
        <p:nvSpPr>
          <p:cNvPr id="246" name="Shape 14"/>
          <p:cNvSpPr/>
          <p:nvPr/>
        </p:nvSpPr>
        <p:spPr>
          <a:xfrm>
            <a:off x="365760" y="2103120"/>
            <a:ext cx="10054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47" name="Text 15"/>
          <p:cNvSpPr/>
          <p:nvPr/>
        </p:nvSpPr>
        <p:spPr>
          <a:xfrm>
            <a:off x="411480" y="2103120"/>
            <a:ext cx="9140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job-003</a:t>
            </a:r>
            <a:endParaRPr lang="en-GB" sz="1000" b="0" strike="noStrike" spc="-1">
              <a:solidFill>
                <a:srgbClr val="000000"/>
              </a:solidFill>
              <a:latin typeface="Arial"/>
            </a:endParaRPr>
          </a:p>
        </p:txBody>
      </p:sp>
      <p:sp>
        <p:nvSpPr>
          <p:cNvPr id="248" name="Shape 16"/>
          <p:cNvSpPr/>
          <p:nvPr/>
        </p:nvSpPr>
        <p:spPr>
          <a:xfrm>
            <a:off x="1371600" y="2103120"/>
            <a:ext cx="19198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49" name="Text 17"/>
          <p:cNvSpPr/>
          <p:nvPr/>
        </p:nvSpPr>
        <p:spPr>
          <a:xfrm>
            <a:off x="1417320" y="2103120"/>
            <a:ext cx="18284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Junior Frontend Dev</a:t>
            </a:r>
            <a:endParaRPr lang="en-GB" sz="1000" b="0" strike="noStrike" spc="-1">
              <a:solidFill>
                <a:srgbClr val="000000"/>
              </a:solidFill>
              <a:latin typeface="Arial"/>
            </a:endParaRPr>
          </a:p>
        </p:txBody>
      </p:sp>
      <p:sp>
        <p:nvSpPr>
          <p:cNvPr id="250" name="Shape 18"/>
          <p:cNvSpPr/>
          <p:nvPr/>
        </p:nvSpPr>
        <p:spPr>
          <a:xfrm>
            <a:off x="3291840" y="2103120"/>
            <a:ext cx="28342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51" name="Text 19"/>
          <p:cNvSpPr/>
          <p:nvPr/>
        </p:nvSpPr>
        <p:spPr>
          <a:xfrm>
            <a:off x="3337560" y="2103120"/>
            <a:ext cx="2742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B32424"/>
                </a:solidFill>
                <a:latin typeface="Consolas"/>
                <a:ea typeface="Consolas"/>
              </a:rPr>
              <a:t>emp:ageRangeMax = 30</a:t>
            </a:r>
            <a:endParaRPr lang="en-GB" sz="1000" b="0" strike="noStrike" spc="-1">
              <a:solidFill>
                <a:srgbClr val="000000"/>
              </a:solidFill>
              <a:latin typeface="Arial"/>
            </a:endParaRPr>
          </a:p>
        </p:txBody>
      </p:sp>
      <p:sp>
        <p:nvSpPr>
          <p:cNvPr id="252" name="Shape 20"/>
          <p:cNvSpPr/>
          <p:nvPr/>
        </p:nvSpPr>
        <p:spPr>
          <a:xfrm>
            <a:off x="6126480" y="2103120"/>
            <a:ext cx="246852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53" name="Text 21"/>
          <p:cNvSpPr/>
          <p:nvPr/>
        </p:nvSpPr>
        <p:spPr>
          <a:xfrm>
            <a:off x="6172200" y="2103120"/>
            <a:ext cx="23770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B32424"/>
                </a:solidFill>
                <a:latin typeface="Calibri"/>
                <a:ea typeface="Calibri"/>
              </a:rPr>
              <a:t>Ageism</a:t>
            </a:r>
            <a:endParaRPr lang="en-GB" sz="1000" b="0" strike="noStrike" spc="-1">
              <a:solidFill>
                <a:srgbClr val="000000"/>
              </a:solidFill>
              <a:latin typeface="Arial"/>
            </a:endParaRPr>
          </a:p>
        </p:txBody>
      </p:sp>
      <p:sp>
        <p:nvSpPr>
          <p:cNvPr id="254" name="Shape 22"/>
          <p:cNvSpPr/>
          <p:nvPr/>
        </p:nvSpPr>
        <p:spPr>
          <a:xfrm>
            <a:off x="365760" y="2578680"/>
            <a:ext cx="100548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55" name="Text 23"/>
          <p:cNvSpPr/>
          <p:nvPr/>
        </p:nvSpPr>
        <p:spPr>
          <a:xfrm>
            <a:off x="411480" y="2578680"/>
            <a:ext cx="9140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job-004</a:t>
            </a:r>
            <a:endParaRPr lang="en-GB" sz="1000" b="0" strike="noStrike" spc="-1">
              <a:solidFill>
                <a:srgbClr val="000000"/>
              </a:solidFill>
              <a:latin typeface="Arial"/>
            </a:endParaRPr>
          </a:p>
        </p:txBody>
      </p:sp>
      <p:sp>
        <p:nvSpPr>
          <p:cNvPr id="256" name="Shape 24"/>
          <p:cNvSpPr/>
          <p:nvPr/>
        </p:nvSpPr>
        <p:spPr>
          <a:xfrm>
            <a:off x="1371600" y="2578680"/>
            <a:ext cx="191988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57" name="Text 25"/>
          <p:cNvSpPr/>
          <p:nvPr/>
        </p:nvSpPr>
        <p:spPr>
          <a:xfrm>
            <a:off x="1417320" y="2578680"/>
            <a:ext cx="18284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Logistics Manager</a:t>
            </a:r>
            <a:endParaRPr lang="en-GB" sz="1000" b="0" strike="noStrike" spc="-1">
              <a:solidFill>
                <a:srgbClr val="000000"/>
              </a:solidFill>
              <a:latin typeface="Arial"/>
            </a:endParaRPr>
          </a:p>
        </p:txBody>
      </p:sp>
      <p:sp>
        <p:nvSpPr>
          <p:cNvPr id="258" name="Shape 26"/>
          <p:cNvSpPr/>
          <p:nvPr/>
        </p:nvSpPr>
        <p:spPr>
          <a:xfrm>
            <a:off x="3291840" y="2578680"/>
            <a:ext cx="283428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59" name="Text 27"/>
          <p:cNvSpPr/>
          <p:nvPr/>
        </p:nvSpPr>
        <p:spPr>
          <a:xfrm>
            <a:off x="3337560" y="2578680"/>
            <a:ext cx="2742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B32424"/>
                </a:solidFill>
                <a:latin typeface="Consolas"/>
                <a:ea typeface="Consolas"/>
              </a:rPr>
              <a:t>emp:genderPreference = male</a:t>
            </a:r>
            <a:endParaRPr lang="en-GB" sz="1000" b="0" strike="noStrike" spc="-1">
              <a:solidFill>
                <a:srgbClr val="000000"/>
              </a:solidFill>
              <a:latin typeface="Arial"/>
            </a:endParaRPr>
          </a:p>
        </p:txBody>
      </p:sp>
      <p:sp>
        <p:nvSpPr>
          <p:cNvPr id="260" name="Shape 28"/>
          <p:cNvSpPr/>
          <p:nvPr/>
        </p:nvSpPr>
        <p:spPr>
          <a:xfrm>
            <a:off x="6126480" y="2578680"/>
            <a:ext cx="246852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61" name="Text 29"/>
          <p:cNvSpPr/>
          <p:nvPr/>
        </p:nvSpPr>
        <p:spPr>
          <a:xfrm>
            <a:off x="6172200" y="2578680"/>
            <a:ext cx="23770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B32424"/>
                </a:solidFill>
                <a:latin typeface="Calibri"/>
                <a:ea typeface="Calibri"/>
              </a:rPr>
              <a:t>Gender discrimination</a:t>
            </a:r>
            <a:endParaRPr lang="en-GB" sz="1000" b="0" strike="noStrike" spc="-1">
              <a:solidFill>
                <a:srgbClr val="000000"/>
              </a:solidFill>
              <a:latin typeface="Arial"/>
            </a:endParaRPr>
          </a:p>
        </p:txBody>
      </p:sp>
      <p:sp>
        <p:nvSpPr>
          <p:cNvPr id="262" name="Shape 30"/>
          <p:cNvSpPr/>
          <p:nvPr/>
        </p:nvSpPr>
        <p:spPr>
          <a:xfrm>
            <a:off x="365760" y="3054240"/>
            <a:ext cx="10054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63" name="Text 31"/>
          <p:cNvSpPr/>
          <p:nvPr/>
        </p:nvSpPr>
        <p:spPr>
          <a:xfrm>
            <a:off x="411480" y="3054240"/>
            <a:ext cx="9140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job-008</a:t>
            </a:r>
            <a:endParaRPr lang="en-GB" sz="1000" b="0" strike="noStrike" spc="-1">
              <a:solidFill>
                <a:srgbClr val="000000"/>
              </a:solidFill>
              <a:latin typeface="Arial"/>
            </a:endParaRPr>
          </a:p>
        </p:txBody>
      </p:sp>
      <p:sp>
        <p:nvSpPr>
          <p:cNvPr id="264" name="Shape 32"/>
          <p:cNvSpPr/>
          <p:nvPr/>
        </p:nvSpPr>
        <p:spPr>
          <a:xfrm>
            <a:off x="1371600" y="3054240"/>
            <a:ext cx="19198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65" name="Text 33"/>
          <p:cNvSpPr/>
          <p:nvPr/>
        </p:nvSpPr>
        <p:spPr>
          <a:xfrm>
            <a:off x="1417320" y="3054240"/>
            <a:ext cx="18284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Gov. Contractor Dev</a:t>
            </a:r>
            <a:endParaRPr lang="en-GB" sz="1000" b="0" strike="noStrike" spc="-1">
              <a:solidFill>
                <a:srgbClr val="000000"/>
              </a:solidFill>
              <a:latin typeface="Arial"/>
            </a:endParaRPr>
          </a:p>
        </p:txBody>
      </p:sp>
      <p:sp>
        <p:nvSpPr>
          <p:cNvPr id="266" name="Shape 34"/>
          <p:cNvSpPr/>
          <p:nvPr/>
        </p:nvSpPr>
        <p:spPr>
          <a:xfrm>
            <a:off x="3291840" y="3054240"/>
            <a:ext cx="28342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67" name="Text 35"/>
          <p:cNvSpPr/>
          <p:nvPr/>
        </p:nvSpPr>
        <p:spPr>
          <a:xfrm>
            <a:off x="3337560" y="3054240"/>
            <a:ext cx="2742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B32424"/>
                </a:solidFill>
                <a:latin typeface="Consolas"/>
                <a:ea typeface="Consolas"/>
              </a:rPr>
              <a:t>emp:nationalityReq = IT</a:t>
            </a:r>
            <a:endParaRPr lang="en-GB" sz="1000" b="0" strike="noStrike" spc="-1">
              <a:solidFill>
                <a:srgbClr val="000000"/>
              </a:solidFill>
              <a:latin typeface="Arial"/>
            </a:endParaRPr>
          </a:p>
        </p:txBody>
      </p:sp>
      <p:sp>
        <p:nvSpPr>
          <p:cNvPr id="268" name="Shape 36"/>
          <p:cNvSpPr/>
          <p:nvPr/>
        </p:nvSpPr>
        <p:spPr>
          <a:xfrm>
            <a:off x="6126480" y="3054240"/>
            <a:ext cx="246852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69" name="Text 37"/>
          <p:cNvSpPr/>
          <p:nvPr/>
        </p:nvSpPr>
        <p:spPr>
          <a:xfrm>
            <a:off x="6172200" y="3054240"/>
            <a:ext cx="23770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B32424"/>
                </a:solidFill>
                <a:latin typeface="Calibri"/>
                <a:ea typeface="Calibri"/>
              </a:rPr>
              <a:t>Nationality discrimination</a:t>
            </a:r>
            <a:endParaRPr lang="en-GB" sz="1000" b="0" strike="noStrike" spc="-1">
              <a:solidFill>
                <a:srgbClr val="000000"/>
              </a:solidFill>
              <a:latin typeface="Arial"/>
            </a:endParaRPr>
          </a:p>
        </p:txBody>
      </p:sp>
      <p:sp>
        <p:nvSpPr>
          <p:cNvPr id="270" name="Shape 38"/>
          <p:cNvSpPr/>
          <p:nvPr/>
        </p:nvSpPr>
        <p:spPr>
          <a:xfrm>
            <a:off x="365760" y="3529440"/>
            <a:ext cx="100548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71" name="Text 39"/>
          <p:cNvSpPr/>
          <p:nvPr/>
        </p:nvSpPr>
        <p:spPr>
          <a:xfrm>
            <a:off x="411480" y="3529440"/>
            <a:ext cx="9140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job-016</a:t>
            </a:r>
            <a:endParaRPr lang="en-GB" sz="1000" b="0" strike="noStrike" spc="-1">
              <a:solidFill>
                <a:srgbClr val="000000"/>
              </a:solidFill>
              <a:latin typeface="Arial"/>
            </a:endParaRPr>
          </a:p>
        </p:txBody>
      </p:sp>
      <p:sp>
        <p:nvSpPr>
          <p:cNvPr id="272" name="Shape 40"/>
          <p:cNvSpPr/>
          <p:nvPr/>
        </p:nvSpPr>
        <p:spPr>
          <a:xfrm>
            <a:off x="1371600" y="3529440"/>
            <a:ext cx="191988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73" name="Text 41"/>
          <p:cNvSpPr/>
          <p:nvPr/>
        </p:nvSpPr>
        <p:spPr>
          <a:xfrm>
            <a:off x="1417320" y="3529440"/>
            <a:ext cx="18284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Trainee Sw. Eng.</a:t>
            </a:r>
            <a:endParaRPr lang="en-GB" sz="1000" b="0" strike="noStrike" spc="-1">
              <a:solidFill>
                <a:srgbClr val="000000"/>
              </a:solidFill>
              <a:latin typeface="Arial"/>
            </a:endParaRPr>
          </a:p>
        </p:txBody>
      </p:sp>
      <p:sp>
        <p:nvSpPr>
          <p:cNvPr id="274" name="Shape 42"/>
          <p:cNvSpPr/>
          <p:nvPr/>
        </p:nvSpPr>
        <p:spPr>
          <a:xfrm>
            <a:off x="3291840" y="3529440"/>
            <a:ext cx="283428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75" name="Text 43"/>
          <p:cNvSpPr/>
          <p:nvPr/>
        </p:nvSpPr>
        <p:spPr>
          <a:xfrm>
            <a:off x="3337560" y="3529440"/>
            <a:ext cx="2742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B32424"/>
                </a:solidFill>
                <a:latin typeface="Consolas"/>
                <a:ea typeface="Consolas"/>
              </a:rPr>
              <a:t>emp:ageRangeMin=20, ageRangeMax=26</a:t>
            </a:r>
            <a:endParaRPr lang="en-GB" sz="1000" b="0" strike="noStrike" spc="-1">
              <a:solidFill>
                <a:srgbClr val="000000"/>
              </a:solidFill>
              <a:latin typeface="Arial"/>
            </a:endParaRPr>
          </a:p>
        </p:txBody>
      </p:sp>
      <p:sp>
        <p:nvSpPr>
          <p:cNvPr id="276" name="Shape 44"/>
          <p:cNvSpPr/>
          <p:nvPr/>
        </p:nvSpPr>
        <p:spPr>
          <a:xfrm>
            <a:off x="6126480" y="3529440"/>
            <a:ext cx="2468520" cy="438480"/>
          </a:xfrm>
          <a:prstGeom prst="rect">
            <a:avLst/>
          </a:prstGeom>
          <a:solidFill>
            <a:srgbClr val="FFFF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77" name="Text 45"/>
          <p:cNvSpPr/>
          <p:nvPr/>
        </p:nvSpPr>
        <p:spPr>
          <a:xfrm>
            <a:off x="6172200" y="3529440"/>
            <a:ext cx="23770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B32424"/>
                </a:solidFill>
                <a:latin typeface="Calibri"/>
                <a:ea typeface="Calibri"/>
              </a:rPr>
              <a:t>Ageism (narrow age band)</a:t>
            </a:r>
            <a:endParaRPr lang="en-GB" sz="1000" b="0" strike="noStrike" spc="-1">
              <a:solidFill>
                <a:srgbClr val="000000"/>
              </a:solidFill>
              <a:latin typeface="Arial"/>
            </a:endParaRPr>
          </a:p>
        </p:txBody>
      </p:sp>
      <p:sp>
        <p:nvSpPr>
          <p:cNvPr id="278" name="Shape 46"/>
          <p:cNvSpPr/>
          <p:nvPr/>
        </p:nvSpPr>
        <p:spPr>
          <a:xfrm>
            <a:off x="365760" y="4005000"/>
            <a:ext cx="10054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79" name="Text 47"/>
          <p:cNvSpPr/>
          <p:nvPr/>
        </p:nvSpPr>
        <p:spPr>
          <a:xfrm>
            <a:off x="411480" y="4005000"/>
            <a:ext cx="9140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job-012</a:t>
            </a:r>
            <a:endParaRPr lang="en-GB" sz="1000" b="0" strike="noStrike" spc="-1">
              <a:solidFill>
                <a:srgbClr val="000000"/>
              </a:solidFill>
              <a:latin typeface="Arial"/>
            </a:endParaRPr>
          </a:p>
        </p:txBody>
      </p:sp>
      <p:sp>
        <p:nvSpPr>
          <p:cNvPr id="280" name="Shape 48"/>
          <p:cNvSpPr/>
          <p:nvPr/>
        </p:nvSpPr>
        <p:spPr>
          <a:xfrm>
            <a:off x="1371600" y="4005000"/>
            <a:ext cx="19198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81" name="Text 49"/>
          <p:cNvSpPr/>
          <p:nvPr/>
        </p:nvSpPr>
        <p:spPr>
          <a:xfrm>
            <a:off x="1417320" y="4005000"/>
            <a:ext cx="18284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1D2D44"/>
                </a:solidFill>
                <a:latin typeface="Calibri"/>
                <a:ea typeface="Calibri"/>
              </a:rPr>
              <a:t>Sales Representative</a:t>
            </a:r>
            <a:endParaRPr lang="en-GB" sz="1000" b="0" strike="noStrike" spc="-1">
              <a:solidFill>
                <a:srgbClr val="000000"/>
              </a:solidFill>
              <a:latin typeface="Arial"/>
            </a:endParaRPr>
          </a:p>
        </p:txBody>
      </p:sp>
      <p:sp>
        <p:nvSpPr>
          <p:cNvPr id="282" name="Shape 50"/>
          <p:cNvSpPr/>
          <p:nvPr/>
        </p:nvSpPr>
        <p:spPr>
          <a:xfrm>
            <a:off x="3291840" y="4005000"/>
            <a:ext cx="283428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83" name="Text 51"/>
          <p:cNvSpPr/>
          <p:nvPr/>
        </p:nvSpPr>
        <p:spPr>
          <a:xfrm>
            <a:off x="3337560" y="4005000"/>
            <a:ext cx="2742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B32424"/>
                </a:solidFill>
                <a:latin typeface="Consolas"/>
                <a:ea typeface="Consolas"/>
              </a:rPr>
              <a:t>salary missing, source=unknown</a:t>
            </a:r>
            <a:endParaRPr lang="en-GB" sz="1000" b="0" strike="noStrike" spc="-1">
              <a:solidFill>
                <a:srgbClr val="000000"/>
              </a:solidFill>
              <a:latin typeface="Arial"/>
            </a:endParaRPr>
          </a:p>
        </p:txBody>
      </p:sp>
      <p:sp>
        <p:nvSpPr>
          <p:cNvPr id="284" name="Shape 52"/>
          <p:cNvSpPr/>
          <p:nvPr/>
        </p:nvSpPr>
        <p:spPr>
          <a:xfrm>
            <a:off x="6126480" y="4005000"/>
            <a:ext cx="2468520" cy="438480"/>
          </a:xfrm>
          <a:prstGeom prst="rect">
            <a:avLst/>
          </a:prstGeom>
          <a:solidFill>
            <a:srgbClr val="EEF3FF"/>
          </a:solidFill>
          <a:ln w="12700">
            <a:solidFill>
              <a:srgbClr val="D4DC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85" name="Text 53"/>
          <p:cNvSpPr/>
          <p:nvPr/>
        </p:nvSpPr>
        <p:spPr>
          <a:xfrm>
            <a:off x="6172200" y="4005000"/>
            <a:ext cx="23770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C25A00"/>
                </a:solidFill>
                <a:latin typeface="Calibri"/>
                <a:ea typeface="Calibri"/>
              </a:rPr>
              <a:t>Poor data quality</a:t>
            </a:r>
            <a:endParaRPr lang="en-GB" sz="1000" b="0" strike="noStrike" spc="-1">
              <a:solidFill>
                <a:srgbClr val="000000"/>
              </a:solidFill>
              <a:latin typeface="Arial"/>
            </a:endParaRPr>
          </a:p>
        </p:txBody>
      </p:sp>
      <p:sp>
        <p:nvSpPr>
          <p:cNvPr id="286" name="Text 55"/>
          <p:cNvSpPr/>
          <p:nvPr/>
        </p:nvSpPr>
        <p:spPr>
          <a:xfrm>
            <a:off x="365760" y="470916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5 offers flagged by /api/jobs/risky</a:t>
            </a:r>
            <a:endParaRPr lang="en-GB" sz="1000" b="0" strike="noStrike" spc="-1">
              <a:solidFill>
                <a:srgbClr val="000000"/>
              </a:solidFill>
              <a:latin typeface="Arial"/>
            </a:endParaRPr>
          </a:p>
        </p:txBody>
      </p:sp>
      <p:sp>
        <p:nvSpPr>
          <p:cNvPr id="287" name="Shape 1"/>
          <p:cNvSpPr/>
          <p:nvPr/>
        </p:nvSpPr>
        <p:spPr>
          <a:xfrm>
            <a:off x="365760" y="201240"/>
            <a:ext cx="1737000" cy="255600"/>
          </a:xfrm>
          <a:prstGeom prst="roundRect">
            <a:avLst>
              <a:gd name="adj" fmla="val 14286"/>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strike="noStrike" spc="-1">
              <a:solidFill>
                <a:schemeClr val="dk1"/>
              </a:solidFill>
              <a:latin typeface="Calibri"/>
            </a:endParaRPr>
          </a:p>
        </p:txBody>
      </p:sp>
      <p:sp>
        <p:nvSpPr>
          <p:cNvPr id="288" name="Text 36"/>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RDF DATASET</a:t>
            </a:r>
            <a:endParaRPr lang="en-GB" sz="8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D2D44"/>
        </a:solidFill>
        <a:effectLst/>
      </p:bgPr>
    </p:bg>
    <p:spTree>
      <p:nvGrpSpPr>
        <p:cNvPr id="1" name=""/>
        <p:cNvGrpSpPr/>
        <p:nvPr/>
      </p:nvGrpSpPr>
      <p:grpSpPr>
        <a:xfrm>
          <a:off x="0" y="0"/>
          <a:ext cx="0" cy="0"/>
          <a:chOff x="0" y="0"/>
          <a:chExt cx="0" cy="0"/>
        </a:xfrm>
      </p:grpSpPr>
      <p:sp>
        <p:nvSpPr>
          <p:cNvPr id="289" name="Shape 0"/>
          <p:cNvSpPr/>
          <p:nvPr/>
        </p:nvSpPr>
        <p:spPr>
          <a:xfrm>
            <a:off x="0" y="0"/>
            <a:ext cx="200880" cy="5143320"/>
          </a:xfrm>
          <a:prstGeom prst="rect">
            <a:avLst/>
          </a:prstGeom>
          <a:solidFill>
            <a:srgbClr val="9B59B6"/>
          </a:solidFill>
          <a:ln w="12700">
            <a:solidFill>
              <a:srgbClr val="9B59B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90" name="Text 1"/>
          <p:cNvSpPr/>
          <p:nvPr/>
        </p:nvSpPr>
        <p:spPr>
          <a:xfrm>
            <a:off x="457200" y="11887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9FB4CC"/>
                </a:solidFill>
                <a:latin typeface="Calibri"/>
                <a:ea typeface="Calibri"/>
              </a:rPr>
              <a:t>Section 3</a:t>
            </a:r>
            <a:endParaRPr lang="en-GB" sz="1300" b="0" strike="noStrike" spc="-1">
              <a:solidFill>
                <a:srgbClr val="FFFFFF"/>
              </a:solidFill>
              <a:latin typeface="Arial"/>
            </a:endParaRPr>
          </a:p>
        </p:txBody>
      </p:sp>
      <p:sp>
        <p:nvSpPr>
          <p:cNvPr id="291" name="Text 2"/>
          <p:cNvSpPr/>
          <p:nvPr/>
        </p:nvSpPr>
        <p:spPr>
          <a:xfrm>
            <a:off x="457200" y="1600200"/>
            <a:ext cx="822924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strike="noStrike" spc="-1">
                <a:solidFill>
                  <a:srgbClr val="FFFFFF"/>
                </a:solidFill>
                <a:latin typeface="Trebuchet MS"/>
                <a:ea typeface="Trebuchet MS"/>
              </a:rPr>
              <a:t>Audit, Integration</a:t>
            </a:r>
            <a:endParaRPr lang="en-GB" sz="4000" b="0" strike="noStrike" spc="-1">
              <a:solidFill>
                <a:srgbClr val="FFFFFF"/>
              </a:solidFill>
              <a:latin typeface="Arial"/>
            </a:endParaRPr>
          </a:p>
          <a:p>
            <a:pPr defTabSz="914400">
              <a:lnSpc>
                <a:spcPct val="100000"/>
              </a:lnSpc>
              <a:tabLst>
                <a:tab pos="0" algn="l"/>
              </a:tabLst>
            </a:pPr>
            <a:r>
              <a:rPr lang="en-US" sz="4000" b="1" strike="noStrike" spc="-1">
                <a:solidFill>
                  <a:srgbClr val="FFFFFF"/>
                </a:solidFill>
                <a:latin typeface="Trebuchet MS"/>
                <a:ea typeface="Trebuchet MS"/>
              </a:rPr>
              <a:t>and Reflection</a:t>
            </a:r>
            <a:endParaRPr lang="en-GB" sz="4000" b="0" strike="noStrike" spc="-1">
              <a:solidFill>
                <a:srgbClr val="FFFFFF"/>
              </a:solidFill>
              <a:latin typeface="Arial"/>
            </a:endParaRPr>
          </a:p>
        </p:txBody>
      </p:sp>
      <p:sp>
        <p:nvSpPr>
          <p:cNvPr id="292" name="Text 3"/>
          <p:cNvSpPr/>
          <p:nvPr/>
        </p:nvSpPr>
        <p:spPr>
          <a:xfrm>
            <a:off x="457200" y="41148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9FB4CC"/>
                </a:solidFill>
                <a:latin typeface="Calibri"/>
                <a:ea typeface="Calibri"/>
              </a:rPr>
              <a:t>  Federico Capricci</a:t>
            </a:r>
            <a:endParaRPr lang="en-GB" sz="1200" b="0" strike="noStrike" spc="-1">
              <a:solidFill>
                <a:srgbClr val="FFFFFF"/>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3" name="Shape 0"/>
          <p:cNvSpPr/>
          <p:nvPr/>
        </p:nvSpPr>
        <p:spPr>
          <a:xfrm>
            <a:off x="365760" y="201240"/>
            <a:ext cx="1737000" cy="255600"/>
          </a:xfrm>
          <a:prstGeom prst="roundRect">
            <a:avLst>
              <a:gd name="adj" fmla="val 14286"/>
            </a:avLst>
          </a:prstGeom>
          <a:solidFill>
            <a:srgbClr val="9B59B6"/>
          </a:solidFill>
          <a:ln w="12700">
            <a:solidFill>
              <a:srgbClr val="9B59B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94"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AUDIT TRAIL</a:t>
            </a:r>
            <a:endParaRPr lang="en-GB" sz="800" b="0" strike="noStrike" spc="-1">
              <a:solidFill>
                <a:srgbClr val="000000"/>
              </a:solidFill>
              <a:latin typeface="Arial"/>
            </a:endParaRPr>
          </a:p>
        </p:txBody>
      </p:sp>
      <p:sp>
        <p:nvSpPr>
          <p:cNvPr id="295"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Audit Trail &amp; Provenance</a:t>
            </a:r>
            <a:endParaRPr lang="en-GB" sz="2600" b="0" strike="noStrike" spc="-1">
              <a:solidFill>
                <a:srgbClr val="000000"/>
              </a:solidFill>
              <a:latin typeface="Arial"/>
            </a:endParaRPr>
          </a:p>
        </p:txBody>
      </p:sp>
      <p:sp>
        <p:nvSpPr>
          <p:cNvPr id="296"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297"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17</a:t>
            </a:r>
            <a:endParaRPr lang="en-GB" sz="900" b="0" strike="noStrike" spc="-1">
              <a:solidFill>
                <a:srgbClr val="000000"/>
              </a:solidFill>
              <a:latin typeface="Arial"/>
            </a:endParaRPr>
          </a:p>
        </p:txBody>
      </p:sp>
      <p:sp>
        <p:nvSpPr>
          <p:cNvPr id="298" name="Shape 5"/>
          <p:cNvSpPr/>
          <p:nvPr/>
        </p:nvSpPr>
        <p:spPr>
          <a:xfrm>
            <a:off x="365760" y="1303200"/>
            <a:ext cx="5028840" cy="3611520"/>
          </a:xfrm>
          <a:prstGeom prst="rect">
            <a:avLst/>
          </a:prstGeom>
          <a:solidFill>
            <a:srgbClr val="1E293B"/>
          </a:solidFill>
          <a:ln w="12700">
            <a:solidFill>
              <a:srgbClr val="1E293B"/>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299" name="Text 6"/>
          <p:cNvSpPr/>
          <p:nvPr/>
        </p:nvSpPr>
        <p:spPr>
          <a:xfrm>
            <a:off x="502920" y="1389960"/>
            <a:ext cx="475452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50" b="0" strike="noStrike" spc="-1">
                <a:solidFill>
                  <a:srgbClr val="86EFAC"/>
                </a:solidFill>
                <a:latin typeface="Consolas"/>
                <a:ea typeface="Consolas"/>
              </a:rPr>
              <a:t>{</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t>
            </a:r>
            <a:r>
              <a:rPr lang="en-US" sz="1050" b="0" strike="noStrike" spc="-1">
                <a:solidFill>
                  <a:srgbClr val="E482F4"/>
                </a:solidFill>
                <a:latin typeface="Consolas"/>
                <a:ea typeface="Consolas"/>
              </a:rPr>
              <a:t>"auditId": "audit-8f43...",</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t>
            </a:r>
            <a:r>
              <a:rPr lang="en-US" sz="1050" b="0" strike="noStrike" spc="-1">
                <a:solidFill>
                  <a:srgbClr val="E482F4"/>
                </a:solidFill>
                <a:latin typeface="Consolas"/>
                <a:ea typeface="Consolas"/>
              </a:rPr>
              <a:t>"timestamp": "2026-05-19T08:07:50Z",</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t>
            </a:r>
            <a:r>
              <a:rPr lang="en-US" sz="1050" b="0" strike="noStrike" spc="-1">
                <a:solidFill>
                  <a:srgbClr val="00B0F0"/>
                </a:solidFill>
                <a:latin typeface="Consolas"/>
                <a:ea typeface="Consolas"/>
              </a:rPr>
              <a:t>"request": { "candidateId": "cand-001",</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00B0F0"/>
                </a:solidFill>
                <a:latin typeface="Consolas"/>
                <a:ea typeface="Consolas"/>
              </a:rPr>
              <a:t>               "jobId": "job-003" ... },</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t>
            </a:r>
            <a:r>
              <a:rPr lang="en-US" sz="1050" b="0" strike="noStrike" spc="-1">
                <a:solidFill>
                  <a:srgbClr val="FFFF00"/>
                </a:solidFill>
                <a:latin typeface="Consolas"/>
                <a:ea typeface="Consolas"/>
              </a:rPr>
              <a:t>"evaluatedCandidate": { ... },</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FFFF00"/>
                </a:solidFill>
                <a:latin typeface="Consolas"/>
                <a:ea typeface="Consolas"/>
              </a:rPr>
              <a:t>  "evaluatedJob": { ... },</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"riskLevel": "CRITICAL",</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t>
            </a:r>
            <a:r>
              <a:rPr lang="en-US" sz="1050" b="0" strike="noStrike" spc="-1">
                <a:solidFill>
                  <a:srgbClr val="FF0000"/>
                </a:solidFill>
                <a:latin typeface="Consolas"/>
                <a:ea typeface="Consolas"/>
              </a:rPr>
              <a:t>"decision": "REJECT",</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t>
            </a:r>
            <a:r>
              <a:rPr lang="en-US" sz="1050" b="0" strike="noStrike" spc="-1">
                <a:solidFill>
                  <a:srgbClr val="FF0000"/>
                </a:solidFill>
                <a:latin typeface="Consolas"/>
                <a:ea typeface="Consolas"/>
              </a:rPr>
              <a:t>"findings": [ { ... } ],</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"appliedPolicies": [</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"P-ACC-003", "P-DISCR-001",</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"P-PROV-002", "P-TRANS-004"</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  ]</a:t>
            </a:r>
            <a:endParaRPr lang="en-GB" sz="1050" b="0" strike="noStrike" spc="-1">
              <a:solidFill>
                <a:srgbClr val="000000"/>
              </a:solidFill>
              <a:latin typeface="Arial"/>
            </a:endParaRPr>
          </a:p>
          <a:p>
            <a:pPr defTabSz="914400">
              <a:lnSpc>
                <a:spcPct val="100000"/>
              </a:lnSpc>
              <a:tabLst>
                <a:tab pos="0" algn="l"/>
              </a:tabLst>
            </a:pPr>
            <a:r>
              <a:rPr lang="en-US" sz="1050" b="0" strike="noStrike" spc="-1">
                <a:solidFill>
                  <a:srgbClr val="86EFAC"/>
                </a:solidFill>
                <a:latin typeface="Consolas"/>
                <a:ea typeface="Consolas"/>
              </a:rPr>
              <a:t>}</a:t>
            </a:r>
            <a:endParaRPr lang="en-GB" sz="1050" b="0" strike="noStrike" spc="-1">
              <a:solidFill>
                <a:srgbClr val="000000"/>
              </a:solidFill>
              <a:latin typeface="Arial"/>
            </a:endParaRPr>
          </a:p>
        </p:txBody>
      </p:sp>
      <p:sp>
        <p:nvSpPr>
          <p:cNvPr id="300" name="Shape 7"/>
          <p:cNvSpPr/>
          <p:nvPr/>
        </p:nvSpPr>
        <p:spPr>
          <a:xfrm>
            <a:off x="5394960" y="1663920"/>
            <a:ext cx="457200" cy="360"/>
          </a:xfrm>
          <a:prstGeom prst="line">
            <a:avLst/>
          </a:prstGeom>
          <a:ln w="12700">
            <a:solidFill>
              <a:srgbClr val="9B59B6"/>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01" name="Text 8"/>
          <p:cNvSpPr/>
          <p:nvPr/>
        </p:nvSpPr>
        <p:spPr>
          <a:xfrm>
            <a:off x="5943600" y="141732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9B59B6"/>
                </a:solidFill>
                <a:latin typeface="Calibri"/>
                <a:ea typeface="Calibri"/>
              </a:rPr>
              <a:t>Unique UUID per evaluation</a:t>
            </a:r>
            <a:endParaRPr lang="en-GB" sz="1000" b="0" strike="noStrike" spc="-1">
              <a:solidFill>
                <a:srgbClr val="000000"/>
              </a:solidFill>
              <a:latin typeface="Arial"/>
            </a:endParaRPr>
          </a:p>
        </p:txBody>
      </p:sp>
      <p:sp>
        <p:nvSpPr>
          <p:cNvPr id="302" name="Shape 9"/>
          <p:cNvSpPr/>
          <p:nvPr/>
        </p:nvSpPr>
        <p:spPr>
          <a:xfrm>
            <a:off x="5394960" y="1828800"/>
            <a:ext cx="457200" cy="360"/>
          </a:xfrm>
          <a:prstGeom prst="line">
            <a:avLst/>
          </a:prstGeom>
          <a:ln w="12700">
            <a:solidFill>
              <a:srgbClr val="9B59B6"/>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03" name="Text 10"/>
          <p:cNvSpPr/>
          <p:nvPr/>
        </p:nvSpPr>
        <p:spPr>
          <a:xfrm>
            <a:off x="5943600" y="158652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9B59B6"/>
                </a:solidFill>
                <a:latin typeface="Calibri"/>
                <a:ea typeface="Calibri"/>
              </a:rPr>
              <a:t>Timestamp ISO 8601</a:t>
            </a:r>
            <a:endParaRPr lang="en-GB" sz="1000" b="0" strike="noStrike" spc="-1">
              <a:solidFill>
                <a:srgbClr val="000000"/>
              </a:solidFill>
              <a:latin typeface="Arial"/>
            </a:endParaRPr>
          </a:p>
        </p:txBody>
      </p:sp>
      <p:sp>
        <p:nvSpPr>
          <p:cNvPr id="304" name="Shape 11"/>
          <p:cNvSpPr/>
          <p:nvPr/>
        </p:nvSpPr>
        <p:spPr>
          <a:xfrm>
            <a:off x="5394960" y="2043360"/>
            <a:ext cx="457200" cy="360"/>
          </a:xfrm>
          <a:prstGeom prst="line">
            <a:avLst/>
          </a:prstGeom>
          <a:ln w="12700">
            <a:solidFill>
              <a:srgbClr val="2C5FDC"/>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05" name="Text 12"/>
          <p:cNvSpPr/>
          <p:nvPr/>
        </p:nvSpPr>
        <p:spPr>
          <a:xfrm>
            <a:off x="5943600" y="182880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2C5FDC"/>
                </a:solidFill>
                <a:latin typeface="Calibri"/>
                <a:ea typeface="Calibri"/>
              </a:rPr>
              <a:t>Original request (snapshot)</a:t>
            </a:r>
            <a:endParaRPr lang="en-GB" sz="1000" b="0" strike="noStrike" spc="-1">
              <a:solidFill>
                <a:srgbClr val="000000"/>
              </a:solidFill>
              <a:latin typeface="Arial"/>
            </a:endParaRPr>
          </a:p>
        </p:txBody>
      </p:sp>
      <p:sp>
        <p:nvSpPr>
          <p:cNvPr id="306" name="Shape 13"/>
          <p:cNvSpPr/>
          <p:nvPr/>
        </p:nvSpPr>
        <p:spPr>
          <a:xfrm>
            <a:off x="5394960" y="2403720"/>
            <a:ext cx="457200" cy="360"/>
          </a:xfrm>
          <a:prstGeom prst="line">
            <a:avLst/>
          </a:prstGeom>
          <a:ln w="19050">
            <a:solidFill>
              <a:srgbClr val="FFC000"/>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07" name="Text 14"/>
          <p:cNvSpPr/>
          <p:nvPr/>
        </p:nvSpPr>
        <p:spPr>
          <a:xfrm>
            <a:off x="5943600" y="218088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FFC000"/>
                </a:solidFill>
                <a:latin typeface="Calibri"/>
                <a:ea typeface="Calibri"/>
              </a:rPr>
              <a:t>Real data fetched from DaaS</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FFC000"/>
                </a:solidFill>
                <a:latin typeface="Calibri"/>
                <a:ea typeface="Calibri"/>
              </a:rPr>
              <a:t>provenance tracked</a:t>
            </a:r>
            <a:endParaRPr lang="en-GB" sz="1000" b="0" strike="noStrike" spc="-1">
              <a:solidFill>
                <a:srgbClr val="000000"/>
              </a:solidFill>
              <a:latin typeface="Arial"/>
            </a:endParaRPr>
          </a:p>
        </p:txBody>
      </p:sp>
      <p:sp>
        <p:nvSpPr>
          <p:cNvPr id="308" name="Shape 15"/>
          <p:cNvSpPr/>
          <p:nvPr/>
        </p:nvSpPr>
        <p:spPr>
          <a:xfrm>
            <a:off x="5386320" y="2876040"/>
            <a:ext cx="457200" cy="360"/>
          </a:xfrm>
          <a:prstGeom prst="line">
            <a:avLst/>
          </a:prstGeom>
          <a:ln w="12700">
            <a:solidFill>
              <a:srgbClr val="B32424"/>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09" name="Text 16"/>
          <p:cNvSpPr/>
          <p:nvPr/>
        </p:nvSpPr>
        <p:spPr>
          <a:xfrm>
            <a:off x="5943600" y="264888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B32424"/>
                </a:solidFill>
                <a:latin typeface="Calibri"/>
                <a:ea typeface="Calibri"/>
              </a:rPr>
              <a:t>Final decision</a:t>
            </a:r>
            <a:endParaRPr lang="en-GB" sz="1000" b="0" strike="noStrike" spc="-1">
              <a:solidFill>
                <a:srgbClr val="000000"/>
              </a:solidFill>
              <a:latin typeface="Arial"/>
            </a:endParaRPr>
          </a:p>
        </p:txBody>
      </p:sp>
      <p:sp>
        <p:nvSpPr>
          <p:cNvPr id="310" name="Shape 17"/>
          <p:cNvSpPr/>
          <p:nvPr/>
        </p:nvSpPr>
        <p:spPr>
          <a:xfrm>
            <a:off x="5386320" y="3272400"/>
            <a:ext cx="457200" cy="360"/>
          </a:xfrm>
          <a:prstGeom prst="line">
            <a:avLst/>
          </a:prstGeom>
          <a:ln w="12700">
            <a:solidFill>
              <a:srgbClr val="2F8F4E"/>
            </a:solidFill>
            <a:prstDash val="dash"/>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11" name="Text 18"/>
          <p:cNvSpPr/>
          <p:nvPr/>
        </p:nvSpPr>
        <p:spPr>
          <a:xfrm>
            <a:off x="5943600" y="3056400"/>
            <a:ext cx="28342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2F8F4E"/>
                </a:solidFill>
                <a:latin typeface="Calibri"/>
                <a:ea typeface="Calibri"/>
              </a:rPr>
              <a:t>All policies evaluated</a:t>
            </a:r>
            <a:endParaRPr lang="en-GB" sz="1000" b="0" strike="noStrike" spc="-1">
              <a:solidFill>
                <a:srgbClr val="000000"/>
              </a:solidFill>
              <a:latin typeface="Arial"/>
            </a:endParaRPr>
          </a:p>
          <a:p>
            <a:pPr defTabSz="914400">
              <a:lnSpc>
                <a:spcPct val="100000"/>
              </a:lnSpc>
              <a:tabLst>
                <a:tab pos="0" algn="l"/>
              </a:tabLst>
            </a:pPr>
            <a:r>
              <a:rPr lang="en-US" sz="1000" b="0" strike="noStrike" spc="-1">
                <a:solidFill>
                  <a:srgbClr val="2F8F4E"/>
                </a:solidFill>
                <a:latin typeface="Calibri"/>
                <a:ea typeface="Calibri"/>
              </a:rPr>
              <a:t>(including those not violated)</a:t>
            </a:r>
            <a:endParaRPr lang="en-GB" sz="10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2" name="Shape 0"/>
          <p:cNvSpPr/>
          <p:nvPr/>
        </p:nvSpPr>
        <p:spPr>
          <a:xfrm>
            <a:off x="365760" y="201240"/>
            <a:ext cx="1737000" cy="255600"/>
          </a:xfrm>
          <a:prstGeom prst="roundRect">
            <a:avLst>
              <a:gd name="adj" fmla="val 14286"/>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13"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SCENARIO 1</a:t>
            </a:r>
            <a:endParaRPr lang="en-GB" sz="800" b="0" strike="noStrike" spc="-1">
              <a:solidFill>
                <a:srgbClr val="000000"/>
              </a:solidFill>
              <a:latin typeface="Arial"/>
            </a:endParaRPr>
          </a:p>
        </p:txBody>
      </p:sp>
      <p:sp>
        <p:nvSpPr>
          <p:cNvPr id="314"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Scenario PROCEED — cand-001 + job-001</a:t>
            </a:r>
            <a:endParaRPr lang="en-GB" sz="2600" b="0" strike="noStrike" spc="-1">
              <a:solidFill>
                <a:srgbClr val="000000"/>
              </a:solidFill>
              <a:latin typeface="Arial"/>
            </a:endParaRPr>
          </a:p>
        </p:txBody>
      </p:sp>
      <p:sp>
        <p:nvSpPr>
          <p:cNvPr id="315"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316"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14</a:t>
            </a:r>
            <a:endParaRPr lang="en-GB" sz="900" b="0" strike="noStrike" spc="-1">
              <a:solidFill>
                <a:srgbClr val="000000"/>
              </a:solidFill>
              <a:latin typeface="Arial"/>
            </a:endParaRPr>
          </a:p>
        </p:txBody>
      </p:sp>
      <p:sp>
        <p:nvSpPr>
          <p:cNvPr id="317" name="Shape 5"/>
          <p:cNvSpPr/>
          <p:nvPr/>
        </p:nvSpPr>
        <p:spPr>
          <a:xfrm>
            <a:off x="365760" y="1325880"/>
            <a:ext cx="3931560" cy="137124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18" name="Text 6"/>
          <p:cNvSpPr/>
          <p:nvPr/>
        </p:nvSpPr>
        <p:spPr>
          <a:xfrm>
            <a:off x="502920" y="1371600"/>
            <a:ext cx="3565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1D2D44"/>
                </a:solidFill>
                <a:latin typeface="Trebuchet MS"/>
                <a:ea typeface="Trebuchet MS"/>
              </a:rPr>
              <a:t>Request</a:t>
            </a:r>
            <a:endParaRPr lang="en-GB" sz="1100" b="0" strike="noStrike" spc="-1">
              <a:solidFill>
                <a:srgbClr val="000000"/>
              </a:solidFill>
              <a:latin typeface="Arial"/>
            </a:endParaRPr>
          </a:p>
        </p:txBody>
      </p:sp>
      <p:sp>
        <p:nvSpPr>
          <p:cNvPr id="319" name="Text 7"/>
          <p:cNvSpPr/>
          <p:nvPr/>
        </p:nvSpPr>
        <p:spPr>
          <a:xfrm>
            <a:off x="502920" y="1719000"/>
            <a:ext cx="3657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6B7280"/>
                </a:solidFill>
                <a:latin typeface="Calibri"/>
                <a:ea typeface="Calibri"/>
              </a:rPr>
              <a:t>candidateId: </a:t>
            </a:r>
            <a:r>
              <a:rPr lang="en-US" sz="1100" b="1" strike="noStrike" spc="-1">
                <a:solidFill>
                  <a:srgbClr val="1D2D44"/>
                </a:solidFill>
                <a:latin typeface="Calibri"/>
                <a:ea typeface="Calibri"/>
              </a:rPr>
              <a:t>cand-001</a:t>
            </a:r>
            <a:r>
              <a:rPr lang="en-US" sz="1100" b="0" strike="noStrike" spc="-1">
                <a:solidFill>
                  <a:srgbClr val="6B7280"/>
                </a:solidFill>
                <a:latin typeface="Calibri"/>
                <a:ea typeface="Calibri"/>
              </a:rPr>
              <a:t>  (Alice Bianchi)</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6B7280"/>
                </a:solidFill>
                <a:latin typeface="Calibri"/>
                <a:ea typeface="Calibri"/>
              </a:rPr>
              <a:t>jobId: </a:t>
            </a:r>
            <a:r>
              <a:rPr lang="en-US" sz="1100" b="1" strike="noStrike" spc="-1">
                <a:solidFill>
                  <a:srgbClr val="1D2D44"/>
                </a:solidFill>
                <a:latin typeface="Calibri"/>
                <a:ea typeface="Calibri"/>
              </a:rPr>
              <a:t>job-001</a:t>
            </a:r>
            <a:r>
              <a:rPr lang="en-US" sz="1100" b="0" strike="noStrike" spc="-1">
                <a:solidFill>
                  <a:srgbClr val="6B7280"/>
                </a:solidFill>
                <a:latin typeface="Calibri"/>
                <a:ea typeface="Calibri"/>
              </a:rPr>
              <a:t>  (Backend Java Dev)</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6B7280"/>
                </a:solidFill>
                <a:latin typeface="Calibri"/>
                <a:ea typeface="Calibri"/>
              </a:rPr>
              <a:t>source: </a:t>
            </a:r>
            <a:r>
              <a:rPr lang="en-US" sz="1100" b="1" strike="noStrike" spc="-1">
                <a:solidFill>
                  <a:srgbClr val="2F8F4E"/>
                </a:solidFill>
                <a:latin typeface="Calibri"/>
                <a:ea typeface="Calibri"/>
              </a:rPr>
              <a:t>company-portal</a:t>
            </a:r>
            <a:endParaRPr lang="en-GB" sz="1100" b="0" strike="noStrike" spc="-1">
              <a:solidFill>
                <a:srgbClr val="000000"/>
              </a:solidFill>
              <a:latin typeface="Arial"/>
            </a:endParaRPr>
          </a:p>
        </p:txBody>
      </p:sp>
      <p:sp>
        <p:nvSpPr>
          <p:cNvPr id="320" name="Shape 8"/>
          <p:cNvSpPr/>
          <p:nvPr/>
        </p:nvSpPr>
        <p:spPr>
          <a:xfrm>
            <a:off x="365760" y="2834640"/>
            <a:ext cx="3931560" cy="100548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21" name="Text 9"/>
          <p:cNvSpPr/>
          <p:nvPr/>
        </p:nvSpPr>
        <p:spPr>
          <a:xfrm>
            <a:off x="502920" y="2889360"/>
            <a:ext cx="3565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1D2D44"/>
                </a:solidFill>
                <a:latin typeface="Trebuchet MS"/>
                <a:ea typeface="Trebuchet MS"/>
              </a:rPr>
              <a:t>EaaS Evaluation</a:t>
            </a:r>
            <a:endParaRPr lang="en-GB" sz="1100" b="0" strike="noStrike" spc="-1">
              <a:solidFill>
                <a:srgbClr val="000000"/>
              </a:solidFill>
              <a:latin typeface="Arial"/>
            </a:endParaRPr>
          </a:p>
        </p:txBody>
      </p:sp>
      <p:sp>
        <p:nvSpPr>
          <p:cNvPr id="322" name="Text 10"/>
          <p:cNvSpPr/>
          <p:nvPr/>
        </p:nvSpPr>
        <p:spPr>
          <a:xfrm>
            <a:off x="502920" y="3218760"/>
            <a:ext cx="3657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6B7280"/>
                </a:solidFill>
                <a:latin typeface="Calibri"/>
                <a:ea typeface="Calibri"/>
              </a:rPr>
              <a:t>No policy violated — 4 policies evaluated</a:t>
            </a:r>
            <a:endParaRPr lang="en-GB" sz="1100" b="0" strike="noStrike" spc="-1">
              <a:solidFill>
                <a:srgbClr val="000000"/>
              </a:solidFill>
              <a:latin typeface="Arial"/>
            </a:endParaRPr>
          </a:p>
        </p:txBody>
      </p:sp>
      <p:sp>
        <p:nvSpPr>
          <p:cNvPr id="323" name="Text 11"/>
          <p:cNvSpPr/>
          <p:nvPr/>
        </p:nvSpPr>
        <p:spPr>
          <a:xfrm>
            <a:off x="502920" y="3493080"/>
            <a:ext cx="3657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F8F4E"/>
                </a:solidFill>
                <a:latin typeface="Calibri"/>
                <a:ea typeface="Calibri"/>
              </a:rPr>
              <a:t>Findings: 0</a:t>
            </a:r>
            <a:endParaRPr lang="en-GB" sz="1100" b="0" strike="noStrike" spc="-1">
              <a:solidFill>
                <a:srgbClr val="000000"/>
              </a:solidFill>
              <a:latin typeface="Arial"/>
            </a:endParaRPr>
          </a:p>
        </p:txBody>
      </p:sp>
      <p:sp>
        <p:nvSpPr>
          <p:cNvPr id="324" name="Shape 12"/>
          <p:cNvSpPr/>
          <p:nvPr/>
        </p:nvSpPr>
        <p:spPr>
          <a:xfrm>
            <a:off x="4434840" y="1325880"/>
            <a:ext cx="4343040" cy="2742840"/>
          </a:xfrm>
          <a:prstGeom prst="rect">
            <a:avLst/>
          </a:prstGeom>
          <a:solidFill>
            <a:srgbClr val="F0FFF4"/>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25" name="Shape 13"/>
          <p:cNvSpPr/>
          <p:nvPr/>
        </p:nvSpPr>
        <p:spPr>
          <a:xfrm>
            <a:off x="4434840" y="1325880"/>
            <a:ext cx="4343040" cy="383760"/>
          </a:xfrm>
          <a:prstGeom prst="rect">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26" name="Text 14"/>
          <p:cNvSpPr/>
          <p:nvPr/>
        </p:nvSpPr>
        <p:spPr>
          <a:xfrm>
            <a:off x="4434840" y="1325880"/>
            <a:ext cx="4343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Calibri"/>
                <a:ea typeface="Calibri"/>
              </a:rPr>
              <a:t>DECISION</a:t>
            </a:r>
            <a:endParaRPr lang="en-GB" sz="1100" b="0" strike="noStrike" spc="-1">
              <a:solidFill>
                <a:srgbClr val="000000"/>
              </a:solidFill>
              <a:latin typeface="Arial"/>
            </a:endParaRPr>
          </a:p>
        </p:txBody>
      </p:sp>
      <p:sp>
        <p:nvSpPr>
          <p:cNvPr id="327" name="Text 15"/>
          <p:cNvSpPr/>
          <p:nvPr/>
        </p:nvSpPr>
        <p:spPr>
          <a:xfrm>
            <a:off x="4434840" y="1828800"/>
            <a:ext cx="4343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2F8F4E"/>
                </a:solidFill>
                <a:latin typeface="Trebuchet MS"/>
                <a:ea typeface="Trebuchet MS"/>
              </a:rPr>
              <a:t>PROCEED</a:t>
            </a:r>
            <a:endParaRPr lang="en-GB" sz="4600" b="0" strike="noStrike" spc="-1">
              <a:solidFill>
                <a:srgbClr val="000000"/>
              </a:solidFill>
              <a:latin typeface="Arial"/>
            </a:endParaRPr>
          </a:p>
        </p:txBody>
      </p:sp>
      <p:sp>
        <p:nvSpPr>
          <p:cNvPr id="328" name="Text 16"/>
          <p:cNvSpPr/>
          <p:nvPr/>
        </p:nvSpPr>
        <p:spPr>
          <a:xfrm>
            <a:off x="4434840" y="2606040"/>
            <a:ext cx="4343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2F8F4E"/>
                </a:solidFill>
                <a:latin typeface="Calibri"/>
                <a:ea typeface="Calibri"/>
              </a:rPr>
              <a:t>Risk: LOW</a:t>
            </a:r>
            <a:endParaRPr lang="en-GB" sz="1400" b="0" strike="noStrike" spc="-1">
              <a:solidFill>
                <a:srgbClr val="000000"/>
              </a:solidFill>
              <a:latin typeface="Arial"/>
            </a:endParaRPr>
          </a:p>
        </p:txBody>
      </p:sp>
      <p:sp>
        <p:nvSpPr>
          <p:cNvPr id="329" name="Text 17"/>
          <p:cNvSpPr/>
          <p:nvPr/>
        </p:nvSpPr>
        <p:spPr>
          <a:xfrm>
            <a:off x="4526280" y="3017520"/>
            <a:ext cx="41601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strike="noStrike" spc="-1">
                <a:solidFill>
                  <a:srgbClr val="6B7280"/>
                </a:solidFill>
                <a:latin typeface="Calibri"/>
                <a:ea typeface="Calibri"/>
              </a:rPr>
              <a:t>"No policy was triggered: the recommendation</a:t>
            </a:r>
            <a:endParaRPr lang="en-GB" sz="1000" b="0" strike="noStrike" spc="-1">
              <a:solidFill>
                <a:srgbClr val="000000"/>
              </a:solidFill>
              <a:latin typeface="Arial"/>
            </a:endParaRPr>
          </a:p>
          <a:p>
            <a:pPr algn="ctr" defTabSz="914400">
              <a:lnSpc>
                <a:spcPct val="100000"/>
              </a:lnSpc>
              <a:tabLst>
                <a:tab pos="0" algn="l"/>
              </a:tabLst>
            </a:pPr>
            <a:r>
              <a:rPr lang="en-US" sz="1000" b="0" i="1" strike="noStrike" spc="-1">
                <a:solidFill>
                  <a:srgbClr val="6B7280"/>
                </a:solidFill>
                <a:latin typeface="Calibri"/>
                <a:ea typeface="Calibri"/>
              </a:rPr>
              <a:t>is consistent with the active ethical policies."</a:t>
            </a:r>
            <a:endParaRPr lang="en-GB" sz="1000" b="0" strike="noStrike" spc="-1">
              <a:solidFill>
                <a:srgbClr val="000000"/>
              </a:solidFill>
              <a:latin typeface="Arial"/>
            </a:endParaRPr>
          </a:p>
        </p:txBody>
      </p:sp>
      <p:sp>
        <p:nvSpPr>
          <p:cNvPr id="330" name="Text 18"/>
          <p:cNvSpPr/>
          <p:nvPr/>
        </p:nvSpPr>
        <p:spPr>
          <a:xfrm>
            <a:off x="365760" y="3931920"/>
            <a:ext cx="8412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6B7280"/>
                </a:solidFill>
                <a:latin typeface="Calibri"/>
                <a:ea typeface="Calibri"/>
              </a:rPr>
              <a:t>Applied policies: P-ACC-003 · P-DISCR-001 · P-PROV-002 · P-TRANS-004</a:t>
            </a:r>
            <a:endParaRPr lang="en-GB" sz="1000" b="0" strike="noStrike" spc="-1">
              <a:solidFill>
                <a:srgbClr val="000000"/>
              </a:solidFill>
              <a:latin typeface="Arial"/>
            </a:endParaRPr>
          </a:p>
        </p:txBody>
      </p:sp>
      <p:sp>
        <p:nvSpPr>
          <p:cNvPr id="331" name="Text 19"/>
          <p:cNvSpPr/>
          <p:nvPr/>
        </p:nvSpPr>
        <p:spPr>
          <a:xfrm>
            <a:off x="365760" y="4251960"/>
            <a:ext cx="8412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2F8F4E"/>
                </a:solidFill>
                <a:latin typeface="Calibri"/>
                <a:ea typeface="Calibri"/>
              </a:rPr>
              <a:t>Required actions: none  ·  The offer can be shown to the candidate</a:t>
            </a:r>
            <a:endParaRPr lang="en-GB" sz="11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2" name="Shape 0"/>
          <p:cNvSpPr/>
          <p:nvPr/>
        </p:nvSpPr>
        <p:spPr>
          <a:xfrm>
            <a:off x="365760" y="201240"/>
            <a:ext cx="1737000" cy="255600"/>
          </a:xfrm>
          <a:prstGeom prst="roundRect">
            <a:avLst>
              <a:gd name="adj" fmla="val 14286"/>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33"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SCENARIO 2</a:t>
            </a:r>
            <a:endParaRPr lang="en-GB" sz="800" b="0" strike="noStrike" spc="-1">
              <a:solidFill>
                <a:srgbClr val="000000"/>
              </a:solidFill>
              <a:latin typeface="Arial"/>
            </a:endParaRPr>
          </a:p>
        </p:txBody>
      </p:sp>
      <p:sp>
        <p:nvSpPr>
          <p:cNvPr id="334"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Scenario REJECT — cand-001 + job-003</a:t>
            </a:r>
            <a:endParaRPr lang="en-GB" sz="2600" b="0" strike="noStrike" spc="-1">
              <a:solidFill>
                <a:srgbClr val="000000"/>
              </a:solidFill>
              <a:latin typeface="Arial"/>
            </a:endParaRPr>
          </a:p>
        </p:txBody>
      </p:sp>
      <p:sp>
        <p:nvSpPr>
          <p:cNvPr id="335"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336"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15</a:t>
            </a:r>
            <a:endParaRPr lang="en-GB" sz="900" b="0" strike="noStrike" spc="-1">
              <a:solidFill>
                <a:srgbClr val="000000"/>
              </a:solidFill>
              <a:latin typeface="Arial"/>
            </a:endParaRPr>
          </a:p>
        </p:txBody>
      </p:sp>
      <p:sp>
        <p:nvSpPr>
          <p:cNvPr id="337" name="Shape 5"/>
          <p:cNvSpPr/>
          <p:nvPr/>
        </p:nvSpPr>
        <p:spPr>
          <a:xfrm>
            <a:off x="365760" y="1325880"/>
            <a:ext cx="3931560" cy="137124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38" name="Text 6"/>
          <p:cNvSpPr/>
          <p:nvPr/>
        </p:nvSpPr>
        <p:spPr>
          <a:xfrm>
            <a:off x="502920" y="1371600"/>
            <a:ext cx="35658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1D2D44"/>
                </a:solidFill>
                <a:latin typeface="Trebuchet MS"/>
                <a:ea typeface="Trebuchet MS"/>
              </a:rPr>
              <a:t>Request</a:t>
            </a:r>
            <a:endParaRPr lang="en-GB" sz="1100" b="0" strike="noStrike" spc="-1">
              <a:solidFill>
                <a:srgbClr val="000000"/>
              </a:solidFill>
              <a:latin typeface="Arial"/>
            </a:endParaRPr>
          </a:p>
        </p:txBody>
      </p:sp>
      <p:sp>
        <p:nvSpPr>
          <p:cNvPr id="339" name="Text 7"/>
          <p:cNvSpPr/>
          <p:nvPr/>
        </p:nvSpPr>
        <p:spPr>
          <a:xfrm>
            <a:off x="502920" y="1719000"/>
            <a:ext cx="3657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6B7280"/>
                </a:solidFill>
                <a:latin typeface="Calibri"/>
                <a:ea typeface="Calibri"/>
              </a:rPr>
              <a:t>candidateId: </a:t>
            </a:r>
            <a:r>
              <a:rPr lang="en-US" sz="1100" b="1" strike="noStrike" spc="-1">
                <a:solidFill>
                  <a:srgbClr val="1D2D44"/>
                </a:solidFill>
                <a:latin typeface="Calibri"/>
                <a:ea typeface="Calibri"/>
              </a:rPr>
              <a:t>cand-001</a:t>
            </a:r>
            <a:r>
              <a:rPr lang="en-US" sz="1100" b="0" strike="noStrike" spc="-1">
                <a:solidFill>
                  <a:srgbClr val="6B7280"/>
                </a:solidFill>
                <a:latin typeface="Calibri"/>
                <a:ea typeface="Calibri"/>
              </a:rPr>
              <a:t>  (Alice Bianchi, 28 years old)</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6B7280"/>
                </a:solidFill>
                <a:latin typeface="Calibri"/>
                <a:ea typeface="Calibri"/>
              </a:rPr>
              <a:t>jobId: </a:t>
            </a:r>
            <a:r>
              <a:rPr lang="en-US" sz="1100" b="1" strike="noStrike" spc="-1">
                <a:solidFill>
                  <a:srgbClr val="1D2D44"/>
                </a:solidFill>
                <a:latin typeface="Calibri"/>
                <a:ea typeface="Calibri"/>
              </a:rPr>
              <a:t>job-003</a:t>
            </a:r>
            <a:r>
              <a:rPr lang="en-US" sz="1100" b="0" strike="noStrike" spc="-1">
                <a:solidFill>
                  <a:srgbClr val="6B7280"/>
                </a:solidFill>
                <a:latin typeface="Calibri"/>
                <a:ea typeface="Calibri"/>
              </a:rPr>
              <a:t>  (Junior Frontend Dev)</a:t>
            </a:r>
            <a:endParaRPr lang="en-GB" sz="1100" b="0" strike="noStrike" spc="-1">
              <a:solidFill>
                <a:srgbClr val="000000"/>
              </a:solidFill>
              <a:latin typeface="Arial"/>
            </a:endParaRPr>
          </a:p>
          <a:p>
            <a:pPr defTabSz="914400">
              <a:lnSpc>
                <a:spcPct val="100000"/>
              </a:lnSpc>
              <a:tabLst>
                <a:tab pos="0" algn="l"/>
              </a:tabLst>
            </a:pPr>
            <a:r>
              <a:rPr lang="en-US" sz="1100" b="0" strike="noStrike" spc="-1">
                <a:solidFill>
                  <a:srgbClr val="6B7280"/>
                </a:solidFill>
                <a:latin typeface="Calibri"/>
                <a:ea typeface="Calibri"/>
              </a:rPr>
              <a:t>source: </a:t>
            </a:r>
            <a:r>
              <a:rPr lang="en-US" sz="1100" b="1" strike="noStrike" spc="-1">
                <a:solidFill>
                  <a:srgbClr val="B32424"/>
                </a:solidFill>
                <a:latin typeface="Calibri"/>
                <a:ea typeface="Calibri"/>
              </a:rPr>
              <a:t>third-party-scraper</a:t>
            </a:r>
            <a:endParaRPr lang="en-GB" sz="1100" b="0" strike="noStrike" spc="-1">
              <a:solidFill>
                <a:srgbClr val="000000"/>
              </a:solidFill>
              <a:latin typeface="Arial"/>
            </a:endParaRPr>
          </a:p>
        </p:txBody>
      </p:sp>
      <p:sp>
        <p:nvSpPr>
          <p:cNvPr id="340" name="Shape 8"/>
          <p:cNvSpPr/>
          <p:nvPr/>
        </p:nvSpPr>
        <p:spPr>
          <a:xfrm>
            <a:off x="365760" y="2834640"/>
            <a:ext cx="3931560" cy="804240"/>
          </a:xfrm>
          <a:prstGeom prst="rect">
            <a:avLst/>
          </a:prstGeom>
          <a:solidFill>
            <a:srgbClr val="FFF5F5"/>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41" name="Shape 9"/>
          <p:cNvSpPr/>
          <p:nvPr/>
        </p:nvSpPr>
        <p:spPr>
          <a:xfrm>
            <a:off x="365760" y="2834640"/>
            <a:ext cx="731160" cy="310680"/>
          </a:xfrm>
          <a:prstGeom prst="rect">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42" name="Text 10"/>
          <p:cNvSpPr/>
          <p:nvPr/>
        </p:nvSpPr>
        <p:spPr>
          <a:xfrm>
            <a:off x="365760" y="2834640"/>
            <a:ext cx="7311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CRITICAL</a:t>
            </a:r>
            <a:endParaRPr lang="en-GB" sz="800" b="0" strike="noStrike" spc="-1">
              <a:solidFill>
                <a:srgbClr val="000000"/>
              </a:solidFill>
              <a:latin typeface="Arial"/>
            </a:endParaRPr>
          </a:p>
        </p:txBody>
      </p:sp>
      <p:sp>
        <p:nvSpPr>
          <p:cNvPr id="343" name="Text 11"/>
          <p:cNvSpPr/>
          <p:nvPr/>
        </p:nvSpPr>
        <p:spPr>
          <a:xfrm>
            <a:off x="1143000" y="2834640"/>
            <a:ext cx="1828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B32424"/>
                </a:solidFill>
                <a:latin typeface="Consolas"/>
                <a:ea typeface="Consolas"/>
              </a:rPr>
              <a:t>P-DISCR-001</a:t>
            </a:r>
            <a:endParaRPr lang="en-GB" sz="900" b="0" strike="noStrike" spc="-1">
              <a:solidFill>
                <a:srgbClr val="000000"/>
              </a:solidFill>
              <a:latin typeface="Arial"/>
            </a:endParaRPr>
          </a:p>
        </p:txBody>
      </p:sp>
      <p:sp>
        <p:nvSpPr>
          <p:cNvPr id="344" name="Text 12"/>
          <p:cNvSpPr/>
          <p:nvPr/>
        </p:nvSpPr>
        <p:spPr>
          <a:xfrm>
            <a:off x="502920" y="3182040"/>
            <a:ext cx="36572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1D2D44"/>
                </a:solidFill>
                <a:latin typeface="Calibri"/>
                <a:ea typeface="Calibri"/>
              </a:rPr>
              <a:t>Offer carries "ageRangeMax" = 30</a:t>
            </a:r>
            <a:endParaRPr lang="en-GB" sz="1000" b="0" strike="noStrike" spc="-1">
              <a:solidFill>
                <a:srgbClr val="000000"/>
              </a:solidFill>
              <a:latin typeface="Arial"/>
            </a:endParaRPr>
          </a:p>
        </p:txBody>
      </p:sp>
      <p:sp>
        <p:nvSpPr>
          <p:cNvPr id="345" name="Shape 13"/>
          <p:cNvSpPr/>
          <p:nvPr/>
        </p:nvSpPr>
        <p:spPr>
          <a:xfrm>
            <a:off x="365760" y="3749040"/>
            <a:ext cx="3931560" cy="804240"/>
          </a:xfrm>
          <a:prstGeom prst="rect">
            <a:avLst/>
          </a:prstGeom>
          <a:solidFill>
            <a:srgbClr val="FFF8F0"/>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46" name="Shape 14"/>
          <p:cNvSpPr/>
          <p:nvPr/>
        </p:nvSpPr>
        <p:spPr>
          <a:xfrm>
            <a:off x="365760" y="3749040"/>
            <a:ext cx="731160" cy="310680"/>
          </a:xfrm>
          <a:prstGeom prst="rect">
            <a:avLst/>
          </a:prstGeom>
          <a:solidFill>
            <a:srgbClr val="C25A00"/>
          </a:solidFill>
          <a:ln w="12700">
            <a:solidFill>
              <a:srgbClr val="C2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47" name="Text 15"/>
          <p:cNvSpPr/>
          <p:nvPr/>
        </p:nvSpPr>
        <p:spPr>
          <a:xfrm>
            <a:off x="365760" y="3749040"/>
            <a:ext cx="7311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HIGH</a:t>
            </a:r>
            <a:endParaRPr lang="en-GB" sz="800" b="0" strike="noStrike" spc="-1">
              <a:solidFill>
                <a:srgbClr val="000000"/>
              </a:solidFill>
              <a:latin typeface="Arial"/>
            </a:endParaRPr>
          </a:p>
        </p:txBody>
      </p:sp>
      <p:sp>
        <p:nvSpPr>
          <p:cNvPr id="348" name="Text 16"/>
          <p:cNvSpPr/>
          <p:nvPr/>
        </p:nvSpPr>
        <p:spPr>
          <a:xfrm>
            <a:off x="1143000" y="3749040"/>
            <a:ext cx="1828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C25A00"/>
                </a:solidFill>
                <a:latin typeface="Consolas"/>
                <a:ea typeface="Consolas"/>
              </a:rPr>
              <a:t>P-PROV-002</a:t>
            </a:r>
            <a:endParaRPr lang="en-GB" sz="900" b="0" strike="noStrike" spc="-1">
              <a:solidFill>
                <a:srgbClr val="000000"/>
              </a:solidFill>
              <a:latin typeface="Arial"/>
            </a:endParaRPr>
          </a:p>
        </p:txBody>
      </p:sp>
      <p:sp>
        <p:nvSpPr>
          <p:cNvPr id="349" name="Text 17"/>
          <p:cNvSpPr/>
          <p:nvPr/>
        </p:nvSpPr>
        <p:spPr>
          <a:xfrm>
            <a:off x="502920" y="4096440"/>
            <a:ext cx="36572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strike="noStrike" spc="-1">
                <a:solidFill>
                  <a:srgbClr val="1D2D44"/>
                </a:solidFill>
                <a:latin typeface="Calibri"/>
                <a:ea typeface="Calibri"/>
              </a:rPr>
              <a:t>Source "third-party-scraper" not trusted</a:t>
            </a:r>
            <a:endParaRPr lang="en-GB" sz="1000" b="0" strike="noStrike" spc="-1">
              <a:solidFill>
                <a:srgbClr val="000000"/>
              </a:solidFill>
              <a:latin typeface="Arial"/>
            </a:endParaRPr>
          </a:p>
        </p:txBody>
      </p:sp>
      <p:sp>
        <p:nvSpPr>
          <p:cNvPr id="350" name="Shape 18"/>
          <p:cNvSpPr/>
          <p:nvPr/>
        </p:nvSpPr>
        <p:spPr>
          <a:xfrm>
            <a:off x="4434840" y="1325880"/>
            <a:ext cx="4343040" cy="2742840"/>
          </a:xfrm>
          <a:prstGeom prst="rect">
            <a:avLst/>
          </a:prstGeom>
          <a:solidFill>
            <a:srgbClr val="FFF5F5"/>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51" name="Shape 19"/>
          <p:cNvSpPr/>
          <p:nvPr/>
        </p:nvSpPr>
        <p:spPr>
          <a:xfrm>
            <a:off x="4434840" y="1325880"/>
            <a:ext cx="4343040" cy="383760"/>
          </a:xfrm>
          <a:prstGeom prst="rect">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52" name="Text 20"/>
          <p:cNvSpPr/>
          <p:nvPr/>
        </p:nvSpPr>
        <p:spPr>
          <a:xfrm>
            <a:off x="4434840" y="1325880"/>
            <a:ext cx="4343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Calibri"/>
                <a:ea typeface="Calibri"/>
              </a:rPr>
              <a:t>DECISION</a:t>
            </a:r>
            <a:endParaRPr lang="en-GB" sz="1100" b="0" strike="noStrike" spc="-1">
              <a:solidFill>
                <a:srgbClr val="000000"/>
              </a:solidFill>
              <a:latin typeface="Arial"/>
            </a:endParaRPr>
          </a:p>
        </p:txBody>
      </p:sp>
      <p:sp>
        <p:nvSpPr>
          <p:cNvPr id="353" name="Text 21"/>
          <p:cNvSpPr/>
          <p:nvPr/>
        </p:nvSpPr>
        <p:spPr>
          <a:xfrm>
            <a:off x="4434840" y="1783080"/>
            <a:ext cx="4343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800" b="1" strike="noStrike" spc="-1">
                <a:solidFill>
                  <a:srgbClr val="B32424"/>
                </a:solidFill>
                <a:latin typeface="Trebuchet MS"/>
                <a:ea typeface="Trebuchet MS"/>
              </a:rPr>
              <a:t>REJECT</a:t>
            </a:r>
            <a:endParaRPr lang="en-GB" sz="4800" b="0" strike="noStrike" spc="-1">
              <a:solidFill>
                <a:srgbClr val="000000"/>
              </a:solidFill>
              <a:latin typeface="Arial"/>
            </a:endParaRPr>
          </a:p>
        </p:txBody>
      </p:sp>
      <p:sp>
        <p:nvSpPr>
          <p:cNvPr id="354" name="Text 22"/>
          <p:cNvSpPr/>
          <p:nvPr/>
        </p:nvSpPr>
        <p:spPr>
          <a:xfrm>
            <a:off x="4434840" y="2606040"/>
            <a:ext cx="4343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B32424"/>
                </a:solidFill>
                <a:latin typeface="Calibri"/>
                <a:ea typeface="Calibri"/>
              </a:rPr>
              <a:t>Risk: CRITICAL</a:t>
            </a:r>
            <a:endParaRPr lang="en-GB" sz="1400" b="0" strike="noStrike" spc="-1">
              <a:solidFill>
                <a:srgbClr val="000000"/>
              </a:solidFill>
              <a:latin typeface="Arial"/>
            </a:endParaRPr>
          </a:p>
        </p:txBody>
      </p:sp>
      <p:sp>
        <p:nvSpPr>
          <p:cNvPr id="355" name="Text 23"/>
          <p:cNvSpPr/>
          <p:nvPr/>
        </p:nvSpPr>
        <p:spPr>
          <a:xfrm>
            <a:off x="4526280" y="3017520"/>
            <a:ext cx="4160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1D2D44"/>
                </a:solidFill>
                <a:latin typeface="Calibri"/>
                <a:ea typeface="Calibri"/>
              </a:rPr>
              <a:t>Required actions:</a:t>
            </a:r>
            <a:endParaRPr lang="en-GB" sz="1000" b="0" strike="noStrike" spc="-1">
              <a:solidFill>
                <a:srgbClr val="000000"/>
              </a:solidFill>
              <a:latin typeface="Arial"/>
            </a:endParaRPr>
          </a:p>
        </p:txBody>
      </p:sp>
      <p:sp>
        <p:nvSpPr>
          <p:cNvPr id="356" name="Text 24"/>
          <p:cNvSpPr/>
          <p:nvPr/>
        </p:nvSpPr>
        <p:spPr>
          <a:xfrm>
            <a:off x="4526280" y="3291840"/>
            <a:ext cx="41601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0000"/>
              </a:lnSpc>
              <a:buClr>
                <a:srgbClr val="1D2D44"/>
              </a:buClr>
              <a:buFont typeface="Symbol" charset="2"/>
              <a:buChar char=""/>
            </a:pPr>
            <a:r>
              <a:rPr lang="en-US" sz="1000" b="0" strike="noStrike" spc="-1">
                <a:solidFill>
                  <a:srgbClr val="1D2D44"/>
                </a:solidFill>
                <a:latin typeface="Calibri"/>
                <a:ea typeface="Calibri"/>
              </a:rPr>
              <a:t>Hide the offer from recommendations</a:t>
            </a:r>
            <a:endParaRPr lang="en-GB" sz="1000" b="0" strike="noStrike" spc="-1">
              <a:solidFill>
                <a:srgbClr val="000000"/>
              </a:solidFill>
              <a:latin typeface="Arial"/>
            </a:endParaRPr>
          </a:p>
          <a:p>
            <a:pPr marL="343080" indent="-343080" defTabSz="914400">
              <a:lnSpc>
                <a:spcPct val="100000"/>
              </a:lnSpc>
              <a:buClr>
                <a:srgbClr val="1D2D44"/>
              </a:buClr>
              <a:buFont typeface="Symbol" charset="2"/>
              <a:buChar char=""/>
            </a:pPr>
            <a:r>
              <a:rPr lang="en-US" sz="1000" b="0" strike="noStrike" spc="-1">
                <a:solidFill>
                  <a:srgbClr val="1D2D44"/>
                </a:solidFill>
                <a:latin typeface="Calibri"/>
                <a:ea typeface="Calibri"/>
              </a:rPr>
              <a:t>Notify the responsible for the discriminatory field</a:t>
            </a:r>
            <a:endParaRPr lang="en-GB" sz="1000" b="0" strike="noStrike" spc="-1">
              <a:solidFill>
                <a:srgbClr val="000000"/>
              </a:solidFill>
              <a:latin typeface="Arial"/>
            </a:endParaRPr>
          </a:p>
          <a:p>
            <a:pPr marL="343080" indent="-343080" defTabSz="914400">
              <a:lnSpc>
                <a:spcPct val="100000"/>
              </a:lnSpc>
              <a:buClr>
                <a:srgbClr val="1D2D44"/>
              </a:buClr>
              <a:buFont typeface="Symbol" charset="2"/>
              <a:buChar char=""/>
            </a:pPr>
            <a:r>
              <a:rPr lang="en-US" sz="1000" b="0" strike="noStrike" spc="-1">
                <a:solidFill>
                  <a:srgbClr val="1D2D44"/>
                </a:solidFill>
                <a:latin typeface="Calibri"/>
                <a:ea typeface="Calibri"/>
              </a:rPr>
              <a:t>Escalate to compliance officer</a:t>
            </a:r>
            <a:endParaRPr lang="en-GB" sz="10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D2D44"/>
        </a:solidFill>
        <a:effectLst/>
      </p:bgPr>
    </p:bg>
    <p:spTree>
      <p:nvGrpSpPr>
        <p:cNvPr id="1" name=""/>
        <p:cNvGrpSpPr/>
        <p:nvPr/>
      </p:nvGrpSpPr>
      <p:grpSpPr>
        <a:xfrm>
          <a:off x="0" y="0"/>
          <a:ext cx="0" cy="0"/>
          <a:chOff x="0" y="0"/>
          <a:chExt cx="0" cy="0"/>
        </a:xfrm>
      </p:grpSpPr>
      <p:sp>
        <p:nvSpPr>
          <p:cNvPr id="357" name="Shape 0"/>
          <p:cNvSpPr/>
          <p:nvPr/>
        </p:nvSpPr>
        <p:spPr>
          <a:xfrm>
            <a:off x="0" y="0"/>
            <a:ext cx="200880" cy="5143320"/>
          </a:xfrm>
          <a:prstGeom prst="rect">
            <a:avLst/>
          </a:prstGeom>
          <a:solidFill>
            <a:srgbClr val="9B59B6"/>
          </a:solidFill>
          <a:ln w="12700">
            <a:solidFill>
              <a:srgbClr val="9B59B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58" name="Text 1"/>
          <p:cNvSpPr/>
          <p:nvPr/>
        </p:nvSpPr>
        <p:spPr>
          <a:xfrm>
            <a:off x="457200" y="1371600"/>
            <a:ext cx="82292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200" b="1" strike="noStrike" spc="-1">
                <a:solidFill>
                  <a:srgbClr val="FFFFFF"/>
                </a:solidFill>
                <a:latin typeface="Trebuchet MS"/>
                <a:ea typeface="Trebuchet MS"/>
              </a:rPr>
              <a:t>Live Demo</a:t>
            </a:r>
            <a:endParaRPr lang="en-GB" sz="5200" b="0" strike="noStrike" spc="-1">
              <a:solidFill>
                <a:srgbClr val="FFFFFF"/>
              </a:solidFill>
              <a:latin typeface="Arial"/>
            </a:endParaRPr>
          </a:p>
        </p:txBody>
      </p:sp>
      <p:sp>
        <p:nvSpPr>
          <p:cNvPr id="359" name="Text 2"/>
          <p:cNvSpPr/>
          <p:nvPr/>
        </p:nvSpPr>
        <p:spPr>
          <a:xfrm>
            <a:off x="457200" y="2578680"/>
            <a:ext cx="8320680" cy="242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35000"/>
              </a:lnSpc>
              <a:tabLst>
                <a:tab pos="0" algn="l"/>
              </a:tabLst>
            </a:pPr>
            <a:r>
              <a:rPr lang="en-US" sz="1200" b="0" strike="noStrike" spc="-1">
                <a:solidFill>
                  <a:srgbClr val="CADCFC"/>
                </a:solidFill>
                <a:latin typeface="Calibri"/>
                <a:ea typeface="Calibri"/>
              </a:rPr>
              <a:t>1  Start DaaS (:8081) · EaaS (:8082) · Client (:8080)</a:t>
            </a:r>
            <a:endParaRPr lang="en-GB" sz="1200" b="0" strike="noStrike" spc="-1">
              <a:solidFill>
                <a:srgbClr val="FFFFFF"/>
              </a:solidFill>
              <a:latin typeface="Arial"/>
            </a:endParaRPr>
          </a:p>
          <a:p>
            <a:pPr defTabSz="914400">
              <a:lnSpc>
                <a:spcPct val="135000"/>
              </a:lnSpc>
              <a:tabLst>
                <a:tab pos="0" algn="l"/>
              </a:tabLst>
            </a:pPr>
            <a:r>
              <a:rPr lang="en-US" sz="1200" b="0" strike="noStrike" spc="-1">
                <a:solidFill>
                  <a:srgbClr val="CADCFC"/>
                </a:solidFill>
                <a:latin typeface="Calibri"/>
                <a:ea typeface="Calibri"/>
              </a:rPr>
              <a:t>2  Browse Swagger UI → localhost:8081/swagger-ui.html  (explore all CRUD endpoints)</a:t>
            </a:r>
            <a:endParaRPr lang="en-GB" sz="1200" b="0" strike="noStrike" spc="-1">
              <a:solidFill>
                <a:srgbClr val="FFFFFF"/>
              </a:solidFill>
              <a:latin typeface="Arial"/>
            </a:endParaRPr>
          </a:p>
          <a:p>
            <a:pPr defTabSz="914400">
              <a:lnSpc>
                <a:spcPct val="135000"/>
              </a:lnSpc>
              <a:tabLst>
                <a:tab pos="0" algn="l"/>
              </a:tabLst>
            </a:pPr>
            <a:r>
              <a:rPr lang="en-US" sz="1200" b="0" strike="noStrike" spc="-1">
                <a:solidFill>
                  <a:srgbClr val="CADCFC"/>
                </a:solidFill>
                <a:latin typeface="Calibri"/>
                <a:ea typeface="Calibri"/>
              </a:rPr>
              <a:t>3  Create a new candidate via the web form (CRUD in action)</a:t>
            </a:r>
            <a:endParaRPr lang="en-GB" sz="1200" b="0" strike="noStrike" spc="-1">
              <a:solidFill>
                <a:srgbClr val="FFFFFF"/>
              </a:solidFill>
              <a:latin typeface="Arial"/>
            </a:endParaRPr>
          </a:p>
          <a:p>
            <a:pPr defTabSz="914400">
              <a:lnSpc>
                <a:spcPct val="135000"/>
              </a:lnSpc>
              <a:tabLst>
                <a:tab pos="0" algn="l"/>
              </a:tabLst>
            </a:pPr>
            <a:r>
              <a:rPr lang="en-US" sz="1200" b="0" strike="noStrike" spc="-1">
                <a:solidFill>
                  <a:srgbClr val="CADCFC"/>
                </a:solidFill>
                <a:latin typeface="Calibri"/>
                <a:ea typeface="Calibri"/>
              </a:rPr>
              <a:t>4  Select cand-001 (Alice Bianchi) → view match recommendations</a:t>
            </a:r>
            <a:endParaRPr lang="en-GB" sz="1200" b="0" strike="noStrike" spc="-1">
              <a:solidFill>
                <a:srgbClr val="FFFFFF"/>
              </a:solidFill>
              <a:latin typeface="Arial"/>
            </a:endParaRPr>
          </a:p>
          <a:p>
            <a:pPr defTabSz="914400">
              <a:lnSpc>
                <a:spcPct val="135000"/>
              </a:lnSpc>
              <a:tabLst>
                <a:tab pos="0" algn="l"/>
              </a:tabLst>
            </a:pPr>
            <a:r>
              <a:rPr lang="en-US" sz="1200" b="0" strike="noStrike" spc="-1">
                <a:solidFill>
                  <a:srgbClr val="CADCFC"/>
                </a:solidFill>
                <a:latin typeface="Calibri"/>
                <a:ea typeface="Calibri"/>
              </a:rPr>
              <a:t>5  Evaluate job-001 → PROCEED</a:t>
            </a:r>
            <a:endParaRPr lang="en-GB" sz="1200" b="0" strike="noStrike" spc="-1">
              <a:solidFill>
                <a:srgbClr val="FFFFFF"/>
              </a:solidFill>
              <a:latin typeface="Arial"/>
            </a:endParaRPr>
          </a:p>
          <a:p>
            <a:pPr defTabSz="914400">
              <a:lnSpc>
                <a:spcPct val="135000"/>
              </a:lnSpc>
              <a:tabLst>
                <a:tab pos="0" algn="l"/>
              </a:tabLst>
            </a:pPr>
            <a:r>
              <a:rPr lang="en-US" sz="1200" b="0" strike="noStrike" spc="-1">
                <a:solidFill>
                  <a:srgbClr val="CADCFC"/>
                </a:solidFill>
                <a:latin typeface="Calibri"/>
                <a:ea typeface="Calibri"/>
              </a:rPr>
              <a:t>6  Evaluate job-003 → REJECT  (ageRangeMax + third-party-scraper)</a:t>
            </a:r>
            <a:endParaRPr lang="en-GB" sz="1200" b="0" strike="noStrike" spc="-1">
              <a:solidFill>
                <a:srgbClr val="FFFFFF"/>
              </a:solidFill>
              <a:latin typeface="Arial"/>
            </a:endParaRPr>
          </a:p>
          <a:p>
            <a:pPr defTabSz="914400">
              <a:lnSpc>
                <a:spcPct val="135000"/>
              </a:lnSpc>
              <a:tabLst>
                <a:tab pos="0" algn="l"/>
              </a:tabLst>
            </a:pPr>
            <a:r>
              <a:rPr lang="en-US" sz="1200" b="0" strike="noStrike" spc="-1">
                <a:solidFill>
                  <a:srgbClr val="CADCFC"/>
                </a:solidFill>
                <a:latin typeface="Calibri"/>
                <a:ea typeface="Calibri"/>
              </a:rPr>
              <a:t>7  Open /api/audit → verify AuditRecord · check JSONL on disk</a:t>
            </a:r>
            <a:endParaRPr lang="en-GB" sz="1200" b="0" strike="noStrike" spc="-1">
              <a:solidFill>
                <a:srgbClr val="FFFFFF"/>
              </a:solidFill>
              <a:latin typeface="Arial"/>
            </a:endParaRPr>
          </a:p>
          <a:p>
            <a:pPr defTabSz="914400">
              <a:lnSpc>
                <a:spcPct val="135000"/>
              </a:lnSpc>
              <a:tabLst>
                <a:tab pos="0" algn="l"/>
              </a:tabLst>
            </a:pPr>
            <a:r>
              <a:rPr lang="en-US" sz="1200" b="0" strike="noStrike" spc="-1">
                <a:solidFill>
                  <a:srgbClr val="CADCFC"/>
                </a:solidFill>
                <a:latin typeface="Calibri"/>
                <a:ea typeface="Calibri"/>
              </a:rPr>
              <a:t>8  Edit a JSON policy file → restart EaaS → rerun evaluation</a:t>
            </a:r>
            <a:endParaRPr lang="en-GB" sz="1200" b="0" strike="noStrike" spc="-1">
              <a:solidFill>
                <a:srgbClr val="FFFFFF"/>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0" name="Shape 0"/>
          <p:cNvSpPr/>
          <p:nvPr/>
        </p:nvSpPr>
        <p:spPr>
          <a:xfrm>
            <a:off x="365760" y="201240"/>
            <a:ext cx="1737000" cy="255600"/>
          </a:xfrm>
          <a:prstGeom prst="roundRect">
            <a:avLst>
              <a:gd name="adj" fmla="val 14286"/>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61"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CRITICAL REFLECTION</a:t>
            </a:r>
            <a:endParaRPr lang="en-GB" sz="800" b="0" strike="noStrike" spc="-1">
              <a:solidFill>
                <a:srgbClr val="000000"/>
              </a:solidFill>
              <a:latin typeface="Arial"/>
            </a:endParaRPr>
          </a:p>
        </p:txBody>
      </p:sp>
      <p:sp>
        <p:nvSpPr>
          <p:cNvPr id="362"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System Limitations</a:t>
            </a:r>
            <a:endParaRPr lang="en-GB" sz="2600" b="0" strike="noStrike" spc="-1">
              <a:solidFill>
                <a:srgbClr val="000000"/>
              </a:solidFill>
              <a:latin typeface="Arial"/>
            </a:endParaRPr>
          </a:p>
        </p:txBody>
      </p:sp>
      <p:sp>
        <p:nvSpPr>
          <p:cNvPr id="363"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364"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20</a:t>
            </a:r>
            <a:endParaRPr lang="en-GB" sz="900" b="0" strike="noStrike" spc="-1">
              <a:solidFill>
                <a:srgbClr val="000000"/>
              </a:solidFill>
              <a:latin typeface="Arial"/>
            </a:endParaRPr>
          </a:p>
        </p:txBody>
      </p:sp>
      <p:sp>
        <p:nvSpPr>
          <p:cNvPr id="365" name="Shape 5"/>
          <p:cNvSpPr/>
          <p:nvPr/>
        </p:nvSpPr>
        <p:spPr>
          <a:xfrm>
            <a:off x="365760" y="1325880"/>
            <a:ext cx="4160160" cy="159984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66" name="Shape 6"/>
          <p:cNvSpPr/>
          <p:nvPr/>
        </p:nvSpPr>
        <p:spPr>
          <a:xfrm>
            <a:off x="365760" y="1325880"/>
            <a:ext cx="200880" cy="1599840"/>
          </a:xfrm>
          <a:prstGeom prst="rect">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67" name="Text 7"/>
          <p:cNvSpPr/>
          <p:nvPr/>
        </p:nvSpPr>
        <p:spPr>
          <a:xfrm>
            <a:off x="658440" y="1417320"/>
            <a:ext cx="3748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Indirect proxies not detected</a:t>
            </a:r>
            <a:endParaRPr lang="en-GB" sz="1200" b="0" strike="noStrike" spc="-1">
              <a:solidFill>
                <a:srgbClr val="000000"/>
              </a:solidFill>
              <a:latin typeface="Arial"/>
            </a:endParaRPr>
          </a:p>
        </p:txBody>
      </p:sp>
      <p:sp>
        <p:nvSpPr>
          <p:cNvPr id="368" name="Text 8"/>
          <p:cNvSpPr/>
          <p:nvPr/>
        </p:nvSpPr>
        <p:spPr>
          <a:xfrm>
            <a:off x="658440" y="1783080"/>
            <a:ext cx="374868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The system checks explicit fields (age, gender, nationality). Subtle proxies like postcode, university, or name are not intercepted.</a:t>
            </a:r>
            <a:endParaRPr lang="en-GB" sz="1100" b="0" strike="noStrike" spc="-1">
              <a:solidFill>
                <a:srgbClr val="000000"/>
              </a:solidFill>
              <a:latin typeface="Arial"/>
            </a:endParaRPr>
          </a:p>
        </p:txBody>
      </p:sp>
      <p:sp>
        <p:nvSpPr>
          <p:cNvPr id="369" name="Shape 9"/>
          <p:cNvSpPr/>
          <p:nvPr/>
        </p:nvSpPr>
        <p:spPr>
          <a:xfrm>
            <a:off x="365760" y="3063240"/>
            <a:ext cx="4160160" cy="159984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70" name="Shape 10"/>
          <p:cNvSpPr/>
          <p:nvPr/>
        </p:nvSpPr>
        <p:spPr>
          <a:xfrm>
            <a:off x="365760" y="3063240"/>
            <a:ext cx="200880" cy="1599840"/>
          </a:xfrm>
          <a:prstGeom prst="rect">
            <a:avLst/>
          </a:prstGeom>
          <a:solidFill>
            <a:srgbClr val="C25A00"/>
          </a:solidFill>
          <a:ln w="12700">
            <a:solidFill>
              <a:srgbClr val="C25A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71" name="Text 11"/>
          <p:cNvSpPr/>
          <p:nvPr/>
        </p:nvSpPr>
        <p:spPr>
          <a:xfrm>
            <a:off x="658440" y="3154680"/>
            <a:ext cx="3748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Synthetic dataset</a:t>
            </a:r>
            <a:endParaRPr lang="en-GB" sz="1200" b="0" strike="noStrike" spc="-1">
              <a:solidFill>
                <a:srgbClr val="000000"/>
              </a:solidFill>
              <a:latin typeface="Arial"/>
            </a:endParaRPr>
          </a:p>
        </p:txBody>
      </p:sp>
      <p:sp>
        <p:nvSpPr>
          <p:cNvPr id="372" name="Text 12"/>
          <p:cNvSpPr/>
          <p:nvPr/>
        </p:nvSpPr>
        <p:spPr>
          <a:xfrm>
            <a:off x="658440" y="3520440"/>
            <a:ext cx="374868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Data is artificially generated. In production, GDPR consent management, encryption, and right-to-explanation flows would be required.</a:t>
            </a:r>
            <a:endParaRPr lang="en-GB" sz="1100" b="0" strike="noStrike" spc="-1">
              <a:solidFill>
                <a:srgbClr val="000000"/>
              </a:solidFill>
              <a:latin typeface="Arial"/>
            </a:endParaRPr>
          </a:p>
        </p:txBody>
      </p:sp>
      <p:sp>
        <p:nvSpPr>
          <p:cNvPr id="373" name="Shape 13"/>
          <p:cNvSpPr/>
          <p:nvPr/>
        </p:nvSpPr>
        <p:spPr>
          <a:xfrm>
            <a:off x="4709160" y="1325880"/>
            <a:ext cx="4160160" cy="159984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74" name="Shape 14"/>
          <p:cNvSpPr/>
          <p:nvPr/>
        </p:nvSpPr>
        <p:spPr>
          <a:xfrm>
            <a:off x="4709160" y="1325880"/>
            <a:ext cx="200880" cy="1599840"/>
          </a:xfrm>
          <a:prstGeom prst="rect">
            <a:avLst/>
          </a:prstGeom>
          <a:solidFill>
            <a:srgbClr val="D8A01A"/>
          </a:solidFill>
          <a:ln w="12700">
            <a:solidFill>
              <a:srgbClr val="D8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75" name="Text 15"/>
          <p:cNvSpPr/>
          <p:nvPr/>
        </p:nvSpPr>
        <p:spPr>
          <a:xfrm>
            <a:off x="5001840" y="1417320"/>
            <a:ext cx="3748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Policies written in Java</a:t>
            </a:r>
            <a:endParaRPr lang="en-GB" sz="1200" b="0" strike="noStrike" spc="-1">
              <a:solidFill>
                <a:srgbClr val="000000"/>
              </a:solidFill>
              <a:latin typeface="Arial"/>
            </a:endParaRPr>
          </a:p>
        </p:txBody>
      </p:sp>
      <p:sp>
        <p:nvSpPr>
          <p:cNvPr id="376" name="Text 16"/>
          <p:cNvSpPr/>
          <p:nvPr/>
        </p:nvSpPr>
        <p:spPr>
          <a:xfrm>
            <a:off x="5001840" y="1783080"/>
            <a:ext cx="374868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JSON rules declare severity and parameters, but the logic is Java code. Changing behavior requires a developer.</a:t>
            </a:r>
            <a:endParaRPr lang="en-GB" sz="1100" b="0" strike="noStrike" spc="-1">
              <a:solidFill>
                <a:srgbClr val="000000"/>
              </a:solidFill>
              <a:latin typeface="Arial"/>
            </a:endParaRPr>
          </a:p>
        </p:txBody>
      </p:sp>
      <p:sp>
        <p:nvSpPr>
          <p:cNvPr id="377" name="Shape 17"/>
          <p:cNvSpPr/>
          <p:nvPr/>
        </p:nvSpPr>
        <p:spPr>
          <a:xfrm>
            <a:off x="4709160" y="3063240"/>
            <a:ext cx="4160160" cy="1599840"/>
          </a:xfrm>
          <a:prstGeom prst="rect">
            <a:avLst/>
          </a:prstGeom>
          <a:solidFill>
            <a:srgbClr val="EEF3FF"/>
          </a:solidFill>
          <a:ln w="12700">
            <a:solidFill>
              <a:srgbClr val="D4DCF0"/>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78" name="Shape 18"/>
          <p:cNvSpPr/>
          <p:nvPr/>
        </p:nvSpPr>
        <p:spPr>
          <a:xfrm>
            <a:off x="4709160" y="3063240"/>
            <a:ext cx="200880" cy="1599840"/>
          </a:xfrm>
          <a:prstGeom prst="rect">
            <a:avLst/>
          </a:prstGeom>
          <a:solidFill>
            <a:srgbClr val="D8A01A"/>
          </a:solidFill>
          <a:ln w="12700">
            <a:solidFill>
              <a:srgbClr val="D8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79" name="Text 19"/>
          <p:cNvSpPr/>
          <p:nvPr/>
        </p:nvSpPr>
        <p:spPr>
          <a:xfrm>
            <a:off x="5001840" y="3154680"/>
            <a:ext cx="3748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D2D44"/>
                </a:solidFill>
                <a:latin typeface="Trebuchet MS"/>
                <a:ea typeface="Trebuchet MS"/>
              </a:rPr>
              <a:t>No aggregate fairness metrics</a:t>
            </a:r>
            <a:endParaRPr lang="en-GB" sz="1200" b="0" strike="noStrike" spc="-1">
              <a:solidFill>
                <a:srgbClr val="000000"/>
              </a:solidFill>
              <a:latin typeface="Arial"/>
            </a:endParaRPr>
          </a:p>
        </p:txBody>
      </p:sp>
      <p:sp>
        <p:nvSpPr>
          <p:cNvPr id="380" name="Text 20"/>
          <p:cNvSpPr/>
          <p:nvPr/>
        </p:nvSpPr>
        <p:spPr>
          <a:xfrm>
            <a:off x="5001840" y="3520440"/>
            <a:ext cx="374868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Each offer is checked individually, but no systematic disparities across candidate groups are measured over time.</a:t>
            </a:r>
            <a:endParaRPr lang="en-GB" sz="1100" b="0" strike="noStrike" spc="-1">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1" name="Shape 0"/>
          <p:cNvSpPr/>
          <p:nvPr/>
        </p:nvSpPr>
        <p:spPr>
          <a:xfrm>
            <a:off x="365760" y="201240"/>
            <a:ext cx="1737000" cy="255600"/>
          </a:xfrm>
          <a:prstGeom prst="roundRect">
            <a:avLst>
              <a:gd name="adj" fmla="val 14286"/>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82" name="Text 1"/>
          <p:cNvSpPr/>
          <p:nvPr/>
        </p:nvSpPr>
        <p:spPr>
          <a:xfrm>
            <a:off x="365760" y="20124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FFFFF"/>
                </a:solidFill>
                <a:latin typeface="Calibri"/>
                <a:ea typeface="Calibri"/>
              </a:rPr>
              <a:t>CRITICAL REFLECTION</a:t>
            </a:r>
            <a:endParaRPr lang="en-GB" sz="800" b="0" strike="noStrike" spc="-1">
              <a:solidFill>
                <a:srgbClr val="000000"/>
              </a:solidFill>
              <a:latin typeface="Arial"/>
            </a:endParaRPr>
          </a:p>
        </p:txBody>
      </p:sp>
      <p:sp>
        <p:nvSpPr>
          <p:cNvPr id="383" name="Text 2"/>
          <p:cNvSpPr/>
          <p:nvPr/>
        </p:nvSpPr>
        <p:spPr>
          <a:xfrm>
            <a:off x="365760" y="567000"/>
            <a:ext cx="841212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1D2D44"/>
                </a:solidFill>
                <a:latin typeface="Trebuchet MS"/>
                <a:ea typeface="Trebuchet MS"/>
              </a:rPr>
              <a:t>What Should NOT Be Decided Automatically</a:t>
            </a:r>
            <a:endParaRPr lang="en-GB" sz="2600" b="0" strike="noStrike" spc="-1">
              <a:solidFill>
                <a:srgbClr val="000000"/>
              </a:solidFill>
              <a:latin typeface="Arial"/>
            </a:endParaRPr>
          </a:p>
        </p:txBody>
      </p:sp>
      <p:sp>
        <p:nvSpPr>
          <p:cNvPr id="384" name="Shape 3"/>
          <p:cNvSpPr/>
          <p:nvPr/>
        </p:nvSpPr>
        <p:spPr>
          <a:xfrm>
            <a:off x="365760" y="1188720"/>
            <a:ext cx="8412120" cy="2700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it-IT" sz="1800" b="0" strike="noStrike" spc="-1">
              <a:solidFill>
                <a:schemeClr val="dk1"/>
              </a:solidFill>
              <a:latin typeface="Calibri"/>
            </a:endParaRPr>
          </a:p>
        </p:txBody>
      </p:sp>
      <p:sp>
        <p:nvSpPr>
          <p:cNvPr id="385" name="Text 4"/>
          <p:cNvSpPr/>
          <p:nvPr/>
        </p:nvSpPr>
        <p:spPr>
          <a:xfrm>
            <a:off x="8686800" y="4846320"/>
            <a:ext cx="365400" cy="18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900" b="0" strike="noStrike" spc="-1">
                <a:solidFill>
                  <a:srgbClr val="6B7280"/>
                </a:solidFill>
                <a:latin typeface="Calibri"/>
                <a:ea typeface="Calibri"/>
              </a:rPr>
              <a:t>21</a:t>
            </a:r>
            <a:endParaRPr lang="en-GB" sz="900" b="0" strike="noStrike" spc="-1">
              <a:solidFill>
                <a:srgbClr val="000000"/>
              </a:solidFill>
              <a:latin typeface="Arial"/>
            </a:endParaRPr>
          </a:p>
        </p:txBody>
      </p:sp>
      <p:sp>
        <p:nvSpPr>
          <p:cNvPr id="386" name="Shape 5"/>
          <p:cNvSpPr/>
          <p:nvPr/>
        </p:nvSpPr>
        <p:spPr>
          <a:xfrm>
            <a:off x="365760" y="1417320"/>
            <a:ext cx="411120" cy="411120"/>
          </a:xfrm>
          <a:prstGeom prst="ellipse">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87" name="Text 6"/>
          <p:cNvSpPr/>
          <p:nvPr/>
        </p:nvSpPr>
        <p:spPr>
          <a:xfrm>
            <a:off x="365760" y="1417320"/>
            <a:ext cx="411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a:t>
            </a:r>
            <a:endParaRPr lang="en-GB" sz="1400" b="0" strike="noStrike" spc="-1">
              <a:solidFill>
                <a:srgbClr val="000000"/>
              </a:solidFill>
              <a:latin typeface="Arial"/>
            </a:endParaRPr>
          </a:p>
        </p:txBody>
      </p:sp>
      <p:sp>
        <p:nvSpPr>
          <p:cNvPr id="388" name="Text 7"/>
          <p:cNvSpPr/>
          <p:nvPr/>
        </p:nvSpPr>
        <p:spPr>
          <a:xfrm>
            <a:off x="914400" y="1325880"/>
            <a:ext cx="78634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Final candidate selection</a:t>
            </a:r>
            <a:endParaRPr lang="en-GB" sz="1300" b="0" strike="noStrike" spc="-1">
              <a:solidFill>
                <a:srgbClr val="000000"/>
              </a:solidFill>
              <a:latin typeface="Arial"/>
            </a:endParaRPr>
          </a:p>
        </p:txBody>
      </p:sp>
      <p:sp>
        <p:nvSpPr>
          <p:cNvPr id="389" name="Text 8"/>
          <p:cNvSpPr/>
          <p:nvPr/>
        </p:nvSpPr>
        <p:spPr>
          <a:xfrm>
            <a:off x="914400" y="1673280"/>
            <a:ext cx="7863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The system recommends and evaluates ethically, but the hiring decision must always be made by a human.</a:t>
            </a:r>
            <a:endParaRPr lang="en-GB" sz="1100" b="0" strike="noStrike" spc="-1">
              <a:solidFill>
                <a:srgbClr val="000000"/>
              </a:solidFill>
              <a:latin typeface="Arial"/>
            </a:endParaRPr>
          </a:p>
        </p:txBody>
      </p:sp>
      <p:sp>
        <p:nvSpPr>
          <p:cNvPr id="390" name="Shape 9"/>
          <p:cNvSpPr/>
          <p:nvPr/>
        </p:nvSpPr>
        <p:spPr>
          <a:xfrm>
            <a:off x="365760" y="2176200"/>
            <a:ext cx="8412480" cy="360"/>
          </a:xfrm>
          <a:prstGeom prst="line">
            <a:avLst/>
          </a:prstGeom>
          <a:ln w="6350">
            <a:solidFill>
              <a:srgbClr val="E5E7EB"/>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91" name="Shape 10"/>
          <p:cNvSpPr/>
          <p:nvPr/>
        </p:nvSpPr>
        <p:spPr>
          <a:xfrm>
            <a:off x="365760" y="2304360"/>
            <a:ext cx="411120" cy="411120"/>
          </a:xfrm>
          <a:prstGeom prst="ellipse">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92" name="Text 11"/>
          <p:cNvSpPr/>
          <p:nvPr/>
        </p:nvSpPr>
        <p:spPr>
          <a:xfrm>
            <a:off x="365760" y="2304360"/>
            <a:ext cx="411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a:t>
            </a:r>
            <a:endParaRPr lang="en-GB" sz="1400" b="0" strike="noStrike" spc="-1">
              <a:solidFill>
                <a:srgbClr val="000000"/>
              </a:solidFill>
              <a:latin typeface="Arial"/>
            </a:endParaRPr>
          </a:p>
        </p:txBody>
      </p:sp>
      <p:sp>
        <p:nvSpPr>
          <p:cNvPr id="393" name="Text 12"/>
          <p:cNvSpPr/>
          <p:nvPr/>
        </p:nvSpPr>
        <p:spPr>
          <a:xfrm>
            <a:off x="914400" y="2212920"/>
            <a:ext cx="78634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Permanent exclusion of an offer</a:t>
            </a:r>
            <a:endParaRPr lang="en-GB" sz="1300" b="0" strike="noStrike" spc="-1">
              <a:solidFill>
                <a:srgbClr val="000000"/>
              </a:solidFill>
              <a:latin typeface="Arial"/>
            </a:endParaRPr>
          </a:p>
        </p:txBody>
      </p:sp>
      <p:sp>
        <p:nvSpPr>
          <p:cNvPr id="394" name="Text 13"/>
          <p:cNvSpPr/>
          <p:nvPr/>
        </p:nvSpPr>
        <p:spPr>
          <a:xfrm>
            <a:off x="914400" y="2560320"/>
            <a:ext cx="7863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REJECT blocks the recommendation, not the offer from the system. Human review is required before permanently removing it.</a:t>
            </a:r>
            <a:endParaRPr lang="en-GB" sz="1100" b="0" strike="noStrike" spc="-1">
              <a:solidFill>
                <a:srgbClr val="000000"/>
              </a:solidFill>
              <a:latin typeface="Arial"/>
            </a:endParaRPr>
          </a:p>
        </p:txBody>
      </p:sp>
      <p:sp>
        <p:nvSpPr>
          <p:cNvPr id="395" name="Shape 14"/>
          <p:cNvSpPr/>
          <p:nvPr/>
        </p:nvSpPr>
        <p:spPr>
          <a:xfrm>
            <a:off x="365760" y="3063240"/>
            <a:ext cx="8412480" cy="360"/>
          </a:xfrm>
          <a:prstGeom prst="line">
            <a:avLst/>
          </a:prstGeom>
          <a:ln w="6350">
            <a:solidFill>
              <a:srgbClr val="E5E7EB"/>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396" name="Shape 15"/>
          <p:cNvSpPr/>
          <p:nvPr/>
        </p:nvSpPr>
        <p:spPr>
          <a:xfrm>
            <a:off x="365760" y="3191400"/>
            <a:ext cx="411120" cy="411120"/>
          </a:xfrm>
          <a:prstGeom prst="ellipse">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397" name="Text 16"/>
          <p:cNvSpPr/>
          <p:nvPr/>
        </p:nvSpPr>
        <p:spPr>
          <a:xfrm>
            <a:off x="365760" y="3191400"/>
            <a:ext cx="411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a:t>
            </a:r>
            <a:endParaRPr lang="en-GB" sz="1400" b="0" strike="noStrike" spc="-1">
              <a:solidFill>
                <a:srgbClr val="000000"/>
              </a:solidFill>
              <a:latin typeface="Arial"/>
            </a:endParaRPr>
          </a:p>
        </p:txBody>
      </p:sp>
      <p:sp>
        <p:nvSpPr>
          <p:cNvPr id="398" name="Text 17"/>
          <p:cNvSpPr/>
          <p:nvPr/>
        </p:nvSpPr>
        <p:spPr>
          <a:xfrm>
            <a:off x="914400" y="3099960"/>
            <a:ext cx="78634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Interpreting complex legal contexts</a:t>
            </a:r>
            <a:endParaRPr lang="en-GB" sz="1300" b="0" strike="noStrike" spc="-1">
              <a:solidFill>
                <a:srgbClr val="000000"/>
              </a:solidFill>
              <a:latin typeface="Arial"/>
            </a:endParaRPr>
          </a:p>
        </p:txBody>
      </p:sp>
      <p:sp>
        <p:nvSpPr>
          <p:cNvPr id="399" name="Text 18"/>
          <p:cNvSpPr/>
          <p:nvPr/>
        </p:nvSpPr>
        <p:spPr>
          <a:xfrm>
            <a:off x="914400" y="3447360"/>
            <a:ext cx="7863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A nationalityReq may be legal (e.g. national security requirements). EaaS lacks context: ESCALATE → human.</a:t>
            </a:r>
            <a:endParaRPr lang="en-GB" sz="1100" b="0" strike="noStrike" spc="-1">
              <a:solidFill>
                <a:srgbClr val="000000"/>
              </a:solidFill>
              <a:latin typeface="Arial"/>
            </a:endParaRPr>
          </a:p>
        </p:txBody>
      </p:sp>
      <p:sp>
        <p:nvSpPr>
          <p:cNvPr id="400" name="Shape 19"/>
          <p:cNvSpPr/>
          <p:nvPr/>
        </p:nvSpPr>
        <p:spPr>
          <a:xfrm>
            <a:off x="365760" y="3949920"/>
            <a:ext cx="8412480" cy="360"/>
          </a:xfrm>
          <a:prstGeom prst="line">
            <a:avLst/>
          </a:prstGeom>
          <a:ln w="6350">
            <a:solidFill>
              <a:srgbClr val="E5E7EB"/>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401" name="Shape 20"/>
          <p:cNvSpPr/>
          <p:nvPr/>
        </p:nvSpPr>
        <p:spPr>
          <a:xfrm>
            <a:off x="365760" y="4078080"/>
            <a:ext cx="411120" cy="411120"/>
          </a:xfrm>
          <a:prstGeom prst="ellipse">
            <a:avLst/>
          </a:prstGeom>
          <a:solidFill>
            <a:srgbClr val="B32424"/>
          </a:solidFill>
          <a:ln w="12700">
            <a:solidFill>
              <a:srgbClr val="B3242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02" name="Text 21"/>
          <p:cNvSpPr/>
          <p:nvPr/>
        </p:nvSpPr>
        <p:spPr>
          <a:xfrm>
            <a:off x="365760" y="4078080"/>
            <a:ext cx="411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alibri"/>
                <a:ea typeface="Calibri"/>
              </a:rPr>
              <a:t>✗</a:t>
            </a:r>
            <a:endParaRPr lang="en-GB" sz="1400" b="0" strike="noStrike" spc="-1">
              <a:solidFill>
                <a:srgbClr val="000000"/>
              </a:solidFill>
              <a:latin typeface="Arial"/>
            </a:endParaRPr>
          </a:p>
        </p:txBody>
      </p:sp>
      <p:sp>
        <p:nvSpPr>
          <p:cNvPr id="403" name="Text 22"/>
          <p:cNvSpPr/>
          <p:nvPr/>
        </p:nvSpPr>
        <p:spPr>
          <a:xfrm>
            <a:off x="914400" y="3986640"/>
            <a:ext cx="78634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D2D44"/>
                </a:solidFill>
                <a:latin typeface="Trebuchet MS"/>
                <a:ea typeface="Trebuchet MS"/>
              </a:rPr>
              <a:t>Evaluating capabilities and soft skills</a:t>
            </a:r>
            <a:endParaRPr lang="en-GB" sz="1300" b="0" strike="noStrike" spc="-1">
              <a:solidFill>
                <a:srgbClr val="000000"/>
              </a:solidFill>
              <a:latin typeface="Arial"/>
            </a:endParaRPr>
          </a:p>
        </p:txBody>
      </p:sp>
      <p:sp>
        <p:nvSpPr>
          <p:cNvPr id="404" name="Text 23"/>
          <p:cNvSpPr/>
          <p:nvPr/>
        </p:nvSpPr>
        <p:spPr>
          <a:xfrm>
            <a:off x="914400" y="4334400"/>
            <a:ext cx="7863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1D2D44"/>
                </a:solidFill>
                <a:latin typeface="Calibri"/>
                <a:ea typeface="Calibri"/>
              </a:rPr>
              <a:t>The dataset captures years of experience and technical skills. Motivation, communication, and company culture remain outside the model.</a:t>
            </a:r>
            <a:endParaRPr lang="en-GB" sz="1100" b="0" strike="noStrike" spc="-1">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D2D44"/>
        </a:solidFill>
        <a:effectLst/>
      </p:bgPr>
    </p:bg>
    <p:spTree>
      <p:nvGrpSpPr>
        <p:cNvPr id="1" name=""/>
        <p:cNvGrpSpPr/>
        <p:nvPr/>
      </p:nvGrpSpPr>
      <p:grpSpPr>
        <a:xfrm>
          <a:off x="0" y="0"/>
          <a:ext cx="0" cy="0"/>
          <a:chOff x="0" y="0"/>
          <a:chExt cx="0" cy="0"/>
        </a:xfrm>
      </p:grpSpPr>
      <p:sp>
        <p:nvSpPr>
          <p:cNvPr id="405" name="Shape 0"/>
          <p:cNvSpPr/>
          <p:nvPr/>
        </p:nvSpPr>
        <p:spPr>
          <a:xfrm>
            <a:off x="0" y="0"/>
            <a:ext cx="200880" cy="514332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06" name="Text 1"/>
          <p:cNvSpPr/>
          <p:nvPr/>
        </p:nvSpPr>
        <p:spPr>
          <a:xfrm>
            <a:off x="457200" y="45720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strike="noStrike" spc="-1">
                <a:solidFill>
                  <a:srgbClr val="9FB4CC"/>
                </a:solidFill>
                <a:latin typeface="Calibri"/>
                <a:ea typeface="Calibri"/>
              </a:rPr>
              <a:t>Conclusions</a:t>
            </a:r>
            <a:endParaRPr lang="en-GB" sz="1400" b="0" strike="noStrike" spc="-1">
              <a:solidFill>
                <a:srgbClr val="FFFFFF"/>
              </a:solidFill>
              <a:latin typeface="Arial"/>
            </a:endParaRPr>
          </a:p>
        </p:txBody>
      </p:sp>
      <p:sp>
        <p:nvSpPr>
          <p:cNvPr id="407" name="Text 2"/>
          <p:cNvSpPr/>
          <p:nvPr/>
        </p:nvSpPr>
        <p:spPr>
          <a:xfrm>
            <a:off x="457200" y="868680"/>
            <a:ext cx="82292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strike="noStrike" spc="-1">
                <a:solidFill>
                  <a:srgbClr val="FFFFFF"/>
                </a:solidFill>
                <a:latin typeface="Trebuchet MS"/>
                <a:ea typeface="Trebuchet MS"/>
              </a:rPr>
              <a:t>Data + Ethics + Architecture</a:t>
            </a:r>
            <a:endParaRPr lang="en-GB" sz="3600" b="0" strike="noStrike" spc="-1">
              <a:solidFill>
                <a:srgbClr val="FFFFFF"/>
              </a:solidFill>
              <a:latin typeface="Arial"/>
            </a:endParaRPr>
          </a:p>
          <a:p>
            <a:pPr defTabSz="914400">
              <a:lnSpc>
                <a:spcPct val="100000"/>
              </a:lnSpc>
              <a:tabLst>
                <a:tab pos="0" algn="l"/>
              </a:tabLst>
            </a:pPr>
            <a:r>
              <a:rPr lang="en-US" sz="3600" b="0" strike="noStrike" spc="-1">
                <a:solidFill>
                  <a:srgbClr val="FFFFFF"/>
                </a:solidFill>
                <a:latin typeface="Trebuchet MS"/>
                <a:ea typeface="Trebuchet MS"/>
              </a:rPr>
              <a:t>as a unified system</a:t>
            </a:r>
            <a:endParaRPr lang="en-GB" sz="3600" b="0" strike="noStrike" spc="-1">
              <a:solidFill>
                <a:srgbClr val="FFFFFF"/>
              </a:solidFill>
              <a:latin typeface="Arial"/>
            </a:endParaRPr>
          </a:p>
        </p:txBody>
      </p:sp>
      <p:sp>
        <p:nvSpPr>
          <p:cNvPr id="408" name="Shape 3"/>
          <p:cNvSpPr/>
          <p:nvPr/>
        </p:nvSpPr>
        <p:spPr>
          <a:xfrm>
            <a:off x="457200" y="2286000"/>
            <a:ext cx="822600" cy="383760"/>
          </a:xfrm>
          <a:prstGeom prst="rect">
            <a:avLst/>
          </a:prstGeom>
          <a:solidFill>
            <a:srgbClr val="2C5FDC"/>
          </a:solidFill>
          <a:ln w="12700">
            <a:solidFill>
              <a:srgbClr val="2C5F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09" name="Text 4"/>
          <p:cNvSpPr/>
          <p:nvPr/>
        </p:nvSpPr>
        <p:spPr>
          <a:xfrm>
            <a:off x="457200" y="2286000"/>
            <a:ext cx="8226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DaaS</a:t>
            </a:r>
            <a:endParaRPr lang="en-GB" sz="1000" b="0" strike="noStrike" spc="-1">
              <a:solidFill>
                <a:srgbClr val="FFFFFF"/>
              </a:solidFill>
              <a:latin typeface="Arial"/>
            </a:endParaRPr>
          </a:p>
        </p:txBody>
      </p:sp>
      <p:sp>
        <p:nvSpPr>
          <p:cNvPr id="410" name="Text 5"/>
          <p:cNvSpPr/>
          <p:nvPr/>
        </p:nvSpPr>
        <p:spPr>
          <a:xfrm>
            <a:off x="1417320" y="2286000"/>
            <a:ext cx="7314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CADCFC"/>
                </a:solidFill>
                <a:latin typeface="Calibri"/>
                <a:ea typeface="Calibri"/>
              </a:rPr>
              <a:t>635 RDF/XML triples · 7 controllers · full CRUD · Swagger UI</a:t>
            </a:r>
            <a:endParaRPr lang="en-GB" sz="1200" b="0" strike="noStrike" spc="-1">
              <a:solidFill>
                <a:srgbClr val="FFFFFF"/>
              </a:solidFill>
              <a:latin typeface="Arial"/>
            </a:endParaRPr>
          </a:p>
        </p:txBody>
      </p:sp>
      <p:sp>
        <p:nvSpPr>
          <p:cNvPr id="411" name="Shape 6"/>
          <p:cNvSpPr/>
          <p:nvPr/>
        </p:nvSpPr>
        <p:spPr>
          <a:xfrm>
            <a:off x="457200" y="2889360"/>
            <a:ext cx="822600" cy="383760"/>
          </a:xfrm>
          <a:prstGeom prst="rect">
            <a:avLst/>
          </a:prstGeom>
          <a:solidFill>
            <a:srgbClr val="2F8F4E"/>
          </a:solidFill>
          <a:ln w="12700">
            <a:solidFill>
              <a:srgbClr val="2F8F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12" name="Text 7"/>
          <p:cNvSpPr/>
          <p:nvPr/>
        </p:nvSpPr>
        <p:spPr>
          <a:xfrm>
            <a:off x="457200" y="2889360"/>
            <a:ext cx="8226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EaaS</a:t>
            </a:r>
            <a:endParaRPr lang="en-GB" sz="1000" b="0" strike="noStrike" spc="-1">
              <a:solidFill>
                <a:srgbClr val="FFFFFF"/>
              </a:solidFill>
              <a:latin typeface="Arial"/>
            </a:endParaRPr>
          </a:p>
        </p:txBody>
      </p:sp>
      <p:sp>
        <p:nvSpPr>
          <p:cNvPr id="413" name="Text 8"/>
          <p:cNvSpPr/>
          <p:nvPr/>
        </p:nvSpPr>
        <p:spPr>
          <a:xfrm>
            <a:off x="1417320" y="2889360"/>
            <a:ext cx="7314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CADCFC"/>
                </a:solidFill>
                <a:latin typeface="Calibri"/>
                <a:ea typeface="Calibri"/>
              </a:rPr>
              <a:t>4 external JSON policies · PROCEED / REVISE / ESCALATE / REJECT</a:t>
            </a:r>
            <a:endParaRPr lang="en-GB" sz="1200" b="0" strike="noStrike" spc="-1">
              <a:solidFill>
                <a:srgbClr val="FFFFFF"/>
              </a:solidFill>
              <a:latin typeface="Arial"/>
            </a:endParaRPr>
          </a:p>
        </p:txBody>
      </p:sp>
      <p:sp>
        <p:nvSpPr>
          <p:cNvPr id="414" name="Shape 9"/>
          <p:cNvSpPr/>
          <p:nvPr/>
        </p:nvSpPr>
        <p:spPr>
          <a:xfrm>
            <a:off x="457200" y="3493080"/>
            <a:ext cx="822600" cy="383760"/>
          </a:xfrm>
          <a:prstGeom prst="rect">
            <a:avLst/>
          </a:prstGeom>
          <a:solidFill>
            <a:srgbClr val="9B59B6"/>
          </a:solidFill>
          <a:ln w="12700">
            <a:solidFill>
              <a:srgbClr val="9B59B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15" name="Text 10"/>
          <p:cNvSpPr/>
          <p:nvPr/>
        </p:nvSpPr>
        <p:spPr>
          <a:xfrm>
            <a:off x="457200" y="3493080"/>
            <a:ext cx="8226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Audit</a:t>
            </a:r>
            <a:endParaRPr lang="en-GB" sz="1000" b="0" strike="noStrike" spc="-1">
              <a:solidFill>
                <a:srgbClr val="FFFFFF"/>
              </a:solidFill>
              <a:latin typeface="Arial"/>
            </a:endParaRPr>
          </a:p>
        </p:txBody>
      </p:sp>
      <p:sp>
        <p:nvSpPr>
          <p:cNvPr id="416" name="Text 11"/>
          <p:cNvSpPr/>
          <p:nvPr/>
        </p:nvSpPr>
        <p:spPr>
          <a:xfrm>
            <a:off x="1417320" y="3493080"/>
            <a:ext cx="7314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CADCFC"/>
                </a:solidFill>
                <a:latin typeface="Calibri"/>
                <a:ea typeface="Calibri"/>
              </a:rPr>
              <a:t>Every decision is tracked, justified, and persisted to disk</a:t>
            </a:r>
            <a:endParaRPr lang="en-GB" sz="1200" b="0" strike="noStrike" spc="-1">
              <a:solidFill>
                <a:srgbClr val="FFFFFF"/>
              </a:solidFill>
              <a:latin typeface="Arial"/>
            </a:endParaRPr>
          </a:p>
        </p:txBody>
      </p:sp>
      <p:sp>
        <p:nvSpPr>
          <p:cNvPr id="417" name="Shape 12"/>
          <p:cNvSpPr/>
          <p:nvPr/>
        </p:nvSpPr>
        <p:spPr>
          <a:xfrm>
            <a:off x="457200" y="4096440"/>
            <a:ext cx="822600" cy="383760"/>
          </a:xfrm>
          <a:prstGeom prst="rect">
            <a:avLst/>
          </a:prstGeom>
          <a:solidFill>
            <a:srgbClr val="D8A01A"/>
          </a:solidFill>
          <a:ln w="12700">
            <a:solidFill>
              <a:srgbClr val="D8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strike="noStrike" spc="-1">
              <a:solidFill>
                <a:schemeClr val="dk1"/>
              </a:solidFill>
              <a:latin typeface="Calibri"/>
            </a:endParaRPr>
          </a:p>
        </p:txBody>
      </p:sp>
      <p:sp>
        <p:nvSpPr>
          <p:cNvPr id="418" name="Text 13"/>
          <p:cNvSpPr/>
          <p:nvPr/>
        </p:nvSpPr>
        <p:spPr>
          <a:xfrm>
            <a:off x="457200" y="4096440"/>
            <a:ext cx="8226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Calibri"/>
                <a:ea typeface="Calibri"/>
              </a:rPr>
              <a:t>Ethics</a:t>
            </a:r>
            <a:endParaRPr lang="en-GB" sz="1000" b="0" strike="noStrike" spc="-1">
              <a:solidFill>
                <a:srgbClr val="FFFFFF"/>
              </a:solidFill>
              <a:latin typeface="Arial"/>
            </a:endParaRPr>
          </a:p>
        </p:txBody>
      </p:sp>
      <p:sp>
        <p:nvSpPr>
          <p:cNvPr id="419" name="Text 14"/>
          <p:cNvSpPr/>
          <p:nvPr/>
        </p:nvSpPr>
        <p:spPr>
          <a:xfrm>
            <a:off x="1417320" y="4096440"/>
            <a:ext cx="7314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CADCFC"/>
                </a:solidFill>
                <a:latin typeface="Calibri"/>
                <a:ea typeface="Calibri"/>
              </a:rPr>
              <a:t>Not a final checkbox: ethics is an integral part of the architecture</a:t>
            </a:r>
            <a:endParaRPr lang="en-GB" sz="1200" b="0" strike="noStrike" spc="-1">
              <a:solidFill>
                <a:srgbClr val="FFFFFF"/>
              </a:solidFill>
              <a:latin typeface="Arial"/>
            </a:endParaRPr>
          </a:p>
        </p:txBody>
      </p:sp>
      <p:sp>
        <p:nvSpPr>
          <p:cNvPr id="420" name="Shape 15"/>
          <p:cNvSpPr/>
          <p:nvPr/>
        </p:nvSpPr>
        <p:spPr>
          <a:xfrm>
            <a:off x="457200" y="4663440"/>
            <a:ext cx="3657600" cy="360"/>
          </a:xfrm>
          <a:prstGeom prst="line">
            <a:avLst/>
          </a:prstGeom>
          <a:ln w="12700">
            <a:solidFill>
              <a:srgbClr val="2C5FDC"/>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it-IT" sz="1800" b="0" strike="noStrike" spc="-1">
              <a:solidFill>
                <a:schemeClr val="dk1"/>
              </a:solidFill>
              <a:latin typeface="Calibri"/>
            </a:endParaRPr>
          </a:p>
        </p:txBody>
      </p:sp>
      <p:sp>
        <p:nvSpPr>
          <p:cNvPr id="421" name="Text 16"/>
          <p:cNvSpPr/>
          <p:nvPr/>
        </p:nvSpPr>
        <p:spPr>
          <a:xfrm>
            <a:off x="457200" y="470916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strike="noStrike" spc="-1">
                <a:solidFill>
                  <a:srgbClr val="9FB4CC"/>
                </a:solidFill>
                <a:latin typeface="Calibri"/>
                <a:ea typeface="Calibri"/>
              </a:rPr>
              <a:t>Questions?</a:t>
            </a:r>
            <a:endParaRPr lang="en-GB" sz="12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TotalTime>
  <Words>2565</Words>
  <Application>Microsoft Office PowerPoint</Application>
  <PresentationFormat>On-screen Show (16:9)</PresentationFormat>
  <Paragraphs>441</Paragraphs>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
  <cp:revision>240</cp:revision>
  <dcterms:created xsi:type="dcterms:W3CDTF">2026-05-26T11:47:16Z</dcterms:created>
  <dcterms:modified xsi:type="dcterms:W3CDTF">2026-05-27T09:41:51Z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Presentazione su schermo (16:9)</vt:lpwstr>
  </property>
  <property fmtid="{D5CDD505-2E9C-101B-9397-08002B2CF9AE}" pid="4" name="Slides">
    <vt:i4>21</vt:i4>
  </property>
</Properties>
</file>