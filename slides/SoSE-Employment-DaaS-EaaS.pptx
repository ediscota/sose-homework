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82296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 Platform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+ EaaS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as a Service &amp; Ethics as a Service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127248"/>
            <a:ext cx="3200400" cy="36576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91840"/>
            <a:ext cx="8503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Service-Oriented Software Engineering  ·  A.Y. 2025/2026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dell'Aquila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di 3 studenti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2606040" cy="38404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Membro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&amp; Motivazione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Applicazione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RDF &amp; Ontologia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SPARQL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DaaS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97280"/>
            <a:ext cx="260604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Membro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0156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– Workflow &amp; Architettura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Politiche Etiche (4 policies)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PROCEED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REJECT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097280"/>
            <a:ext cx="2606040" cy="3840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Membro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3620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&amp; Provenienza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Integrazione DaaS ↔ EaaS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Riflessione Critica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~10-12 min a testa  ·  30-36 min totali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Dominio, Dataset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 DaaS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Membro 1  ·  ~10-12 minuti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Dominio scelto: Employment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7764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463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employment?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ricco di dati strutturati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Decisioni ad alto impatto sulla vita delle persone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rischio di bias e discriminazione algoritmica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Esplicitamente citato nel testo del compito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Rilevanza con norme esistenti (D.Lgs. 198/2006, GDPR, UN CRPD)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429768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 del progetto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20640" y="18745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lavoro nel sistema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28032" y="2221992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2624328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62432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Raccomanda offerte via SPARQL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28032" y="2971800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3374136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3374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0640" y="33741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 la raccomandazione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28032" y="3721608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4123944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412394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decisione è tracciata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Architettura dell'applicazione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2560320" cy="4572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 :8080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Thymeleaf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UI: browsing candidati, raccomandazioni, valutazione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0" y="1325880"/>
            <a:ext cx="2560320" cy="4572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 :8081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 Jena 5.1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RDF/XML + SPARQL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RDF, query SPARQL, 8 endpoint REST JSON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325880"/>
            <a:ext cx="2560320" cy="457200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 :8082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2648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 engine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 JSONL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 policy JSON, valuta richieste, produce decisioni e audit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26080" y="301752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DaaS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760720" y="301752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EaaS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5760" y="47091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L'EaaS ri-scarica sempre i dati dal DaaS: non si fida del chiamante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RDF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RDF/XML — Ontologia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RDF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8308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8308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Candidati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20040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Offerte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1772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1772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1772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3504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03504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03504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Settori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5236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5236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45236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Aziende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5760" y="2331720"/>
            <a:ext cx="3840480" cy="594360"/>
          </a:xfrm>
          <a:prstGeom prst="rect">
            <a:avLst/>
          </a:prstGeom>
          <a:solidFill>
            <a:srgbClr val="F0F8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2395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Namespace: 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80160" y="2395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http://sose.univaq.it/employment#  (prefix emp:)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26334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Riuso: foaf: · schema: · dct: · xsd: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3063240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emp:Candidate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subClassOf foaf:Person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575304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5753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emp:JobOffer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68880" y="357530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offerta di lavoro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4087368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0873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emp:Company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468880" y="40873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subClassOf schema:Organization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63440" y="3063240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emp:Skill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competenza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663440" y="3575304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35753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emp:Sector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766560" y="357530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settore lavorativo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663440" y="4087368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40873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emp:Location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0" y="40873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luogo geografico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RDF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Proxy discriminatori nel dataset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Alcune offerte contengono campi intenzionalmente problematici — progettati per esercitare le policy EaaS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719072"/>
            <a:ext cx="10058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71907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Offerta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1719072"/>
            <a:ext cx="19202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17190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Titolo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719072"/>
            <a:ext cx="28346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71907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problematico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719072"/>
            <a:ext cx="246888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7190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violazione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103120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1031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0" y="2103120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17320" y="21031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Frontend Dev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0" y="2103120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37560" y="21031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emp:ageRangeMax = 30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2103120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21031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Ageism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578608"/>
            <a:ext cx="1005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257860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371600" y="2578608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17320" y="257860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Manager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91840" y="2578608"/>
            <a:ext cx="2834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25786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emp:genderPreference = male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578608"/>
            <a:ext cx="2468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5786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Discriminazione di genere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054096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30540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371600" y="3054096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417320" y="305409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Gov. Contractor Dev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91840" y="3054096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37560" y="305409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emp:nationalityReq = 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26480" y="3054096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30540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Discriminazione nazionale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3529584"/>
            <a:ext cx="1005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352958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job-016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371600" y="3529584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417320" y="3529584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Trainee Sw. Eng.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291840" y="3529584"/>
            <a:ext cx="2834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37560" y="35295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emp:ageRangeMin=20, ageRangeMax=26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26480" y="3529584"/>
            <a:ext cx="2468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72200" y="35295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Ageism (fascia stretta)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65760" y="4005072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40050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job-012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371600" y="4005072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417320" y="400507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Representative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291840" y="4005072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37560" y="40050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salary mancante, source=unknown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126480" y="4005072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72200" y="400507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 dati scadente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65760" y="4709160"/>
            <a:ext cx="2743200" cy="274320"/>
          </a:xfrm>
          <a:prstGeom prst="roundRect">
            <a:avLst>
              <a:gd name="adj" fmla="val 20000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offerte flaggate da /api/jobs/risky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SPARQL — esempi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325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1 · Offerte per settore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84124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737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?j ?title ?sal ?loc WHERE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 a emp:JobOffer ; dct:title ?title ; emp:hasSector ?sec 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emp:hasLocation ?locR ; emp:salary ?sal 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?sec rdfs:label "Information Technology" 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?locR rdfs:label ?loc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9992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2 · Match multi-condizione (skill overlap + location + esperienza)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364992"/>
            <a:ext cx="8412480" cy="1554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" y="3410712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?j ?title ?candLoc ?jobLoc ?remote ?reqExp ?yoe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(COUNT(DISTINCT ?sharedSkill) AS ?shared)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emp:cand-001 emp:hasLocation ?cLoc ; emp:yearsOfExperience ?yoe ; emp:hasSkill ?sharedSkill 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?cLoc rdfs:label ?candLoc 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 a emp:JobOffer ; dct:title ?title ; emp:hasSkill ?sharedSkill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emp:requiredExperience ?reqExp ; emp:remote ?remote ; emp:hasLocation ?jLoc 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?jLoc rdfs:label ?jobLoc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GROUP BY ... ORDER BY DESC(?shared)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REST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— REST Endpoints (base URL :8081)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8412480" cy="420624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990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990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51560" y="13624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/api/candidates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43400" y="13624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tutti i candidati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783080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8562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8562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51560" y="18196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/api/candidates/{id}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43400" y="18196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Singolo candidato per ID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240280"/>
            <a:ext cx="8412480" cy="420624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3134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313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1560" y="22768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43400" y="22768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 offerte (sector, location, minSalary, remote) — SPARQL multi-condizione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2697480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27706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7706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51560" y="27340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/api/jobs/{id}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43400" y="27340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Singola offerta per ID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154680"/>
            <a:ext cx="8412480" cy="420624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32278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32278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51560" y="31912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/api/jobs/sector/{sector}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343400" y="31912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Offerte per settore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611880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36850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6850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51560" y="36484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/api/jobs/location/{loc}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343400" y="36484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Offerte per città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5760" y="4069080"/>
            <a:ext cx="8412480" cy="420624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41422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1422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51560" y="41056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/api/jobs/risky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43400" y="41056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Offerte con proxy discriminatori o provenienza non verificata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343400" y="41605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43400" y="4160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45994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99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51560" y="45628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/api/match/candidate/{id}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43400" y="45628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Raccomandazioni per candidato (skill + location + esperienza)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— Ethics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a Service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Membro 2  ·  ~10-12 minuti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— Workflow della valutazione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16736"/>
            <a:ext cx="438912" cy="43891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167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755648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1316736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135331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Richiesta strutturata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15910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client invia: action, candidateId, jobId,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requester, purpose, declaredRisk (ignorato)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38912" cy="438912"/>
          </a:xfrm>
          <a:prstGeom prst="ellipse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029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76072" y="2468880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29968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206654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 dati canonici dal DaaS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230428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scarica candidato e offerta direttamente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DaaS — mai fidarsi del chiamante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743200"/>
            <a:ext cx="438912" cy="438912"/>
          </a:xfrm>
          <a:prstGeom prst="ellipse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6072" y="3182112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5840" y="2743200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277977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Case Analysis — Policy Engine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97280" y="301752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policy viene applicata ai dati reali.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findings con severity e evidence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456432"/>
            <a:ext cx="438912" cy="438912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456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3895344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5840" y="3456432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097280" y="349300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Decision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97280" y="373075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DecisionMaker aggrega i findings: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CRITICAL→REJECT, HIGH→ESCALATE, MEDIUM→REVISE, niente→PROCEED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5760" y="4169664"/>
            <a:ext cx="438912" cy="438912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1696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005840" y="4169664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097280" y="420624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e risposta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97280" y="444398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AuditRecord salvato su memoria e JSONL.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Risposta completa con provenance e required actions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EvaluationRequest — struttura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66344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371600"/>
            <a:ext cx="43891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"action": "recommend-job",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"candidateId": "cand-001",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"jobId": "job-003",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"requester": "ui-user:edoardo",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"purpose": "show recommendation",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EaaS ignora questo campo!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"declaredRisk": "LOW"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0" y="1508760"/>
            <a:ext cx="54864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669280" y="1463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di azione richiesta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0" y="1965960"/>
            <a:ext cx="54864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66928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— EaaS li usa per scaricare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veri dal DaaS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2697480"/>
            <a:ext cx="548640" cy="0"/>
          </a:xfrm>
          <a:prstGeom prst="line">
            <a:avLst/>
          </a:prstGeom>
          <a:noFill/>
          <a:ln w="12700">
            <a:solidFill>
              <a:srgbClr val="2F8F4E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6692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Trasparenza: chi chiede e perché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3383280"/>
            <a:ext cx="548640" cy="0"/>
          </a:xfrm>
          <a:prstGeom prst="line">
            <a:avLst/>
          </a:prstGeom>
          <a:noFill/>
          <a:ln w="12700">
            <a:solidFill>
              <a:srgbClr val="B3242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669280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Non trusted — l'EaaS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ricalcola il rischio autonomamente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4 politiche etiche — file JSON esterni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2618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Modificabili senza ricompilare · caricate all'avvio da policies/*.json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62763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627632"/>
            <a:ext cx="914400" cy="292608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276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60120" y="16276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P-DISCR-001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975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Proxy discriminatori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31343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Vietati: ageRangeMin/Max, genderPreference, nationalityReq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nelle offerte. Norma: D.Lgs. 198/2006, EU Dir. 2000/78/EC.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31927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319272"/>
            <a:ext cx="914400" cy="292608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60120" y="33192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5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P-PROV-002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3666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Provenienza &amp; qualità dati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00507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fonti fidate (company-portal, synthetic).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source = third-party-scraper / unknown → ESCALATE.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162763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1627632"/>
            <a:ext cx="914400" cy="292608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16276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303520" y="16276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A0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P-ACC-003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00600" y="1975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Accessibilità &amp; disabilità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231343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il candidato ha disabilità, l'offerta deve essere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flaggate disabilityFriendly. Altrimenti → REVISE.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Norma: UN CRPD Art.27, L. 68/1999.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331927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3319272"/>
            <a:ext cx="914400" cy="29260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303520" y="33192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P-TRANS-004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3666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Trasparenza &amp; scopo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00600" y="400507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e purpose devono essere dichiarati.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di essi la raccomandazione non è trasparente.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Norma: GDPR Art.13/22.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PROCEED — cand-001 + job-001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31920" cy="13716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Richiesta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candidateId: </a:t>
            </a:r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cand-001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(Alice Bianchi)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jobId: </a:t>
            </a:r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job-001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(Backend Java Dev)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company-portal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3931920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88950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Valutazione EaaS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2186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policy violata — 4 policy valutate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4930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34840" y="1325880"/>
            <a:ext cx="4343400" cy="2743200"/>
          </a:xfrm>
          <a:prstGeom prst="rect">
            <a:avLst/>
          </a:prstGeom>
          <a:solidFill>
            <a:srgbClr val="F0FFF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34840" y="182880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F8F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PROCEED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434840" y="26060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LOW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30175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policy was triggered: the recommendation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consistent with the active ethical policies."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policies: P-ACC-003 · P-DISCR-001 · P-PROV-002 · P-TRANS-004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251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actions: nessuna  ·  L'offerta può essere mostrata al candidato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REJECT — cand-001 + job-003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31920" cy="13716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Richiesta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candidateId: </a:t>
            </a:r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cand-001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(Alice Bianchi, 28 anni)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jobId: </a:t>
            </a:r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job-003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(Junior Frontend Dev)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11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third-party-scraper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3931920" cy="804672"/>
          </a:xfrm>
          <a:prstGeom prst="rect">
            <a:avLst/>
          </a:prstGeom>
          <a:solidFill>
            <a:srgbClr val="FFF5F5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834640"/>
            <a:ext cx="731520" cy="310896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8346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43000" y="28346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P-DISCR-001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1821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carries "ageRangeMax" = 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749040"/>
            <a:ext cx="3931920" cy="804672"/>
          </a:xfrm>
          <a:prstGeom prst="rect">
            <a:avLst/>
          </a:prstGeom>
          <a:solidFill>
            <a:srgbClr val="FFF8F0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749040"/>
            <a:ext cx="731520" cy="310896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43000" y="37490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5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P-PROV-002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40965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"third-party-scraper" non trusted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34840" y="1325880"/>
            <a:ext cx="4343400" cy="2743200"/>
          </a:xfrm>
          <a:prstGeom prst="rect">
            <a:avLst/>
          </a:prstGeom>
          <a:solidFill>
            <a:srgbClr val="FFF5F5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34840" y="17830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324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4434840" y="26060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CRITICAL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26280" y="30175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actions: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26280" y="329184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Nascondere l'offerta dalle raccomandazioni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Notificare il responsabile del campo discriminatorio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al compliance officer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Audit, Integrazione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 Riflessione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Membro 3  ·  ~10-12 minuti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Trail &amp; Provenienza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5029200" cy="3611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389888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"auditId": "audit-8f43...",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"2026-05-19T08:07:50Z",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"request": { "candidateId": "cand-001",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"jobId": "job-003" ...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"evaluatedCandidate": { ...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"evaluatedJob": { ...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"riskLevel": "CRITICAL",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"decision": "REJECT",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"findings": [ { ... } 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"appliedPolicies": [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"P-ACC-003", "P-DISCR-001",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"P-PROV-002", "P-TRANS-004"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394960" y="1463040"/>
            <a:ext cx="457200" cy="0"/>
          </a:xfrm>
          <a:prstGeom prst="line">
            <a:avLst/>
          </a:prstGeom>
          <a:noFill/>
          <a:ln w="12700">
            <a:solidFill>
              <a:srgbClr val="9B59B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0" y="1417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 univoco per ogni valutazione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4960" y="1874520"/>
            <a:ext cx="457200" cy="0"/>
          </a:xfrm>
          <a:prstGeom prst="line">
            <a:avLst/>
          </a:prstGeom>
          <a:noFill/>
          <a:ln w="12700">
            <a:solidFill>
              <a:srgbClr val="9B59B6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828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ISO 8601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94960" y="2194560"/>
            <a:ext cx="4572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0" y="2148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Richiesta originale (snapshot)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514600"/>
            <a:ext cx="4572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94360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reali scaricati dal DaaS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provenienza tracciata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3291840"/>
            <a:ext cx="457200" cy="0"/>
          </a:xfrm>
          <a:prstGeom prst="line">
            <a:avLst/>
          </a:prstGeom>
          <a:noFill/>
          <a:ln w="12700">
            <a:solidFill>
              <a:srgbClr val="B3242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5943600" y="3246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 finale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94960" y="3840480"/>
            <a:ext cx="457200" cy="0"/>
          </a:xfrm>
          <a:prstGeom prst="line">
            <a:avLst/>
          </a:prstGeom>
          <a:noFill/>
          <a:ln w="12700">
            <a:solidFill>
              <a:srgbClr val="2F8F4E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943600" y="37947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 le policy valutate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(anche quelle non violate)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Persistenza: in-memory (sessione) + JSONL append-only su disco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INTEGRAZIONE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Flusso completo DaaS ↔ EaaS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1005840" cy="3383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2588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UTENTE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63040" y="132588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54480" y="132588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Seleziona candidato nel browser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50392" y="166420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1737360"/>
            <a:ext cx="1005840" cy="33832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73736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463040" y="173736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173736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/api/match/candidate/{id} → DaaS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0392" y="207568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2148840"/>
            <a:ext cx="1005840" cy="33832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4884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463040" y="214884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54480" y="214884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 multi-condizione → lista di MatchDTO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50392" y="248716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560320"/>
            <a:ext cx="1005840" cy="33832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56032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463040" y="256032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54480" y="256032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lista · Utente clicca 'Evalua'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" y="289864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971800"/>
            <a:ext cx="1005840" cy="3383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97180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463040" y="297180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297180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/api/ethics/evaluate → EaaS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50392" y="331012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3383280"/>
            <a:ext cx="1005840" cy="33832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38328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463040" y="338328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554480" y="338328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/api/candidates/{id} + /api/jobs/{id} → DaaS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50392" y="372160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794760"/>
            <a:ext cx="1005840" cy="33832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79476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463040" y="379476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554480" y="379476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PolicyEngine + DecisionMaker → EvaluationResponse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50392" y="413308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4206240"/>
            <a:ext cx="1005840" cy="33832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20624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463040" y="420624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554480" y="420624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AuditService.save() → JSONL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50392" y="454456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5760" y="4617720"/>
            <a:ext cx="1005840" cy="3383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1772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463040" y="461772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554480" y="461772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Visualizza: decisione, findings, audit link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60604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Avvia DaaS (:8081) · EaaS (:8082) · Client (:8080)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Seleziona cand-001 (Alice Bianchi) → vedi match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Evalua job-001 → PROCEED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Evalua job-003 → REJECT  (ageRangeMax + scraper)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Apri /audit → verifica JSONL on disk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Modifica una policy JSON → riavvia EaaS → rivedi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RIFLESSIONE CRITICA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Limiti del sistema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201168" cy="1600200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Proxy indiretti non rilevati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78308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controlla campi espliciti (età, genere, nazionalità). Proxy sottili come CAP, università di laurea o nome non vengono intercettati.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3063240"/>
            <a:ext cx="201168" cy="1600200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sintetico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sono generati artificialmente. In produzione servirebbe gestione del consenso GDPR, cifratura, e diritto alla spiegazione.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132588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325880"/>
            <a:ext cx="201168" cy="1600200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1768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Policy scritte in Java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01768" y="178308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regole in JSON dichiarano severity e parametri, ma la logica è codice Java. Modificare il comportamento richiede un developer.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306324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3063240"/>
            <a:ext cx="201168" cy="1600200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01768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Nessuna metrica di fairness aggregata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01768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controlla ogni singola offerta, ma non si misurano disparità sistematiche tra gruppi di candidati nel tempo.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RIFLESSIONE CRITICA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NON dovrebbe essere deciso automaticamente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417320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32588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selezione finale del candidato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6733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raccomanda e valuta eticamente, ma la decisione di assunzione deve sempre essere umana.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176272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304288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04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21284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L'esclusione permanente di un'offerta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560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blocca la raccomandazione, non l'offerta dal sistema. Serve revisione umana prima di rimuoverla definitivamente.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191256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191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3099816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Interpretare contesti giuridici complessi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4472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nationalityReq può essere legale (es. requisiti di sicurezza nazionale). L'EaaS non ha contesto: ESCALATE → umano.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50208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4078224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78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398678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Valutare capacità e soft skills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433425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dataset ha anni di esperienza e skill tecniche. La motivazione, la comunicazione, la cultura aziendale restano fuori.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Dati + Etica + Architettura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 sistema unico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822960" cy="38404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17320" y="22860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635 triple RDF/XML · 8 endpoint REST · SPARQL multi-condizione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889504"/>
            <a:ext cx="82296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88950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17320" y="288950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policy esterne JSON · PROCEED / REVISE / ESCALATE / REJECT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93008"/>
            <a:ext cx="822960" cy="3840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49300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417320" y="349300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decisione è tracciata, giustificata e persistita su disco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096512"/>
            <a:ext cx="822960" cy="384048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09651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417320" y="409651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 checkbox finale: è parte integrante dell'architettura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36576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Domande?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2026-05-19T10:14:37Z</dcterms:created>
  <dcterms:modified xsi:type="dcterms:W3CDTF">2026-05-19T10:14:37Z</dcterms:modified>
</cp:coreProperties>
</file>