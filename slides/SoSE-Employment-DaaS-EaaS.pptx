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82296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 Platform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503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DaaS + EaaS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as a Service &amp; Ethics as a Service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127248"/>
            <a:ext cx="3200400" cy="36576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291840"/>
            <a:ext cx="8503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Service-Oriented Software Engineering  ·  A.Y. 2025/2026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dell'Aquila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of 3 students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2606040" cy="38404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554480"/>
            <a:ext cx="2377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&amp; Motivation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Architecture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Dataset &amp; Ontology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SPARQL Queries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REST APIs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097280"/>
            <a:ext cx="2606040" cy="38404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0972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01568" y="1554480"/>
            <a:ext cx="2377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 – Workflow &amp; Architecture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Policies (4 policies)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PROCEED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REJECT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09728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097280"/>
            <a:ext cx="2606040" cy="38404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0972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36208" y="1554480"/>
            <a:ext cx="2377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&amp; Provenance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↔ EaaS Integration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Reflection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~10-12 min each  ·  30-36 min total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Domain, Dataset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DaaS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  ·  ~10-12 minutes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Chosen Domain: Employment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397764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463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Employment?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2024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structured data domain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High-impact decisions affecting people's lives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of algorithmic bias and discrimination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mentioned in the assignment specification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existing regulations (D.Lgs. 198/2006, GDPR, UN CRPD)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80560" y="1325880"/>
            <a:ext cx="429768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1463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Use Case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20640" y="187452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for jobs in the system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28032" y="2221992"/>
            <a:ext cx="0" cy="402336"/>
          </a:xfrm>
          <a:prstGeom prst="line">
            <a:avLst/>
          </a:prstGeom>
          <a:noFill/>
          <a:ln w="19050">
            <a:solidFill>
              <a:srgbClr val="2C5F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2624328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20640" y="262432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offers via SPARQL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28032" y="2971800"/>
            <a:ext cx="0" cy="402336"/>
          </a:xfrm>
          <a:prstGeom prst="line">
            <a:avLst/>
          </a:prstGeom>
          <a:noFill/>
          <a:ln w="19050">
            <a:solidFill>
              <a:srgbClr val="2C5F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63440" y="3374136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3374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0640" y="337413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 the recommendation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28032" y="3721608"/>
            <a:ext cx="0" cy="402336"/>
          </a:xfrm>
          <a:prstGeom prst="line">
            <a:avLst/>
          </a:prstGeom>
          <a:noFill/>
          <a:ln w="19050">
            <a:solidFill>
              <a:srgbClr val="2C5F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3440" y="4123944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4123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20640" y="412394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tracked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 Architecture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256032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325880"/>
            <a:ext cx="2560320" cy="4572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325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  :8080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1874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Boot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Thymeleaf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2377440" cy="0"/>
          </a:xfrm>
          <a:prstGeom prst="line">
            <a:avLst/>
          </a:prstGeom>
          <a:noFill/>
          <a:ln w="12700">
            <a:solidFill>
              <a:srgbClr val="D4DC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7432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UI: candidate browsing, recommendations, evaluation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56032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0" y="1325880"/>
            <a:ext cx="2560320" cy="4572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1325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DaaS  :8081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91840" y="1874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Boot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Apache Jena 5.1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RDF/XML + SPARQL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91840" y="2651760"/>
            <a:ext cx="2377440" cy="0"/>
          </a:xfrm>
          <a:prstGeom prst="line">
            <a:avLst/>
          </a:prstGeom>
          <a:noFill/>
          <a:ln w="12700">
            <a:solidFill>
              <a:srgbClr val="D4DC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0" y="27432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dataset, SPARQL queries, 8 REST JSON endpoints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325880"/>
            <a:ext cx="256032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1325880"/>
            <a:ext cx="2560320" cy="457200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5040" y="1325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 :8082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126480" y="1874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8F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Boot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F8F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 engine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F8F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 JSONL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651760"/>
            <a:ext cx="2377440" cy="0"/>
          </a:xfrm>
          <a:prstGeom prst="line">
            <a:avLst/>
          </a:prstGeom>
          <a:noFill/>
          <a:ln w="12700">
            <a:solidFill>
              <a:srgbClr val="D4DC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27432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JSON policies, evaluates requests, produces decisions and audit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926080" y="3017520"/>
            <a:ext cx="27432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31546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HTTP/JSON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DaaS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760720" y="3017520"/>
            <a:ext cx="27432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0" y="31546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HTTP/JSON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EaaS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65760" y="47091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2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EaaS always re-fetches data from DaaS: it never trusts the caller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DATASET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RDF/XML Dataset — Ontology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635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Triples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8308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8308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78308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0040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20040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1772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1772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61772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3504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03504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03504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5236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5236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45236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65760" y="2331720"/>
            <a:ext cx="3840480" cy="594360"/>
          </a:xfrm>
          <a:prstGeom prst="rect">
            <a:avLst/>
          </a:prstGeom>
          <a:solidFill>
            <a:srgbClr val="F0F8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02920" y="2395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Namespace: 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80160" y="23957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http://sose.univaq.it/employment#  (prefix emp:)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" y="26334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Reused: foaf: · schema: · dct: · xsd: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3063240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30632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emp:Candidate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468880" y="30632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subClassOf foaf:Person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3575304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57530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emp:JobOffer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468880" y="3575304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offer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4087368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0873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emp:Company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468880" y="40873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subClassOf schema:Organization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663440" y="3063240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0" y="30632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emp:Skill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0" y="30632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/ competence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663440" y="3575304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54880" y="357530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emp:Sector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766560" y="3575304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sector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663440" y="4087368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0" y="40873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emp:Location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0" y="40873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location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DATASET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Discriminatory Proxies in the Dataset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2801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offers intentionally contain problematic fields — designed to exercise EaaS policies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1719072"/>
            <a:ext cx="100584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71907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ID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71600" y="1719072"/>
            <a:ext cx="192024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171907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1719072"/>
            <a:ext cx="283464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71907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Problematic field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719072"/>
            <a:ext cx="246888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171907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 type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103120"/>
            <a:ext cx="10058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10312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371600" y="2103120"/>
            <a:ext cx="19202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17320" y="21031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Junior Frontend Dev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91840" y="2103120"/>
            <a:ext cx="28346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37560" y="210312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emp:ageRangeMax = 30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26480" y="2103120"/>
            <a:ext cx="246888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72200" y="210312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Ageism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578608"/>
            <a:ext cx="1005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257860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job-004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371600" y="2578608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17320" y="257860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Manager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91840" y="2578608"/>
            <a:ext cx="2834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37560" y="25786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emp:genderPreference = male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2578608"/>
            <a:ext cx="24688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57860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discrimination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3054096"/>
            <a:ext cx="10058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1480" y="305409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371600" y="3054096"/>
            <a:ext cx="19202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417320" y="3054096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Gov. Contractor Dev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91840" y="3054096"/>
            <a:ext cx="28346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37560" y="305409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emp:nationalityReq = 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26480" y="3054096"/>
            <a:ext cx="246888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72200" y="305409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Nationality discrimination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5760" y="3529584"/>
            <a:ext cx="1005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352958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job-016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371600" y="3529584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417320" y="3529584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Trainee Sw. Eng.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291840" y="3529584"/>
            <a:ext cx="2834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37560" y="352958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emp:ageRangeMin=20, ageRangeMax=26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126480" y="3529584"/>
            <a:ext cx="24688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72200" y="352958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Ageism (narrow age band)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65760" y="4005072"/>
            <a:ext cx="10058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" y="400507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job-012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1371600" y="4005072"/>
            <a:ext cx="19202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417320" y="400507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Representative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291840" y="4005072"/>
            <a:ext cx="28346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37560" y="400507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salary missing, source=unknown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126480" y="4005072"/>
            <a:ext cx="246888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72200" y="4005072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data quality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65760" y="4709160"/>
            <a:ext cx="2743200" cy="274320"/>
          </a:xfrm>
          <a:prstGeom prst="roundRect">
            <a:avLst>
              <a:gd name="adj" fmla="val 20000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576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offers flagged by /api/jobs/risky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SPARQL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SPARQL Queries — Examples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325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1 · Offers by sector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841248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7373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?j ?title ?sal ?loc WHERE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?j a emp:JobOffer ; dct:title ?title ; emp:hasSector ?sec 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emp:hasLocation ?locR ; emp:salary ?sal 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?sec rdfs:label "Information Technology" 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?locR rdfs:label ?loc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9992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2 · Multi-condition match (skill overlap + location + experience)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364992"/>
            <a:ext cx="8412480" cy="1554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2920" y="3410712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?j ?title ?candLoc ?jobLoc ?remote ?reqExp ?yoe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(COUNT(DISTINCT ?sharedSkill) AS ?shared)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emp:cand-001 emp:hasLocation ?cLoc ; emp:yearsOfExperience ?yoe ; emp:hasSkill ?sharedSkill 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?cLoc rdfs:label ?candLoc 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?j a emp:JobOffer ; dct:title ?title ; emp:hasSkill ?sharedSkill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emp:requiredExperience ?reqExp ; emp:remote ?remote ; emp:hasLocation ?jLoc 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?jLoc rdfs:label ?jobLoc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GROUP BY ... ORDER BY DESC(?shared)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REST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DaaS — REST Endpoints (base URL :8081)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8412480" cy="420624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990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3990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51560" y="13624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/api/candidates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43400" y="13624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all candidates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783080"/>
            <a:ext cx="8412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8562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8562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51560" y="18196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/api/candidates/{id}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43400" y="18196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candidate by ID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240280"/>
            <a:ext cx="8412480" cy="420624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3134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313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1560" y="22768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/api/jobs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43400" y="22768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offers (sector, location, minSalary, remote) — multi-condition SPARQL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2697480"/>
            <a:ext cx="8412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27706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27706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51560" y="27340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/api/jobs/{id}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343400" y="27340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offer by ID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3154680"/>
            <a:ext cx="8412480" cy="420624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32278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32278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51560" y="31912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/api/jobs/sector/{sector}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343400" y="31912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by sector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3611880"/>
            <a:ext cx="8412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36850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36850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51560" y="36484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/api/jobs/location/{loc}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343400" y="36484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by city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5760" y="4069080"/>
            <a:ext cx="8412480" cy="420624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41422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1422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51560" y="41056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/api/jobs/risky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43400" y="41056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with discriminatory proxies or unverified provenance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343400" y="416052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43400" y="4160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65760" y="4526280"/>
            <a:ext cx="8412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7200" y="45994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599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51560" y="45628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/api/match/candidate/{id}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343400" y="45628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for candidate (skill + location + experience)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— Ethics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 a Service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  ·  ~10-12 minutes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— Evaluation Workflow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16736"/>
            <a:ext cx="438912" cy="43891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167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6072" y="1755648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1316736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97280" y="135331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Structured Request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1591056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sends: action, candidateId, jobId,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requester, purpose, declaredRisk (ignored)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029968"/>
            <a:ext cx="438912" cy="438912"/>
          </a:xfrm>
          <a:prstGeom prst="ellipse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0299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76072" y="2468880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029968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206654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Fetch Canonical Data from DaaS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230428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 fetches candidate and offer directly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DaaS — never trust the caller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743200"/>
            <a:ext cx="438912" cy="438912"/>
          </a:xfrm>
          <a:prstGeom prst="ellipse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76072" y="3182112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5840" y="2743200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97280" y="277977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Case Analysis — Policy Engine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97280" y="301752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policy is applied to the real data.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findings with severity and evidence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456432"/>
            <a:ext cx="438912" cy="438912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4564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76072" y="3895344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05840" y="3456432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097280" y="349300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 Decision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97280" y="3730752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DecisionMaker aggregates findings: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CRITICAL→REJECT, HIGH→ESCALATE, MEDIUM→REVISE, none→PROCEED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5760" y="4169664"/>
            <a:ext cx="438912" cy="438912"/>
          </a:xfrm>
          <a:prstGeom prst="ellips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1696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005840" y="4169664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1097280" y="420624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and Response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97280" y="4443984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AuditRecord saved to memory and JSONL.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response with provenance and required actions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EvaluationRequest — Structure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466344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371600"/>
            <a:ext cx="43891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"action": "recommend-job",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"candidateId": "cand-001",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"jobId": "job-003",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"requester": "ui-user:edoardo",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"purpose": "show recommendation",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EaaS ignores this field!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"declaredRisk": "LOW"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0" y="1508760"/>
            <a:ext cx="54864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669280" y="1463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of requested action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0" y="1965960"/>
            <a:ext cx="54864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66928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— EaaS uses them to fetch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data from DaaS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0" y="2697480"/>
            <a:ext cx="548640" cy="0"/>
          </a:xfrm>
          <a:prstGeom prst="line">
            <a:avLst/>
          </a:prstGeom>
          <a:noFill/>
          <a:ln w="12700">
            <a:solidFill>
              <a:srgbClr val="2F8F4E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66928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Transparency: who requests and why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3383280"/>
            <a:ext cx="548640" cy="0"/>
          </a:xfrm>
          <a:prstGeom prst="line">
            <a:avLst/>
          </a:prstGeom>
          <a:noFill/>
          <a:ln w="12700">
            <a:solidFill>
              <a:srgbClr val="B3242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5669280" y="3337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Not trusted — EaaS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recalculates risk autonomously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4 Ethical Policies — External JSON Files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2618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without recompiling · loaded at startup from policies/*.json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62763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627632"/>
            <a:ext cx="914400" cy="292608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6276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60120" y="162763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P-DISCR-001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975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Discriminatory Proxies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31343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Forbidden: ageRangeMin/Max, genderPreference, nationalityReq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offers. Regulation: D.Lgs. 198/2006, EU Dir. 2000/78/EC.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31927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3319272"/>
            <a:ext cx="914400" cy="292608"/>
          </a:xfrm>
          <a:prstGeom prst="rect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3192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60120" y="33192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5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P-PROV-002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366674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Provenance &amp; Data Quality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00507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trusted sources (company-portal, synthetic).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source = third-party-scraper / unknown → ESCALATE.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09160" y="162763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1627632"/>
            <a:ext cx="914400" cy="292608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9160" y="16276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303520" y="162763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A0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P-ACC-003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00600" y="1975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Accessibility &amp; Disability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00600" y="231343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candidate has a disability, the offer must be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disabilityFriendly. Otherwise → REVISE.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Regulation: UN CRPD Art.27, L. 68/1999.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160" y="331927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3319272"/>
            <a:ext cx="914400" cy="29260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33192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303520" y="33192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P-TRANS-004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00600" y="366674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Transparency &amp; Purpose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00600" y="400507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 and purpose must be declared.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them the recommendation is not transparent.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Regulation: GDPR Art.13/22.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PROCEED — cand-001 + job-001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3931920" cy="13716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371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Request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71907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candidateId: </a:t>
            </a:r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cand-001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(Alice Bianchi)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jobId: </a:t>
            </a:r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job-001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(Backend Java Dev)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11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company-portal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834640"/>
            <a:ext cx="3931920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88950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Evaluation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2186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policy violated — 4 policies evaluated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4930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34840" y="1325880"/>
            <a:ext cx="4343400" cy="2743200"/>
          </a:xfrm>
          <a:prstGeom prst="rect">
            <a:avLst/>
          </a:prstGeom>
          <a:solidFill>
            <a:srgbClr val="F0FFF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34840" y="182880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F8F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PROCEED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434840" y="260604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LOW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30175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policy was triggered: the recommendation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consistent with the active ethical policies."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39319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policies: P-ACC-003 · P-DISCR-001 · P-PROV-002 · P-TRANS-004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4251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actions: none  ·  The offer can be shown to the candidate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REJECT — cand-001 + job-003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3931920" cy="13716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371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Request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71907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candidateId: </a:t>
            </a:r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cand-001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(Alice Bianchi, 28 years old)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jobId: </a:t>
            </a:r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job-003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(Junior Frontend Dev)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11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third-party-scraper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834640"/>
            <a:ext cx="3931920" cy="804672"/>
          </a:xfrm>
          <a:prstGeom prst="rect">
            <a:avLst/>
          </a:prstGeom>
          <a:solidFill>
            <a:srgbClr val="FFF5F5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2834640"/>
            <a:ext cx="731520" cy="310896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8346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43000" y="28346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P-DISCR-001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31821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carries "ageRangeMax" = 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749040"/>
            <a:ext cx="3931920" cy="804672"/>
          </a:xfrm>
          <a:prstGeom prst="rect">
            <a:avLst/>
          </a:prstGeom>
          <a:solidFill>
            <a:srgbClr val="FFF8F0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3749040"/>
            <a:ext cx="731520" cy="310896"/>
          </a:xfrm>
          <a:prstGeom prst="rect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7490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43000" y="37490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5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P-PROV-002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2920" y="40965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"third-party-scraper" not trusted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34840" y="1325880"/>
            <a:ext cx="4343400" cy="2743200"/>
          </a:xfrm>
          <a:prstGeom prst="rect">
            <a:avLst/>
          </a:prstGeom>
          <a:solidFill>
            <a:srgbClr val="FFF5F5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34840" y="178308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B324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4434840" y="260604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CRITICAL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26280" y="30175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actions: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26280" y="329184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 the offer from recommendations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the responsible for the discriminatory field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to compliance officer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Audit, Integration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Reflection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3  ·  ~10-12 minutes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Trail &amp; Provenance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5029200" cy="36118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389888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"auditId": "audit-8f43...",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"timestamp": "2026-05-19T08:07:50Z",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"request": { "candidateId": "cand-001",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"jobId": "job-003" ... 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"evaluatedCandidate": { ... 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"evaluatedJob": { ... 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"riskLevel": "CRITICAL",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"decision": "REJECT",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"findings": [ { ... } 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"appliedPolicies": [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"P-ACC-003", "P-DISCR-001",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"P-PROV-002", "P-TRANS-004"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394960" y="1463040"/>
            <a:ext cx="457200" cy="0"/>
          </a:xfrm>
          <a:prstGeom prst="line">
            <a:avLst/>
          </a:prstGeom>
          <a:noFill/>
          <a:ln w="12700">
            <a:solidFill>
              <a:srgbClr val="9B59B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0" y="1417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UUID per evaluation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4960" y="1874520"/>
            <a:ext cx="457200" cy="0"/>
          </a:xfrm>
          <a:prstGeom prst="line">
            <a:avLst/>
          </a:prstGeom>
          <a:noFill/>
          <a:ln w="12700">
            <a:solidFill>
              <a:srgbClr val="9B59B6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828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ISO 8601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94960" y="2194560"/>
            <a:ext cx="45720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943600" y="2148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request (snapshot)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2514600"/>
            <a:ext cx="45720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5943600" y="2468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fetched from DaaS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provenance tracked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3291840"/>
            <a:ext cx="457200" cy="0"/>
          </a:xfrm>
          <a:prstGeom prst="line">
            <a:avLst/>
          </a:prstGeom>
          <a:noFill/>
          <a:ln w="12700">
            <a:solidFill>
              <a:srgbClr val="B3242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5943600" y="3246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decision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94960" y="3840480"/>
            <a:ext cx="457200" cy="0"/>
          </a:xfrm>
          <a:prstGeom prst="line">
            <a:avLst/>
          </a:prstGeom>
          <a:noFill/>
          <a:ln w="12700">
            <a:solidFill>
              <a:srgbClr val="2F8F4E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5943600" y="37947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policies evaluated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(including those not violated)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Persistence: in-memory (session) + append-only JSONL on disk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DaaS ↔ EaaS Flow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1005840" cy="33832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2588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463040" y="1325880"/>
            <a:ext cx="7315200" cy="33832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54480" y="132588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candidate in browser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50392" y="166420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1737360"/>
            <a:ext cx="1005840" cy="33832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73736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463040" y="1737360"/>
            <a:ext cx="73152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173736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/api/match/candidate/{id} → DaaS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0392" y="207568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2148840"/>
            <a:ext cx="1005840" cy="33832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4884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463040" y="2148840"/>
            <a:ext cx="7315200" cy="33832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54480" y="214884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Multi-condition SPARQL → list of MatchDTOs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50392" y="248716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560320"/>
            <a:ext cx="1005840" cy="33832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56032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463040" y="2560320"/>
            <a:ext cx="73152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54480" y="256032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list · User clicks 'Evaluate'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50392" y="289864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971800"/>
            <a:ext cx="1005840" cy="33832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97180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463040" y="2971800"/>
            <a:ext cx="7315200" cy="33832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4480" y="297180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/api/ethics/evaluate → EaaS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50392" y="331012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" y="3383280"/>
            <a:ext cx="1005840" cy="33832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38328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463040" y="3383280"/>
            <a:ext cx="73152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554480" y="338328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/api/candidates/{id} + /api/jobs/{id} → DaaS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50392" y="372160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794760"/>
            <a:ext cx="1005840" cy="33832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79476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463040" y="3794760"/>
            <a:ext cx="7315200" cy="33832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554480" y="379476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PolicyEngine + DecisionMaker → EvaluationResponse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50392" y="413308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4206240"/>
            <a:ext cx="1005840" cy="33832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20624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463040" y="4206240"/>
            <a:ext cx="73152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554480" y="420624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AuditService.save() → JSONL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50392" y="454456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65760" y="4617720"/>
            <a:ext cx="1005840" cy="33832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61772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463040" y="4617720"/>
            <a:ext cx="7315200" cy="33832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554480" y="461772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Displays: decision, findings, audit link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260604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Start DaaS (:8081) · EaaS (:8082) · Client (:8080)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Select cand-001 (Alice Bianchi) → view matches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Evaluate job-001 → PROCEED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Evaluate job-003 → REJECT  (ageRangeMax + scraper)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Open /audit → verify JSONL on disk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Edit a JSON policy → restart EaaS → review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REFLECTION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Limitations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325880"/>
            <a:ext cx="201168" cy="1600200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4173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 proxies not detected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78308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checks explicit fields (age, gender, nationality). Subtle proxies like postcode, university, or name are not intercepted.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3063240"/>
            <a:ext cx="201168" cy="1600200"/>
          </a:xfrm>
          <a:prstGeom prst="rect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154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Synthetic dataset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35204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artificially generated. In production, GDPR consent management, encryption, and right-to-explanation flows would be required.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132588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1325880"/>
            <a:ext cx="201168" cy="1600200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01768" y="14173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Policies written in Java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01768" y="178308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rules declare severity and parameters, but the logic is Java code. Changing behavior requires a developer.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306324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3063240"/>
            <a:ext cx="201168" cy="1600200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01768" y="3154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aggregate fairness metrics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01768" y="35204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offer is checked individually, but no systematic disparities across candidate groups are measured over time.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REFLECTION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Should NOT Be Decided Automatically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417320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32588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candidate selection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16733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recommends and evaluates ethically, but the hiring decision must always be made by a human.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176272"/>
            <a:ext cx="84124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304288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304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21284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Permanent exclusion of an offer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560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blocks the recommendation, not the offer from the system. Human review is required before permanently removing it.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84124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191256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1912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3099816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Interpreting complex legal contexts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4472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nationalityReq may be legal (e.g. national security requirements). EaaS lacks context: ESCALATE → human.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950208"/>
            <a:ext cx="84124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4078224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782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" y="3986784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Evaluating capabilities and soft skills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4400" y="433425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captures years of experience and technical skills. Motivation, communication, and company culture remain outside the model.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+ Ethics + Architecture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 a unified system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822960" cy="38404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417320" y="22860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635 RDF/XML triples · 8 REST endpoints · multi-condition SPARQL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889504"/>
            <a:ext cx="822960" cy="38404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88950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17320" y="2889504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external JSON policies · PROCEED / REVISE / ESCALATE / REJECT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93008"/>
            <a:ext cx="822960" cy="38404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49300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417320" y="349300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tracked, justified, and persisted to disk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096512"/>
            <a:ext cx="822960" cy="384048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09651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417320" y="409651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final checkbox: ethics is an integral part of the architecture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663440"/>
            <a:ext cx="365760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2026-05-25T15:24:18Z</dcterms:created>
  <dcterms:modified xsi:type="dcterms:W3CDTF">2026-05-25T15:24:18Z</dcterms:modified>
</cp:coreProperties>
</file>