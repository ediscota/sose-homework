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2" r:id="rId14"/>
    <p:sldId id="271" r:id="rId15"/>
    <p:sldId id="272" r:id="rId16"/>
    <p:sldId id="269" r:id="rId17"/>
    <p:sldId id="270" r:id="rId18"/>
    <p:sldId id="274" r:id="rId19"/>
    <p:sldId id="275" r:id="rId20"/>
    <p:sldId id="276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82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691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4926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Good morning everyone.</a:t>
            </a:r>
            <a:br>
              <a:rPr lang="en-US" dirty="0"/>
            </a:br>
            <a:r>
              <a:rPr lang="en-US" dirty="0"/>
              <a:t>In this final part of the presentation, I would like to focus on the governance and reflection aspects of our project, especially the audit trail, the ethical decision process, and the main limitations of the system.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of the core ideas behind our EaaS module is accountability.</a:t>
            </a:r>
            <a:br>
              <a:rPr lang="en-US" dirty="0"/>
            </a:br>
            <a:r>
              <a:rPr lang="en-US" dirty="0"/>
              <a:t>Every ethical evaluation performed by the system is fully tracked through an audit trail.</a:t>
            </a:r>
          </a:p>
          <a:p>
            <a:r>
              <a:rPr lang="en-US" dirty="0"/>
              <a:t>For each evaluation, the system stores a complete audit record containing:</a:t>
            </a:r>
          </a:p>
          <a:p>
            <a:r>
              <a:rPr lang="en-US" dirty="0"/>
              <a:t>a unique identifier, </a:t>
            </a:r>
          </a:p>
          <a:p>
            <a:r>
              <a:rPr lang="en-US" dirty="0"/>
              <a:t>a timestamp, </a:t>
            </a:r>
          </a:p>
          <a:p>
            <a:r>
              <a:rPr lang="en-US" dirty="0"/>
              <a:t>the original request, </a:t>
            </a:r>
          </a:p>
          <a:p>
            <a:r>
              <a:rPr lang="en-US" dirty="0"/>
              <a:t>the candidate and job data used during evaluation, </a:t>
            </a:r>
          </a:p>
          <a:p>
            <a:r>
              <a:rPr lang="en-US" dirty="0"/>
              <a:t>the final risk level, </a:t>
            </a:r>
          </a:p>
          <a:p>
            <a:r>
              <a:rPr lang="en-US" dirty="0"/>
              <a:t>the final decision, </a:t>
            </a:r>
          </a:p>
          <a:p>
            <a:r>
              <a:rPr lang="en-US" dirty="0"/>
              <a:t>and all evaluated policies. </a:t>
            </a:r>
          </a:p>
          <a:p>
            <a:r>
              <a:rPr lang="en-US" dirty="0"/>
              <a:t>This is important because it allows us to reconstruct every decision made by the system.</a:t>
            </a:r>
          </a:p>
          <a:p>
            <a:r>
              <a:rPr lang="en-US" dirty="0"/>
              <a:t>For example, if a recommendation is rejected, we can later verify:</a:t>
            </a:r>
          </a:p>
          <a:p>
            <a:r>
              <a:rPr lang="en-US" dirty="0"/>
              <a:t>who requested the evaluation, </a:t>
            </a:r>
          </a:p>
          <a:p>
            <a:r>
              <a:rPr lang="en-US" dirty="0"/>
              <a:t>which data was analyzed, </a:t>
            </a:r>
          </a:p>
          <a:p>
            <a:r>
              <a:rPr lang="en-US" dirty="0"/>
              <a:t>which ethical policies were triggered, </a:t>
            </a:r>
          </a:p>
          <a:p>
            <a:r>
              <a:rPr lang="en-US" dirty="0"/>
              <a:t>and why the system produced that result. </a:t>
            </a:r>
          </a:p>
          <a:p>
            <a:r>
              <a:rPr lang="en-US" dirty="0"/>
              <a:t>Another important aspect is provenance tracking.</a:t>
            </a:r>
          </a:p>
          <a:p>
            <a:r>
              <a:rPr lang="en-US" dirty="0"/>
              <a:t>The EaaS stores the real data fetched from the DaaS during the evaluation process.</a:t>
            </a:r>
            <a:br>
              <a:rPr lang="en-US" dirty="0"/>
            </a:br>
            <a:r>
              <a:rPr lang="en-US" dirty="0"/>
              <a:t>This means that even if the dataset changes later, we still preserve the exact snapshot that was used when the decision was made.</a:t>
            </a:r>
          </a:p>
          <a:p>
            <a:r>
              <a:rPr lang="en-US" dirty="0"/>
              <a:t>This improves transparency and reproducibility, which are fundamental concepts in ethical and trustworthy systems.</a:t>
            </a:r>
          </a:p>
          <a:p>
            <a:r>
              <a:rPr lang="en-US" dirty="0"/>
              <a:t>The audit trail is persisted using the JSONL format, meaning one JSON object per line.</a:t>
            </a:r>
          </a:p>
          <a:p>
            <a:r>
              <a:rPr lang="en-US" dirty="0"/>
              <a:t>This creates an append-only history of evaluations.</a:t>
            </a:r>
          </a:p>
          <a:p>
            <a:r>
              <a:rPr lang="en-US" dirty="0"/>
              <a:t>Previous records are never modified or overwritten.</a:t>
            </a:r>
            <a:br>
              <a:rPr lang="en-US" dirty="0"/>
            </a:br>
            <a:r>
              <a:rPr lang="en-US" dirty="0"/>
              <a:t>New evaluations are simply appended to the log.</a:t>
            </a:r>
          </a:p>
          <a:p>
            <a:r>
              <a:rPr lang="en-US" dirty="0"/>
              <a:t>This approach is commonly used in governance and compliance systems because it preserves historical evidence and improves traceability.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Regarding the ethical decision process itself, the EaaS evaluates all active policies and then aggregates the results.</a:t>
            </a:r>
          </a:p>
          <a:p>
            <a:r>
              <a:rPr lang="en-US" dirty="0"/>
              <a:t>If no policy is violated, the recommendation is accepted with a PROCEED decision and a LOW risk level.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Instead, if severe violations are detected, the recommendation may be rejected.</a:t>
            </a:r>
          </a:p>
          <a:p>
            <a:r>
              <a:rPr lang="en-US" dirty="0"/>
              <a:t>For example, in our second scenario, the offer contains an explicit age restriction and also comes from an untrusted source.</a:t>
            </a:r>
          </a:p>
          <a:p>
            <a:r>
              <a:rPr lang="en-US" dirty="0"/>
              <a:t>These elements trigger two different policies:</a:t>
            </a:r>
          </a:p>
          <a:p>
            <a:r>
              <a:rPr lang="en-US" dirty="0"/>
              <a:t>the discriminatory proxy policy, </a:t>
            </a:r>
          </a:p>
          <a:p>
            <a:r>
              <a:rPr lang="en-US" dirty="0"/>
              <a:t>and the provenance policy. </a:t>
            </a:r>
          </a:p>
          <a:p>
            <a:r>
              <a:rPr lang="en-US" dirty="0"/>
              <a:t>Because the discriminatory policy produces a CRITICAL severity finding, the final decision becomes REJECT.</a:t>
            </a:r>
          </a:p>
          <a:p>
            <a:r>
              <a:rPr lang="en-US" dirty="0"/>
              <a:t>However, an important clarification is that REJECT does not permanently remove the offer from the system.</a:t>
            </a:r>
          </a:p>
          <a:p>
            <a:r>
              <a:rPr lang="en-US" dirty="0"/>
              <a:t>The EaaS only blocks the automatic recommendation process.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Human review is still required before taking permanent actions.</a:t>
            </a:r>
          </a:p>
          <a:p>
            <a:r>
              <a:rPr lang="en-US" dirty="0"/>
              <a:t>This leads to the critical reflection section of the project.</a:t>
            </a:r>
          </a:p>
          <a:p>
            <a:r>
              <a:rPr lang="en-US" dirty="0"/>
              <a:t>Our system has several important limitations.</a:t>
            </a:r>
          </a:p>
          <a:p>
            <a:r>
              <a:rPr lang="en-US" dirty="0"/>
              <a:t>First, it only detects explicit discriminatory fields such as:</a:t>
            </a:r>
          </a:p>
          <a:p>
            <a:r>
              <a:rPr lang="en-US" dirty="0"/>
              <a:t>age limits, </a:t>
            </a:r>
          </a:p>
          <a:p>
            <a:r>
              <a:rPr lang="en-US" dirty="0"/>
              <a:t>gender preferences, </a:t>
            </a:r>
          </a:p>
          <a:p>
            <a:r>
              <a:rPr lang="en-US" dirty="0"/>
              <a:t>and nationality requirements. </a:t>
            </a:r>
          </a:p>
          <a:p>
            <a:r>
              <a:rPr lang="en-US" dirty="0"/>
              <a:t>It does not detect indirect or subtle proxies such as:</a:t>
            </a:r>
          </a:p>
          <a:p>
            <a:r>
              <a:rPr lang="en-US" dirty="0"/>
              <a:t>postcode, </a:t>
            </a:r>
          </a:p>
          <a:p>
            <a:r>
              <a:rPr lang="en-US" dirty="0"/>
              <a:t>university, </a:t>
            </a:r>
          </a:p>
          <a:p>
            <a:r>
              <a:rPr lang="en-US" dirty="0"/>
              <a:t>names, </a:t>
            </a:r>
          </a:p>
          <a:p>
            <a:r>
              <a:rPr lang="en-US" dirty="0"/>
              <a:t>or employment gaps. </a:t>
            </a:r>
          </a:p>
          <a:p>
            <a:r>
              <a:rPr lang="en-US" dirty="0"/>
              <a:t>These forms of bias are much more difficult to identify and would require advanced statistical or machine learning techniques.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Another limitation is that the ethical logic is still implemented in Java code.</a:t>
            </a:r>
          </a:p>
          <a:p>
            <a:r>
              <a:rPr lang="en-US" dirty="0"/>
              <a:t>The JSON policy files contain metadata and configuration parameters, but the actual evaluation behavior is hardcoded.</a:t>
            </a:r>
          </a:p>
          <a:p>
            <a:r>
              <a:rPr lang="en-US" dirty="0"/>
              <a:t>As a consequence, modifying the behavior of the policies still requires developer intervention.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system also does not compute aggregate fairness metrics over time.</a:t>
            </a:r>
          </a:p>
          <a:p>
            <a:r>
              <a:rPr lang="en-US" dirty="0"/>
              <a:t>Each recommendation is evaluated individually, but the platform cannot detect systemic disparities across demographic groups.</a:t>
            </a:r>
          </a:p>
          <a:p>
            <a:r>
              <a:rPr lang="en-US" dirty="0"/>
              <a:t>For example, it cannot determine whether a specific category of candidates consistently receives fewer recommendations than others.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Another limitation is that the dataset used in the project is synthetic.</a:t>
            </a:r>
          </a:p>
          <a:p>
            <a:r>
              <a:rPr lang="en-US" dirty="0"/>
              <a:t>In a real production environment, additional concerns would be necessary, including:</a:t>
            </a:r>
          </a:p>
          <a:p>
            <a:r>
              <a:rPr lang="en-US" dirty="0"/>
              <a:t>GDPR consent management, </a:t>
            </a:r>
          </a:p>
          <a:p>
            <a:r>
              <a:rPr lang="en-US" dirty="0"/>
              <a:t>encryption, </a:t>
            </a:r>
          </a:p>
          <a:p>
            <a:r>
              <a:rPr lang="en-US" dirty="0"/>
              <a:t>retention policies, </a:t>
            </a:r>
          </a:p>
          <a:p>
            <a:r>
              <a:rPr lang="en-US" dirty="0"/>
              <a:t>and right-to-explanation procedures.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Finally, there are several decisions that we intentionally decided not to automate.</a:t>
            </a:r>
          </a:p>
          <a:p>
            <a:r>
              <a:rPr lang="en-US" dirty="0"/>
              <a:t>The platform does not perform final hiring decisions.</a:t>
            </a:r>
          </a:p>
          <a:p>
            <a:r>
              <a:rPr lang="en-US" dirty="0"/>
              <a:t>It only provides recommendations and ethical evaluations.</a:t>
            </a:r>
          </a:p>
          <a:p>
            <a:r>
              <a:rPr lang="en-US" dirty="0"/>
              <a:t>The final responsibility must always remain with human decision makers.</a:t>
            </a:r>
          </a:p>
          <a:p>
            <a:endParaRPr lang="en-US" dirty="0"/>
          </a:p>
          <a:p>
            <a:r>
              <a:rPr lang="en-US" dirty="0"/>
              <a:t>Similarly, the system does not permanently exclude job offers automatically.</a:t>
            </a:r>
          </a:p>
          <a:p>
            <a:r>
              <a:rPr lang="en-US" dirty="0"/>
              <a:t>A REJECT decision only blocks automated recommendation flows until a human review is performed.</a:t>
            </a:r>
          </a:p>
          <a:p>
            <a:endParaRPr lang="en-US" dirty="0"/>
          </a:p>
          <a:p>
            <a:r>
              <a:rPr lang="en-US" dirty="0"/>
              <a:t>The EaaS also cannot interpret complex legal contexts.</a:t>
            </a:r>
          </a:p>
          <a:p>
            <a:r>
              <a:rPr lang="en-US" dirty="0"/>
              <a:t>For instance, a nationality requirement may sometimes be discriminatory, but in other cases it could be legally justified due to national security regulations.</a:t>
            </a:r>
          </a:p>
          <a:p>
            <a:r>
              <a:rPr lang="en-US" dirty="0"/>
              <a:t>The system lacks the contextual understanding required for those situations, so escalation to human review is necessary.</a:t>
            </a:r>
          </a:p>
          <a:p>
            <a:endParaRPr lang="en-US" dirty="0"/>
          </a:p>
          <a:p>
            <a:r>
              <a:rPr lang="en-US" dirty="0"/>
              <a:t>Finally, the platform does not evaluate soft skills or human qualities such as:</a:t>
            </a:r>
          </a:p>
          <a:p>
            <a:r>
              <a:rPr lang="en-US" dirty="0"/>
              <a:t>motivation, </a:t>
            </a:r>
          </a:p>
          <a:p>
            <a:r>
              <a:rPr lang="en-US" dirty="0"/>
              <a:t>communication, </a:t>
            </a:r>
          </a:p>
          <a:p>
            <a:r>
              <a:rPr lang="en-US" dirty="0"/>
              <a:t>leadership, </a:t>
            </a:r>
          </a:p>
          <a:p>
            <a:r>
              <a:rPr lang="en-US" dirty="0"/>
              <a:t>empathy, </a:t>
            </a:r>
          </a:p>
          <a:p>
            <a:r>
              <a:rPr lang="en-US" dirty="0"/>
              <a:t>or cultural fit. </a:t>
            </a:r>
          </a:p>
          <a:p>
            <a:r>
              <a:rPr lang="en-US" dirty="0"/>
              <a:t>Those dimensions remain outside the scope of our RDF model and should not be delegated to automated systems.</a:t>
            </a:r>
          </a:p>
          <a:p>
            <a:endParaRPr lang="en-US" dirty="0"/>
          </a:p>
          <a:p>
            <a:r>
              <a:rPr lang="en-US" dirty="0"/>
              <a:t>So the key message of this project is that ethics should not be treated as a final checkbox added after development.</a:t>
            </a:r>
          </a:p>
          <a:p>
            <a:r>
              <a:rPr lang="en-US" dirty="0"/>
              <a:t>Instead, governance, transparency, auditing, and human oversight should be integrated directly into the architecture of the system itself.</a:t>
            </a:r>
          </a:p>
          <a:p>
            <a:r>
              <a:rPr lang="en-US" dirty="0"/>
              <a:t>Thank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</a:rPr>
              <a:t>Employment Platform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as a Service &amp; Ethics as a Service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127248"/>
            <a:ext cx="3200400" cy="36576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503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Service-Oriented Software Engineering  ·  A.Y. 2025/2026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dell'Aquila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Edoardo Di Giuseppe. Lorenzo Di Giandomenico, Federico Capricci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Edoardo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&amp; Motivation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 &amp; Ontology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 Queries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REST APIs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Lorenzo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0156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– Workflow &amp;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Policies (4 policies)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PROCEED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REJECT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Federico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3620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&amp; Provenance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↔ EaaS Integration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Domain, Dataset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DaaS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Edoardo Di Giuseppe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Chosen Domain: Employment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7764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Employment Domain?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structured data domain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High-impact decisions affecting people's lives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of algorithmic bias and discrimination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existing regulations (D.Lgs. 198/2006, GDPR, UN CRPD)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429768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66344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Use Case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66344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20640" y="18745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agent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jobs in the system for the candidate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28032" y="2221992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663440" y="2624328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663440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6243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Module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offers via SPARQL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28032" y="2971800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4663440" y="3374136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4663440" y="3374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0" y="33741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Module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the recommendation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28032" y="3721608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4663440" y="4123944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66344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412394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tracked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 :8080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Thymeleaf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UI: candidate browsing, recommendations, evaluation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 :8081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 Jena 5.1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RDF/XML + SPARQL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329184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operations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 Queries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documentation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 :8082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2648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 engine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 JSONL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612648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JSON policies, evaluates requests, produces decisions and audit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2608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265176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DaaS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76072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548640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EaaS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" y="47091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 RDF Dataset — Ontology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07963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78308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8308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20040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20040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1772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61772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1772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03504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3504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5236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74523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523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5760" y="2331720"/>
            <a:ext cx="3840480" cy="594360"/>
          </a:xfrm>
          <a:prstGeom prst="rect">
            <a:avLst/>
          </a:prstGeom>
          <a:solidFill>
            <a:srgbClr val="F0F8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502920" y="2395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Namespace: 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80160" y="2395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http://sose.univaq.it/employment#  (prefix emp:)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26334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5720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emp:Candidate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foaf:Person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5720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emp:JobOffer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6888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offer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45720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emp:Company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46888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schema:Organization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6344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475488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emp:Skill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competence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40"/>
          <p:cNvSpPr/>
          <p:nvPr/>
        </p:nvSpPr>
        <p:spPr>
          <a:xfrm>
            <a:off x="475488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emp:Sector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76656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sector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66344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475488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emp:Location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location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SPARQL Queries — Examples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325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1 · Offers by sector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84124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502920" y="1737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?sal ?loc WHERE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emp:hasSector ?sec 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emp:hasLocation ?locR ; emp:salary ?sal 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?sec rdfs:label "Information Technology" 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?locR rdfs:label ?loc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9992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2 · Multi-condition match (skill overlap + location + experience)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364992"/>
            <a:ext cx="8412480" cy="1554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02920" y="3410712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?candLoc ?jobLoc ?remote ?reqExp ?yoe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(COUNT(DISTINCT ?sharedSkill) AS ?shared)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emp:cand-001 emp:hasLocation ?cLoc ; emp:yearsOfExperience ?yoe ; emp:hasSkill ?sharedSkill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?cLoc rdfs:label ?candLoc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emp:hasSkill ?sharedSkill 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emp:requiredExperience ?reqExp ; emp:remote ?remote ; emp:hasLocation ?jLoc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?jLoc rdfs:label ?jobLoc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GROUP BY ... ORDER BY DESC(?shared)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REST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0045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— Full REST API  (http://localhost:8081)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365760" y="4215384"/>
            <a:ext cx="8412480" cy="2743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3" name="Text 91"/>
          <p:cNvSpPr/>
          <p:nvPr/>
        </p:nvSpPr>
        <p:spPr>
          <a:xfrm>
            <a:off x="502920" y="4215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Swagger UI: http://localhost:8081/swagger-ui.html  —  interactive API documentation for all endpoints</a:t>
            </a:r>
            <a:endParaRPr lang="en-US" sz="950" dirty="0"/>
          </a:p>
        </p:txBody>
      </p:sp>
      <p:pic>
        <p:nvPicPr>
          <p:cNvPr id="99" name="Immagine 98">
            <a:extLst>
              <a:ext uri="{FF2B5EF4-FFF2-40B4-BE49-F238E27FC236}">
                <a16:creationId xmlns:a16="http://schemas.microsoft.com/office/drawing/2014/main" id="{45A4887D-53CE-A9E2-06DE-26276C618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2" y="1292609"/>
            <a:ext cx="8895400" cy="2794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Ethics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Service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Lorenzo Di Giandomenico 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Evaluation Workflow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408176"/>
            <a:ext cx="438912" cy="43891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65760" y="1408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847088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1005840" y="1316736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097280" y="135331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Structured Request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15910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sends: action, </a:t>
            </a:r>
            <a:r>
              <a:rPr lang="en-US" sz="1000" dirty="0" err="1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</a:t>
            </a: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jobId,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requester, purpose, </a:t>
            </a:r>
            <a:r>
              <a:rPr lang="en-US" sz="1000" dirty="0" err="1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declaredRisk</a:t>
            </a: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121408"/>
            <a:ext cx="438912" cy="438912"/>
          </a:xfrm>
          <a:prstGeom prst="ellipse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65760" y="2121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76072" y="2560320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1005840" y="2029968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1097280" y="206654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 Canonical Data from DaaS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230428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fetches candidate and offer directly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DaaS — never trust the caller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834640"/>
            <a:ext cx="438912" cy="438912"/>
          </a:xfrm>
          <a:prstGeom prst="ellipse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365760" y="2834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" y="3273552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1005840" y="2743200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1097280" y="277977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 Analysis — Policy Engine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7280" y="30175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policy is applied to the real data.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findings with severity and evidence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547872"/>
            <a:ext cx="438912" cy="438912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365760" y="3547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3986784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Shape 26"/>
          <p:cNvSpPr/>
          <p:nvPr/>
        </p:nvSpPr>
        <p:spPr>
          <a:xfrm>
            <a:off x="1005840" y="3456432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1097280" y="349300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Decision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97280" y="373075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DecisionMaker aggregates findings: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CRITICAL→REJECT, HIGH→ESCALATE, MEDIUM→REVISE, none→PROCEED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" y="4261104"/>
            <a:ext cx="438912" cy="438912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365760" y="4261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05840" y="4169664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1097280" y="420624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and Response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97280" y="444398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AuditRecord saved to memory and JSONL.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response with provenance and required actions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EvaluationRequest — Structure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66344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43891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"action": "recommend-job",</a:t>
            </a:r>
            <a:endParaRPr lang="en-US" sz="11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"candidateId": "cand-001",</a:t>
            </a:r>
            <a:endParaRPr lang="en-US" sz="11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"jobId": "job-003",</a:t>
            </a:r>
            <a:endParaRPr lang="en-US" sz="11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"requester": "ui-user:edoardo",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"purpose": "show recommendation",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100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EaaS ignores this field!</a:t>
            </a:r>
            <a:endParaRPr lang="en-US" sz="11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"declaredRisk": "LOW"</a:t>
            </a:r>
            <a:endParaRPr lang="en-US" sz="11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1508760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669280" y="12664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of requested action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0" y="1853419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669280" y="16139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— EaaS uses them to fetch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data from DaaS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2226213"/>
            <a:ext cx="54864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  <p:txBody>
          <a:bodyPr/>
          <a:lstStyle/>
          <a:p>
            <a:endParaRPr lang="it-IT" dirty="0"/>
          </a:p>
        </p:txBody>
      </p:sp>
      <p:sp>
        <p:nvSpPr>
          <p:cNvPr id="14" name="Text 12"/>
          <p:cNvSpPr/>
          <p:nvPr/>
        </p:nvSpPr>
        <p:spPr>
          <a:xfrm>
            <a:off x="5669280" y="1997613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Transparency: who requests and why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757971"/>
            <a:ext cx="54864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669280" y="250018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Not trusted — EaaS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recalculates risk autonomously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4 Ethical Policies — External JSON Files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601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P-DISCR-001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Discriminatory Proxies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Forbidden: ageRangeMin/Max, genderPreference, nationalityReq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offers. Regulation: D.Lgs. 198/2006, EU Dir. 2000/78/EC.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01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P-PROV-002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Provenance &amp; Data Quality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trusted sources (company-portal, synthetic).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source = third-party-scraper / unknown → ESCALATE.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035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8A0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P-ACC-003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006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Accessibility &amp; Disability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candidate has a disability, the offer must be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disabilityFriendly. Otherwise → REVISE.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Regulation: UN CRPD Art.27, L. 68/1999.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3035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P-TRANS-004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Transparency &amp; Purpose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006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and purpose must be declared.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 the recommendation is not transparent.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Regulation: GDPR Art.13/22.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Discriminatory Proxies in the Dataset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offers intentionally contain problematic fields — designed to exercise EaaS policies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ID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Problematic field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type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103120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11480" y="21031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0" y="2103120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1417320" y="21031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Frontend Dev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2103120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3337560" y="21031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emp:ageRangeMax = 30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2103120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6172200" y="21031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578608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11480" y="257860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371600" y="2578608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1417320" y="257860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Manager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91840" y="2578608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3337560" y="25786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emp:genderPreference = male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578608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6172200" y="25786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discrimination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054096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11480" y="30540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371600" y="3054096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1417320" y="305409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Gov. Contractor Dev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91840" y="3054096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35"/>
          <p:cNvSpPr/>
          <p:nvPr/>
        </p:nvSpPr>
        <p:spPr>
          <a:xfrm>
            <a:off x="3337560" y="305409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emp:nationalityReq = 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26480" y="3054096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6172200" y="3054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Nationality discrimination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529584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Text 39"/>
          <p:cNvSpPr/>
          <p:nvPr/>
        </p:nvSpPr>
        <p:spPr>
          <a:xfrm>
            <a:off x="411480" y="352958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job-016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371600" y="3529584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1"/>
          <p:cNvSpPr/>
          <p:nvPr/>
        </p:nvSpPr>
        <p:spPr>
          <a:xfrm>
            <a:off x="1417320" y="352958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Trainee Sw. Eng.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91840" y="3529584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3337560" y="35295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emp:ageRangeMin=20, ageRangeMax=26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26480" y="3529584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5"/>
          <p:cNvSpPr/>
          <p:nvPr/>
        </p:nvSpPr>
        <p:spPr>
          <a:xfrm>
            <a:off x="6172200" y="35295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 (narrow age band)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65760" y="4005072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9" name="Text 47"/>
          <p:cNvSpPr/>
          <p:nvPr/>
        </p:nvSpPr>
        <p:spPr>
          <a:xfrm>
            <a:off x="411480" y="40050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job-012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371600" y="4005072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1" name="Text 49"/>
          <p:cNvSpPr/>
          <p:nvPr/>
        </p:nvSpPr>
        <p:spPr>
          <a:xfrm>
            <a:off x="1417320" y="400507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Representative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291840" y="4005072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3" name="Text 51"/>
          <p:cNvSpPr/>
          <p:nvPr/>
        </p:nvSpPr>
        <p:spPr>
          <a:xfrm>
            <a:off x="3337560" y="40050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salary missing, source=unknown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126480" y="4005072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5" name="Text 53"/>
          <p:cNvSpPr/>
          <p:nvPr/>
        </p:nvSpPr>
        <p:spPr>
          <a:xfrm>
            <a:off x="6172200" y="400507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data quality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657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offers flagged by /api/jobs/risky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Audit, Integration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Reflection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Federico Capricci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Trail &amp; Provenance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03020"/>
            <a:ext cx="5029200" cy="3611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89888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E48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"auditId": "audit-8f43...",</a:t>
            </a:r>
            <a:endParaRPr lang="en-US" sz="1050" dirty="0">
              <a:solidFill>
                <a:srgbClr val="E482F4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E48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"timestamp": "2026-05-19T08:07:50Z",</a:t>
            </a:r>
            <a:endParaRPr lang="en-US" sz="1050" dirty="0">
              <a:solidFill>
                <a:srgbClr val="E482F4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00B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"request": { "candidateId": "cand-001",</a:t>
            </a:r>
            <a:endParaRPr lang="en-US" sz="1050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00B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"jobId": "job-003" ... },</a:t>
            </a:r>
            <a:endParaRPr lang="en-US" sz="1050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"evaluatedCandidate": { ... },</a:t>
            </a:r>
            <a:endParaRPr lang="en-US" sz="105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"evaluatedJob": { ... },</a:t>
            </a:r>
            <a:endParaRPr lang="en-US" sz="105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"riskLevel": "CRITICAL",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"decision": "REJECT",</a:t>
            </a:r>
            <a:endParaRPr lang="en-US" sz="105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"findings": [ { ... } ],</a:t>
            </a:r>
            <a:endParaRPr lang="en-US" sz="105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"appliedPolicies": [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"P-ACC-003", "P-DISCR-001",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"P-PROV-002", "P-TRANS-004"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394960" y="1663931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943600" y="1417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UUID per evaluation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4960" y="1828800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943600" y="15864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ISO 8601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2043684"/>
            <a:ext cx="4572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594360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request (snapshot)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403764"/>
            <a:ext cx="457200" cy="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943600" y="2180843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fetched from DaaS</a:t>
            </a:r>
            <a:endParaRPr lang="en-US" sz="1000" dirty="0">
              <a:solidFill>
                <a:srgbClr val="FFC00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tracked</a:t>
            </a:r>
            <a:endParaRPr lang="en-US" sz="1000" dirty="0">
              <a:solidFill>
                <a:srgbClr val="FFC000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386647" y="2876203"/>
            <a:ext cx="45720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5943600" y="2648989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decision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86647" y="3272443"/>
            <a:ext cx="45720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5943600" y="305638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policies evaluated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(including those not violated)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PROCEED — cand-001 + job-001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job-001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(Backend Java Dev)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company-portal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02920" y="288950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Evaluation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2186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policy violated — 4 policies evaluated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4930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0FFF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34840" y="182880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F8F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PROCEED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LOW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30175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policy was triggered: the recommendation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consistent with the active ethical policies."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policies: P-ACC-003 · P-DISCR-001 · P-PROV-002 · P-TRANS-004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251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 none  ·  The offer can be shown to the candidate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REJECT — cand-001 + job-003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Bianchi, 28 years old)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(Junior Frontend Dev)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1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third-party-scraper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804672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43000" y="2834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P-DISCR-001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1821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carries "ageRangeMax" = 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749040"/>
            <a:ext cx="3931920" cy="804672"/>
          </a:xfrm>
          <a:prstGeom prst="rect">
            <a:avLst/>
          </a:prstGeom>
          <a:solidFill>
            <a:srgbClr val="FFF8F0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43000" y="37490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P-PROV-002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40965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"third-party-scraper" not trusted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34840" y="17830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B324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CRITICAL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26280" y="30175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26280" y="32918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the offer from recommendations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responsible for the discriminatory field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compliance officer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578608"/>
            <a:ext cx="83210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Start DaaS (:8081) · EaaS (:8082) · Client (:8080)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Browse Swagger UI → localhost:8081/swagger-ui.html  (explore all CRUD endpoints)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Create a new candidate via the web form (CRUD in action)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Select cand-001 (Alice Bianchi) → view match recommendations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Evaluate job-001 → PROCEED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Evaluate job-003 → REJECT  (ageRangeMax + third-party-scraper)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Open /api/audit → verify AuditRecord · check JSONL on disk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Edit a JSON policy file → restart EaaS → rerun evaluation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Limitations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365760" y="1325880"/>
            <a:ext cx="201168" cy="1600200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583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 proxies not detected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checks explicit fields (age, gender, nationality). Subtle proxies like postcode, university, or name are not intercepted.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201168" cy="1600200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583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Synthetic dataset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artificially generated. In production, GDPR consent management, encryption, and right-to-explanation flows would be required.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709160" y="132588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50017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Policies written in Java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017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rules declare severity and parameters, but the logic is Java code. Changing behavior requires a developer.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4709160" y="306324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50017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aggregate fairness metrics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017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offer is checked individually, but no systematic disparities across candidate groups are measured over time.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Should NOT Be Decided Automatically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657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32588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candidate selection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6733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recommends and evaluates ethically, but the hiring decision must always be made by a human.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176272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65760" y="2304288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65760" y="2304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21284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Permanent exclusion of an offer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560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blocks the recommendation, not the offer from the system. Human review is required before permanently removing it.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365760" y="3191256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365760" y="3191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09981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Interpreting complex legal contexts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447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nationalityReq may be legal (e.g. national security requirements). EaaS lacks context: ESCALATE → human.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50208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365760" y="4078224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365760" y="4078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398678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 capabilities and soft skills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33425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captures years of experience and technical skills. Motivation, communication, and company culture remain outside the model.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+ Ethics + Architecture</a:t>
            </a:r>
            <a:endParaRPr lang="en-US" sz="3600" dirty="0"/>
          </a:p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unified system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22860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635 RDF/XML triples · 7 controllers · full CRUD · Swagger UI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17320" y="288950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external JSON policies · PROCEED / REVISE / ESCALATE / REJECT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17320" y="349300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tracked, justified, and persisted to disk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417320" y="40965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final checkbox: ethics is an integral part of the architecture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36576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2565</Words>
  <Application>Microsoft Office PowerPoint</Application>
  <PresentationFormat>Presentazione su schermo (16:9)</PresentationFormat>
  <Paragraphs>441</Paragraphs>
  <Slides>21</Slides>
  <Notes>21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6" baseType="lpstr">
      <vt:lpstr>Arial</vt:lpstr>
      <vt:lpstr>Calibri</vt:lpstr>
      <vt:lpstr>Consolas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Federico Capricci</cp:lastModifiedBy>
  <cp:revision>3</cp:revision>
  <dcterms:created xsi:type="dcterms:W3CDTF">2026-05-26T11:47:16Z</dcterms:created>
  <dcterms:modified xsi:type="dcterms:W3CDTF">2026-05-27T09:12:09Z</dcterms:modified>
</cp:coreProperties>
</file>