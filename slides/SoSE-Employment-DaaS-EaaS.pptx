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822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 Platform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503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+ EaaS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as a Service &amp; Ethics as a Service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127248"/>
            <a:ext cx="3200400" cy="36576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291840"/>
            <a:ext cx="8503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Service-Oriented Software Engineering  ·  A.Y. 2025/2026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dell'Aquila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of 3 students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&amp; Motivation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 &amp; Ontology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Queries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 APIs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0156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– Workflow &amp; Architecture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Policies (4 policies)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PROCEED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REJECT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09728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9728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36208" y="1554480"/>
            <a:ext cx="2377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Provenance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↔ EaaS Integration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~10-12 min each  ·  30-36 min total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Domain, Dataset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DaaS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1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Chosen Domain: Employment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7764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463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Employment?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2024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structured data domain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decisions affecting people's lives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of algorithmic bias and discrimination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mentioned in the assignment specification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existing regulations (D.Lgs. 198/2006, GDPR, UN CRPD)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429768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Use Case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874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187452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for jobs in the system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28032" y="2221992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2624328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120640" y="26243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offers via SPARQL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28032" y="2971800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3374136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374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20640" y="337413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 the recommendation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28032" y="3721608"/>
            <a:ext cx="0" cy="402336"/>
          </a:xfrm>
          <a:prstGeom prst="line">
            <a:avLst/>
          </a:prstGeom>
          <a:noFill/>
          <a:ln w="19050">
            <a:solidFill>
              <a:srgbClr val="2C5F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4123944"/>
            <a:ext cx="347472" cy="34747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41239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Application Architecture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  :8080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9B59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Thymeleaf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UI: candidate browsing, recommendations, evaluation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 :8081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Apache Jena 5.1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RDF/XML + SPARQL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REST controllers · full CRUD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matching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UI: /swagger-ui.html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2560320" cy="347472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35040" y="1325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 :8082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26480" y="1874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 Boot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Policy engine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 JSONL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2377440" cy="0"/>
          </a:xfrm>
          <a:prstGeom prst="line">
            <a:avLst/>
          </a:prstGeom>
          <a:noFill/>
          <a:ln w="12700">
            <a:solidFill>
              <a:srgbClr val="D4D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0" y="2743200"/>
            <a:ext cx="2377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JSON policies, evaluates requests, produces decisions and audit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92608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DaaS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760720" y="3017520"/>
            <a:ext cx="27432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154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EaaS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709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EaaS always re-fetches data from DaaS: it never trusts the caller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RDF/XML Dataset — Ontology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635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57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Triples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78308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20040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1772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1772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61772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3504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03504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52360" y="1325880"/>
            <a:ext cx="1234440" cy="822960"/>
          </a:xfrm>
          <a:prstGeom prst="rect">
            <a:avLst/>
          </a:prstGeom>
          <a:solidFill>
            <a:srgbClr val="1D2D4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52360" y="137160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452360" y="182880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5760" y="2331720"/>
            <a:ext cx="3840480" cy="594360"/>
          </a:xfrm>
          <a:prstGeom prst="rect">
            <a:avLst/>
          </a:prstGeom>
          <a:solidFill>
            <a:srgbClr val="F0F8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2395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Namespace: 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8016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http://sose.univaq.it/employment#  (prefix emp:)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26334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Reused: foaf: · schema: · dct: · xsd: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emp:Candidate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46888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foaf:Person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emp:JobOffer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246888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offer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emp:Company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46888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subClassOf schema:Organization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663440" y="3063240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0" y="30632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emp:Skill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/ competence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663440" y="3575304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54880" y="357530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emp:Sector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766560" y="3575304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63440" y="4087368"/>
            <a:ext cx="4069080" cy="41148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408736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emp:Location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766560" y="408736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 in the Dataset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801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offers intentionally contain problematic fields — designed to exercise EaaS policies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71907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1719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71907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Problematic field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71907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 type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103120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031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2103120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17320" y="21031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Frontend Dev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0" y="2103120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21031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emp:ageRangeMax = 30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126480" y="2103120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72200" y="21031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1480" y="257860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371600" y="2578608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17320" y="2578608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Manager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578608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37560" y="25786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emp:genderPreference = male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578608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578608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 discrimination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5760" y="3054096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305409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71600" y="3054096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17320" y="3054096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Gov. Contractor Dev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3054096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37560" y="305409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emp:nationalityReq = IT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3054096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305409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Nationality discrimination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65760" y="3529584"/>
            <a:ext cx="10058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352958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371600" y="3529584"/>
            <a:ext cx="19202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17320" y="3529584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Trainee Sw. Eng.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291840" y="3529584"/>
            <a:ext cx="2834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37560" y="35295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emp:ageRangeMin=20, ageRangeMax=26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126480" y="3529584"/>
            <a:ext cx="24688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72200" y="352958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Ageism (narrow age band)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4005072"/>
            <a:ext cx="10058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1480" y="40050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job-012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371600" y="4005072"/>
            <a:ext cx="19202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417320" y="4005072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Representative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291840" y="4005072"/>
            <a:ext cx="283464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37560" y="40050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salary missing, source=unknown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126480" y="4005072"/>
            <a:ext cx="2468880" cy="43891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172200" y="4005072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data quality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5760" y="4709160"/>
            <a:ext cx="2743200" cy="274320"/>
          </a:xfrm>
          <a:prstGeom prst="roundRect">
            <a:avLst>
              <a:gd name="adj" fmla="val 20000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offers flagged by /api/jobs/risky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SPARQL Queries — Examples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325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1 · Offers by sector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8412480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737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?sal ?loc WHERE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emp:hasSector ?sec 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emp:hasLocation ?locR ; emp:salary ?sal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?sec rdfs:label "Information Technology" 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?locR rdfs:label ?loc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99923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Query 2 · Multi-condition match (skill overlap + location + experience)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364992"/>
            <a:ext cx="8412480" cy="1554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" y="3410712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?j ?title ?candLoc ?jobLoc ?remote ?reqExp ?yoe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(COUNT(DISTINCT ?sharedSkill) AS ?shared)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{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emp:cand-001 emp:hasLocation ?cLoc ; emp:yearsOfExperience ?yoe ; emp:hasSkill ?sharedSkill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?cLoc rdfs:label ?candLoc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 a emp:JobOffer ; dct:title ?title ; emp:hasSkill ?sharedSkill ;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emp:requiredExperience ?reqExp ; emp:remote ?remote ; emp:hasLocation ?jLoc 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?jLoc rdfs:label ?jobLoc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GROUP BY ... ORDER BY DESC(?shared)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1D2D44"/>
          </a:solidFill>
          <a:ln w="12700">
            <a:solidFill>
              <a:srgbClr val="1D2D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 REST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DaaS — Full REST API  (base: http://localhost:8081)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35024"/>
            <a:ext cx="8412480" cy="402336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62456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/api/candidates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7276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job-seeker candidates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606040" y="1435608"/>
            <a:ext cx="402336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43560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058668" y="1435608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58668" y="143560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767328" y="1435608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67328" y="14356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274820" y="1435608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4820" y="143560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983480" y="1435608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83480" y="143560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65760" y="1737360"/>
            <a:ext cx="8412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1764792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/api/jobs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1975104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?sector &amp;location &amp;minSalary &amp;remote  ·  +GET /risky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2606040" y="1837944"/>
            <a:ext cx="438912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06040" y="1837944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GET*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095244" y="1837944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95244" y="1837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803904" y="1837944"/>
            <a:ext cx="731520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03904" y="18379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/risky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4585716" y="1837944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85716" y="183794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93208" y="1837944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93208" y="183794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801868" y="1837944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801868" y="1837944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365760" y="2139696"/>
            <a:ext cx="8412480" cy="402336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167128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/api/match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2377440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SPARQL recommendations  —  read-only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606040" y="2240280"/>
            <a:ext cx="1325880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224028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/candidate/{id}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365760" y="2542032"/>
            <a:ext cx="8412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2569464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/api/companies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2779776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companies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606040" y="2642616"/>
            <a:ext cx="402336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2642616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058668" y="2642616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58668" y="26426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767328" y="2642616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67328" y="264261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4820" y="2642616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4820" y="26426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4983480" y="2642616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83480" y="2642616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65760" y="2944368"/>
            <a:ext cx="8412480" cy="402336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2971800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/api/skills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57200" y="3182112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catalogue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606040" y="3044952"/>
            <a:ext cx="402336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606040" y="3044952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058668" y="3044952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058668" y="30449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767328" y="3044952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767328" y="30449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4274820" y="3044952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274820" y="304495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983480" y="3044952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83480" y="3044952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65760" y="3346704"/>
            <a:ext cx="841248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7200" y="3374136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/api/sectors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3584448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sectors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606040" y="3447288"/>
            <a:ext cx="402336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606040" y="3447288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3058668" y="3447288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058668" y="3447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3767328" y="3447288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767328" y="344728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4274820" y="3447288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74820" y="3447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983480" y="3447288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83480" y="344728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3749040"/>
            <a:ext cx="8412480" cy="402336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457200" y="3776472"/>
            <a:ext cx="20665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/api/locations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457200" y="3986784"/>
            <a:ext cx="206654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locations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2606040" y="3849624"/>
            <a:ext cx="402336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606040" y="3849624"/>
            <a:ext cx="4023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3058668" y="3849624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058668" y="38496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/{id}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3767328" y="3849624"/>
            <a:ext cx="457200" cy="201168"/>
          </a:xfrm>
          <a:prstGeom prst="roundRect">
            <a:avLst>
              <a:gd name="adj" fmla="val 13636"/>
            </a:avLst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767328" y="38496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274820" y="3849624"/>
            <a:ext cx="658368" cy="201168"/>
          </a:xfrm>
          <a:prstGeom prst="roundRect">
            <a:avLst>
              <a:gd name="adj" fmla="val 13636"/>
            </a:avLst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74820" y="38496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/{id}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4983480" y="3849624"/>
            <a:ext cx="749808" cy="201168"/>
          </a:xfrm>
          <a:prstGeom prst="roundRect">
            <a:avLst>
              <a:gd name="adj" fmla="val 1363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983480" y="3849624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DELETE/{id}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65760" y="4215384"/>
            <a:ext cx="8412480" cy="2743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02920" y="4215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 Swagger UI: http://localhost:8081/swagger-ui.html  —  interactive API documentation for all endpoints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Ethics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Service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— Evaluation Workflow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16736"/>
            <a:ext cx="438912" cy="438912"/>
          </a:xfrm>
          <a:prstGeom prst="ellipse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167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6072" y="1755648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316736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35331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Structured Request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5910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client sends: action, candidateId, jobId,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requester, purpose, declaredRisk (ignored)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38912" cy="438912"/>
          </a:xfrm>
          <a:prstGeom prst="ellipse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0299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6072" y="2468880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5840" y="2029968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206654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Fetch Canonical Data from DaaS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30428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 fetches candidate and offer directly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DaaS — never trust the caller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438912" cy="438912"/>
          </a:xfrm>
          <a:prstGeom prst="ellipse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" y="3182112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" y="2743200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277977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Analysis — Policy 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97280" y="301752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is applied to the real data.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findings with severity and evidence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3456432"/>
            <a:ext cx="438912" cy="438912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4564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76072" y="3895344"/>
            <a:ext cx="0" cy="27432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3456432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1097280" y="349300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 Decision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97280" y="373075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DecisionMaker aggregates findings: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CRITICAL→REJECT, HIGH→ESCALATE, MEDIUM→REVISE, none→PROCEED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5760" y="4169664"/>
            <a:ext cx="438912" cy="438912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1696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05840" y="4169664"/>
            <a:ext cx="7772400" cy="621792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1097280" y="42062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and Response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444398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AuditRecord saved to memory and JSONL.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response with provenance and required actions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EvaluationRequest — Structure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66344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43891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"action": "recommend-job",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"candidateId": "cand-001",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"jobId": "job-003",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"requester": "ui-user:edoardo",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"purpose": "show recommendation",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EaaS ignores this field!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"declaredRisk": "LOW"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0" y="15087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669280" y="1463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of requested action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965960"/>
            <a:ext cx="54864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66928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— EaaS uses them to fetch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data from DaaS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2697480"/>
            <a:ext cx="54864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669280" y="26517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Transparency: who requests and why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3383280"/>
            <a:ext cx="54864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669280" y="33375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Not trusted — EaaS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risk autonomously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4 Ethical Policies — External JSON Files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26187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Editable without recompiling · loaded at startup from policies/*.json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601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Discriminatory Proxies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Forbidden: ageRangeMin/Max, genderPreference, nationalityReq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offers. Regulation: D.Lgs. 198/2006, EU Dir. 2000/78/EC.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Provenance &amp; Data Quality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trusted sources (company-portal, synthetic).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source = third-party-scraper / unknown → ESCALATE.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709160" y="162763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276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303520" y="16276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A0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P-ACC-003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00600" y="197510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Accessibility &amp; Disability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00600" y="231343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candidate has a disability, the offer must be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disabilityFriendly. Otherwise → REVISE.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UN CRPD Art.27, L. 68/1999.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319272"/>
            <a:ext cx="4160520" cy="157276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3192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5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P-TRANS-004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366674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Transparency &amp; Purpose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00600" y="4005072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and purpose must be declared.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 the recommendation is not transparent.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Regulation: GDPR Art.13/22.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PROCEED — cand-001 + job-001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(Backend Java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company-portal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100584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88950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EaaS Evaluation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2186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policy violated — 4 policies evaluated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4930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0FFF4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434840" y="18288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F8F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PROCEED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0175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policy was triggered: the recommendation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consistent with the active ethical policies."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5760" y="39319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policies: P-ACC-003 · P-DISCR-001 · P-PROV-002 · P-TRANS-004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 none  ·  The offer can be shown to the candidate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REJECT — cand-001 + job-003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3931920" cy="13716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71907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cand-001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(Alice Bianchi, 28 years old)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jobId: </a:t>
            </a:r>
            <a:pPr indent="0" marL="0">
              <a:buNone/>
            </a:pPr>
            <a:r>
              <a:rPr lang="en-US" sz="11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job-003</a:t>
            </a:r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(Junior Frontend Dev)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pPr indent="0" marL="0">
              <a:buNone/>
            </a:pPr>
            <a:r>
              <a:rPr lang="en-US" sz="11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third-party-scraper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" y="2834640"/>
            <a:ext cx="3931920" cy="804672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8346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43000" y="28346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3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P-DISCR-001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1821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carries "ageRangeMax" = 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749040"/>
            <a:ext cx="3931920" cy="804672"/>
          </a:xfrm>
          <a:prstGeom prst="rect">
            <a:avLst/>
          </a:prstGeom>
          <a:solidFill>
            <a:srgbClr val="FFF8F0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74904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43000" y="374904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25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P-PROV-002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409651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"third-party-scraper" not trusted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325880"/>
            <a:ext cx="4343400" cy="2743200"/>
          </a:xfrm>
          <a:prstGeom prst="rect">
            <a:avLst/>
          </a:prstGeom>
          <a:solidFill>
            <a:srgbClr val="FFF5F5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325880"/>
            <a:ext cx="4343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34840" y="17830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324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REJECT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4434840" y="26060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CRITICAL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526280" y="30175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actions: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26280" y="32918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the offer from recommendations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the responsible for the discriminatory field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compliance officer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Audit, Integration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Reflection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  ·  ~10-12 minutes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Trail &amp; Provenance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5029200" cy="36118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389888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"auditId": "audit-8f43...",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"2026-05-19T08:07:50Z",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"request": { "candidateId": "cand-001",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"jobId": "job-003"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"evaluatedCandidate":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"evaluatedJob": { ... },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"riskLevel": "CRITICAL",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"decision": "REJECT",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"findings": [ { ... } ],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"appliedPolicies": [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"P-ACC-003", "P-DISCR-001",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"P-PROV-002", "P-TRANS-004"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394960" y="146304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0" y="1417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UUID per evaluation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4960" y="1874520"/>
            <a:ext cx="457200" cy="0"/>
          </a:xfrm>
          <a:prstGeom prst="line">
            <a:avLst/>
          </a:prstGeom>
          <a:noFill/>
          <a:ln w="12700">
            <a:solidFill>
              <a:srgbClr val="9B59B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5943600" y="1828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ISO 8601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19456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request (snapshot)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514600"/>
            <a:ext cx="4572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943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fetched from DaaS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C5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provenance tracked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3291840"/>
            <a:ext cx="457200" cy="0"/>
          </a:xfrm>
          <a:prstGeom prst="line">
            <a:avLst/>
          </a:prstGeom>
          <a:noFill/>
          <a:ln w="12700">
            <a:solidFill>
              <a:srgbClr val="B3242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594360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324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decision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840480"/>
            <a:ext cx="457200" cy="0"/>
          </a:xfrm>
          <a:prstGeom prst="line">
            <a:avLst/>
          </a:prstGeom>
          <a:noFill/>
          <a:ln w="12700">
            <a:solidFill>
              <a:srgbClr val="2F8F4E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5943600" y="37947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policies evaluated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F8F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(including those not violated)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in-memory (session) + append-only JSONL on disk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 DaaS ↔ EaaS Flow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258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63040" y="132588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13258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candidate in browser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0392" y="16642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17373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463040" y="173736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17373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/api/match/candidate/{id} → DaaS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0392" y="20756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488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463040" y="214884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1488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Multi-condition SPARQL → list of MatchDTOs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0392" y="24871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5603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463040" y="256032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4480" y="25603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list · User clicks 'Evaluate'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0392" y="289864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97180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463040" y="297180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4480" y="297180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/api/ethics/evaluate → EaaS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50392" y="331012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38328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463040" y="338328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54480" y="338328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/api/candidates/{id} + /api/jobs/{id} → DaaS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50392" y="372160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79476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463040" y="379476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554480" y="379476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PolicyEngine + DecisionMaker → EvaluationResponse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50392" y="413308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20624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463040" y="4206240"/>
            <a:ext cx="731520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554480" y="420624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AuditService.save() → JSONL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850392" y="4544568"/>
            <a:ext cx="0" cy="73152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17720"/>
            <a:ext cx="10058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463040" y="4617720"/>
            <a:ext cx="7315200" cy="338328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554480" y="4617720"/>
            <a:ext cx="7132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Displays: decision, findings, audit link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2578608"/>
            <a:ext cx="832104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Start DaaS (:8081) · EaaS (:8082) · Client (:8080)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Browse Swagger UI → localhost:8081/swagger-ui.html  (explore all CRUD endpoints)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Create a new candidate via the web form (CRUD in action)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Select cand-001 (Alice Bianchi) → view match recommendations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Evaluate job-001 → PROCEED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Evaluate job-003 → REJECT  (ageRangeMax + third-party-scraper)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Open /api/audit → verify AuditRecord · check JSONL on disk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Edit a JSON policy file → restart EaaS → rerun evaluation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Limitations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201168" cy="1600200"/>
          </a:xfrm>
          <a:prstGeom prst="rect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Indirect proxies not detected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checks explicit fields (age, gender, nationality). Subtle proxies like postcode, university, or name are not intercepted.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3063240"/>
            <a:ext cx="201168" cy="1600200"/>
          </a:xfrm>
          <a:prstGeom prst="rect">
            <a:avLst/>
          </a:prstGeom>
          <a:solidFill>
            <a:srgbClr val="C25A00"/>
          </a:solidFill>
          <a:ln w="12700">
            <a:solidFill>
              <a:srgbClr val="C25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Synthetic dataset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artificially generated. In production, GDPR consent management, encryption, and right-to-explanation flows would be required.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09160" y="132588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132588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Policies written in Java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1768" y="178308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rules declare severity and parameters, but the logic is Java code. Changing behavior requires a developer.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3063240"/>
            <a:ext cx="4160520" cy="1600200"/>
          </a:xfrm>
          <a:prstGeom prst="rect">
            <a:avLst/>
          </a:prstGeom>
          <a:solidFill>
            <a:srgbClr val="EEF3FF"/>
          </a:solidFill>
          <a:ln w="12700">
            <a:solidFill>
              <a:srgbClr val="D4DC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3063240"/>
            <a:ext cx="201168" cy="1600200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01768" y="3154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aggregate fairness metrics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01768" y="3520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offer is checked individually, but no systematic disparities across candidate groups are measured over time.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1737360" cy="256032"/>
          </a:xfrm>
          <a:prstGeom prst="roundRect">
            <a:avLst>
              <a:gd name="adj" fmla="val 14286"/>
            </a:avLst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01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REFLECTION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566928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Should NOT Be Decided Automatically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0" y="48463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417320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17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325880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Final candidate selection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673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recommends and evaluates ethically, but the hiring decision must always be made by a human.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76272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304288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2212848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Permanent exclusion of an offer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560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blocks the recommendation, not the offer from the system. Human review is required before permanently removing it.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191256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19125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3099816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Interpreting complex legal contexts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447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nationalityReq may be legal (e.g. national security requirements). EaaS lacks context: ESCALATE → human.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50208"/>
            <a:ext cx="841248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078224"/>
            <a:ext cx="411480" cy="411480"/>
          </a:xfrm>
          <a:prstGeom prst="ellipse">
            <a:avLst/>
          </a:prstGeom>
          <a:solidFill>
            <a:srgbClr val="B32424"/>
          </a:solidFill>
          <a:ln w="12700">
            <a:solidFill>
              <a:srgbClr val="B324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7822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398678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Evaluating capabilities and soft skills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4400" y="43342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captures years of experience and technical skills. Motivation, communication, and company culture remain outside the model.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D2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+ Ethics + Architecture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a unified system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solidFill>
            <a:srgbClr val="2C5FDC"/>
          </a:solidFill>
          <a:ln w="12700">
            <a:solidFill>
              <a:srgbClr val="2C5F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635 RDF/XML triples · 7 controllers · full CRUD · Swagger UI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889504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EaaS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417320" y="2889504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external JSON policies · PROCEED / REVISE / ESCALATE / REJECT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49300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417320" y="349300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tracked, justified, and persisted to disk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solidFill>
            <a:srgbClr val="D8A01A"/>
          </a:solidFill>
          <a:ln w="12700">
            <a:solidFill>
              <a:srgbClr val="D8A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096512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417320" y="40965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final checkbox: ethics is an integral part of the architecture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3657600" cy="0"/>
          </a:xfrm>
          <a:prstGeom prst="line">
            <a:avLst/>
          </a:prstGeom>
          <a:noFill/>
          <a:ln w="12700">
            <a:solidFill>
              <a:srgbClr val="2C5F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2026-05-26T11:47:16Z</dcterms:created>
  <dcterms:modified xsi:type="dcterms:W3CDTF">2026-05-26T11:47:16Z</dcterms:modified>
</cp:coreProperties>
</file>