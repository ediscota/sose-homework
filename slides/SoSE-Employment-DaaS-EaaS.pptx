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5" Type="http://schemas.openxmlformats.org/officeDocument/2006/relationships/slide" Target="slides/slide2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5" name="Google Shape;5;n"/>
          <p:cNvSpPr txBox="1"/>
          <p:nvPr>
            <p:ph idx="3" type="hdr"/>
          </p:nvPr>
        </p:nvSpPr>
        <p:spPr>
          <a:xfrm>
            <a:off x="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6" name="Google Shape;6;n"/>
          <p:cNvSpPr txBox="1"/>
          <p:nvPr>
            <p:ph idx="10" type="dt"/>
          </p:nvPr>
        </p:nvSpPr>
        <p:spPr>
          <a:xfrm>
            <a:off x="4278960" y="0"/>
            <a:ext cx="3280680" cy="534240"/>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10157400"/>
            <a:ext cx="3280680" cy="534240"/>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4278960" y="10157400"/>
            <a:ext cx="3280680" cy="53424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000000"/>
              </a:buClr>
              <a:buSzPts val="1400"/>
              <a:buFont typeface="Times New Roman"/>
              <a:buNone/>
            </a:pPr>
            <a:fld id="{00000000-1234-1234-1234-123412341234}" type="slidenum">
              <a:rPr b="0" i="0" lang="en-US" sz="1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 name="Google Shape;15;p1: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16" name="Google Shape;16;p1: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 name="Google Shape;26;p2: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27" name="Google Shape;27;p2: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47" name="Google Shape;47;p3: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4: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 name="Google Shape;55;p4: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56" name="Google Shape;56;p4: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5: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p5: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86" name="Google Shape;86;p5: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6: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p6: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119" name="Google Shape;119;p6: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7: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8" name="Google Shape;168;p7: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169" name="Google Shape;169;p7: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8: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8: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185" name="Google Shape;185;p8: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9: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9: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spcBef>
                <a:spcPts val="0"/>
              </a:spcBef>
              <a:spcAft>
                <a:spcPts val="0"/>
              </a:spcAft>
              <a:buNone/>
            </a:pPr>
            <a:r>
              <a:rPr lang="en-US">
                <a:solidFill>
                  <a:srgbClr val="000000"/>
                </a:solidFill>
              </a:rPr>
              <a:t>Thank you, Edoardo, for illustrating the data architecture and the inner workings of our DaaS module.</a:t>
            </a:r>
            <a:endParaRPr/>
          </a:p>
          <a:p>
            <a:pPr indent="0" lvl="0" marL="0" rtl="0" algn="l">
              <a:spcBef>
                <a:spcPts val="0"/>
              </a:spcBef>
              <a:spcAft>
                <a:spcPts val="0"/>
              </a:spcAft>
              <a:buNone/>
            </a:pPr>
            <a:r>
              <a:rPr lang="en-US">
                <a:solidFill>
                  <a:srgbClr val="000000"/>
                </a:solidFill>
              </a:rPr>
              <a:t>With my section, we enter the second pillar of our project: </a:t>
            </a:r>
            <a:r>
              <a:rPr b="1" lang="en-US">
                <a:solidFill>
                  <a:srgbClr val="000000"/>
                </a:solidFill>
              </a:rPr>
              <a:t>Ethics as a Service</a:t>
            </a:r>
            <a:r>
              <a:rPr lang="en-US">
                <a:solidFill>
                  <a:srgbClr val="000000"/>
                </a:solidFill>
              </a:rPr>
              <a:t>. As Edoardo just explained, managing large amounts of structured data offers extraordinary </a:t>
            </a:r>
            <a:r>
              <a:rPr lang="en-US">
                <a:solidFill>
                  <a:srgbClr val="000000"/>
                </a:solidFill>
              </a:rPr>
              <a:t>matching </a:t>
            </a:r>
            <a:r>
              <a:rPr lang="en-US">
                <a:solidFill>
                  <a:srgbClr val="000000"/>
                </a:solidFill>
              </a:rPr>
              <a:t>opportunities, but it also exposes us to massive risks regarding </a:t>
            </a:r>
            <a:r>
              <a:rPr lang="en-US">
                <a:solidFill>
                  <a:srgbClr val="000000"/>
                </a:solidFill>
              </a:rPr>
              <a:t>structural </a:t>
            </a:r>
            <a:r>
              <a:rPr lang="en-US">
                <a:solidFill>
                  <a:srgbClr val="000000"/>
                </a:solidFill>
              </a:rPr>
              <a:t>discrimination and regulatory violations.</a:t>
            </a:r>
            <a:endParaRPr/>
          </a:p>
          <a:p>
            <a:pPr indent="0" lvl="0" marL="0" rtl="0" algn="l">
              <a:spcBef>
                <a:spcPts val="0"/>
              </a:spcBef>
              <a:spcAft>
                <a:spcPts val="0"/>
              </a:spcAft>
              <a:buNone/>
            </a:pPr>
            <a:r>
              <a:rPr lang="en-US">
                <a:solidFill>
                  <a:srgbClr val="000000"/>
                </a:solidFill>
              </a:rPr>
              <a:t>Our goal was not to build a simple data filter module, but to create an independent, fully decoupled microservice. The EaaS module was born to separa</a:t>
            </a:r>
            <a:r>
              <a:rPr lang="en-US">
                <a:solidFill>
                  <a:srgbClr val="000000"/>
                </a:solidFill>
              </a:rPr>
              <a:t>te</a:t>
            </a:r>
            <a:r>
              <a:rPr lang="en-US">
                <a:solidFill>
                  <a:srgbClr val="000000"/>
                </a:solidFill>
              </a:rPr>
              <a:t> the computational logic of data storage from the logic of ethical and legal evaluation. In the next few slides, we will look in detail at how this architecture receives requests, how the policy engine applies rules, and the criteria we use to validate the compliance of a job recommendation.</a:t>
            </a:r>
            <a:endParaRPr/>
          </a:p>
        </p:txBody>
      </p:sp>
      <p:sp>
        <p:nvSpPr>
          <p:cNvPr id="198" name="Google Shape;198;p9: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10: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6" name="Google Shape;206;p10: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spcBef>
                <a:spcPts val="0"/>
              </a:spcBef>
              <a:spcAft>
                <a:spcPts val="0"/>
              </a:spcAft>
              <a:buNone/>
            </a:pPr>
            <a:r>
              <a:rPr lang="en-US">
                <a:solidFill>
                  <a:srgbClr val="000000"/>
                </a:solidFill>
              </a:rPr>
              <a:t>To understand how the EaaS module works in practice, let's analyze its </a:t>
            </a:r>
            <a:r>
              <a:rPr b="1" lang="en-US">
                <a:solidFill>
                  <a:srgbClr val="000000"/>
                </a:solidFill>
              </a:rPr>
              <a:t>Evaluation Workflow</a:t>
            </a:r>
            <a:r>
              <a:rPr lang="en-US">
                <a:solidFill>
                  <a:srgbClr val="000000"/>
                </a:solidFill>
              </a:rPr>
              <a:t>, which is broken down into five steps.</a:t>
            </a:r>
            <a:endParaRPr/>
          </a:p>
          <a:p>
            <a:pPr indent="-285750" lvl="0" marL="285750" rtl="0" algn="l">
              <a:spcBef>
                <a:spcPts val="0"/>
              </a:spcBef>
              <a:spcAft>
                <a:spcPts val="0"/>
              </a:spcAft>
              <a:buClr>
                <a:srgbClr val="000000"/>
              </a:buClr>
              <a:buSzPts val="1200"/>
              <a:buFont typeface="Arial"/>
              <a:buChar char="•"/>
            </a:pPr>
            <a:r>
              <a:rPr b="1" lang="en-US">
                <a:solidFill>
                  <a:srgbClr val="000000"/>
                </a:solidFill>
              </a:rPr>
              <a:t>Step</a:t>
            </a:r>
            <a:r>
              <a:rPr b="1" lang="en-US">
                <a:solidFill>
                  <a:srgbClr val="000000"/>
                </a:solidFill>
              </a:rPr>
              <a:t> 1: Structured Request.</a:t>
            </a:r>
            <a:r>
              <a:rPr lang="en-US">
                <a:solidFill>
                  <a:srgbClr val="000000"/>
                </a:solidFill>
              </a:rPr>
              <a:t> It all begins when the Client sends a formal request to the EaaS endpoint. Inside this JSON payload, specific metadata are outlined like the action to perform, the candidate ID, the job offer ID, the requester, the purpose, and a client-declared risk level.</a:t>
            </a:r>
            <a:endParaRPr/>
          </a:p>
          <a:p>
            <a:pPr indent="-285750" lvl="0" marL="285750" rtl="0" algn="l">
              <a:spcBef>
                <a:spcPts val="0"/>
              </a:spcBef>
              <a:spcAft>
                <a:spcPts val="0"/>
              </a:spcAft>
              <a:buClr>
                <a:srgbClr val="000000"/>
              </a:buClr>
              <a:buSzPts val="1200"/>
              <a:buFont typeface="Arial"/>
              <a:buChar char="•"/>
            </a:pPr>
            <a:r>
              <a:rPr b="1" lang="en-US"/>
              <a:t>Step</a:t>
            </a:r>
            <a:r>
              <a:rPr b="1" lang="en-US">
                <a:solidFill>
                  <a:srgbClr val="000000"/>
                </a:solidFill>
              </a:rPr>
              <a:t> 2: Fetch Canonical Data from DaaS.</a:t>
            </a:r>
            <a:r>
              <a:rPr lang="en-US">
                <a:solidFill>
                  <a:srgbClr val="000000"/>
                </a:solidFill>
              </a:rPr>
              <a:t> This is a critical step from a security standpoint. The EaaS adheres to a strict principle: </a:t>
            </a:r>
            <a:r>
              <a:rPr i="1" lang="en-US">
                <a:solidFill>
                  <a:srgbClr val="000000"/>
                </a:solidFill>
              </a:rPr>
              <a:t>never trust the caller</a:t>
            </a:r>
            <a:r>
              <a:rPr lang="en-US">
                <a:solidFill>
                  <a:srgbClr val="000000"/>
                </a:solidFill>
              </a:rPr>
              <a:t>.</a:t>
            </a:r>
            <a:r>
              <a:rPr lang="en-US">
                <a:solidFill>
                  <a:srgbClr val="000000"/>
                </a:solidFill>
              </a:rPr>
              <a:t> To guarantee this the </a:t>
            </a:r>
            <a:r>
              <a:rPr lang="en-US">
                <a:solidFill>
                  <a:srgbClr val="000000"/>
                </a:solidFill>
              </a:rPr>
              <a:t>EaaS takes only the candidate and job IDs and directly queries the DaaS to retrieve the canonical, certified data straight from the RDF dataset. This prevents a malicious client from altering the candidate profile or the job data </a:t>
            </a:r>
            <a:r>
              <a:rPr lang="en-US">
                <a:solidFill>
                  <a:srgbClr val="000000"/>
                </a:solidFill>
              </a:rPr>
              <a:t>t</a:t>
            </a:r>
            <a:r>
              <a:rPr lang="en-US">
                <a:solidFill>
                  <a:srgbClr val="000000"/>
                </a:solidFill>
              </a:rPr>
              <a:t>o bypass our ethical checks.</a:t>
            </a:r>
            <a:endParaRPr/>
          </a:p>
          <a:p>
            <a:pPr indent="-285750" lvl="0" marL="285750" rtl="0" algn="l">
              <a:spcBef>
                <a:spcPts val="0"/>
              </a:spcBef>
              <a:spcAft>
                <a:spcPts val="0"/>
              </a:spcAft>
              <a:buClr>
                <a:srgbClr val="000000"/>
              </a:buClr>
              <a:buSzPts val="1200"/>
              <a:buFont typeface="Arial"/>
              <a:buChar char="•"/>
            </a:pPr>
            <a:r>
              <a:rPr b="1" lang="en-US"/>
              <a:t>Step</a:t>
            </a:r>
            <a:r>
              <a:rPr b="1" lang="en-US">
                <a:solidFill>
                  <a:srgbClr val="000000"/>
                </a:solidFill>
              </a:rPr>
              <a:t> 3: Case Analysis via the Policy Engine.</a:t>
            </a:r>
            <a:r>
              <a:rPr lang="en-US">
                <a:solidFill>
                  <a:srgbClr val="000000"/>
                </a:solidFill>
              </a:rPr>
              <a:t> Once the actual, immutable data is fetched, the policy engine starts. Each of our ethical policies is applied individually to the real data. The engine doesn't just perform a binary boolean check; it produces detailed "findings", mapping each potential violation to a specific severity level and its supporting evidence.</a:t>
            </a:r>
            <a:endParaRPr/>
          </a:p>
          <a:p>
            <a:pPr indent="-285750" lvl="0" marL="285750" rtl="0" algn="l">
              <a:spcBef>
                <a:spcPts val="0"/>
              </a:spcBef>
              <a:spcAft>
                <a:spcPts val="0"/>
              </a:spcAft>
              <a:buClr>
                <a:srgbClr val="000000"/>
              </a:buClr>
              <a:buSzPts val="1200"/>
              <a:buFont typeface="Arial"/>
              <a:buChar char="•"/>
            </a:pPr>
            <a:r>
              <a:rPr b="1" lang="en-US"/>
              <a:t>Step</a:t>
            </a:r>
            <a:r>
              <a:rPr b="1" lang="en-US">
                <a:solidFill>
                  <a:srgbClr val="000000"/>
                </a:solidFill>
              </a:rPr>
              <a:t> 4: Governance Decision.</a:t>
            </a:r>
            <a:r>
              <a:rPr lang="en-US">
                <a:solidFill>
                  <a:srgbClr val="000000"/>
                </a:solidFill>
              </a:rPr>
              <a:t> At the end of the analysis, the Decision Maker aggregates all gathered findings. The final verdict is calculated based on the maximum severity found: an extreme violation leads to a </a:t>
            </a:r>
            <a:r>
              <a:rPr i="1" lang="en-US">
                <a:solidFill>
                  <a:srgbClr val="000000"/>
                </a:solidFill>
              </a:rPr>
              <a:t>CRITICAL REJECT</a:t>
            </a:r>
            <a:r>
              <a:rPr lang="en-US">
                <a:solidFill>
                  <a:srgbClr val="000000"/>
                </a:solidFill>
              </a:rPr>
              <a:t>; high-severity issues trigger an </a:t>
            </a:r>
            <a:r>
              <a:rPr i="1" lang="en-US">
                <a:solidFill>
                  <a:srgbClr val="000000"/>
                </a:solidFill>
              </a:rPr>
              <a:t>HIGH ESCALATE</a:t>
            </a:r>
            <a:r>
              <a:rPr lang="en-US">
                <a:solidFill>
                  <a:srgbClr val="000000"/>
                </a:solidFill>
              </a:rPr>
              <a:t>; minor anomalies result in a </a:t>
            </a:r>
            <a:r>
              <a:rPr i="1" lang="en-US">
                <a:solidFill>
                  <a:srgbClr val="000000"/>
                </a:solidFill>
              </a:rPr>
              <a:t>MEDIUM REVISE</a:t>
            </a:r>
            <a:r>
              <a:rPr lang="en-US">
                <a:solidFill>
                  <a:srgbClr val="000000"/>
                </a:solidFill>
              </a:rPr>
              <a:t>; and if no policies are triggered, the system grants a green light, resulting in a </a:t>
            </a:r>
            <a:r>
              <a:rPr i="1" lang="en-US">
                <a:solidFill>
                  <a:srgbClr val="000000"/>
                </a:solidFill>
              </a:rPr>
              <a:t>PROCEED</a:t>
            </a:r>
            <a:r>
              <a:rPr lang="en-US">
                <a:solidFill>
                  <a:srgbClr val="000000"/>
                </a:solidFill>
              </a:rPr>
              <a:t> status.</a:t>
            </a:r>
            <a:endParaRPr/>
          </a:p>
          <a:p>
            <a:pPr indent="-285750" lvl="0" marL="285750" rtl="0" algn="l">
              <a:spcBef>
                <a:spcPts val="0"/>
              </a:spcBef>
              <a:spcAft>
                <a:spcPts val="0"/>
              </a:spcAft>
              <a:buClr>
                <a:srgbClr val="000000"/>
              </a:buClr>
              <a:buSzPts val="1200"/>
              <a:buFont typeface="Arial"/>
              <a:buChar char="•"/>
            </a:pPr>
            <a:r>
              <a:rPr b="1" lang="en-US"/>
              <a:t>Step</a:t>
            </a:r>
            <a:r>
              <a:rPr b="1" lang="en-US">
                <a:solidFill>
                  <a:srgbClr val="000000"/>
                </a:solidFill>
              </a:rPr>
              <a:t> 5: Audit and Response</a:t>
            </a:r>
            <a:r>
              <a:rPr lang="en-US">
                <a:solidFill>
                  <a:srgbClr val="000000"/>
                </a:solidFill>
              </a:rPr>
              <a:t>. At the end of all the previous steps an AuditRecord is generated, saved permanently to disk in JSONL format. The client then receives a complete response containing the final decision, full provenance tracking, and any required corrective actions. </a:t>
            </a:r>
            <a:r>
              <a:rPr lang="en-US"/>
              <a:t>This</a:t>
            </a:r>
            <a:r>
              <a:rPr lang="en-US"/>
              <a:t> final step guarantees absolute system transparency and accountability</a:t>
            </a:r>
            <a:endParaRPr/>
          </a:p>
        </p:txBody>
      </p:sp>
      <p:sp>
        <p:nvSpPr>
          <p:cNvPr id="207" name="Google Shape;207;p10: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1: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5" name="Google Shape;245;p11: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spcBef>
                <a:spcPts val="0"/>
              </a:spcBef>
              <a:spcAft>
                <a:spcPts val="0"/>
              </a:spcAft>
              <a:buNone/>
            </a:pPr>
            <a:r>
              <a:rPr lang="en-US">
                <a:solidFill>
                  <a:srgbClr val="000000"/>
                </a:solidFill>
              </a:rPr>
              <a:t>Let's now see how this structure translates into the actual software implementation by looking closely at an </a:t>
            </a:r>
            <a:r>
              <a:rPr b="1" lang="en-US">
                <a:solidFill>
                  <a:srgbClr val="000000"/>
                </a:solidFill>
              </a:rPr>
              <a:t>EvaluationRequest</a:t>
            </a:r>
            <a:r>
              <a:rPr lang="en-US">
                <a:solidFill>
                  <a:srgbClr val="000000"/>
                </a:solidFill>
              </a:rPr>
              <a:t> via a real JSON payload.</a:t>
            </a:r>
            <a:endParaRPr/>
          </a:p>
          <a:p>
            <a:pPr indent="-317500" lvl="0" marL="457200" rtl="0" algn="l">
              <a:spcBef>
                <a:spcPts val="0"/>
              </a:spcBef>
              <a:spcAft>
                <a:spcPts val="0"/>
              </a:spcAft>
              <a:buClr>
                <a:srgbClr val="000000"/>
              </a:buClr>
              <a:buSzPts val="1400"/>
              <a:buChar char="-"/>
            </a:pPr>
            <a:r>
              <a:rPr lang="en-US">
                <a:solidFill>
                  <a:srgbClr val="000000"/>
                </a:solidFill>
              </a:rPr>
              <a:t>As you can see, the structure is clean and strongly typed. We find the "action" field, which is set to "recommend-job", defining the nature of the operation. </a:t>
            </a:r>
            <a:endParaRPr>
              <a:solidFill>
                <a:srgbClr val="000000"/>
              </a:solidFill>
            </a:endParaRPr>
          </a:p>
          <a:p>
            <a:pPr indent="-317500" lvl="0" marL="457200" rtl="0" algn="l">
              <a:spcBef>
                <a:spcPts val="0"/>
              </a:spcBef>
              <a:spcAft>
                <a:spcPts val="0"/>
              </a:spcAft>
              <a:buClr>
                <a:srgbClr val="000000"/>
              </a:buClr>
              <a:buSzPts val="1400"/>
              <a:buChar char="-"/>
            </a:pPr>
            <a:r>
              <a:rPr lang="en-US">
                <a:solidFill>
                  <a:srgbClr val="000000"/>
                </a:solidFill>
              </a:rPr>
              <a:t>Next, we have the "candidateId" and "jobId" keys. As I told before, these IDs are the only hooks EaaS will use to trigger the backend call toward the DaaS module.</a:t>
            </a:r>
            <a:endParaRPr/>
          </a:p>
          <a:p>
            <a:pPr indent="-317500" lvl="0" marL="457200" rtl="0" algn="l">
              <a:spcBef>
                <a:spcPts val="0"/>
              </a:spcBef>
              <a:spcAft>
                <a:spcPts val="0"/>
              </a:spcAft>
              <a:buClr>
                <a:srgbClr val="000000"/>
              </a:buClr>
              <a:buSzPts val="1400"/>
              <a:buChar char="-"/>
            </a:pPr>
            <a:r>
              <a:rPr lang="en-US">
                <a:solidFill>
                  <a:srgbClr val="000000"/>
                </a:solidFill>
              </a:rPr>
              <a:t>The nets fields are "requester", set to the client user and "purpose", which describes the scope of the request, such as "show recommendation". These two parameters are vital for meeting transparency requirements under current regulations, ensuring we always know who initiated the action and for what purpose.</a:t>
            </a:r>
            <a:endParaRPr/>
          </a:p>
          <a:p>
            <a:pPr indent="-317500" lvl="0" marL="457200" rtl="0" algn="l">
              <a:spcBef>
                <a:spcPts val="0"/>
              </a:spcBef>
              <a:spcAft>
                <a:spcPts val="0"/>
              </a:spcAft>
              <a:buClr>
                <a:srgbClr val="000000"/>
              </a:buClr>
              <a:buSzPts val="1400"/>
              <a:buChar char="-"/>
            </a:pPr>
            <a:r>
              <a:rPr lang="en-US">
                <a:solidFill>
                  <a:srgbClr val="000000"/>
                </a:solidFill>
              </a:rPr>
              <a:t>Finally, I would like to direct your attention to the very last field: "declaredRisk": "LOW". As said before, the EaaS module </a:t>
            </a:r>
            <a:r>
              <a:rPr b="1" lang="en-US">
                <a:solidFill>
                  <a:srgbClr val="000000"/>
                </a:solidFill>
              </a:rPr>
              <a:t>completely disregards this field</a:t>
            </a:r>
            <a:r>
              <a:rPr lang="en-US">
                <a:solidFill>
                  <a:srgbClr val="000000"/>
                </a:solidFill>
              </a:rPr>
              <a:t>. Because our application embraces a paradigm of autonomous and decentralized validation, so this self-declared risk from the client side is </a:t>
            </a:r>
            <a:r>
              <a:rPr lang="en-US">
                <a:solidFill>
                  <a:srgbClr val="000000"/>
                </a:solidFill>
              </a:rPr>
              <a:t>treated as un</a:t>
            </a:r>
            <a:r>
              <a:rPr lang="en-US">
                <a:solidFill>
                  <a:srgbClr val="000000"/>
                </a:solidFill>
              </a:rPr>
              <a:t>truste</a:t>
            </a:r>
            <a:r>
              <a:rPr lang="en-US">
                <a:solidFill>
                  <a:srgbClr val="000000"/>
                </a:solidFill>
              </a:rPr>
              <a:t>d</a:t>
            </a:r>
            <a:r>
              <a:rPr lang="en-US">
                <a:solidFill>
                  <a:srgbClr val="000000"/>
                </a:solidFill>
              </a:rPr>
              <a:t>. EaaS recalculates the risk level entirely on its own based solely on the execution of its internal rules, neutralizing any attempt at fraudulent certification or tempering by the client application.</a:t>
            </a:r>
            <a:endParaRPr/>
          </a:p>
        </p:txBody>
      </p:sp>
      <p:sp>
        <p:nvSpPr>
          <p:cNvPr id="246" name="Google Shape;246;p11: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12: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5" name="Google Shape;265;p12: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spcBef>
                <a:spcPts val="0"/>
              </a:spcBef>
              <a:spcAft>
                <a:spcPts val="0"/>
              </a:spcAft>
              <a:buNone/>
            </a:pPr>
            <a:r>
              <a:rPr lang="en-US">
                <a:solidFill>
                  <a:srgbClr val="000000"/>
                </a:solidFill>
              </a:rPr>
              <a:t>W</a:t>
            </a:r>
            <a:r>
              <a:rPr lang="en-US">
                <a:solidFill>
                  <a:srgbClr val="000000"/>
                </a:solidFill>
              </a:rPr>
              <a:t>e have formalized and implemented </a:t>
            </a:r>
            <a:r>
              <a:rPr b="1" lang="en-US">
                <a:solidFill>
                  <a:srgbClr val="000000"/>
                </a:solidFill>
              </a:rPr>
              <a:t>4 distinct Ethical Policies</a:t>
            </a:r>
            <a:r>
              <a:rPr lang="en-US">
                <a:solidFill>
                  <a:srgbClr val="000000"/>
                </a:solidFill>
              </a:rPr>
              <a:t>, one for each severity tiers. These policies reside in external JSON files, allowing us to dynamically update regulatory thresholds and parameters without modifying the core Java engine.</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Our first policy, with a </a:t>
            </a:r>
            <a:r>
              <a:rPr b="1" lang="en-US">
                <a:solidFill>
                  <a:srgbClr val="000000"/>
                </a:solidFill>
              </a:rPr>
              <a:t>CRITICAL</a:t>
            </a:r>
            <a:r>
              <a:rPr lang="en-US">
                <a:solidFill>
                  <a:srgbClr val="000000"/>
                </a:solidFill>
              </a:rPr>
              <a:t> severity tier, is a </a:t>
            </a:r>
            <a:r>
              <a:rPr i="1" lang="en-US">
                <a:solidFill>
                  <a:srgbClr val="000000"/>
                </a:solidFill>
              </a:rPr>
              <a:t>Discriminatory Proxies</a:t>
            </a:r>
            <a:r>
              <a:rPr lang="en-US">
                <a:solidFill>
                  <a:srgbClr val="000000"/>
                </a:solidFill>
              </a:rPr>
              <a:t>. This rule strictly forbids the evaluation of explicit exclusion criteria based on fixed age ranges, gender preferences, or unjustified nationality requirements within job offers. From a legal compliance perspective, this policy aligns with the Italian Legislative Decree 198 of 2006 (the Equal Opportunities Code) and the European Directive 2000/78/EC for equal treatment in employment.</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Moving to the </a:t>
            </a:r>
            <a:r>
              <a:rPr b="1" lang="en-US">
                <a:solidFill>
                  <a:srgbClr val="000000"/>
                </a:solidFill>
              </a:rPr>
              <a:t>HIGH</a:t>
            </a:r>
            <a:r>
              <a:rPr lang="en-US">
                <a:solidFill>
                  <a:srgbClr val="000000"/>
                </a:solidFill>
              </a:rPr>
              <a:t> tier, we find </a:t>
            </a:r>
            <a:r>
              <a:rPr i="1" lang="en-US">
                <a:solidFill>
                  <a:srgbClr val="000000"/>
                </a:solidFill>
              </a:rPr>
              <a:t>Provenance &amp; Data Quality</a:t>
            </a:r>
            <a:r>
              <a:rPr lang="en-US">
                <a:solidFill>
                  <a:srgbClr val="000000"/>
                </a:solidFill>
              </a:rPr>
              <a:t>. The principle here is that the ethical reliability of a recommendation depends on the integrity of its source. The system trusts certified sources, such as direct company portals or controlled synthetic datasets. However, if an offer comes from unverified channels, such as a third-party scraper or an unknown source, it instantly triggers an </a:t>
            </a:r>
            <a:r>
              <a:rPr i="1" lang="en-US">
                <a:solidFill>
                  <a:srgbClr val="000000"/>
                </a:solidFill>
              </a:rPr>
              <a:t>ESCALATE</a:t>
            </a:r>
            <a:r>
              <a:rPr lang="en-US">
                <a:solidFill>
                  <a:srgbClr val="000000"/>
                </a:solidFill>
              </a:rPr>
              <a:t> flag, demanding human oversight.</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The third policy at the </a:t>
            </a:r>
            <a:r>
              <a:rPr b="1" lang="en-US">
                <a:solidFill>
                  <a:srgbClr val="000000"/>
                </a:solidFill>
              </a:rPr>
              <a:t>MEDIUM</a:t>
            </a:r>
            <a:r>
              <a:rPr lang="en-US">
                <a:solidFill>
                  <a:srgbClr val="000000"/>
                </a:solidFill>
              </a:rPr>
              <a:t> severity tier is called </a:t>
            </a:r>
            <a:r>
              <a:rPr i="1" lang="en-US">
                <a:solidFill>
                  <a:srgbClr val="000000"/>
                </a:solidFill>
              </a:rPr>
              <a:t>Accessibility &amp; Disability</a:t>
            </a:r>
            <a:r>
              <a:rPr lang="en-US">
                <a:solidFill>
                  <a:srgbClr val="000000"/>
                </a:solidFill>
              </a:rPr>
              <a:t>. This rule dictates that if a candidate's profile flags a disability, the recommended job offer must explicitly carry a "disabilityFriendly" tag. If this matching requirement is not met, the system forces a </a:t>
            </a:r>
            <a:r>
              <a:rPr i="1" lang="en-US">
                <a:solidFill>
                  <a:srgbClr val="000000"/>
                </a:solidFill>
              </a:rPr>
              <a:t>REVISE</a:t>
            </a:r>
            <a:r>
              <a:rPr lang="en-US">
                <a:solidFill>
                  <a:srgbClr val="000000"/>
                </a:solidFill>
              </a:rPr>
              <a:t> state, flagging the recommendation for lacking inclusivity. The legal frameworks referenced here are Article 27 of the UN Convention on the Rights of Persons with Disabilities and the Italian Law 68 of 1999 concerning the right to work for disabled individuals.</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Lastly, at the </a:t>
            </a:r>
            <a:r>
              <a:rPr b="1" lang="en-US">
                <a:solidFill>
                  <a:srgbClr val="000000"/>
                </a:solidFill>
              </a:rPr>
              <a:t>LOW</a:t>
            </a:r>
            <a:r>
              <a:rPr lang="en-US">
                <a:solidFill>
                  <a:srgbClr val="000000"/>
                </a:solidFill>
              </a:rPr>
              <a:t> severity tier, we have </a:t>
            </a:r>
            <a:r>
              <a:rPr i="1" lang="en-US">
                <a:solidFill>
                  <a:srgbClr val="000000"/>
                </a:solidFill>
              </a:rPr>
              <a:t>Transparency &amp; Purpose</a:t>
            </a:r>
            <a:r>
              <a:rPr lang="en-US">
                <a:solidFill>
                  <a:srgbClr val="000000"/>
                </a:solidFill>
              </a:rPr>
              <a:t>. This rule verifies the actual presence of the requester identity and the purpose fields that we looked in the previous slide. If these fields are omitted, the recommendation loses the basic transparency requirements mandated by Articles 13 and 22 of the GDPR, triggering a low-level risk alert.</a:t>
            </a:r>
            <a:endParaRPr/>
          </a:p>
        </p:txBody>
      </p:sp>
      <p:sp>
        <p:nvSpPr>
          <p:cNvPr id="266" name="Google Shape;266;p12: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3: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3: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spcBef>
                <a:spcPts val="0"/>
              </a:spcBef>
              <a:spcAft>
                <a:spcPts val="0"/>
              </a:spcAft>
              <a:buNone/>
            </a:pPr>
            <a:r>
              <a:rPr lang="en-US">
                <a:solidFill>
                  <a:srgbClr val="000000"/>
                </a:solidFill>
              </a:rPr>
              <a:t>To test our Policy Engine in pseudo real-world conditions, we didn't just stick </a:t>
            </a:r>
            <a:r>
              <a:rPr lang="en-US">
                <a:solidFill>
                  <a:srgbClr val="000000"/>
                </a:solidFill>
              </a:rPr>
              <a:t>to </a:t>
            </a:r>
            <a:r>
              <a:rPr lang="en-US">
                <a:solidFill>
                  <a:srgbClr val="000000"/>
                </a:solidFill>
              </a:rPr>
              <a:t>ideal, clean scenarios. We intentionally injected several "problematic" job offers into our synthetic RDF dataset, embedding clear ethical anti-patterns designed to put our policies to the test.</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Job offer </a:t>
            </a:r>
            <a:r>
              <a:rPr b="1" lang="en-US">
                <a:solidFill>
                  <a:srgbClr val="000000"/>
                </a:solidFill>
              </a:rPr>
              <a:t>003</a:t>
            </a:r>
            <a:r>
              <a:rPr lang="en-US">
                <a:solidFill>
                  <a:srgbClr val="000000"/>
                </a:solidFill>
              </a:rPr>
              <a:t>, titled </a:t>
            </a:r>
            <a:r>
              <a:rPr i="1" lang="en-US">
                <a:solidFill>
                  <a:srgbClr val="000000"/>
                </a:solidFill>
              </a:rPr>
              <a:t>"Junior Frontend Dev"</a:t>
            </a:r>
            <a:r>
              <a:rPr lang="en-US">
                <a:solidFill>
                  <a:srgbClr val="000000"/>
                </a:solidFill>
              </a:rPr>
              <a:t>, contains a critical flaw: a maximum age limit capped at 30 years. This represents a blatant case of </a:t>
            </a:r>
            <a:r>
              <a:rPr i="1" lang="en-US">
                <a:solidFill>
                  <a:srgbClr val="000000"/>
                </a:solidFill>
              </a:rPr>
              <a:t>Ageism</a:t>
            </a:r>
            <a:r>
              <a:rPr lang="en-US">
                <a:solidFill>
                  <a:srgbClr val="000000"/>
                </a:solidFill>
              </a:rPr>
              <a:t>, designed specifically to trigger our Discriminatory proxy.</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Job offer </a:t>
            </a:r>
            <a:r>
              <a:rPr b="1" lang="en-US">
                <a:solidFill>
                  <a:srgbClr val="000000"/>
                </a:solidFill>
              </a:rPr>
              <a:t>004</a:t>
            </a:r>
            <a:r>
              <a:rPr lang="en-US">
                <a:solidFill>
                  <a:srgbClr val="000000"/>
                </a:solidFill>
              </a:rPr>
              <a:t>, for a </a:t>
            </a:r>
            <a:r>
              <a:rPr i="1" lang="en-US">
                <a:solidFill>
                  <a:srgbClr val="000000"/>
                </a:solidFill>
              </a:rPr>
              <a:t>"Logistics Manager"</a:t>
            </a:r>
            <a:r>
              <a:rPr lang="en-US">
                <a:solidFill>
                  <a:srgbClr val="000000"/>
                </a:solidFill>
              </a:rPr>
              <a:t> role, has its gender preference property rigidly set to "male". This allows us to test direct gender discrimination.</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For job </a:t>
            </a:r>
            <a:r>
              <a:rPr b="1" lang="en-US">
                <a:solidFill>
                  <a:srgbClr val="000000"/>
                </a:solidFill>
              </a:rPr>
              <a:t>0</a:t>
            </a:r>
            <a:r>
              <a:rPr b="1" lang="en-US">
                <a:solidFill>
                  <a:srgbClr val="000000"/>
                </a:solidFill>
              </a:rPr>
              <a:t>08 </a:t>
            </a:r>
            <a:r>
              <a:rPr lang="en-US">
                <a:solidFill>
                  <a:srgbClr val="000000"/>
                </a:solidFill>
              </a:rPr>
              <a:t>we introduced the constraint nationality re</a:t>
            </a:r>
            <a:r>
              <a:rPr lang="en-US">
                <a:solidFill>
                  <a:srgbClr val="000000"/>
                </a:solidFill>
              </a:rPr>
              <a:t>quirement</a:t>
            </a:r>
            <a:r>
              <a:rPr lang="en-US">
                <a:solidFill>
                  <a:srgbClr val="000000"/>
                </a:solidFill>
              </a:rPr>
              <a:t> set to Italian. This serves to evaluate nationality-based discrimination, which is a highly sensitive factor in both public and private contracts.</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Another variation of age discrimination can be seen in job </a:t>
            </a:r>
            <a:r>
              <a:rPr b="1" lang="en-US">
                <a:solidFill>
                  <a:srgbClr val="000000"/>
                </a:solidFill>
              </a:rPr>
              <a:t>016</a:t>
            </a:r>
            <a:r>
              <a:rPr lang="en-US">
                <a:solidFill>
                  <a:srgbClr val="000000"/>
                </a:solidFill>
              </a:rPr>
              <a:t>, where an extremely narrow age band was defined, restricting candidates to between 20 and 26 years of age. This record further stresses our defenses against generational bias.</a:t>
            </a:r>
            <a:endParaRPr/>
          </a:p>
          <a:p>
            <a:pPr indent="-285750" lvl="0" marL="285750" rtl="0" algn="l">
              <a:spcBef>
                <a:spcPts val="0"/>
              </a:spcBef>
              <a:spcAft>
                <a:spcPts val="0"/>
              </a:spcAft>
              <a:buClr>
                <a:srgbClr val="000000"/>
              </a:buClr>
              <a:buSzPts val="1200"/>
              <a:buFont typeface="Arial"/>
              <a:buChar char="•"/>
            </a:pPr>
            <a:r>
              <a:rPr lang="en-US">
                <a:solidFill>
                  <a:srgbClr val="000000"/>
                </a:solidFill>
              </a:rPr>
              <a:t>Finally, to evaluate our data quality and provenance metrics, we included job offer </a:t>
            </a:r>
            <a:r>
              <a:rPr b="1" lang="en-US">
                <a:solidFill>
                  <a:srgbClr val="000000"/>
                </a:solidFill>
              </a:rPr>
              <a:t>012</a:t>
            </a:r>
            <a:r>
              <a:rPr lang="en-US">
                <a:solidFill>
                  <a:srgbClr val="000000"/>
                </a:solidFill>
              </a:rPr>
              <a:t>. This posting leaves the salary field completely missing and sets its source value to "unknown". This record immediately activates the Provenance and Data Quality policy, pushing the system into an escalation state.</a:t>
            </a:r>
            <a:endParaRPr/>
          </a:p>
          <a:p>
            <a:pPr indent="0" lvl="0" marL="0" rtl="0" algn="l">
              <a:spcBef>
                <a:spcPts val="0"/>
              </a:spcBef>
              <a:spcAft>
                <a:spcPts val="0"/>
              </a:spcAft>
              <a:buNone/>
            </a:pPr>
            <a:r>
              <a:rPr lang="en-US">
                <a:solidFill>
                  <a:srgbClr val="000000"/>
                </a:solidFill>
              </a:rPr>
              <a:t>By utilizing this highly polarized dataset, we can shown that the EaaS module is capable of intercepting e</a:t>
            </a:r>
            <a:r>
              <a:rPr lang="en-US">
                <a:solidFill>
                  <a:srgbClr val="000000"/>
                </a:solidFill>
              </a:rPr>
              <a:t>very single </a:t>
            </a:r>
            <a:r>
              <a:rPr lang="en-US">
                <a:solidFill>
                  <a:srgbClr val="000000"/>
                </a:solidFill>
              </a:rPr>
              <a:t>regulatory deviation before it can reach the candidate's final recommendation list.</a:t>
            </a:r>
            <a:endParaRPr/>
          </a:p>
          <a:p>
            <a:pPr indent="0" lvl="0" marL="0" rtl="0" algn="l">
              <a:spcBef>
                <a:spcPts val="0"/>
              </a:spcBef>
              <a:spcAft>
                <a:spcPts val="0"/>
              </a:spcAft>
              <a:buNone/>
            </a:pPr>
            <a:r>
              <a:rPr lang="en-US">
                <a:solidFill>
                  <a:srgbClr val="000000"/>
                </a:solidFill>
              </a:rPr>
              <a:t>I will now hand over the presentation to Federico, who will show you how these decisions and findings are immutably logged within the Audit Trail, and how the DaaS and EaaS modules seamlessly cooperate within the overall system. Thank you.</a:t>
            </a:r>
            <a:endParaRPr/>
          </a:p>
        </p:txBody>
      </p:sp>
      <p:sp>
        <p:nvSpPr>
          <p:cNvPr id="300" name="Google Shape;300;p13: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i="0" lang="en-US" sz="1800" u="none" cap="none" strike="noStrike">
                <a:solidFill>
                  <a:schemeClr val="dk1"/>
                </a:solidFill>
                <a:latin typeface="Arial"/>
                <a:ea typeface="Arial"/>
                <a:cs typeface="Arial"/>
                <a:sym typeface="Arial"/>
              </a:rPr>
              <a:t>‹#›</a:t>
            </a:fld>
            <a:endParaRPr b="0" i="0" sz="18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14: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0" name="Google Shape;360;p14: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Good morning everyone.</a:t>
            </a:r>
            <a:br>
              <a:rPr lang="en-US" sz="2000"/>
            </a:br>
            <a:r>
              <a:rPr b="0" lang="en-US" sz="2000" strike="noStrike">
                <a:solidFill>
                  <a:srgbClr val="000000"/>
                </a:solidFill>
                <a:latin typeface="Arial"/>
                <a:ea typeface="Arial"/>
                <a:cs typeface="Arial"/>
                <a:sym typeface="Arial"/>
              </a:rPr>
              <a:t>In this final part of the presentation, I would like to focus on the governance and reflection aspects of our project, especially the audit trail, the ethical decision process, and the main limitations of the system.</a:t>
            </a:r>
            <a:endParaRPr b="0" sz="2000" strike="noStrike">
              <a:solidFill>
                <a:srgbClr val="000000"/>
              </a:solidFill>
              <a:latin typeface="Arial"/>
              <a:ea typeface="Arial"/>
              <a:cs typeface="Arial"/>
              <a:sym typeface="Arial"/>
            </a:endParaRPr>
          </a:p>
          <a:p>
            <a:pPr indent="0" lvl="0" marL="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361" name="Google Shape;361;p14: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5: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9" name="Google Shape;369;p15: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One of the core ideas behind our EaaS module is accountability.</a:t>
            </a:r>
            <a:br>
              <a:rPr lang="en-US" sz="2000"/>
            </a:br>
            <a:r>
              <a:rPr b="0" lang="en-US" sz="2000" strike="noStrike">
                <a:solidFill>
                  <a:srgbClr val="000000"/>
                </a:solidFill>
                <a:latin typeface="Arial"/>
                <a:ea typeface="Arial"/>
                <a:cs typeface="Arial"/>
                <a:sym typeface="Arial"/>
              </a:rPr>
              <a:t>Every ethical evaluation performed by the system is fully tracked through an audit trail.</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For each evaluation, the system stores a complete audit record containing:</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 unique identifier,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 timestamp,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original request,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candidate and job data used during evaluation,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final risk level,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final decision,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and all evaluated policies.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This is important because it allows us to reconstruct every decision made by the system.</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For example, if a recommendation is rejected, we can later verify:</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who requested the evaluation,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which data was analyzed,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which ethical policies were triggered,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and why the system produced that result.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Another important aspect is provenance tracking.</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EaaS stores the real data fetched from the DaaS during the evaluation process.</a:t>
            </a:r>
            <a:br>
              <a:rPr lang="en-US" sz="2000"/>
            </a:br>
            <a:r>
              <a:rPr b="0" lang="en-US" sz="2000" strike="noStrike">
                <a:solidFill>
                  <a:srgbClr val="000000"/>
                </a:solidFill>
                <a:latin typeface="Arial"/>
                <a:ea typeface="Arial"/>
                <a:cs typeface="Arial"/>
                <a:sym typeface="Arial"/>
              </a:rPr>
              <a:t>This means that even if the dataset changes later, we still preserve the exact snapshot that was used when the decision was made.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This improves transparency and reproducibility, which are fundamental concepts in ethical and trustworthy systems.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audit trail is persisted using the JSONL format, meaning one JSON object per line.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This creates an append-only history of evaluations.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Previous records are never modified or overwritten.</a:t>
            </a:r>
            <a:br>
              <a:rPr lang="en-US" sz="2000"/>
            </a:br>
            <a:r>
              <a:rPr b="0" lang="en-US" sz="2000" strike="noStrike">
                <a:solidFill>
                  <a:srgbClr val="000000"/>
                </a:solidFill>
                <a:latin typeface="Arial"/>
                <a:ea typeface="Arial"/>
                <a:cs typeface="Arial"/>
                <a:sym typeface="Arial"/>
              </a:rPr>
              <a:t>New evaluations are simply appended to the log.</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This approach is commonly used in governance and compliance systems because it preserves historical evidence and improves traceability.</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370" name="Google Shape;370;p15: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16: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3" name="Google Shape;393;p16: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Regarding the ethical decision process itself, the EaaS evaluates all active policies and then aggregates the results.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If no policy is violated, the recommendation is accepted with a PROCEED decision and a LOW risk level.</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394" name="Google Shape;394;p16: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17: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17: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Instead, if severe violations are detected, the recommendation may be rejected.</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For example, in our second scenario, the offer contains an explicit age restriction and also comes from an untrusted source.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These elements trigger two different policies: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discriminatory proxy policy,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and the provenance policy.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Because the discriminatory policy produces a CRITICAL severity finding, the final decision becomes REJECT.</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However, an important clarification is that REJECT does not permanently remove the offer from the system.</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EaaS only blocks the automatic recommendation process.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419" name="Google Shape;419;p17: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18: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18: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449" name="Google Shape;449;p18: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19: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6" name="Google Shape;456;p19: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Human review is still required before taking permanent actions.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This leads to the critical reflection section of the project.</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Our system has several important limitations.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First, it only detects explicit discriminatory fields such as: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age limits,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gender preferences,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and nationality requirements.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It does not detect indirect or subtle proxies such as: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postcode,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university,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names,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or employment gaps.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These forms of bias are much more difficult to identify and would require advanced statistical or machine learning techniques.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Another limitation is that the ethical logic is still implemented in Java code.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JSON policy files contain metadata and configuration parameters, but the actual evaluation behavior is hardcoded.</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As a consequence, modifying the behavior of the policies still requires developer intervention.</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system also does not compute aggregate fairness metrics over time.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Each recommendation is evaluated individually, but the platform cannot detect systemic disparities across demographic groups.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For example, it cannot determine whether a specific category of candidates consistently receives fewer recommendations than others.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Another limitation is that the dataset used in the project is synthetic.</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In a real production environment, additional concerns would be necessary, including:</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GDPR consent management,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encryption,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retention policies,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and right-to-explanation procedures.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457" name="Google Shape;457;p19: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20: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20: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Finally, there are several decisions that we intentionally decided not to automate.</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platform does not perform final hiring decisions.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It only provides recommendations and ethical evaluations.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final responsibility must always remain with human decision makers.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Similarly, the system does not permanently exclude job offers automatically.</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A REJECT decision only blocks automated recommendation flows until a human review is performed.</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EaaS also cannot interpret complex legal contexts.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For instance, a nationality requirement may sometimes be discriminatory, but in other cases it could be legally justified due to national security regulations.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The system lacks the contextual understanding required for those situations, so escalation to human review is necessary.</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Finally, the platform does not evaluate soft skills or human qualities such as: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motivation,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communication,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leadership,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empathy,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or cultural fit.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Those dimensions remain outside the scope of our RDF model and should not be delegated to automated systems.</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So the key message of this project is that ethics should not be treated as a final checkbox added after development.</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Instead, governance, transparency, auditing, and human oversight should be integrated directly into the architecture of the system itself.</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rgbClr val="000000"/>
              </a:buClr>
              <a:buSzPts val="2000"/>
              <a:buFont typeface="Arial"/>
              <a:buNone/>
            </a:pPr>
            <a:r>
              <a:rPr b="0" lang="en-US" sz="2000" strike="noStrike">
                <a:solidFill>
                  <a:srgbClr val="000000"/>
                </a:solidFill>
                <a:latin typeface="Arial"/>
                <a:ea typeface="Arial"/>
                <a:cs typeface="Arial"/>
                <a:sym typeface="Arial"/>
              </a:rPr>
              <a:t>Thank you.</a:t>
            </a:r>
            <a:endParaRPr b="0" sz="2000" strike="noStrike">
              <a:solidFill>
                <a:srgbClr val="000000"/>
              </a:solidFill>
              <a:latin typeface="Arial"/>
              <a:ea typeface="Arial"/>
              <a:cs typeface="Arial"/>
              <a:sym typeface="Arial"/>
            </a:endParaRPr>
          </a:p>
          <a:p>
            <a:pPr indent="0" lvl="0" marL="216000" rtl="0" algn="l">
              <a:lnSpc>
                <a:spcPct val="100000"/>
              </a:lnSpc>
              <a:spcBef>
                <a:spcPts val="0"/>
              </a:spcBef>
              <a:spcAft>
                <a:spcPts val="0"/>
              </a:spcAft>
              <a:buClr>
                <a:schemeClr val="dk1"/>
              </a:buClr>
              <a:buSzPts val="2000"/>
              <a:buFont typeface="Arial"/>
              <a:buNone/>
            </a:pPr>
            <a:r>
              <a:t/>
            </a:r>
            <a:endParaRPr b="0" sz="2000" strike="noStrike">
              <a:solidFill>
                <a:srgbClr val="000000"/>
              </a:solidFill>
              <a:latin typeface="Arial"/>
              <a:ea typeface="Arial"/>
              <a:cs typeface="Arial"/>
              <a:sym typeface="Arial"/>
            </a:endParaRPr>
          </a:p>
        </p:txBody>
      </p:sp>
      <p:sp>
        <p:nvSpPr>
          <p:cNvPr id="483" name="Google Shape;483;p20: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1:notes"/>
          <p:cNvSpPr/>
          <p:nvPr>
            <p:ph idx="2" type="sldImg"/>
          </p:nvPr>
        </p:nvSpPr>
        <p:spPr>
          <a:xfrm>
            <a:off x="0" y="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1" name="Google Shape;511;p21:notes"/>
          <p:cNvSpPr txBox="1"/>
          <p:nvPr>
            <p:ph idx="1" type="body"/>
          </p:nvPr>
        </p:nvSpPr>
        <p:spPr>
          <a:xfrm>
            <a:off x="0" y="0"/>
            <a:ext cx="0" cy="0"/>
          </a:xfrm>
          <a:prstGeom prst="rect">
            <a:avLst/>
          </a:prstGeom>
          <a:noFill/>
          <a:ln>
            <a:noFill/>
          </a:ln>
        </p:spPr>
        <p:txBody>
          <a:bodyPr anchorCtr="0" anchor="t" bIns="0" lIns="90000" spcFirstLastPara="1" rIns="90000" wrap="square" tIns="0">
            <a:noAutofit/>
          </a:bodyPr>
          <a:lstStyle/>
          <a:p>
            <a:pPr indent="-216000" lvl="0" marL="216000" rtl="0" algn="l">
              <a:spcBef>
                <a:spcPts val="0"/>
              </a:spcBef>
              <a:spcAft>
                <a:spcPts val="0"/>
              </a:spcAft>
              <a:buClr>
                <a:schemeClr val="dk1"/>
              </a:buClr>
              <a:buSzPts val="1800"/>
              <a:buFont typeface="Arial"/>
              <a:buNone/>
            </a:pPr>
            <a:r>
              <a:t/>
            </a:r>
            <a:endParaRPr b="0" sz="1800" strike="noStrike">
              <a:solidFill>
                <a:srgbClr val="000000"/>
              </a:solidFill>
              <a:latin typeface="Arial"/>
              <a:ea typeface="Arial"/>
              <a:cs typeface="Arial"/>
              <a:sym typeface="Arial"/>
            </a:endParaRPr>
          </a:p>
        </p:txBody>
      </p:sp>
      <p:sp>
        <p:nvSpPr>
          <p:cNvPr id="512" name="Google Shape;512;p21:notes"/>
          <p:cNvSpPr txBox="1"/>
          <p:nvPr>
            <p:ph idx="12" type="sldNum"/>
          </p:nvPr>
        </p:nvSpPr>
        <p:spPr>
          <a:xfrm>
            <a:off x="0" y="0"/>
            <a:ext cx="0" cy="0"/>
          </a:xfrm>
          <a:prstGeom prst="rect">
            <a:avLst/>
          </a:prstGeom>
          <a:noFill/>
          <a:ln>
            <a:noFill/>
          </a:ln>
        </p:spPr>
        <p:txBody>
          <a:bodyPr anchorCtr="0" anchor="t" bIns="0" lIns="90000" spcFirstLastPara="1" rIns="90000" wrap="square" tIns="0">
            <a:noAutofit/>
          </a:bodyPr>
          <a:lstStyle/>
          <a:p>
            <a:pPr indent="0" lvl="0" marL="0" marR="0" rtl="0" algn="r">
              <a:lnSpc>
                <a:spcPct val="100000"/>
              </a:lnSpc>
              <a:spcBef>
                <a:spcPts val="0"/>
              </a:spcBef>
              <a:spcAft>
                <a:spcPts val="0"/>
              </a:spcAft>
              <a:buClr>
                <a:schemeClr val="dk1"/>
              </a:buClr>
              <a:buSzPts val="1800"/>
              <a:buFont typeface="Arial"/>
              <a:buNone/>
            </a:pPr>
            <a:fld id="{00000000-1234-1234-1234-123412341234}" type="slidenum">
              <a:rPr b="0" lang="en-US" sz="1800" strike="noStrike">
                <a:solidFill>
                  <a:schemeClr val="dk1"/>
                </a:solidFill>
                <a:latin typeface="Arial"/>
                <a:ea typeface="Arial"/>
                <a:cs typeface="Arial"/>
                <a:sym typeface="Arial"/>
              </a:rPr>
              <a:t>‹#›</a:t>
            </a:fld>
            <a:endParaRPr b="0" sz="1800" strike="noStrike">
              <a:solidFill>
                <a:srgbClr val="000000"/>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type="blank">
  <p:cSld name="BLANK">
    <p:spTree>
      <p:nvGrpSpPr>
        <p:cNvPr id="12"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05200"/>
            <a:ext cx="8229240" cy="8586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457200" y="1203480"/>
            <a:ext cx="8229240" cy="2982960"/>
          </a:xfrm>
          <a:prstGeom prst="rect">
            <a:avLst/>
          </a:prstGeom>
          <a:noFill/>
          <a:ln>
            <a:noFill/>
          </a:ln>
        </p:spPr>
        <p:txBody>
          <a:bodyPr anchorCtr="0" anchor="t" bIns="0" lIns="0" spcFirstLastPara="1" rIns="0" wrap="square" tIns="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17" name="Shape 17"/>
        <p:cNvGrpSpPr/>
        <p:nvPr/>
      </p:nvGrpSpPr>
      <p:grpSpPr>
        <a:xfrm>
          <a:off x="0" y="0"/>
          <a:ext cx="0" cy="0"/>
          <a:chOff x="0" y="0"/>
          <a:chExt cx="0" cy="0"/>
        </a:xfrm>
      </p:grpSpPr>
      <p:sp>
        <p:nvSpPr>
          <p:cNvPr id="18" name="Google Shape;18;p3"/>
          <p:cNvSpPr/>
          <p:nvPr/>
        </p:nvSpPr>
        <p:spPr>
          <a:xfrm>
            <a:off x="0" y="0"/>
            <a:ext cx="200880" cy="514332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 name="Google Shape;19;p3"/>
          <p:cNvSpPr/>
          <p:nvPr/>
        </p:nvSpPr>
        <p:spPr>
          <a:xfrm>
            <a:off x="457200" y="822960"/>
            <a:ext cx="8503560" cy="7311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20" name="Google Shape;20;p3"/>
          <p:cNvSpPr/>
          <p:nvPr/>
        </p:nvSpPr>
        <p:spPr>
          <a:xfrm>
            <a:off x="457200" y="1417320"/>
            <a:ext cx="8503560" cy="1188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5200" u="none" cap="none" strike="noStrike">
                <a:solidFill>
                  <a:srgbClr val="FFFFFF"/>
                </a:solidFill>
                <a:latin typeface="Trebuchet MS"/>
                <a:ea typeface="Trebuchet MS"/>
                <a:cs typeface="Trebuchet MS"/>
                <a:sym typeface="Trebuchet MS"/>
              </a:rPr>
              <a:t>Employment Platform</a:t>
            </a:r>
            <a:endParaRPr b="0" i="0" sz="5200" u="none" cap="none" strike="noStrike">
              <a:solidFill>
                <a:srgbClr val="FFFFFF"/>
              </a:solidFill>
              <a:latin typeface="Arial"/>
              <a:ea typeface="Arial"/>
              <a:cs typeface="Arial"/>
              <a:sym typeface="Arial"/>
            </a:endParaRPr>
          </a:p>
        </p:txBody>
      </p:sp>
      <p:sp>
        <p:nvSpPr>
          <p:cNvPr id="21" name="Google Shape;21;p3"/>
          <p:cNvSpPr/>
          <p:nvPr/>
        </p:nvSpPr>
        <p:spPr>
          <a:xfrm>
            <a:off x="457200" y="2514600"/>
            <a:ext cx="8503560" cy="502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2000" u="none" cap="none" strike="noStrike">
                <a:solidFill>
                  <a:srgbClr val="CADCFC"/>
                </a:solidFill>
                <a:latin typeface="Trebuchet MS"/>
                <a:ea typeface="Trebuchet MS"/>
                <a:cs typeface="Trebuchet MS"/>
                <a:sym typeface="Trebuchet MS"/>
              </a:rPr>
              <a:t>Data as a Service &amp; Ethics as a Service</a:t>
            </a:r>
            <a:endParaRPr b="0" i="0" sz="2000" u="none" cap="none" strike="noStrike">
              <a:solidFill>
                <a:srgbClr val="FFFFFF"/>
              </a:solidFill>
              <a:latin typeface="Arial"/>
              <a:ea typeface="Arial"/>
              <a:cs typeface="Arial"/>
              <a:sym typeface="Arial"/>
            </a:endParaRPr>
          </a:p>
        </p:txBody>
      </p:sp>
      <p:sp>
        <p:nvSpPr>
          <p:cNvPr id="22" name="Google Shape;22;p3"/>
          <p:cNvSpPr/>
          <p:nvPr/>
        </p:nvSpPr>
        <p:spPr>
          <a:xfrm>
            <a:off x="457200" y="3127320"/>
            <a:ext cx="3200040" cy="3636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 name="Google Shape;23;p3"/>
          <p:cNvSpPr/>
          <p:nvPr/>
        </p:nvSpPr>
        <p:spPr>
          <a:xfrm>
            <a:off x="457200" y="3291840"/>
            <a:ext cx="8503560" cy="1096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9FB4CC"/>
                </a:solidFill>
                <a:latin typeface="Calibri"/>
                <a:ea typeface="Calibri"/>
                <a:cs typeface="Calibri"/>
                <a:sym typeface="Calibri"/>
              </a:rPr>
              <a:t>Service-Oriented Software Engineering  ·  A.Y. 2025/2026</a:t>
            </a:r>
            <a:endParaRPr b="0" i="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i="0" lang="en-US" sz="1300" u="none" cap="none" strike="noStrike">
                <a:solidFill>
                  <a:srgbClr val="9FB4CC"/>
                </a:solidFill>
                <a:latin typeface="Calibri"/>
                <a:ea typeface="Calibri"/>
                <a:cs typeface="Calibri"/>
                <a:sym typeface="Calibri"/>
              </a:rPr>
              <a:t>Università degli Studi dell'Aquila</a:t>
            </a:r>
            <a:endParaRPr b="0" i="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i="0" lang="en-US" sz="1300" u="none" cap="none" strike="noStrike">
                <a:solidFill>
                  <a:srgbClr val="9FB4CC"/>
                </a:solidFill>
                <a:latin typeface="Calibri"/>
                <a:ea typeface="Calibri"/>
                <a:cs typeface="Calibri"/>
                <a:sym typeface="Calibri"/>
              </a:rPr>
              <a:t>Edoardo Di Giuseppe. Lorenzo Di Giandomenico, Federico Capricci</a:t>
            </a:r>
            <a:endParaRPr b="0" i="0" sz="13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28" name="Shape 28"/>
        <p:cNvGrpSpPr/>
        <p:nvPr/>
      </p:nvGrpSpPr>
      <p:grpSpPr>
        <a:xfrm>
          <a:off x="0" y="0"/>
          <a:ext cx="0" cy="0"/>
          <a:chOff x="0" y="0"/>
          <a:chExt cx="0" cy="0"/>
        </a:xfrm>
      </p:grpSpPr>
      <p:sp>
        <p:nvSpPr>
          <p:cNvPr id="29" name="Google Shape;29;p4"/>
          <p:cNvSpPr/>
          <p:nvPr/>
        </p:nvSpPr>
        <p:spPr>
          <a:xfrm>
            <a:off x="0" y="0"/>
            <a:ext cx="200880" cy="514332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 name="Google Shape;30;p4"/>
          <p:cNvSpPr/>
          <p:nvPr/>
        </p:nvSpPr>
        <p:spPr>
          <a:xfrm>
            <a:off x="457200" y="320040"/>
            <a:ext cx="8229240" cy="639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3200" u="none" cap="none" strike="noStrike">
                <a:solidFill>
                  <a:srgbClr val="FFFFFF"/>
                </a:solidFill>
                <a:latin typeface="Trebuchet MS"/>
                <a:ea typeface="Trebuchet MS"/>
                <a:cs typeface="Trebuchet MS"/>
                <a:sym typeface="Trebuchet MS"/>
              </a:rPr>
              <a:t>Agenda</a:t>
            </a:r>
            <a:endParaRPr b="0" i="0" sz="3200" u="none" cap="none" strike="noStrike">
              <a:solidFill>
                <a:srgbClr val="FFFFFF"/>
              </a:solidFill>
              <a:latin typeface="Arial"/>
              <a:ea typeface="Arial"/>
              <a:cs typeface="Arial"/>
              <a:sym typeface="Arial"/>
            </a:endParaRPr>
          </a:p>
        </p:txBody>
      </p:sp>
      <p:sp>
        <p:nvSpPr>
          <p:cNvPr id="31" name="Google Shape;31;p4"/>
          <p:cNvSpPr/>
          <p:nvPr/>
        </p:nvSpPr>
        <p:spPr>
          <a:xfrm>
            <a:off x="457200" y="1097280"/>
            <a:ext cx="2605680" cy="3565800"/>
          </a:xfrm>
          <a:prstGeom prst="rect">
            <a:avLst/>
          </a:prstGeom>
          <a:solidFill>
            <a:srgbClr val="FFFFFF"/>
          </a:solidFill>
          <a:ln cap="flat" cmpd="sng" w="12700">
            <a:solidFill>
              <a:srgbClr val="FFFFFF"/>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 name="Google Shape;32;p4"/>
          <p:cNvSpPr/>
          <p:nvPr/>
        </p:nvSpPr>
        <p:spPr>
          <a:xfrm>
            <a:off x="457200" y="1097280"/>
            <a:ext cx="2605680" cy="38376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 name="Google Shape;33;p4"/>
          <p:cNvSpPr/>
          <p:nvPr/>
        </p:nvSpPr>
        <p:spPr>
          <a:xfrm>
            <a:off x="457200" y="1097280"/>
            <a:ext cx="260568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Edoardo</a:t>
            </a:r>
            <a:endParaRPr b="0" i="0" sz="1200" u="none" cap="none" strike="noStrike">
              <a:solidFill>
                <a:srgbClr val="FFFFFF"/>
              </a:solidFill>
              <a:latin typeface="Arial"/>
              <a:ea typeface="Arial"/>
              <a:cs typeface="Arial"/>
              <a:sym typeface="Arial"/>
            </a:endParaRPr>
          </a:p>
        </p:txBody>
      </p:sp>
      <p:sp>
        <p:nvSpPr>
          <p:cNvPr id="34" name="Google Shape;34;p4"/>
          <p:cNvSpPr/>
          <p:nvPr/>
        </p:nvSpPr>
        <p:spPr>
          <a:xfrm>
            <a:off x="567000" y="1554480"/>
            <a:ext cx="2377080" cy="3017160"/>
          </a:xfrm>
          <a:prstGeom prst="rect">
            <a:avLst/>
          </a:prstGeom>
          <a:noFill/>
          <a:ln>
            <a:noFill/>
          </a:ln>
        </p:spPr>
        <p:txBody>
          <a:bodyPr anchorCtr="0" anchor="t" bIns="45000" lIns="90000" spcFirstLastPara="1" rIns="90000" wrap="square" tIns="45000">
            <a:noAutofit/>
          </a:bodyPr>
          <a:lstStyle/>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Domain &amp; Motivation</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Application Architecture</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RDF Dataset &amp; Ontology</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SPARQL Queries</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DaaS REST APIs</a:t>
            </a:r>
            <a:endParaRPr b="0" i="0" sz="1100" u="none" cap="none" strike="noStrike">
              <a:solidFill>
                <a:srgbClr val="FFFFFF"/>
              </a:solidFill>
              <a:latin typeface="Arial"/>
              <a:ea typeface="Arial"/>
              <a:cs typeface="Arial"/>
              <a:sym typeface="Arial"/>
            </a:endParaRPr>
          </a:p>
        </p:txBody>
      </p:sp>
      <p:sp>
        <p:nvSpPr>
          <p:cNvPr id="35" name="Google Shape;35;p4"/>
          <p:cNvSpPr/>
          <p:nvPr/>
        </p:nvSpPr>
        <p:spPr>
          <a:xfrm>
            <a:off x="3291840" y="1097280"/>
            <a:ext cx="2605680" cy="3565800"/>
          </a:xfrm>
          <a:prstGeom prst="rect">
            <a:avLst/>
          </a:prstGeom>
          <a:solidFill>
            <a:srgbClr val="FFFFFF"/>
          </a:solidFill>
          <a:ln cap="flat" cmpd="sng" w="12700">
            <a:solidFill>
              <a:srgbClr val="FFFFFF"/>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 name="Google Shape;36;p4"/>
          <p:cNvSpPr/>
          <p:nvPr/>
        </p:nvSpPr>
        <p:spPr>
          <a:xfrm>
            <a:off x="3291840" y="1097280"/>
            <a:ext cx="2605680" cy="383760"/>
          </a:xfrm>
          <a:prstGeom prst="rect">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 name="Google Shape;37;p4"/>
          <p:cNvSpPr/>
          <p:nvPr/>
        </p:nvSpPr>
        <p:spPr>
          <a:xfrm>
            <a:off x="3291840" y="1097280"/>
            <a:ext cx="260568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Lorenzo</a:t>
            </a:r>
            <a:endParaRPr b="0" i="0" sz="1200" u="none" cap="none" strike="noStrike">
              <a:solidFill>
                <a:srgbClr val="FFFFFF"/>
              </a:solidFill>
              <a:latin typeface="Arial"/>
              <a:ea typeface="Arial"/>
              <a:cs typeface="Arial"/>
              <a:sym typeface="Arial"/>
            </a:endParaRPr>
          </a:p>
        </p:txBody>
      </p:sp>
      <p:sp>
        <p:nvSpPr>
          <p:cNvPr id="38" name="Google Shape;38;p4"/>
          <p:cNvSpPr/>
          <p:nvPr/>
        </p:nvSpPr>
        <p:spPr>
          <a:xfrm>
            <a:off x="3401640" y="1554480"/>
            <a:ext cx="2377080" cy="3017160"/>
          </a:xfrm>
          <a:prstGeom prst="rect">
            <a:avLst/>
          </a:prstGeom>
          <a:noFill/>
          <a:ln>
            <a:noFill/>
          </a:ln>
        </p:spPr>
        <p:txBody>
          <a:bodyPr anchorCtr="0" anchor="t" bIns="45000" lIns="90000" spcFirstLastPara="1" rIns="90000" wrap="square" tIns="45000">
            <a:noAutofit/>
          </a:bodyPr>
          <a:lstStyle/>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EaaS Workflow &amp; Architecture </a:t>
            </a:r>
            <a:endParaRPr b="0" i="0" sz="1100" u="none" cap="none" strike="noStrike">
              <a:solidFill>
                <a:srgbClr val="1E293B"/>
              </a:solidFill>
              <a:latin typeface="Calibri"/>
              <a:ea typeface="Calibri"/>
              <a:cs typeface="Calibri"/>
              <a:sym typeface="Calibri"/>
            </a:endParaRPr>
          </a:p>
          <a:p>
            <a:pPr indent="-343080" lvl="0" marL="343080" marR="0" rtl="0" algn="l">
              <a:lnSpc>
                <a:spcPct val="100000"/>
              </a:lnSpc>
              <a:spcBef>
                <a:spcPts val="0"/>
              </a:spcBef>
              <a:spcAft>
                <a:spcPts val="0"/>
              </a:spcAft>
              <a:buClr>
                <a:srgbClr val="1E293B"/>
              </a:buClr>
              <a:buSzPts val="1100"/>
              <a:buFont typeface="Noto Sans Symbols"/>
              <a:buChar char="∙"/>
            </a:pPr>
            <a:r>
              <a:rPr lang="en-US" sz="1100">
                <a:solidFill>
                  <a:srgbClr val="1E293B"/>
                </a:solidFill>
                <a:latin typeface="Calibri"/>
                <a:ea typeface="Calibri"/>
                <a:cs typeface="Calibri"/>
                <a:sym typeface="Calibri"/>
              </a:rPr>
              <a:t>Evaluation Request Structure</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Ethical Policies</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lang="en-US" sz="1100">
                <a:solidFill>
                  <a:srgbClr val="1E293B"/>
                </a:solidFill>
                <a:latin typeface="Calibri"/>
                <a:ea typeface="Calibri"/>
                <a:cs typeface="Calibri"/>
                <a:sym typeface="Calibri"/>
              </a:rPr>
              <a:t>Discriminatory Dataset Data</a:t>
            </a:r>
            <a:endParaRPr b="0" i="0" sz="1100" u="none" cap="none" strike="noStrike">
              <a:solidFill>
                <a:srgbClr val="FFFFFF"/>
              </a:solidFill>
              <a:latin typeface="Arial"/>
              <a:ea typeface="Arial"/>
              <a:cs typeface="Arial"/>
              <a:sym typeface="Arial"/>
            </a:endParaRPr>
          </a:p>
        </p:txBody>
      </p:sp>
      <p:sp>
        <p:nvSpPr>
          <p:cNvPr id="39" name="Google Shape;39;p4"/>
          <p:cNvSpPr/>
          <p:nvPr/>
        </p:nvSpPr>
        <p:spPr>
          <a:xfrm>
            <a:off x="6126480" y="1097280"/>
            <a:ext cx="2605680" cy="3565800"/>
          </a:xfrm>
          <a:prstGeom prst="rect">
            <a:avLst/>
          </a:prstGeom>
          <a:solidFill>
            <a:srgbClr val="FFFFFF"/>
          </a:solidFill>
          <a:ln cap="flat" cmpd="sng" w="12700">
            <a:solidFill>
              <a:srgbClr val="FFFFFF"/>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 name="Google Shape;40;p4"/>
          <p:cNvSpPr/>
          <p:nvPr/>
        </p:nvSpPr>
        <p:spPr>
          <a:xfrm>
            <a:off x="6126480" y="1097280"/>
            <a:ext cx="2605680" cy="383760"/>
          </a:xfrm>
          <a:prstGeom prst="rect">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 name="Google Shape;41;p4"/>
          <p:cNvSpPr/>
          <p:nvPr/>
        </p:nvSpPr>
        <p:spPr>
          <a:xfrm>
            <a:off x="6126480" y="1097280"/>
            <a:ext cx="260568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FFFFFF"/>
                </a:solidFill>
                <a:latin typeface="Calibri"/>
                <a:ea typeface="Calibri"/>
                <a:cs typeface="Calibri"/>
                <a:sym typeface="Calibri"/>
              </a:rPr>
              <a:t>Federico</a:t>
            </a:r>
            <a:endParaRPr b="0" i="0" sz="1200" u="none" cap="none" strike="noStrike">
              <a:solidFill>
                <a:srgbClr val="FFFFFF"/>
              </a:solidFill>
              <a:latin typeface="Arial"/>
              <a:ea typeface="Arial"/>
              <a:cs typeface="Arial"/>
              <a:sym typeface="Arial"/>
            </a:endParaRPr>
          </a:p>
        </p:txBody>
      </p:sp>
      <p:sp>
        <p:nvSpPr>
          <p:cNvPr id="42" name="Google Shape;42;p4"/>
          <p:cNvSpPr/>
          <p:nvPr/>
        </p:nvSpPr>
        <p:spPr>
          <a:xfrm>
            <a:off x="6236280" y="1554480"/>
            <a:ext cx="2377080" cy="3017160"/>
          </a:xfrm>
          <a:prstGeom prst="rect">
            <a:avLst/>
          </a:prstGeom>
          <a:noFill/>
          <a:ln>
            <a:noFill/>
          </a:ln>
        </p:spPr>
        <p:txBody>
          <a:bodyPr anchorCtr="0" anchor="t" bIns="45000" lIns="90000" spcFirstLastPara="1" rIns="90000" wrap="square" tIns="45000">
            <a:noAutofit/>
          </a:bodyPr>
          <a:lstStyle/>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Audit Trail &amp; Provenance</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DaaS </a:t>
            </a:r>
            <a:r>
              <a:rPr b="0" i="0" lang="en-US" sz="1100" u="none" cap="none" strike="noStrike">
                <a:solidFill>
                  <a:srgbClr val="1E293B"/>
                </a:solidFill>
                <a:latin typeface="Calibri"/>
                <a:ea typeface="Calibri"/>
                <a:cs typeface="Calibri"/>
                <a:sym typeface="Calibri"/>
              </a:rPr>
              <a:t>↔</a:t>
            </a:r>
            <a:r>
              <a:rPr b="0" i="0" lang="en-US" sz="1100" u="none" cap="none" strike="noStrike">
                <a:solidFill>
                  <a:srgbClr val="1E293B"/>
                </a:solidFill>
                <a:latin typeface="Calibri"/>
                <a:ea typeface="Calibri"/>
                <a:cs typeface="Calibri"/>
                <a:sym typeface="Calibri"/>
              </a:rPr>
              <a:t> EaaS Integration</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Live Demo</a:t>
            </a:r>
            <a:endParaRPr b="0" i="0" sz="1100" u="none" cap="none" strike="noStrike">
              <a:solidFill>
                <a:srgbClr val="FFFFFF"/>
              </a:solidFill>
              <a:latin typeface="Arial"/>
              <a:ea typeface="Arial"/>
              <a:cs typeface="Arial"/>
              <a:sym typeface="Arial"/>
            </a:endParaRPr>
          </a:p>
          <a:p>
            <a:pPr indent="-343080" lvl="0" marL="343080" marR="0" rtl="0" algn="l">
              <a:lnSpc>
                <a:spcPct val="100000"/>
              </a:lnSpc>
              <a:spcBef>
                <a:spcPts val="0"/>
              </a:spcBef>
              <a:spcAft>
                <a:spcPts val="0"/>
              </a:spcAft>
              <a:buClr>
                <a:srgbClr val="1E293B"/>
              </a:buClr>
              <a:buSzPts val="1100"/>
              <a:buFont typeface="Noto Sans Symbols"/>
              <a:buChar char="∙"/>
            </a:pPr>
            <a:r>
              <a:rPr b="0" i="0" lang="en-US" sz="1100" u="none" cap="none" strike="noStrike">
                <a:solidFill>
                  <a:srgbClr val="1E293B"/>
                </a:solidFill>
                <a:latin typeface="Calibri"/>
                <a:ea typeface="Calibri"/>
                <a:cs typeface="Calibri"/>
                <a:sym typeface="Calibri"/>
              </a:rPr>
              <a:t>Critical Reflection</a:t>
            </a:r>
            <a:endParaRPr b="0" i="0" sz="1100" u="none" cap="none" strike="noStrike">
              <a:solidFill>
                <a:srgbClr val="FFFFFF"/>
              </a:solidFill>
              <a:latin typeface="Arial"/>
              <a:ea typeface="Arial"/>
              <a:cs typeface="Arial"/>
              <a:sym typeface="Arial"/>
            </a:endParaRPr>
          </a:p>
        </p:txBody>
      </p:sp>
      <p:sp>
        <p:nvSpPr>
          <p:cNvPr id="43" name="Google Shape;43;p4"/>
          <p:cNvSpPr/>
          <p:nvPr/>
        </p:nvSpPr>
        <p:spPr>
          <a:xfrm>
            <a:off x="457200" y="4754880"/>
            <a:ext cx="822924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48" name="Shape 48"/>
        <p:cNvGrpSpPr/>
        <p:nvPr/>
      </p:nvGrpSpPr>
      <p:grpSpPr>
        <a:xfrm>
          <a:off x="0" y="0"/>
          <a:ext cx="0" cy="0"/>
          <a:chOff x="0" y="0"/>
          <a:chExt cx="0" cy="0"/>
        </a:xfrm>
      </p:grpSpPr>
      <p:sp>
        <p:nvSpPr>
          <p:cNvPr id="49" name="Google Shape;49;p5"/>
          <p:cNvSpPr/>
          <p:nvPr/>
        </p:nvSpPr>
        <p:spPr>
          <a:xfrm>
            <a:off x="0" y="0"/>
            <a:ext cx="200880" cy="514332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 name="Google Shape;50;p5"/>
          <p:cNvSpPr/>
          <p:nvPr/>
        </p:nvSpPr>
        <p:spPr>
          <a:xfrm>
            <a:off x="457200" y="1188720"/>
            <a:ext cx="822924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300" u="none" cap="none" strike="noStrike">
                <a:solidFill>
                  <a:srgbClr val="9FB4CC"/>
                </a:solidFill>
                <a:latin typeface="Calibri"/>
                <a:ea typeface="Calibri"/>
                <a:cs typeface="Calibri"/>
                <a:sym typeface="Calibri"/>
              </a:rPr>
              <a:t>Section 1</a:t>
            </a:r>
            <a:endParaRPr b="0" i="0" sz="1300" u="none" cap="none" strike="noStrike">
              <a:solidFill>
                <a:srgbClr val="FFFFFF"/>
              </a:solidFill>
              <a:latin typeface="Arial"/>
              <a:ea typeface="Arial"/>
              <a:cs typeface="Arial"/>
              <a:sym typeface="Arial"/>
            </a:endParaRPr>
          </a:p>
        </p:txBody>
      </p:sp>
      <p:sp>
        <p:nvSpPr>
          <p:cNvPr id="51" name="Google Shape;51;p5"/>
          <p:cNvSpPr/>
          <p:nvPr/>
        </p:nvSpPr>
        <p:spPr>
          <a:xfrm>
            <a:off x="457200" y="1600200"/>
            <a:ext cx="8229240" cy="18284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4000" u="none" cap="none" strike="noStrike">
                <a:solidFill>
                  <a:srgbClr val="FFFFFF"/>
                </a:solidFill>
                <a:latin typeface="Trebuchet MS"/>
                <a:ea typeface="Trebuchet MS"/>
                <a:cs typeface="Trebuchet MS"/>
                <a:sym typeface="Trebuchet MS"/>
              </a:rPr>
              <a:t>Domain, Dataset</a:t>
            </a:r>
            <a:endParaRPr b="0" i="0" sz="4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i="0" lang="en-US" sz="4000" u="none" cap="none" strike="noStrike">
                <a:solidFill>
                  <a:srgbClr val="FFFFFF"/>
                </a:solidFill>
                <a:latin typeface="Trebuchet MS"/>
                <a:ea typeface="Trebuchet MS"/>
                <a:cs typeface="Trebuchet MS"/>
                <a:sym typeface="Trebuchet MS"/>
              </a:rPr>
              <a:t>and DaaS</a:t>
            </a:r>
            <a:endParaRPr b="0" i="0" sz="4000" u="none" cap="none" strike="noStrike">
              <a:solidFill>
                <a:srgbClr val="FFFFFF"/>
              </a:solidFill>
              <a:latin typeface="Arial"/>
              <a:ea typeface="Arial"/>
              <a:cs typeface="Arial"/>
              <a:sym typeface="Arial"/>
            </a:endParaRPr>
          </a:p>
        </p:txBody>
      </p:sp>
      <p:sp>
        <p:nvSpPr>
          <p:cNvPr id="52" name="Google Shape;52;p5"/>
          <p:cNvSpPr/>
          <p:nvPr/>
        </p:nvSpPr>
        <p:spPr>
          <a:xfrm>
            <a:off x="457200" y="4114800"/>
            <a:ext cx="822924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9FB4CC"/>
                </a:solidFill>
                <a:latin typeface="Calibri"/>
                <a:ea typeface="Calibri"/>
                <a:cs typeface="Calibri"/>
                <a:sym typeface="Calibri"/>
              </a:rPr>
              <a:t>Edoardo Di Giuseppe</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6"/>
          <p:cNvSpPr/>
          <p:nvPr/>
        </p:nvSpPr>
        <p:spPr>
          <a:xfrm>
            <a:off x="365760" y="201240"/>
            <a:ext cx="1737000" cy="255600"/>
          </a:xfrm>
          <a:prstGeom prst="roundRect">
            <a:avLst>
              <a:gd fmla="val 14286" name="adj"/>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 name="Google Shape;59;p6"/>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DOMAIN</a:t>
            </a:r>
            <a:endParaRPr b="0" i="0" sz="800" u="none" cap="none" strike="noStrike">
              <a:solidFill>
                <a:srgbClr val="000000"/>
              </a:solidFill>
              <a:latin typeface="Arial"/>
              <a:ea typeface="Arial"/>
              <a:cs typeface="Arial"/>
              <a:sym typeface="Arial"/>
            </a:endParaRPr>
          </a:p>
        </p:txBody>
      </p:sp>
      <p:sp>
        <p:nvSpPr>
          <p:cNvPr id="60" name="Google Shape;60;p6"/>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Chosen Domain: Employment</a:t>
            </a:r>
            <a:endParaRPr b="0" i="0" sz="2600" u="none" cap="none" strike="noStrike">
              <a:solidFill>
                <a:srgbClr val="000000"/>
              </a:solidFill>
              <a:latin typeface="Arial"/>
              <a:ea typeface="Arial"/>
              <a:cs typeface="Arial"/>
              <a:sym typeface="Arial"/>
            </a:endParaRPr>
          </a:p>
        </p:txBody>
      </p:sp>
      <p:sp>
        <p:nvSpPr>
          <p:cNvPr id="61" name="Google Shape;61;p6"/>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6"/>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4</a:t>
            </a:r>
            <a:endParaRPr b="0" i="0" sz="900" u="none" cap="none" strike="noStrike">
              <a:solidFill>
                <a:srgbClr val="000000"/>
              </a:solidFill>
              <a:latin typeface="Arial"/>
              <a:ea typeface="Arial"/>
              <a:cs typeface="Arial"/>
              <a:sym typeface="Arial"/>
            </a:endParaRPr>
          </a:p>
        </p:txBody>
      </p:sp>
      <p:sp>
        <p:nvSpPr>
          <p:cNvPr id="63" name="Google Shape;63;p6"/>
          <p:cNvSpPr/>
          <p:nvPr/>
        </p:nvSpPr>
        <p:spPr>
          <a:xfrm>
            <a:off x="365760" y="1325880"/>
            <a:ext cx="3977280" cy="3474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 name="Google Shape;64;p6"/>
          <p:cNvSpPr/>
          <p:nvPr/>
        </p:nvSpPr>
        <p:spPr>
          <a:xfrm>
            <a:off x="548640" y="1463040"/>
            <a:ext cx="356580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00" u="none" cap="none" strike="noStrike">
                <a:solidFill>
                  <a:srgbClr val="1D2D44"/>
                </a:solidFill>
                <a:latin typeface="Trebuchet MS"/>
                <a:ea typeface="Trebuchet MS"/>
                <a:cs typeface="Trebuchet MS"/>
                <a:sym typeface="Trebuchet MS"/>
              </a:rPr>
              <a:t>Why Employment Domain?</a:t>
            </a:r>
            <a:endParaRPr b="0" i="0" sz="1400" u="none" cap="none" strike="noStrike">
              <a:solidFill>
                <a:srgbClr val="000000"/>
              </a:solidFill>
              <a:latin typeface="Arial"/>
              <a:ea typeface="Arial"/>
              <a:cs typeface="Arial"/>
              <a:sym typeface="Arial"/>
            </a:endParaRPr>
          </a:p>
        </p:txBody>
      </p:sp>
      <p:sp>
        <p:nvSpPr>
          <p:cNvPr id="65" name="Google Shape;65;p6"/>
          <p:cNvSpPr/>
          <p:nvPr/>
        </p:nvSpPr>
        <p:spPr>
          <a:xfrm>
            <a:off x="548640" y="1920240"/>
            <a:ext cx="3657240" cy="2742840"/>
          </a:xfrm>
          <a:prstGeom prst="rect">
            <a:avLst/>
          </a:prstGeom>
          <a:noFill/>
          <a:ln>
            <a:noFill/>
          </a:ln>
        </p:spPr>
        <p:txBody>
          <a:bodyPr anchorCtr="0" anchor="t" bIns="45000" lIns="90000" spcFirstLastPara="1" rIns="90000" wrap="square" tIns="45000">
            <a:noAutofit/>
          </a:bodyPr>
          <a:lstStyle/>
          <a:p>
            <a:pPr indent="-343080" lvl="0" marL="343080" marR="0" rtl="0" algn="l">
              <a:lnSpc>
                <a:spcPct val="100000"/>
              </a:lnSpc>
              <a:spcBef>
                <a:spcPts val="0"/>
              </a:spcBef>
              <a:spcAft>
                <a:spcPts val="0"/>
              </a:spcAft>
              <a:buClr>
                <a:srgbClr val="1D2D44"/>
              </a:buClr>
              <a:buSzPts val="1200"/>
              <a:buFont typeface="Noto Sans Symbols"/>
              <a:buChar char="∙"/>
            </a:pPr>
            <a:r>
              <a:rPr b="0" i="0" lang="en-US" sz="1200" u="none" cap="none" strike="noStrike">
                <a:solidFill>
                  <a:srgbClr val="1D2D44"/>
                </a:solidFill>
                <a:latin typeface="Calibri"/>
                <a:ea typeface="Calibri"/>
                <a:cs typeface="Calibri"/>
                <a:sym typeface="Calibri"/>
              </a:rPr>
              <a:t>Rich structured data domain</a:t>
            </a:r>
            <a:endParaRPr b="0" i="0" sz="1200" u="none" cap="none" strike="noStrike">
              <a:solidFill>
                <a:srgbClr val="000000"/>
              </a:solidFill>
              <a:latin typeface="Arial"/>
              <a:ea typeface="Arial"/>
              <a:cs typeface="Arial"/>
              <a:sym typeface="Arial"/>
            </a:endParaRPr>
          </a:p>
          <a:p>
            <a:pPr indent="-343080" lvl="0" marL="343080" marR="0" rtl="0" algn="l">
              <a:lnSpc>
                <a:spcPct val="100000"/>
              </a:lnSpc>
              <a:spcBef>
                <a:spcPts val="0"/>
              </a:spcBef>
              <a:spcAft>
                <a:spcPts val="0"/>
              </a:spcAft>
              <a:buClr>
                <a:srgbClr val="1D2D44"/>
              </a:buClr>
              <a:buSzPts val="1200"/>
              <a:buFont typeface="Noto Sans Symbols"/>
              <a:buChar char="∙"/>
            </a:pPr>
            <a:r>
              <a:rPr b="0" i="0" lang="en-US" sz="1200" u="none" cap="none" strike="noStrike">
                <a:solidFill>
                  <a:srgbClr val="1D2D44"/>
                </a:solidFill>
                <a:latin typeface="Calibri"/>
                <a:ea typeface="Calibri"/>
                <a:cs typeface="Calibri"/>
                <a:sym typeface="Calibri"/>
              </a:rPr>
              <a:t>High-impact decisions affecting people's lives</a:t>
            </a:r>
            <a:endParaRPr b="0" i="0" sz="1200" u="none" cap="none" strike="noStrike">
              <a:solidFill>
                <a:srgbClr val="000000"/>
              </a:solidFill>
              <a:latin typeface="Arial"/>
              <a:ea typeface="Arial"/>
              <a:cs typeface="Arial"/>
              <a:sym typeface="Arial"/>
            </a:endParaRPr>
          </a:p>
          <a:p>
            <a:pPr indent="-343080" lvl="0" marL="343080" marR="0" rtl="0" algn="l">
              <a:lnSpc>
                <a:spcPct val="100000"/>
              </a:lnSpc>
              <a:spcBef>
                <a:spcPts val="0"/>
              </a:spcBef>
              <a:spcAft>
                <a:spcPts val="0"/>
              </a:spcAft>
              <a:buClr>
                <a:srgbClr val="1D2D44"/>
              </a:buClr>
              <a:buSzPts val="1200"/>
              <a:buFont typeface="Noto Sans Symbols"/>
              <a:buChar char="∙"/>
            </a:pPr>
            <a:r>
              <a:rPr b="0" i="0" lang="en-US" sz="1200" u="none" cap="none" strike="noStrike">
                <a:solidFill>
                  <a:srgbClr val="1D2D44"/>
                </a:solidFill>
                <a:latin typeface="Calibri"/>
                <a:ea typeface="Calibri"/>
                <a:cs typeface="Calibri"/>
                <a:sym typeface="Calibri"/>
              </a:rPr>
              <a:t>High risk of algorithmic bias and discrimination</a:t>
            </a:r>
            <a:endParaRPr b="0" i="0" sz="1200" u="none" cap="none" strike="noStrike">
              <a:solidFill>
                <a:srgbClr val="000000"/>
              </a:solidFill>
              <a:latin typeface="Arial"/>
              <a:ea typeface="Arial"/>
              <a:cs typeface="Arial"/>
              <a:sym typeface="Arial"/>
            </a:endParaRPr>
          </a:p>
          <a:p>
            <a:pPr indent="-343080" lvl="0" marL="343080" marR="0" rtl="0" algn="l">
              <a:lnSpc>
                <a:spcPct val="100000"/>
              </a:lnSpc>
              <a:spcBef>
                <a:spcPts val="0"/>
              </a:spcBef>
              <a:spcAft>
                <a:spcPts val="0"/>
              </a:spcAft>
              <a:buClr>
                <a:srgbClr val="1D2D44"/>
              </a:buClr>
              <a:buSzPts val="1200"/>
              <a:buFont typeface="Noto Sans Symbols"/>
              <a:buChar char="∙"/>
            </a:pPr>
            <a:r>
              <a:rPr b="0" i="0" lang="en-US" sz="1200" u="none" cap="none" strike="noStrike">
                <a:solidFill>
                  <a:srgbClr val="1D2D44"/>
                </a:solidFill>
                <a:latin typeface="Calibri"/>
                <a:ea typeface="Calibri"/>
                <a:cs typeface="Calibri"/>
                <a:sym typeface="Calibri"/>
              </a:rPr>
              <a:t>Relevant to existing regulations (D.Lgs. 198/2006, GDPR, UN CRPD)</a:t>
            </a:r>
            <a:endParaRPr b="0" i="0" sz="1200" u="none" cap="none" strike="noStrike">
              <a:solidFill>
                <a:srgbClr val="000000"/>
              </a:solidFill>
              <a:latin typeface="Arial"/>
              <a:ea typeface="Arial"/>
              <a:cs typeface="Arial"/>
              <a:sym typeface="Arial"/>
            </a:endParaRPr>
          </a:p>
        </p:txBody>
      </p:sp>
      <p:sp>
        <p:nvSpPr>
          <p:cNvPr id="66" name="Google Shape;66;p6"/>
          <p:cNvSpPr/>
          <p:nvPr/>
        </p:nvSpPr>
        <p:spPr>
          <a:xfrm>
            <a:off x="4480560" y="1325880"/>
            <a:ext cx="4297320" cy="3474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 name="Google Shape;67;p6"/>
          <p:cNvSpPr/>
          <p:nvPr/>
        </p:nvSpPr>
        <p:spPr>
          <a:xfrm>
            <a:off x="4663440" y="1463040"/>
            <a:ext cx="393156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00" u="none" cap="none" strike="noStrike">
                <a:solidFill>
                  <a:srgbClr val="1D2D44"/>
                </a:solidFill>
                <a:latin typeface="Trebuchet MS"/>
                <a:ea typeface="Trebuchet MS"/>
                <a:cs typeface="Trebuchet MS"/>
                <a:sym typeface="Trebuchet MS"/>
              </a:rPr>
              <a:t>Project Use Case</a:t>
            </a:r>
            <a:endParaRPr b="0" i="0" sz="1400" u="none" cap="none" strike="noStrike">
              <a:solidFill>
                <a:srgbClr val="000000"/>
              </a:solidFill>
              <a:latin typeface="Arial"/>
              <a:ea typeface="Arial"/>
              <a:cs typeface="Arial"/>
              <a:sym typeface="Arial"/>
            </a:endParaRPr>
          </a:p>
        </p:txBody>
      </p:sp>
      <p:sp>
        <p:nvSpPr>
          <p:cNvPr id="68" name="Google Shape;68;p6"/>
          <p:cNvSpPr/>
          <p:nvPr/>
        </p:nvSpPr>
        <p:spPr>
          <a:xfrm>
            <a:off x="4663440" y="1874520"/>
            <a:ext cx="347040" cy="347040"/>
          </a:xfrm>
          <a:prstGeom prst="ellipse">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 name="Google Shape;69;p6"/>
          <p:cNvSpPr/>
          <p:nvPr/>
        </p:nvSpPr>
        <p:spPr>
          <a:xfrm>
            <a:off x="4663440" y="1874520"/>
            <a:ext cx="3470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1</a:t>
            </a:r>
            <a:endParaRPr b="0" i="0" sz="1100" u="none" cap="none" strike="noStrike">
              <a:solidFill>
                <a:srgbClr val="000000"/>
              </a:solidFill>
              <a:latin typeface="Arial"/>
              <a:ea typeface="Arial"/>
              <a:cs typeface="Arial"/>
              <a:sym typeface="Arial"/>
            </a:endParaRPr>
          </a:p>
        </p:txBody>
      </p:sp>
      <p:sp>
        <p:nvSpPr>
          <p:cNvPr id="70" name="Google Shape;70;p6"/>
          <p:cNvSpPr/>
          <p:nvPr/>
        </p:nvSpPr>
        <p:spPr>
          <a:xfrm>
            <a:off x="5120640" y="1874520"/>
            <a:ext cx="347436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Calibri"/>
                <a:ea typeface="Calibri"/>
                <a:cs typeface="Calibri"/>
                <a:sym typeface="Calibri"/>
              </a:rPr>
              <a:t>Employment agent  </a:t>
            </a:r>
            <a:r>
              <a:rPr b="0" i="0" lang="en-US" sz="1200" u="none" cap="none" strike="noStrike">
                <a:solidFill>
                  <a:srgbClr val="6B7280"/>
                </a:solidFill>
                <a:latin typeface="Calibri"/>
                <a:ea typeface="Calibri"/>
                <a:cs typeface="Calibri"/>
                <a:sym typeface="Calibri"/>
              </a:rPr>
              <a:t>Searches jobs in the system for the candidate</a:t>
            </a:r>
            <a:endParaRPr b="0" i="0" sz="1200" u="none" cap="none" strike="noStrike">
              <a:solidFill>
                <a:srgbClr val="000000"/>
              </a:solidFill>
              <a:latin typeface="Arial"/>
              <a:ea typeface="Arial"/>
              <a:cs typeface="Arial"/>
              <a:sym typeface="Arial"/>
            </a:endParaRPr>
          </a:p>
        </p:txBody>
      </p:sp>
      <p:cxnSp>
        <p:nvCxnSpPr>
          <p:cNvPr id="71" name="Google Shape;71;p6"/>
          <p:cNvCxnSpPr/>
          <p:nvPr/>
        </p:nvCxnSpPr>
        <p:spPr>
          <a:xfrm>
            <a:off x="4827960" y="2221920"/>
            <a:ext cx="360" cy="402120"/>
          </a:xfrm>
          <a:prstGeom prst="straightConnector1">
            <a:avLst/>
          </a:prstGeom>
          <a:noFill/>
          <a:ln cap="flat" cmpd="sng" w="19050">
            <a:solidFill>
              <a:srgbClr val="2C5FDC"/>
            </a:solidFill>
            <a:prstDash val="solid"/>
            <a:round/>
            <a:headEnd len="sm" w="sm" type="none"/>
            <a:tailEnd len="sm" w="sm" type="none"/>
          </a:ln>
        </p:spPr>
      </p:cxnSp>
      <p:sp>
        <p:nvSpPr>
          <p:cNvPr id="72" name="Google Shape;72;p6"/>
          <p:cNvSpPr/>
          <p:nvPr/>
        </p:nvSpPr>
        <p:spPr>
          <a:xfrm>
            <a:off x="4663440" y="2624400"/>
            <a:ext cx="347040" cy="347040"/>
          </a:xfrm>
          <a:prstGeom prst="ellipse">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 name="Google Shape;73;p6"/>
          <p:cNvSpPr/>
          <p:nvPr/>
        </p:nvSpPr>
        <p:spPr>
          <a:xfrm>
            <a:off x="4663440" y="2624400"/>
            <a:ext cx="3470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2</a:t>
            </a:r>
            <a:endParaRPr b="0" i="0" sz="1100" u="none" cap="none" strike="noStrike">
              <a:solidFill>
                <a:srgbClr val="000000"/>
              </a:solidFill>
              <a:latin typeface="Arial"/>
              <a:ea typeface="Arial"/>
              <a:cs typeface="Arial"/>
              <a:sym typeface="Arial"/>
            </a:endParaRPr>
          </a:p>
        </p:txBody>
      </p:sp>
      <p:sp>
        <p:nvSpPr>
          <p:cNvPr id="74" name="Google Shape;74;p6"/>
          <p:cNvSpPr/>
          <p:nvPr/>
        </p:nvSpPr>
        <p:spPr>
          <a:xfrm>
            <a:off x="5120640" y="2624400"/>
            <a:ext cx="347436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Calibri"/>
                <a:ea typeface="Calibri"/>
                <a:cs typeface="Calibri"/>
                <a:sym typeface="Calibri"/>
              </a:rPr>
              <a:t>DaaS Module  </a:t>
            </a:r>
            <a:r>
              <a:rPr b="0" i="0" lang="en-US" sz="1200" u="none" cap="none" strike="noStrike">
                <a:solidFill>
                  <a:srgbClr val="6B7280"/>
                </a:solidFill>
                <a:latin typeface="Calibri"/>
                <a:ea typeface="Calibri"/>
                <a:cs typeface="Calibri"/>
                <a:sym typeface="Calibri"/>
              </a:rPr>
              <a:t>Recommends offers via SPARQL</a:t>
            </a:r>
            <a:endParaRPr b="0" i="0" sz="1200" u="none" cap="none" strike="noStrike">
              <a:solidFill>
                <a:srgbClr val="000000"/>
              </a:solidFill>
              <a:latin typeface="Arial"/>
              <a:ea typeface="Arial"/>
              <a:cs typeface="Arial"/>
              <a:sym typeface="Arial"/>
            </a:endParaRPr>
          </a:p>
        </p:txBody>
      </p:sp>
      <p:cxnSp>
        <p:nvCxnSpPr>
          <p:cNvPr id="75" name="Google Shape;75;p6"/>
          <p:cNvCxnSpPr/>
          <p:nvPr/>
        </p:nvCxnSpPr>
        <p:spPr>
          <a:xfrm>
            <a:off x="4827960" y="2971800"/>
            <a:ext cx="360" cy="402120"/>
          </a:xfrm>
          <a:prstGeom prst="straightConnector1">
            <a:avLst/>
          </a:prstGeom>
          <a:noFill/>
          <a:ln cap="flat" cmpd="sng" w="19050">
            <a:solidFill>
              <a:srgbClr val="2C5FDC"/>
            </a:solidFill>
            <a:prstDash val="solid"/>
            <a:round/>
            <a:headEnd len="sm" w="sm" type="none"/>
            <a:tailEnd len="sm" w="sm" type="none"/>
          </a:ln>
        </p:spPr>
      </p:cxnSp>
      <p:sp>
        <p:nvSpPr>
          <p:cNvPr id="76" name="Google Shape;76;p6"/>
          <p:cNvSpPr/>
          <p:nvPr/>
        </p:nvSpPr>
        <p:spPr>
          <a:xfrm>
            <a:off x="4663440" y="3374280"/>
            <a:ext cx="347040" cy="347040"/>
          </a:xfrm>
          <a:prstGeom prst="ellipse">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 name="Google Shape;77;p6"/>
          <p:cNvSpPr/>
          <p:nvPr/>
        </p:nvSpPr>
        <p:spPr>
          <a:xfrm>
            <a:off x="4663440" y="3374280"/>
            <a:ext cx="3470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3</a:t>
            </a:r>
            <a:endParaRPr b="0" i="0" sz="1100" u="none" cap="none" strike="noStrike">
              <a:solidFill>
                <a:srgbClr val="000000"/>
              </a:solidFill>
              <a:latin typeface="Arial"/>
              <a:ea typeface="Arial"/>
              <a:cs typeface="Arial"/>
              <a:sym typeface="Arial"/>
            </a:endParaRPr>
          </a:p>
        </p:txBody>
      </p:sp>
      <p:sp>
        <p:nvSpPr>
          <p:cNvPr id="78" name="Google Shape;78;p6"/>
          <p:cNvSpPr/>
          <p:nvPr/>
        </p:nvSpPr>
        <p:spPr>
          <a:xfrm>
            <a:off x="5120640" y="3374280"/>
            <a:ext cx="347436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Calibri"/>
                <a:ea typeface="Calibri"/>
                <a:cs typeface="Calibri"/>
                <a:sym typeface="Calibri"/>
              </a:rPr>
              <a:t>EaaS Module  </a:t>
            </a:r>
            <a:r>
              <a:rPr b="0" i="0" lang="en-US" sz="1200" u="none" cap="none" strike="noStrike">
                <a:solidFill>
                  <a:srgbClr val="6B7280"/>
                </a:solidFill>
                <a:latin typeface="Calibri"/>
                <a:ea typeface="Calibri"/>
                <a:cs typeface="Calibri"/>
                <a:sym typeface="Calibri"/>
              </a:rPr>
              <a:t>Evaluates the recommendation</a:t>
            </a:r>
            <a:endParaRPr b="0" i="0" sz="1200" u="none" cap="none" strike="noStrike">
              <a:solidFill>
                <a:srgbClr val="000000"/>
              </a:solidFill>
              <a:latin typeface="Arial"/>
              <a:ea typeface="Arial"/>
              <a:cs typeface="Arial"/>
              <a:sym typeface="Arial"/>
            </a:endParaRPr>
          </a:p>
        </p:txBody>
      </p:sp>
      <p:cxnSp>
        <p:nvCxnSpPr>
          <p:cNvPr id="79" name="Google Shape;79;p6"/>
          <p:cNvCxnSpPr/>
          <p:nvPr/>
        </p:nvCxnSpPr>
        <p:spPr>
          <a:xfrm>
            <a:off x="4827960" y="3721320"/>
            <a:ext cx="360" cy="402480"/>
          </a:xfrm>
          <a:prstGeom prst="straightConnector1">
            <a:avLst/>
          </a:prstGeom>
          <a:noFill/>
          <a:ln cap="flat" cmpd="sng" w="19050">
            <a:solidFill>
              <a:srgbClr val="2C5FDC"/>
            </a:solidFill>
            <a:prstDash val="solid"/>
            <a:round/>
            <a:headEnd len="sm" w="sm" type="none"/>
            <a:tailEnd len="sm" w="sm" type="none"/>
          </a:ln>
        </p:spPr>
      </p:cxnSp>
      <p:sp>
        <p:nvSpPr>
          <p:cNvPr id="80" name="Google Shape;80;p6"/>
          <p:cNvSpPr/>
          <p:nvPr/>
        </p:nvSpPr>
        <p:spPr>
          <a:xfrm>
            <a:off x="4663440" y="4123800"/>
            <a:ext cx="347040" cy="347040"/>
          </a:xfrm>
          <a:prstGeom prst="ellipse">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 name="Google Shape;81;p6"/>
          <p:cNvSpPr/>
          <p:nvPr/>
        </p:nvSpPr>
        <p:spPr>
          <a:xfrm>
            <a:off x="4663440" y="4123800"/>
            <a:ext cx="3470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4</a:t>
            </a:r>
            <a:endParaRPr b="0" i="0" sz="1100" u="none" cap="none" strike="noStrike">
              <a:solidFill>
                <a:srgbClr val="000000"/>
              </a:solidFill>
              <a:latin typeface="Arial"/>
              <a:ea typeface="Arial"/>
              <a:cs typeface="Arial"/>
              <a:sym typeface="Arial"/>
            </a:endParaRPr>
          </a:p>
        </p:txBody>
      </p:sp>
      <p:sp>
        <p:nvSpPr>
          <p:cNvPr id="82" name="Google Shape;82;p6"/>
          <p:cNvSpPr/>
          <p:nvPr/>
        </p:nvSpPr>
        <p:spPr>
          <a:xfrm>
            <a:off x="5120640" y="4123800"/>
            <a:ext cx="347436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Calibri"/>
                <a:ea typeface="Calibri"/>
                <a:cs typeface="Calibri"/>
                <a:sym typeface="Calibri"/>
              </a:rPr>
              <a:t>AUDIT  </a:t>
            </a:r>
            <a:r>
              <a:rPr b="0" i="0" lang="en-US" sz="1200" u="none" cap="none" strike="noStrike">
                <a:solidFill>
                  <a:srgbClr val="6B7280"/>
                </a:solidFill>
                <a:latin typeface="Calibri"/>
                <a:ea typeface="Calibri"/>
                <a:cs typeface="Calibri"/>
                <a:sym typeface="Calibri"/>
              </a:rPr>
              <a:t>Every decision is tracked</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7"/>
          <p:cNvSpPr/>
          <p:nvPr/>
        </p:nvSpPr>
        <p:spPr>
          <a:xfrm>
            <a:off x="365760" y="201240"/>
            <a:ext cx="1737000" cy="255600"/>
          </a:xfrm>
          <a:prstGeom prst="roundRect">
            <a:avLst>
              <a:gd fmla="val 14286" name="adj"/>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 name="Google Shape;89;p7"/>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ARCHITECTURE</a:t>
            </a:r>
            <a:endParaRPr b="0" i="0" sz="800" u="none" cap="none" strike="noStrike">
              <a:solidFill>
                <a:srgbClr val="000000"/>
              </a:solidFill>
              <a:latin typeface="Arial"/>
              <a:ea typeface="Arial"/>
              <a:cs typeface="Arial"/>
              <a:sym typeface="Arial"/>
            </a:endParaRPr>
          </a:p>
        </p:txBody>
      </p:sp>
      <p:sp>
        <p:nvSpPr>
          <p:cNvPr id="90" name="Google Shape;90;p7"/>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Application Architecture</a:t>
            </a:r>
            <a:endParaRPr b="0" i="0" sz="2600" u="none" cap="none" strike="noStrike">
              <a:solidFill>
                <a:srgbClr val="000000"/>
              </a:solidFill>
              <a:latin typeface="Arial"/>
              <a:ea typeface="Arial"/>
              <a:cs typeface="Arial"/>
              <a:sym typeface="Arial"/>
            </a:endParaRPr>
          </a:p>
        </p:txBody>
      </p:sp>
      <p:sp>
        <p:nvSpPr>
          <p:cNvPr id="91" name="Google Shape;91;p7"/>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 name="Google Shape;92;p7"/>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5</a:t>
            </a:r>
            <a:endParaRPr b="0" i="0" sz="900" u="none" cap="none" strike="noStrike">
              <a:solidFill>
                <a:srgbClr val="000000"/>
              </a:solidFill>
              <a:latin typeface="Arial"/>
              <a:ea typeface="Arial"/>
              <a:cs typeface="Arial"/>
              <a:sym typeface="Arial"/>
            </a:endParaRPr>
          </a:p>
        </p:txBody>
      </p:sp>
      <p:sp>
        <p:nvSpPr>
          <p:cNvPr id="93" name="Google Shape;93;p7"/>
          <p:cNvSpPr/>
          <p:nvPr/>
        </p:nvSpPr>
        <p:spPr>
          <a:xfrm>
            <a:off x="365760" y="1325880"/>
            <a:ext cx="2559960" cy="3474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 name="Google Shape;94;p7"/>
          <p:cNvSpPr/>
          <p:nvPr/>
        </p:nvSpPr>
        <p:spPr>
          <a:xfrm>
            <a:off x="365760" y="1325880"/>
            <a:ext cx="2559960" cy="456840"/>
          </a:xfrm>
          <a:prstGeom prst="rect">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 name="Google Shape;95;p7"/>
          <p:cNvSpPr/>
          <p:nvPr/>
        </p:nvSpPr>
        <p:spPr>
          <a:xfrm>
            <a:off x="365760" y="1325880"/>
            <a:ext cx="255996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CLIENT  :8080</a:t>
            </a:r>
            <a:endParaRPr b="0" i="0" sz="1400" u="none" cap="none" strike="noStrike">
              <a:solidFill>
                <a:srgbClr val="000000"/>
              </a:solidFill>
              <a:latin typeface="Arial"/>
              <a:ea typeface="Arial"/>
              <a:cs typeface="Arial"/>
              <a:sym typeface="Arial"/>
            </a:endParaRPr>
          </a:p>
        </p:txBody>
      </p:sp>
      <p:sp>
        <p:nvSpPr>
          <p:cNvPr id="96" name="Google Shape;96;p7"/>
          <p:cNvSpPr/>
          <p:nvPr/>
        </p:nvSpPr>
        <p:spPr>
          <a:xfrm>
            <a:off x="457200" y="1874520"/>
            <a:ext cx="2377080" cy="7311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9B59B6"/>
                </a:solidFill>
                <a:latin typeface="Consolas"/>
                <a:ea typeface="Consolas"/>
                <a:cs typeface="Consolas"/>
                <a:sym typeface="Consolas"/>
              </a:rPr>
              <a:t>Spring Boot</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100" u="none" cap="none" strike="noStrike">
                <a:solidFill>
                  <a:srgbClr val="9B59B6"/>
                </a:solidFill>
                <a:latin typeface="Consolas"/>
                <a:ea typeface="Consolas"/>
                <a:cs typeface="Consolas"/>
                <a:sym typeface="Consolas"/>
              </a:rPr>
              <a:t>Thymeleaf</a:t>
            </a:r>
            <a:endParaRPr b="0" i="0" sz="1100" u="none" cap="none" strike="noStrike">
              <a:solidFill>
                <a:srgbClr val="000000"/>
              </a:solidFill>
              <a:latin typeface="Arial"/>
              <a:ea typeface="Arial"/>
              <a:cs typeface="Arial"/>
              <a:sym typeface="Arial"/>
            </a:endParaRPr>
          </a:p>
        </p:txBody>
      </p:sp>
      <p:cxnSp>
        <p:nvCxnSpPr>
          <p:cNvPr id="97" name="Google Shape;97;p7"/>
          <p:cNvCxnSpPr/>
          <p:nvPr/>
        </p:nvCxnSpPr>
        <p:spPr>
          <a:xfrm>
            <a:off x="457200" y="2651760"/>
            <a:ext cx="2377440" cy="360"/>
          </a:xfrm>
          <a:prstGeom prst="straightConnector1">
            <a:avLst/>
          </a:prstGeom>
          <a:noFill/>
          <a:ln cap="flat" cmpd="sng" w="12700">
            <a:solidFill>
              <a:srgbClr val="D4DCF0"/>
            </a:solidFill>
            <a:prstDash val="solid"/>
            <a:round/>
            <a:headEnd len="sm" w="sm" type="none"/>
            <a:tailEnd len="sm" w="sm" type="none"/>
          </a:ln>
        </p:spPr>
      </p:cxnSp>
      <p:sp>
        <p:nvSpPr>
          <p:cNvPr id="98" name="Google Shape;98;p7"/>
          <p:cNvSpPr/>
          <p:nvPr/>
        </p:nvSpPr>
        <p:spPr>
          <a:xfrm>
            <a:off x="457200" y="2743200"/>
            <a:ext cx="2377080" cy="1919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D2D44"/>
                </a:solidFill>
                <a:latin typeface="Calibri"/>
                <a:ea typeface="Calibri"/>
                <a:cs typeface="Calibri"/>
                <a:sym typeface="Calibri"/>
              </a:rPr>
              <a:t>Web UI: candidate browsing, recommendations, evaluation</a:t>
            </a:r>
            <a:endParaRPr b="0" i="0" sz="1100" u="none" cap="none" strike="noStrike">
              <a:solidFill>
                <a:srgbClr val="000000"/>
              </a:solidFill>
              <a:latin typeface="Arial"/>
              <a:ea typeface="Arial"/>
              <a:cs typeface="Arial"/>
              <a:sym typeface="Arial"/>
            </a:endParaRPr>
          </a:p>
        </p:txBody>
      </p:sp>
      <p:sp>
        <p:nvSpPr>
          <p:cNvPr id="99" name="Google Shape;99;p7"/>
          <p:cNvSpPr/>
          <p:nvPr/>
        </p:nvSpPr>
        <p:spPr>
          <a:xfrm>
            <a:off x="3200400" y="1325880"/>
            <a:ext cx="2559960" cy="3474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 name="Google Shape;100;p7"/>
          <p:cNvSpPr/>
          <p:nvPr/>
        </p:nvSpPr>
        <p:spPr>
          <a:xfrm>
            <a:off x="3200400" y="1325880"/>
            <a:ext cx="2559960" cy="45684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 name="Google Shape;101;p7"/>
          <p:cNvSpPr/>
          <p:nvPr/>
        </p:nvSpPr>
        <p:spPr>
          <a:xfrm>
            <a:off x="3200400" y="1325880"/>
            <a:ext cx="255996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DaaS  :8081</a:t>
            </a:r>
            <a:endParaRPr b="0" i="0" sz="1400" u="none" cap="none" strike="noStrike">
              <a:solidFill>
                <a:srgbClr val="000000"/>
              </a:solidFill>
              <a:latin typeface="Arial"/>
              <a:ea typeface="Arial"/>
              <a:cs typeface="Arial"/>
              <a:sym typeface="Arial"/>
            </a:endParaRPr>
          </a:p>
        </p:txBody>
      </p:sp>
      <p:sp>
        <p:nvSpPr>
          <p:cNvPr id="102" name="Google Shape;102;p7"/>
          <p:cNvSpPr/>
          <p:nvPr/>
        </p:nvSpPr>
        <p:spPr>
          <a:xfrm>
            <a:off x="3291840" y="1874520"/>
            <a:ext cx="2377080" cy="7311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Spring Boot</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Apache Jena 5.1</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RDF/XML + SPARQL</a:t>
            </a:r>
            <a:endParaRPr b="0" i="0" sz="1100" u="none" cap="none" strike="noStrike">
              <a:solidFill>
                <a:srgbClr val="000000"/>
              </a:solidFill>
              <a:latin typeface="Arial"/>
              <a:ea typeface="Arial"/>
              <a:cs typeface="Arial"/>
              <a:sym typeface="Arial"/>
            </a:endParaRPr>
          </a:p>
        </p:txBody>
      </p:sp>
      <p:cxnSp>
        <p:nvCxnSpPr>
          <p:cNvPr id="103" name="Google Shape;103;p7"/>
          <p:cNvCxnSpPr/>
          <p:nvPr/>
        </p:nvCxnSpPr>
        <p:spPr>
          <a:xfrm>
            <a:off x="3291840" y="2651760"/>
            <a:ext cx="2377440" cy="360"/>
          </a:xfrm>
          <a:prstGeom prst="straightConnector1">
            <a:avLst/>
          </a:prstGeom>
          <a:noFill/>
          <a:ln cap="flat" cmpd="sng" w="12700">
            <a:solidFill>
              <a:srgbClr val="D4DCF0"/>
            </a:solidFill>
            <a:prstDash val="solid"/>
            <a:round/>
            <a:headEnd len="sm" w="sm" type="none"/>
            <a:tailEnd len="sm" w="sm" type="none"/>
          </a:ln>
        </p:spPr>
      </p:cxnSp>
      <p:sp>
        <p:nvSpPr>
          <p:cNvPr id="104" name="Google Shape;104;p7"/>
          <p:cNvSpPr/>
          <p:nvPr/>
        </p:nvSpPr>
        <p:spPr>
          <a:xfrm>
            <a:off x="3291840" y="2743200"/>
            <a:ext cx="2377080" cy="1919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D2D44"/>
                </a:solidFill>
                <a:latin typeface="Calibri"/>
                <a:ea typeface="Calibri"/>
                <a:cs typeface="Calibri"/>
                <a:sym typeface="Calibri"/>
              </a:rPr>
              <a:t>Full CRUD operations</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1D2D44"/>
                </a:solidFill>
                <a:latin typeface="Calibri"/>
                <a:ea typeface="Calibri"/>
                <a:cs typeface="Calibri"/>
                <a:sym typeface="Calibri"/>
              </a:rPr>
              <a:t>SPARQL Queries</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1D2D44"/>
                </a:solidFill>
                <a:latin typeface="Calibri"/>
                <a:ea typeface="Calibri"/>
                <a:cs typeface="Calibri"/>
                <a:sym typeface="Calibri"/>
              </a:rPr>
              <a:t>Swagger UI documentation</a:t>
            </a:r>
            <a:endParaRPr b="0" i="0" sz="1100" u="none" cap="none" strike="noStrike">
              <a:solidFill>
                <a:srgbClr val="000000"/>
              </a:solidFill>
              <a:latin typeface="Arial"/>
              <a:ea typeface="Arial"/>
              <a:cs typeface="Arial"/>
              <a:sym typeface="Arial"/>
            </a:endParaRPr>
          </a:p>
        </p:txBody>
      </p:sp>
      <p:sp>
        <p:nvSpPr>
          <p:cNvPr id="105" name="Google Shape;105;p7"/>
          <p:cNvSpPr/>
          <p:nvPr/>
        </p:nvSpPr>
        <p:spPr>
          <a:xfrm>
            <a:off x="6035040" y="1325880"/>
            <a:ext cx="2559960" cy="3474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7"/>
          <p:cNvSpPr/>
          <p:nvPr/>
        </p:nvSpPr>
        <p:spPr>
          <a:xfrm>
            <a:off x="6035040" y="1325880"/>
            <a:ext cx="2559960" cy="456840"/>
          </a:xfrm>
          <a:prstGeom prst="rect">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7"/>
          <p:cNvSpPr/>
          <p:nvPr/>
        </p:nvSpPr>
        <p:spPr>
          <a:xfrm>
            <a:off x="6035040" y="1325880"/>
            <a:ext cx="255996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EaaS  :8082</a:t>
            </a:r>
            <a:endParaRPr b="0" i="0" sz="1400" u="none" cap="none" strike="noStrike">
              <a:solidFill>
                <a:srgbClr val="000000"/>
              </a:solidFill>
              <a:latin typeface="Arial"/>
              <a:ea typeface="Arial"/>
              <a:cs typeface="Arial"/>
              <a:sym typeface="Arial"/>
            </a:endParaRPr>
          </a:p>
        </p:txBody>
      </p:sp>
      <p:sp>
        <p:nvSpPr>
          <p:cNvPr id="108" name="Google Shape;108;p7"/>
          <p:cNvSpPr/>
          <p:nvPr/>
        </p:nvSpPr>
        <p:spPr>
          <a:xfrm>
            <a:off x="6126480" y="1874520"/>
            <a:ext cx="2377080" cy="7311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F8F4E"/>
                </a:solidFill>
                <a:latin typeface="Consolas"/>
                <a:ea typeface="Consolas"/>
                <a:cs typeface="Consolas"/>
                <a:sym typeface="Consolas"/>
              </a:rPr>
              <a:t>Spring Boot</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100" u="none" cap="none" strike="noStrike">
                <a:solidFill>
                  <a:srgbClr val="2F8F4E"/>
                </a:solidFill>
                <a:latin typeface="Consolas"/>
                <a:ea typeface="Consolas"/>
                <a:cs typeface="Consolas"/>
                <a:sym typeface="Consolas"/>
              </a:rPr>
              <a:t>Policy engine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1" i="0" lang="en-US" sz="1100" u="none" cap="none" strike="noStrike">
                <a:solidFill>
                  <a:srgbClr val="2F8F4E"/>
                </a:solidFill>
                <a:latin typeface="Consolas"/>
                <a:ea typeface="Consolas"/>
                <a:cs typeface="Consolas"/>
                <a:sym typeface="Consolas"/>
              </a:rPr>
              <a:t>Audit JSONL</a:t>
            </a:r>
            <a:endParaRPr b="0" i="0" sz="1100" u="none" cap="none" strike="noStrike">
              <a:solidFill>
                <a:srgbClr val="000000"/>
              </a:solidFill>
              <a:latin typeface="Arial"/>
              <a:ea typeface="Arial"/>
              <a:cs typeface="Arial"/>
              <a:sym typeface="Arial"/>
            </a:endParaRPr>
          </a:p>
        </p:txBody>
      </p:sp>
      <p:cxnSp>
        <p:nvCxnSpPr>
          <p:cNvPr id="109" name="Google Shape;109;p7"/>
          <p:cNvCxnSpPr/>
          <p:nvPr/>
        </p:nvCxnSpPr>
        <p:spPr>
          <a:xfrm>
            <a:off x="6126480" y="2651760"/>
            <a:ext cx="2377440" cy="360"/>
          </a:xfrm>
          <a:prstGeom prst="straightConnector1">
            <a:avLst/>
          </a:prstGeom>
          <a:noFill/>
          <a:ln cap="flat" cmpd="sng" w="12700">
            <a:solidFill>
              <a:srgbClr val="D4DCF0"/>
            </a:solidFill>
            <a:prstDash val="solid"/>
            <a:round/>
            <a:headEnd len="sm" w="sm" type="none"/>
            <a:tailEnd len="sm" w="sm" type="none"/>
          </a:ln>
        </p:spPr>
      </p:cxnSp>
      <p:sp>
        <p:nvSpPr>
          <p:cNvPr id="110" name="Google Shape;110;p7"/>
          <p:cNvSpPr/>
          <p:nvPr/>
        </p:nvSpPr>
        <p:spPr>
          <a:xfrm>
            <a:off x="6126480" y="2743200"/>
            <a:ext cx="2377080" cy="1919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D2D44"/>
                </a:solidFill>
                <a:latin typeface="Calibri"/>
                <a:ea typeface="Calibri"/>
                <a:cs typeface="Calibri"/>
                <a:sym typeface="Calibri"/>
              </a:rPr>
              <a:t>Loads JSON policies, evaluates requests, produces decisions and audit</a:t>
            </a:r>
            <a:endParaRPr b="0" i="0" sz="1100" u="none" cap="none" strike="noStrike">
              <a:solidFill>
                <a:srgbClr val="000000"/>
              </a:solidFill>
              <a:latin typeface="Arial"/>
              <a:ea typeface="Arial"/>
              <a:cs typeface="Arial"/>
              <a:sym typeface="Arial"/>
            </a:endParaRPr>
          </a:p>
        </p:txBody>
      </p:sp>
      <p:cxnSp>
        <p:nvCxnSpPr>
          <p:cNvPr id="111" name="Google Shape;111;p7"/>
          <p:cNvCxnSpPr/>
          <p:nvPr/>
        </p:nvCxnSpPr>
        <p:spPr>
          <a:xfrm>
            <a:off x="2926080" y="3017520"/>
            <a:ext cx="274320" cy="360"/>
          </a:xfrm>
          <a:prstGeom prst="straightConnector1">
            <a:avLst/>
          </a:prstGeom>
          <a:noFill/>
          <a:ln cap="flat" cmpd="sng" w="25400">
            <a:solidFill>
              <a:srgbClr val="6B7280"/>
            </a:solidFill>
            <a:prstDash val="solid"/>
            <a:round/>
            <a:headEnd len="sm" w="sm" type="none"/>
            <a:tailEnd len="sm" w="sm" type="none"/>
          </a:ln>
        </p:spPr>
      </p:cxnSp>
      <p:sp>
        <p:nvSpPr>
          <p:cNvPr id="112" name="Google Shape;112;p7"/>
          <p:cNvSpPr/>
          <p:nvPr/>
        </p:nvSpPr>
        <p:spPr>
          <a:xfrm>
            <a:off x="2651948" y="3264480"/>
            <a:ext cx="822600" cy="45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800" u="none" cap="none" strike="noStrike">
                <a:solidFill>
                  <a:srgbClr val="6B7280"/>
                </a:solidFill>
                <a:latin typeface="Calibri"/>
                <a:ea typeface="Calibri"/>
                <a:cs typeface="Calibri"/>
                <a:sym typeface="Calibri"/>
              </a:rPr>
              <a:t>HTTP/JSON</a:t>
            </a:r>
            <a:endParaRPr b="0" i="0" sz="8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0" i="1" lang="en-US" sz="800" u="none" cap="none" strike="noStrike">
                <a:solidFill>
                  <a:srgbClr val="6B7280"/>
                </a:solidFill>
                <a:latin typeface="Calibri"/>
                <a:ea typeface="Calibri"/>
                <a:cs typeface="Calibri"/>
                <a:sym typeface="Calibri"/>
              </a:rPr>
              <a:t>↔ DaaS</a:t>
            </a:r>
            <a:endParaRPr b="0" i="0" sz="800" u="none" cap="none" strike="noStrike">
              <a:solidFill>
                <a:srgbClr val="000000"/>
              </a:solidFill>
              <a:latin typeface="Arial"/>
              <a:ea typeface="Arial"/>
              <a:cs typeface="Arial"/>
              <a:sym typeface="Arial"/>
            </a:endParaRPr>
          </a:p>
        </p:txBody>
      </p:sp>
      <p:cxnSp>
        <p:nvCxnSpPr>
          <p:cNvPr id="113" name="Google Shape;113;p7"/>
          <p:cNvCxnSpPr/>
          <p:nvPr/>
        </p:nvCxnSpPr>
        <p:spPr>
          <a:xfrm>
            <a:off x="5760720" y="3017520"/>
            <a:ext cx="274320" cy="360"/>
          </a:xfrm>
          <a:prstGeom prst="straightConnector1">
            <a:avLst/>
          </a:prstGeom>
          <a:noFill/>
          <a:ln cap="flat" cmpd="sng" w="25400">
            <a:solidFill>
              <a:srgbClr val="6B7280"/>
            </a:solidFill>
            <a:prstDash val="solid"/>
            <a:round/>
            <a:headEnd len="sm" w="sm" type="none"/>
            <a:tailEnd len="sm" w="sm" type="none"/>
          </a:ln>
        </p:spPr>
      </p:cxnSp>
      <p:sp>
        <p:nvSpPr>
          <p:cNvPr id="114" name="Google Shape;114;p7"/>
          <p:cNvSpPr/>
          <p:nvPr/>
        </p:nvSpPr>
        <p:spPr>
          <a:xfrm>
            <a:off x="5486588" y="3264480"/>
            <a:ext cx="822600" cy="45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800" u="none" cap="none" strike="noStrike">
                <a:solidFill>
                  <a:srgbClr val="6B7280"/>
                </a:solidFill>
                <a:latin typeface="Calibri"/>
                <a:ea typeface="Calibri"/>
                <a:cs typeface="Calibri"/>
                <a:sym typeface="Calibri"/>
              </a:rPr>
              <a:t>HTTP/JSON</a:t>
            </a:r>
            <a:endParaRPr b="0" i="0" sz="8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0" i="1" lang="en-US" sz="800" u="none" cap="none" strike="noStrike">
                <a:solidFill>
                  <a:srgbClr val="6B7280"/>
                </a:solidFill>
                <a:latin typeface="Calibri"/>
                <a:ea typeface="Calibri"/>
                <a:cs typeface="Calibri"/>
                <a:sym typeface="Calibri"/>
              </a:rPr>
              <a:t>↔ EaaS</a:t>
            </a:r>
            <a:endParaRPr b="0" i="0" sz="800" u="none" cap="none" strike="noStrike">
              <a:solidFill>
                <a:srgbClr val="000000"/>
              </a:solidFill>
              <a:latin typeface="Arial"/>
              <a:ea typeface="Arial"/>
              <a:cs typeface="Arial"/>
              <a:sym typeface="Arial"/>
            </a:endParaRPr>
          </a:p>
        </p:txBody>
      </p:sp>
      <p:sp>
        <p:nvSpPr>
          <p:cNvPr id="115" name="Google Shape;115;p7"/>
          <p:cNvSpPr/>
          <p:nvPr/>
        </p:nvSpPr>
        <p:spPr>
          <a:xfrm>
            <a:off x="365760" y="4709160"/>
            <a:ext cx="8412120" cy="273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8"/>
          <p:cNvSpPr/>
          <p:nvPr/>
        </p:nvSpPr>
        <p:spPr>
          <a:xfrm>
            <a:off x="365760" y="201240"/>
            <a:ext cx="1737000" cy="255600"/>
          </a:xfrm>
          <a:prstGeom prst="roundRect">
            <a:avLst>
              <a:gd fmla="val 14286" name="adj"/>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 name="Google Shape;122;p8"/>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RDF DATASET</a:t>
            </a:r>
            <a:endParaRPr b="0" i="0" sz="800" u="none" cap="none" strike="noStrike">
              <a:solidFill>
                <a:srgbClr val="000000"/>
              </a:solidFill>
              <a:latin typeface="Arial"/>
              <a:ea typeface="Arial"/>
              <a:cs typeface="Arial"/>
              <a:sym typeface="Arial"/>
            </a:endParaRPr>
          </a:p>
        </p:txBody>
      </p:sp>
      <p:sp>
        <p:nvSpPr>
          <p:cNvPr id="123" name="Google Shape;123;p8"/>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Starting RDF Dataset — Ontology</a:t>
            </a:r>
            <a:endParaRPr b="0" i="0" sz="2600" u="none" cap="none" strike="noStrike">
              <a:solidFill>
                <a:srgbClr val="000000"/>
              </a:solidFill>
              <a:latin typeface="Arial"/>
              <a:ea typeface="Arial"/>
              <a:cs typeface="Arial"/>
              <a:sym typeface="Arial"/>
            </a:endParaRPr>
          </a:p>
        </p:txBody>
      </p:sp>
      <p:sp>
        <p:nvSpPr>
          <p:cNvPr id="124" name="Google Shape;124;p8"/>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 name="Google Shape;125;p8"/>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6</a:t>
            </a:r>
            <a:endParaRPr b="0" i="0" sz="900" u="none" cap="none" strike="noStrike">
              <a:solidFill>
                <a:srgbClr val="000000"/>
              </a:solidFill>
              <a:latin typeface="Arial"/>
              <a:ea typeface="Arial"/>
              <a:cs typeface="Arial"/>
              <a:sym typeface="Arial"/>
            </a:endParaRPr>
          </a:p>
        </p:txBody>
      </p:sp>
      <p:sp>
        <p:nvSpPr>
          <p:cNvPr id="126" name="Google Shape;126;p8"/>
          <p:cNvSpPr/>
          <p:nvPr/>
        </p:nvSpPr>
        <p:spPr>
          <a:xfrm>
            <a:off x="40788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8"/>
          <p:cNvSpPr/>
          <p:nvPr/>
        </p:nvSpPr>
        <p:spPr>
          <a:xfrm>
            <a:off x="36576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7</a:t>
            </a:r>
            <a:endParaRPr b="0" i="0" sz="2200" u="none" cap="none" strike="noStrike">
              <a:solidFill>
                <a:srgbClr val="000000"/>
              </a:solidFill>
              <a:latin typeface="Arial"/>
              <a:ea typeface="Arial"/>
              <a:cs typeface="Arial"/>
              <a:sym typeface="Arial"/>
            </a:endParaRPr>
          </a:p>
        </p:txBody>
      </p:sp>
      <p:sp>
        <p:nvSpPr>
          <p:cNvPr id="128" name="Google Shape;128;p8"/>
          <p:cNvSpPr/>
          <p:nvPr/>
        </p:nvSpPr>
        <p:spPr>
          <a:xfrm>
            <a:off x="36576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Location</a:t>
            </a:r>
            <a:endParaRPr b="0" i="0" sz="800" u="none" cap="none" strike="noStrike">
              <a:solidFill>
                <a:srgbClr val="000000"/>
              </a:solidFill>
              <a:latin typeface="Arial"/>
              <a:ea typeface="Arial"/>
              <a:cs typeface="Arial"/>
              <a:sym typeface="Arial"/>
            </a:endParaRPr>
          </a:p>
        </p:txBody>
      </p:sp>
      <p:sp>
        <p:nvSpPr>
          <p:cNvPr id="129" name="Google Shape;129;p8"/>
          <p:cNvSpPr/>
          <p:nvPr/>
        </p:nvSpPr>
        <p:spPr>
          <a:xfrm>
            <a:off x="178308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 name="Google Shape;130;p8"/>
          <p:cNvSpPr/>
          <p:nvPr/>
        </p:nvSpPr>
        <p:spPr>
          <a:xfrm>
            <a:off x="178308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25</a:t>
            </a:r>
            <a:endParaRPr b="0" i="0" sz="2200" u="none" cap="none" strike="noStrike">
              <a:solidFill>
                <a:srgbClr val="000000"/>
              </a:solidFill>
              <a:latin typeface="Arial"/>
              <a:ea typeface="Arial"/>
              <a:cs typeface="Arial"/>
              <a:sym typeface="Arial"/>
            </a:endParaRPr>
          </a:p>
        </p:txBody>
      </p:sp>
      <p:sp>
        <p:nvSpPr>
          <p:cNvPr id="131" name="Google Shape;131;p8"/>
          <p:cNvSpPr/>
          <p:nvPr/>
        </p:nvSpPr>
        <p:spPr>
          <a:xfrm>
            <a:off x="178308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Candidates</a:t>
            </a:r>
            <a:endParaRPr b="0" i="0" sz="800" u="none" cap="none" strike="noStrike">
              <a:solidFill>
                <a:srgbClr val="000000"/>
              </a:solidFill>
              <a:latin typeface="Arial"/>
              <a:ea typeface="Arial"/>
              <a:cs typeface="Arial"/>
              <a:sym typeface="Arial"/>
            </a:endParaRPr>
          </a:p>
        </p:txBody>
      </p:sp>
      <p:sp>
        <p:nvSpPr>
          <p:cNvPr id="132" name="Google Shape;132;p8"/>
          <p:cNvSpPr/>
          <p:nvPr/>
        </p:nvSpPr>
        <p:spPr>
          <a:xfrm>
            <a:off x="320040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8"/>
          <p:cNvSpPr/>
          <p:nvPr/>
        </p:nvSpPr>
        <p:spPr>
          <a:xfrm>
            <a:off x="320040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18</a:t>
            </a:r>
            <a:endParaRPr b="0" i="0" sz="2200" u="none" cap="none" strike="noStrike">
              <a:solidFill>
                <a:srgbClr val="000000"/>
              </a:solidFill>
              <a:latin typeface="Arial"/>
              <a:ea typeface="Arial"/>
              <a:cs typeface="Arial"/>
              <a:sym typeface="Arial"/>
            </a:endParaRPr>
          </a:p>
        </p:txBody>
      </p:sp>
      <p:sp>
        <p:nvSpPr>
          <p:cNvPr id="134" name="Google Shape;134;p8"/>
          <p:cNvSpPr/>
          <p:nvPr/>
        </p:nvSpPr>
        <p:spPr>
          <a:xfrm>
            <a:off x="320040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Offers</a:t>
            </a:r>
            <a:endParaRPr b="0" i="0" sz="800" u="none" cap="none" strike="noStrike">
              <a:solidFill>
                <a:srgbClr val="000000"/>
              </a:solidFill>
              <a:latin typeface="Arial"/>
              <a:ea typeface="Arial"/>
              <a:cs typeface="Arial"/>
              <a:sym typeface="Arial"/>
            </a:endParaRPr>
          </a:p>
        </p:txBody>
      </p:sp>
      <p:sp>
        <p:nvSpPr>
          <p:cNvPr id="135" name="Google Shape;135;p8"/>
          <p:cNvSpPr/>
          <p:nvPr/>
        </p:nvSpPr>
        <p:spPr>
          <a:xfrm>
            <a:off x="461772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8"/>
          <p:cNvSpPr/>
          <p:nvPr/>
        </p:nvSpPr>
        <p:spPr>
          <a:xfrm>
            <a:off x="461772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12</a:t>
            </a:r>
            <a:endParaRPr b="0" i="0" sz="2200" u="none" cap="none" strike="noStrike">
              <a:solidFill>
                <a:srgbClr val="000000"/>
              </a:solidFill>
              <a:latin typeface="Arial"/>
              <a:ea typeface="Arial"/>
              <a:cs typeface="Arial"/>
              <a:sym typeface="Arial"/>
            </a:endParaRPr>
          </a:p>
        </p:txBody>
      </p:sp>
      <p:sp>
        <p:nvSpPr>
          <p:cNvPr id="137" name="Google Shape;137;p8"/>
          <p:cNvSpPr/>
          <p:nvPr/>
        </p:nvSpPr>
        <p:spPr>
          <a:xfrm>
            <a:off x="461772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Skills</a:t>
            </a:r>
            <a:endParaRPr b="0" i="0" sz="800" u="none" cap="none" strike="noStrike">
              <a:solidFill>
                <a:srgbClr val="000000"/>
              </a:solidFill>
              <a:latin typeface="Arial"/>
              <a:ea typeface="Arial"/>
              <a:cs typeface="Arial"/>
              <a:sym typeface="Arial"/>
            </a:endParaRPr>
          </a:p>
        </p:txBody>
      </p:sp>
      <p:sp>
        <p:nvSpPr>
          <p:cNvPr id="138" name="Google Shape;138;p8"/>
          <p:cNvSpPr/>
          <p:nvPr/>
        </p:nvSpPr>
        <p:spPr>
          <a:xfrm>
            <a:off x="603504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8"/>
          <p:cNvSpPr/>
          <p:nvPr/>
        </p:nvSpPr>
        <p:spPr>
          <a:xfrm>
            <a:off x="603504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5</a:t>
            </a:r>
            <a:endParaRPr b="0" i="0" sz="2200" u="none" cap="none" strike="noStrike">
              <a:solidFill>
                <a:srgbClr val="000000"/>
              </a:solidFill>
              <a:latin typeface="Arial"/>
              <a:ea typeface="Arial"/>
              <a:cs typeface="Arial"/>
              <a:sym typeface="Arial"/>
            </a:endParaRPr>
          </a:p>
        </p:txBody>
      </p:sp>
      <p:sp>
        <p:nvSpPr>
          <p:cNvPr id="140" name="Google Shape;140;p8"/>
          <p:cNvSpPr/>
          <p:nvPr/>
        </p:nvSpPr>
        <p:spPr>
          <a:xfrm>
            <a:off x="603504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Sectors</a:t>
            </a:r>
            <a:endParaRPr b="0" i="0" sz="800" u="none" cap="none" strike="noStrike">
              <a:solidFill>
                <a:srgbClr val="000000"/>
              </a:solidFill>
              <a:latin typeface="Arial"/>
              <a:ea typeface="Arial"/>
              <a:cs typeface="Arial"/>
              <a:sym typeface="Arial"/>
            </a:endParaRPr>
          </a:p>
        </p:txBody>
      </p:sp>
      <p:sp>
        <p:nvSpPr>
          <p:cNvPr id="141" name="Google Shape;141;p8"/>
          <p:cNvSpPr/>
          <p:nvPr/>
        </p:nvSpPr>
        <p:spPr>
          <a:xfrm>
            <a:off x="7452360" y="1325880"/>
            <a:ext cx="1234080" cy="822600"/>
          </a:xfrm>
          <a:prstGeom prst="rect">
            <a:avLst/>
          </a:prstGeom>
          <a:solidFill>
            <a:srgbClr val="1D2D4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 name="Google Shape;142;p8"/>
          <p:cNvSpPr/>
          <p:nvPr/>
        </p:nvSpPr>
        <p:spPr>
          <a:xfrm>
            <a:off x="7452360" y="1371600"/>
            <a:ext cx="123408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2200" u="none" cap="none" strike="noStrike">
                <a:solidFill>
                  <a:srgbClr val="FFFFFF"/>
                </a:solidFill>
                <a:latin typeface="Trebuchet MS"/>
                <a:ea typeface="Trebuchet MS"/>
                <a:cs typeface="Trebuchet MS"/>
                <a:sym typeface="Trebuchet MS"/>
              </a:rPr>
              <a:t>7</a:t>
            </a:r>
            <a:endParaRPr b="0" i="0" sz="2200" u="none" cap="none" strike="noStrike">
              <a:solidFill>
                <a:srgbClr val="000000"/>
              </a:solidFill>
              <a:latin typeface="Arial"/>
              <a:ea typeface="Arial"/>
              <a:cs typeface="Arial"/>
              <a:sym typeface="Arial"/>
            </a:endParaRPr>
          </a:p>
        </p:txBody>
      </p:sp>
      <p:sp>
        <p:nvSpPr>
          <p:cNvPr id="143" name="Google Shape;143;p8"/>
          <p:cNvSpPr/>
          <p:nvPr/>
        </p:nvSpPr>
        <p:spPr>
          <a:xfrm>
            <a:off x="7452360" y="1828800"/>
            <a:ext cx="123408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800" u="none" cap="none" strike="noStrike">
                <a:solidFill>
                  <a:srgbClr val="9FB4CC"/>
                </a:solidFill>
                <a:latin typeface="Calibri"/>
                <a:ea typeface="Calibri"/>
                <a:cs typeface="Calibri"/>
                <a:sym typeface="Calibri"/>
              </a:rPr>
              <a:t>Companies</a:t>
            </a:r>
            <a:endParaRPr b="0" i="0" sz="800" u="none" cap="none" strike="noStrike">
              <a:solidFill>
                <a:srgbClr val="000000"/>
              </a:solidFill>
              <a:latin typeface="Arial"/>
              <a:ea typeface="Arial"/>
              <a:cs typeface="Arial"/>
              <a:sym typeface="Arial"/>
            </a:endParaRPr>
          </a:p>
        </p:txBody>
      </p:sp>
      <p:sp>
        <p:nvSpPr>
          <p:cNvPr id="144" name="Google Shape;144;p8"/>
          <p:cNvSpPr/>
          <p:nvPr/>
        </p:nvSpPr>
        <p:spPr>
          <a:xfrm>
            <a:off x="365760" y="2331720"/>
            <a:ext cx="3840120" cy="594000"/>
          </a:xfrm>
          <a:prstGeom prst="rect">
            <a:avLst/>
          </a:prstGeom>
          <a:solidFill>
            <a:srgbClr val="F0F8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8"/>
          <p:cNvSpPr/>
          <p:nvPr/>
        </p:nvSpPr>
        <p:spPr>
          <a:xfrm>
            <a:off x="502920" y="2395800"/>
            <a:ext cx="91404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6B7280"/>
                </a:solidFill>
                <a:latin typeface="Calibri"/>
                <a:ea typeface="Calibri"/>
                <a:cs typeface="Calibri"/>
                <a:sym typeface="Calibri"/>
              </a:rPr>
              <a:t>Namespace: </a:t>
            </a:r>
            <a:endParaRPr b="0" i="0" sz="1000" u="none" cap="none" strike="noStrike">
              <a:solidFill>
                <a:srgbClr val="000000"/>
              </a:solidFill>
              <a:latin typeface="Arial"/>
              <a:ea typeface="Arial"/>
              <a:cs typeface="Arial"/>
              <a:sym typeface="Arial"/>
            </a:endParaRPr>
          </a:p>
        </p:txBody>
      </p:sp>
      <p:sp>
        <p:nvSpPr>
          <p:cNvPr id="146" name="Google Shape;146;p8"/>
          <p:cNvSpPr/>
          <p:nvPr/>
        </p:nvSpPr>
        <p:spPr>
          <a:xfrm>
            <a:off x="1280160" y="2395800"/>
            <a:ext cx="283428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2C5FDC"/>
                </a:solidFill>
                <a:latin typeface="Consolas"/>
                <a:ea typeface="Consolas"/>
                <a:cs typeface="Consolas"/>
                <a:sym typeface="Consolas"/>
              </a:rPr>
              <a:t>http://sose.univaq.it/employment#  (prefix emp:)</a:t>
            </a:r>
            <a:endParaRPr b="0" i="0" sz="1000" u="none" cap="none" strike="noStrike">
              <a:solidFill>
                <a:srgbClr val="000000"/>
              </a:solidFill>
              <a:latin typeface="Arial"/>
              <a:ea typeface="Arial"/>
              <a:cs typeface="Arial"/>
              <a:sym typeface="Arial"/>
            </a:endParaRPr>
          </a:p>
        </p:txBody>
      </p:sp>
      <p:sp>
        <p:nvSpPr>
          <p:cNvPr id="147" name="Google Shape;147;p8"/>
          <p:cNvSpPr/>
          <p:nvPr/>
        </p:nvSpPr>
        <p:spPr>
          <a:xfrm>
            <a:off x="502920" y="2633400"/>
            <a:ext cx="365724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900" u="none" cap="none" strike="noStrike">
              <a:solidFill>
                <a:schemeClr val="dk1"/>
              </a:solidFill>
              <a:latin typeface="Calibri"/>
              <a:ea typeface="Calibri"/>
              <a:cs typeface="Calibri"/>
              <a:sym typeface="Calibri"/>
            </a:endParaRPr>
          </a:p>
        </p:txBody>
      </p:sp>
      <p:sp>
        <p:nvSpPr>
          <p:cNvPr id="148" name="Google Shape;148;p8"/>
          <p:cNvSpPr/>
          <p:nvPr/>
        </p:nvSpPr>
        <p:spPr>
          <a:xfrm>
            <a:off x="365760" y="306324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8"/>
          <p:cNvSpPr/>
          <p:nvPr/>
        </p:nvSpPr>
        <p:spPr>
          <a:xfrm>
            <a:off x="457200" y="306324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emp:Candidate</a:t>
            </a:r>
            <a:endParaRPr b="0" i="0" sz="1100" u="none" cap="none" strike="noStrike">
              <a:solidFill>
                <a:srgbClr val="000000"/>
              </a:solidFill>
              <a:latin typeface="Arial"/>
              <a:ea typeface="Arial"/>
              <a:cs typeface="Arial"/>
              <a:sym typeface="Arial"/>
            </a:endParaRPr>
          </a:p>
        </p:txBody>
      </p:sp>
      <p:sp>
        <p:nvSpPr>
          <p:cNvPr id="150" name="Google Shape;150;p8"/>
          <p:cNvSpPr/>
          <p:nvPr/>
        </p:nvSpPr>
        <p:spPr>
          <a:xfrm>
            <a:off x="2468880" y="306324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
        <p:nvSpPr>
          <p:cNvPr id="151" name="Google Shape;151;p8"/>
          <p:cNvSpPr/>
          <p:nvPr/>
        </p:nvSpPr>
        <p:spPr>
          <a:xfrm>
            <a:off x="365760" y="357516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 name="Google Shape;152;p8"/>
          <p:cNvSpPr/>
          <p:nvPr/>
        </p:nvSpPr>
        <p:spPr>
          <a:xfrm>
            <a:off x="457200" y="357516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emp:JobOffer</a:t>
            </a:r>
            <a:endParaRPr b="0" i="0" sz="1100" u="none" cap="none" strike="noStrike">
              <a:solidFill>
                <a:srgbClr val="000000"/>
              </a:solidFill>
              <a:latin typeface="Arial"/>
              <a:ea typeface="Arial"/>
              <a:cs typeface="Arial"/>
              <a:sym typeface="Arial"/>
            </a:endParaRPr>
          </a:p>
        </p:txBody>
      </p:sp>
      <p:sp>
        <p:nvSpPr>
          <p:cNvPr id="153" name="Google Shape;153;p8"/>
          <p:cNvSpPr/>
          <p:nvPr/>
        </p:nvSpPr>
        <p:spPr>
          <a:xfrm>
            <a:off x="2468880" y="357516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
        <p:nvSpPr>
          <p:cNvPr id="154" name="Google Shape;154;p8"/>
          <p:cNvSpPr/>
          <p:nvPr/>
        </p:nvSpPr>
        <p:spPr>
          <a:xfrm>
            <a:off x="365760" y="408744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8"/>
          <p:cNvSpPr/>
          <p:nvPr/>
        </p:nvSpPr>
        <p:spPr>
          <a:xfrm>
            <a:off x="457200" y="408744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emp:Company</a:t>
            </a:r>
            <a:endParaRPr b="0" i="0" sz="1100" u="none" cap="none" strike="noStrike">
              <a:solidFill>
                <a:srgbClr val="000000"/>
              </a:solidFill>
              <a:latin typeface="Arial"/>
              <a:ea typeface="Arial"/>
              <a:cs typeface="Arial"/>
              <a:sym typeface="Arial"/>
            </a:endParaRPr>
          </a:p>
        </p:txBody>
      </p:sp>
      <p:sp>
        <p:nvSpPr>
          <p:cNvPr id="156" name="Google Shape;156;p8"/>
          <p:cNvSpPr/>
          <p:nvPr/>
        </p:nvSpPr>
        <p:spPr>
          <a:xfrm>
            <a:off x="2468880" y="408744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
        <p:nvSpPr>
          <p:cNvPr id="157" name="Google Shape;157;p8"/>
          <p:cNvSpPr/>
          <p:nvPr/>
        </p:nvSpPr>
        <p:spPr>
          <a:xfrm>
            <a:off x="4663440" y="306324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8"/>
          <p:cNvSpPr/>
          <p:nvPr/>
        </p:nvSpPr>
        <p:spPr>
          <a:xfrm>
            <a:off x="4754880" y="306324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emp:Skill</a:t>
            </a:r>
            <a:endParaRPr b="0" i="0" sz="1100" u="none" cap="none" strike="noStrike">
              <a:solidFill>
                <a:srgbClr val="000000"/>
              </a:solidFill>
              <a:latin typeface="Arial"/>
              <a:ea typeface="Arial"/>
              <a:cs typeface="Arial"/>
              <a:sym typeface="Arial"/>
            </a:endParaRPr>
          </a:p>
        </p:txBody>
      </p:sp>
      <p:sp>
        <p:nvSpPr>
          <p:cNvPr id="159" name="Google Shape;159;p8"/>
          <p:cNvSpPr/>
          <p:nvPr/>
        </p:nvSpPr>
        <p:spPr>
          <a:xfrm>
            <a:off x="6766560" y="306324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
        <p:nvSpPr>
          <p:cNvPr id="160" name="Google Shape;160;p8"/>
          <p:cNvSpPr/>
          <p:nvPr/>
        </p:nvSpPr>
        <p:spPr>
          <a:xfrm>
            <a:off x="4663440" y="357516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8"/>
          <p:cNvSpPr/>
          <p:nvPr/>
        </p:nvSpPr>
        <p:spPr>
          <a:xfrm>
            <a:off x="4754880" y="357516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emp:Sector</a:t>
            </a:r>
            <a:endParaRPr b="0" i="0" sz="1100" u="none" cap="none" strike="noStrike">
              <a:solidFill>
                <a:srgbClr val="000000"/>
              </a:solidFill>
              <a:latin typeface="Arial"/>
              <a:ea typeface="Arial"/>
              <a:cs typeface="Arial"/>
              <a:sym typeface="Arial"/>
            </a:endParaRPr>
          </a:p>
        </p:txBody>
      </p:sp>
      <p:sp>
        <p:nvSpPr>
          <p:cNvPr id="162" name="Google Shape;162;p8"/>
          <p:cNvSpPr/>
          <p:nvPr/>
        </p:nvSpPr>
        <p:spPr>
          <a:xfrm>
            <a:off x="6766560" y="357516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
        <p:nvSpPr>
          <p:cNvPr id="163" name="Google Shape;163;p8"/>
          <p:cNvSpPr/>
          <p:nvPr/>
        </p:nvSpPr>
        <p:spPr>
          <a:xfrm>
            <a:off x="4663440" y="4087440"/>
            <a:ext cx="4068720" cy="41112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8"/>
          <p:cNvSpPr/>
          <p:nvPr/>
        </p:nvSpPr>
        <p:spPr>
          <a:xfrm>
            <a:off x="4754880" y="4087440"/>
            <a:ext cx="201132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2C5FDC"/>
                </a:solidFill>
                <a:latin typeface="Consolas"/>
                <a:ea typeface="Consolas"/>
                <a:cs typeface="Consolas"/>
                <a:sym typeface="Consolas"/>
              </a:rPr>
              <a:t>emp:Location</a:t>
            </a:r>
            <a:endParaRPr b="0" i="0" sz="1100" u="none" cap="none" strike="noStrike">
              <a:solidFill>
                <a:srgbClr val="000000"/>
              </a:solidFill>
              <a:latin typeface="Arial"/>
              <a:ea typeface="Arial"/>
              <a:cs typeface="Arial"/>
              <a:sym typeface="Arial"/>
            </a:endParaRPr>
          </a:p>
        </p:txBody>
      </p:sp>
      <p:sp>
        <p:nvSpPr>
          <p:cNvPr id="165" name="Google Shape;165;p8"/>
          <p:cNvSpPr/>
          <p:nvPr/>
        </p:nvSpPr>
        <p:spPr>
          <a:xfrm>
            <a:off x="6766560" y="4087440"/>
            <a:ext cx="191988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0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9"/>
          <p:cNvSpPr/>
          <p:nvPr/>
        </p:nvSpPr>
        <p:spPr>
          <a:xfrm>
            <a:off x="365760" y="201240"/>
            <a:ext cx="1737000" cy="255600"/>
          </a:xfrm>
          <a:prstGeom prst="roundRect">
            <a:avLst>
              <a:gd fmla="val 14286" name="adj"/>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 name="Google Shape;172;p9"/>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SPARQL</a:t>
            </a:r>
            <a:endParaRPr b="0" i="0" sz="800" u="none" cap="none" strike="noStrike">
              <a:solidFill>
                <a:srgbClr val="000000"/>
              </a:solidFill>
              <a:latin typeface="Arial"/>
              <a:ea typeface="Arial"/>
              <a:cs typeface="Arial"/>
              <a:sym typeface="Arial"/>
            </a:endParaRPr>
          </a:p>
        </p:txBody>
      </p:sp>
      <p:sp>
        <p:nvSpPr>
          <p:cNvPr id="173" name="Google Shape;173;p9"/>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SPARQL Queries — Examples</a:t>
            </a:r>
            <a:endParaRPr b="0" i="0" sz="2600" u="none" cap="none" strike="noStrike">
              <a:solidFill>
                <a:srgbClr val="000000"/>
              </a:solidFill>
              <a:latin typeface="Arial"/>
              <a:ea typeface="Arial"/>
              <a:cs typeface="Arial"/>
              <a:sym typeface="Arial"/>
            </a:endParaRPr>
          </a:p>
        </p:txBody>
      </p:sp>
      <p:sp>
        <p:nvSpPr>
          <p:cNvPr id="174" name="Google Shape;174;p9"/>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9"/>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8</a:t>
            </a:r>
            <a:endParaRPr b="0" i="0" sz="900" u="none" cap="none" strike="noStrike">
              <a:solidFill>
                <a:srgbClr val="000000"/>
              </a:solidFill>
              <a:latin typeface="Arial"/>
              <a:ea typeface="Arial"/>
              <a:cs typeface="Arial"/>
              <a:sym typeface="Arial"/>
            </a:endParaRPr>
          </a:p>
        </p:txBody>
      </p:sp>
      <p:sp>
        <p:nvSpPr>
          <p:cNvPr id="176" name="Google Shape;176;p9"/>
          <p:cNvSpPr/>
          <p:nvPr/>
        </p:nvSpPr>
        <p:spPr>
          <a:xfrm>
            <a:off x="365760" y="1325880"/>
            <a:ext cx="841212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Query 1 · Offers by sector</a:t>
            </a:r>
            <a:endParaRPr b="0" i="0" sz="1200" u="none" cap="none" strike="noStrike">
              <a:solidFill>
                <a:srgbClr val="000000"/>
              </a:solidFill>
              <a:latin typeface="Arial"/>
              <a:ea typeface="Arial"/>
              <a:cs typeface="Arial"/>
              <a:sym typeface="Arial"/>
            </a:endParaRPr>
          </a:p>
        </p:txBody>
      </p:sp>
      <p:sp>
        <p:nvSpPr>
          <p:cNvPr id="177" name="Google Shape;177;p9"/>
          <p:cNvSpPr/>
          <p:nvPr/>
        </p:nvSpPr>
        <p:spPr>
          <a:xfrm>
            <a:off x="365760" y="1691640"/>
            <a:ext cx="8412120" cy="1188360"/>
          </a:xfrm>
          <a:prstGeom prst="rect">
            <a:avLst/>
          </a:prstGeom>
          <a:solidFill>
            <a:srgbClr val="1E293B"/>
          </a:solidFill>
          <a:ln cap="flat" cmpd="sng" w="12700">
            <a:solidFill>
              <a:srgbClr val="1E293B"/>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 name="Google Shape;178;p9"/>
          <p:cNvSpPr/>
          <p:nvPr/>
        </p:nvSpPr>
        <p:spPr>
          <a:xfrm>
            <a:off x="502920" y="1737360"/>
            <a:ext cx="8229240" cy="1096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SELECT ?j ?title ?sal ?loc WHERE {</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  ?j a emp:JobOffer ; dct:title ?title ; emp:hasSector ?sec ;</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     emp:hasLocation ?locR ; emp:salary ?sal .</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  ?sec rdfs:label "Information Technology" .</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  ?locR rdfs:label ?loc</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86EFAC"/>
                </a:solidFill>
                <a:latin typeface="Consolas"/>
                <a:ea typeface="Consolas"/>
                <a:cs typeface="Consolas"/>
                <a:sym typeface="Consolas"/>
              </a:rPr>
              <a:t>}</a:t>
            </a:r>
            <a:endParaRPr b="0" i="0" sz="1000" u="none" cap="none" strike="noStrike">
              <a:solidFill>
                <a:srgbClr val="000000"/>
              </a:solidFill>
              <a:latin typeface="Arial"/>
              <a:ea typeface="Arial"/>
              <a:cs typeface="Arial"/>
              <a:sym typeface="Arial"/>
            </a:endParaRPr>
          </a:p>
        </p:txBody>
      </p:sp>
      <p:sp>
        <p:nvSpPr>
          <p:cNvPr id="179" name="Google Shape;179;p9"/>
          <p:cNvSpPr/>
          <p:nvPr/>
        </p:nvSpPr>
        <p:spPr>
          <a:xfrm>
            <a:off x="365760" y="2999160"/>
            <a:ext cx="841212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Query 2 · Multi-condition match (skill overlap + location + experience)</a:t>
            </a:r>
            <a:endParaRPr b="0" i="0" sz="1200" u="none" cap="none" strike="noStrike">
              <a:solidFill>
                <a:srgbClr val="000000"/>
              </a:solidFill>
              <a:latin typeface="Arial"/>
              <a:ea typeface="Arial"/>
              <a:cs typeface="Arial"/>
              <a:sym typeface="Arial"/>
            </a:endParaRPr>
          </a:p>
        </p:txBody>
      </p:sp>
      <p:sp>
        <p:nvSpPr>
          <p:cNvPr id="180" name="Google Shape;180;p9"/>
          <p:cNvSpPr/>
          <p:nvPr/>
        </p:nvSpPr>
        <p:spPr>
          <a:xfrm>
            <a:off x="365760" y="3364920"/>
            <a:ext cx="8412120" cy="1554120"/>
          </a:xfrm>
          <a:prstGeom prst="rect">
            <a:avLst/>
          </a:prstGeom>
          <a:solidFill>
            <a:srgbClr val="1E293B"/>
          </a:solidFill>
          <a:ln cap="flat" cmpd="sng" w="12700">
            <a:solidFill>
              <a:srgbClr val="1E293B"/>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9"/>
          <p:cNvSpPr/>
          <p:nvPr/>
        </p:nvSpPr>
        <p:spPr>
          <a:xfrm>
            <a:off x="502920" y="3410640"/>
            <a:ext cx="8229240" cy="1462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SELECT ?j ?title ?candLoc ?jobLoc ?remote ?reqExp ?yoe</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(COUNT(DISTINCT ?sharedSkill) AS ?shared)</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WHERE {</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emp:cand-001 emp:hasLocation ?cLoc ; emp:yearsOfExperience ?yoe ; emp:hasSkill ?sharedSkill .</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?cLoc rdfs:label ?candLoc .</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?j a emp:JobOffer ; dct:title ?title ; emp:hasSkill ?sharedSkill ;</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emp:requiredExperience ?reqExp ; emp:remote ?remote ; emp:hasLocation ?jLoc .</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?jLoc rdfs:label ?jobLoc</a:t>
            </a:r>
            <a:endParaRPr b="0" i="0" sz="95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950" u="none" cap="none" strike="noStrike">
                <a:solidFill>
                  <a:srgbClr val="86EFAC"/>
                </a:solidFill>
                <a:latin typeface="Consolas"/>
                <a:ea typeface="Consolas"/>
                <a:cs typeface="Consolas"/>
                <a:sym typeface="Consolas"/>
              </a:rPr>
              <a:t>} GROUP BY ... ORDER BY DESC(?shared)</a:t>
            </a:r>
            <a:endParaRPr b="0" i="0" sz="95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0"/>
          <p:cNvSpPr/>
          <p:nvPr/>
        </p:nvSpPr>
        <p:spPr>
          <a:xfrm>
            <a:off x="365760" y="201240"/>
            <a:ext cx="1737000" cy="255600"/>
          </a:xfrm>
          <a:prstGeom prst="roundRect">
            <a:avLst>
              <a:gd fmla="val 14286" name="adj"/>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 name="Google Shape;188;p10"/>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DAAS REST</a:t>
            </a:r>
            <a:endParaRPr b="0" i="0" sz="800" u="none" cap="none" strike="noStrike">
              <a:solidFill>
                <a:srgbClr val="000000"/>
              </a:solidFill>
              <a:latin typeface="Arial"/>
              <a:ea typeface="Arial"/>
              <a:cs typeface="Arial"/>
              <a:sym typeface="Arial"/>
            </a:endParaRPr>
          </a:p>
        </p:txBody>
      </p:sp>
      <p:sp>
        <p:nvSpPr>
          <p:cNvPr id="189" name="Google Shape;189;p10"/>
          <p:cNvSpPr/>
          <p:nvPr/>
        </p:nvSpPr>
        <p:spPr>
          <a:xfrm>
            <a:off x="365760" y="56016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DaaS — Full REST API  (http://localhost:8081)</a:t>
            </a:r>
            <a:endParaRPr b="0" i="0" sz="2600" u="none" cap="none" strike="noStrike">
              <a:solidFill>
                <a:srgbClr val="000000"/>
              </a:solidFill>
              <a:latin typeface="Arial"/>
              <a:ea typeface="Arial"/>
              <a:cs typeface="Arial"/>
              <a:sym typeface="Arial"/>
            </a:endParaRPr>
          </a:p>
        </p:txBody>
      </p:sp>
      <p:sp>
        <p:nvSpPr>
          <p:cNvPr id="190" name="Google Shape;190;p10"/>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10"/>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9</a:t>
            </a:r>
            <a:endParaRPr b="0" i="0" sz="900" u="none" cap="none" strike="noStrike">
              <a:solidFill>
                <a:srgbClr val="000000"/>
              </a:solidFill>
              <a:latin typeface="Arial"/>
              <a:ea typeface="Arial"/>
              <a:cs typeface="Arial"/>
              <a:sym typeface="Arial"/>
            </a:endParaRPr>
          </a:p>
        </p:txBody>
      </p:sp>
      <p:sp>
        <p:nvSpPr>
          <p:cNvPr id="192" name="Google Shape;192;p10"/>
          <p:cNvSpPr/>
          <p:nvPr/>
        </p:nvSpPr>
        <p:spPr>
          <a:xfrm>
            <a:off x="365760" y="4215240"/>
            <a:ext cx="8412120" cy="273960"/>
          </a:xfrm>
          <a:prstGeom prst="roundRect">
            <a:avLst>
              <a:gd fmla="val 16667" name="adj"/>
            </a:avLst>
          </a:prstGeom>
          <a:solidFill>
            <a:srgbClr val="EFF6FF"/>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 name="Google Shape;193;p10"/>
          <p:cNvSpPr/>
          <p:nvPr/>
        </p:nvSpPr>
        <p:spPr>
          <a:xfrm>
            <a:off x="502920" y="4215240"/>
            <a:ext cx="8229240" cy="273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950" u="none" cap="none" strike="noStrike">
                <a:solidFill>
                  <a:srgbClr val="2C5FDC"/>
                </a:solidFill>
                <a:latin typeface="Calibri"/>
                <a:ea typeface="Calibri"/>
                <a:cs typeface="Calibri"/>
                <a:sym typeface="Calibri"/>
              </a:rPr>
              <a:t> Swagger UI: http://localhost:8081/swagger-ui.html  —  interactive API documentation for all endpoints</a:t>
            </a:r>
            <a:endParaRPr b="0" i="0" sz="950" u="none" cap="none" strike="noStrike">
              <a:solidFill>
                <a:srgbClr val="000000"/>
              </a:solidFill>
              <a:latin typeface="Arial"/>
              <a:ea typeface="Arial"/>
              <a:cs typeface="Arial"/>
              <a:sym typeface="Arial"/>
            </a:endParaRPr>
          </a:p>
        </p:txBody>
      </p:sp>
      <p:pic>
        <p:nvPicPr>
          <p:cNvPr id="194" name="Google Shape;194;p10"/>
          <p:cNvPicPr preferRelativeResize="0"/>
          <p:nvPr/>
        </p:nvPicPr>
        <p:blipFill rotWithShape="1">
          <a:blip r:embed="rId3">
            <a:alphaModFix/>
          </a:blip>
          <a:srcRect b="0" l="0" r="0" t="0"/>
          <a:stretch/>
        </p:blipFill>
        <p:spPr>
          <a:xfrm>
            <a:off x="21240" y="1292760"/>
            <a:ext cx="8894880" cy="279432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199" name="Shape 199"/>
        <p:cNvGrpSpPr/>
        <p:nvPr/>
      </p:nvGrpSpPr>
      <p:grpSpPr>
        <a:xfrm>
          <a:off x="0" y="0"/>
          <a:ext cx="0" cy="0"/>
          <a:chOff x="0" y="0"/>
          <a:chExt cx="0" cy="0"/>
        </a:xfrm>
      </p:grpSpPr>
      <p:sp>
        <p:nvSpPr>
          <p:cNvPr id="200" name="Google Shape;200;p11"/>
          <p:cNvSpPr/>
          <p:nvPr/>
        </p:nvSpPr>
        <p:spPr>
          <a:xfrm>
            <a:off x="0" y="0"/>
            <a:ext cx="200880" cy="5143320"/>
          </a:xfrm>
          <a:prstGeom prst="rect">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1"/>
          <p:cNvSpPr/>
          <p:nvPr/>
        </p:nvSpPr>
        <p:spPr>
          <a:xfrm>
            <a:off x="457200" y="1188720"/>
            <a:ext cx="822924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300" u="none" cap="none" strike="noStrike">
                <a:solidFill>
                  <a:srgbClr val="9FB4CC"/>
                </a:solidFill>
                <a:latin typeface="Calibri"/>
                <a:ea typeface="Calibri"/>
                <a:cs typeface="Calibri"/>
                <a:sym typeface="Calibri"/>
              </a:rPr>
              <a:t>Section 2</a:t>
            </a:r>
            <a:endParaRPr b="0" i="0" sz="1300" u="none" cap="none" strike="noStrike">
              <a:solidFill>
                <a:srgbClr val="FFFFFF"/>
              </a:solidFill>
              <a:latin typeface="Arial"/>
              <a:ea typeface="Arial"/>
              <a:cs typeface="Arial"/>
              <a:sym typeface="Arial"/>
            </a:endParaRPr>
          </a:p>
        </p:txBody>
      </p:sp>
      <p:sp>
        <p:nvSpPr>
          <p:cNvPr id="202" name="Google Shape;202;p11"/>
          <p:cNvSpPr/>
          <p:nvPr/>
        </p:nvSpPr>
        <p:spPr>
          <a:xfrm>
            <a:off x="457200" y="1600200"/>
            <a:ext cx="8229240" cy="18284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4000" u="none" cap="none" strike="noStrike">
                <a:solidFill>
                  <a:srgbClr val="FFFFFF"/>
                </a:solidFill>
                <a:latin typeface="Trebuchet MS"/>
                <a:ea typeface="Trebuchet MS"/>
                <a:cs typeface="Trebuchet MS"/>
                <a:sym typeface="Trebuchet MS"/>
              </a:rPr>
              <a:t>EaaS — Ethics</a:t>
            </a:r>
            <a:endParaRPr b="0" i="0" sz="4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i="0" lang="en-US" sz="4000" u="none" cap="none" strike="noStrike">
                <a:solidFill>
                  <a:srgbClr val="FFFFFF"/>
                </a:solidFill>
                <a:latin typeface="Trebuchet MS"/>
                <a:ea typeface="Trebuchet MS"/>
                <a:cs typeface="Trebuchet MS"/>
                <a:sym typeface="Trebuchet MS"/>
              </a:rPr>
              <a:t>as a Service</a:t>
            </a:r>
            <a:endParaRPr b="0" i="0" sz="4000" u="none" cap="none" strike="noStrike">
              <a:solidFill>
                <a:srgbClr val="FFFFFF"/>
              </a:solidFill>
              <a:latin typeface="Arial"/>
              <a:ea typeface="Arial"/>
              <a:cs typeface="Arial"/>
              <a:sym typeface="Arial"/>
            </a:endParaRPr>
          </a:p>
        </p:txBody>
      </p:sp>
      <p:sp>
        <p:nvSpPr>
          <p:cNvPr id="203" name="Google Shape;203;p11"/>
          <p:cNvSpPr/>
          <p:nvPr/>
        </p:nvSpPr>
        <p:spPr>
          <a:xfrm>
            <a:off x="457200" y="4114800"/>
            <a:ext cx="822924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9FB4CC"/>
                </a:solidFill>
                <a:latin typeface="Calibri"/>
                <a:ea typeface="Calibri"/>
                <a:cs typeface="Calibri"/>
                <a:sym typeface="Calibri"/>
              </a:rPr>
              <a:t>Lorenzo Di Giandomenico </a:t>
            </a:r>
            <a:endParaRPr b="0" i="0" sz="1200" u="none" cap="none" strike="noStrike">
              <a:solidFill>
                <a:srgbClr val="FFFFF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sp>
        <p:nvSpPr>
          <p:cNvPr id="209" name="Google Shape;209;p12"/>
          <p:cNvSpPr/>
          <p:nvPr/>
        </p:nvSpPr>
        <p:spPr>
          <a:xfrm>
            <a:off x="365760" y="201240"/>
            <a:ext cx="1737000" cy="255600"/>
          </a:xfrm>
          <a:prstGeom prst="roundRect">
            <a:avLst>
              <a:gd fmla="val 14286" name="adj"/>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12"/>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EAAS</a:t>
            </a:r>
            <a:endParaRPr b="0" i="0" sz="800" u="none" cap="none" strike="noStrike">
              <a:solidFill>
                <a:srgbClr val="000000"/>
              </a:solidFill>
              <a:latin typeface="Arial"/>
              <a:ea typeface="Arial"/>
              <a:cs typeface="Arial"/>
              <a:sym typeface="Arial"/>
            </a:endParaRPr>
          </a:p>
        </p:txBody>
      </p:sp>
      <p:sp>
        <p:nvSpPr>
          <p:cNvPr id="211" name="Google Shape;211;p12"/>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EaaS — Evaluation Workflow</a:t>
            </a:r>
            <a:endParaRPr b="0" i="0" sz="2600" u="none" cap="none" strike="noStrike">
              <a:solidFill>
                <a:srgbClr val="000000"/>
              </a:solidFill>
              <a:latin typeface="Arial"/>
              <a:ea typeface="Arial"/>
              <a:cs typeface="Arial"/>
              <a:sym typeface="Arial"/>
            </a:endParaRPr>
          </a:p>
        </p:txBody>
      </p:sp>
      <p:sp>
        <p:nvSpPr>
          <p:cNvPr id="212" name="Google Shape;212;p12"/>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2"/>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11</a:t>
            </a:r>
            <a:endParaRPr b="0" i="0" sz="900" u="none" cap="none" strike="noStrike">
              <a:solidFill>
                <a:srgbClr val="000000"/>
              </a:solidFill>
              <a:latin typeface="Arial"/>
              <a:ea typeface="Arial"/>
              <a:cs typeface="Arial"/>
              <a:sym typeface="Arial"/>
            </a:endParaRPr>
          </a:p>
        </p:txBody>
      </p:sp>
      <p:sp>
        <p:nvSpPr>
          <p:cNvPr id="214" name="Google Shape;214;p12"/>
          <p:cNvSpPr/>
          <p:nvPr/>
        </p:nvSpPr>
        <p:spPr>
          <a:xfrm>
            <a:off x="365760" y="1408320"/>
            <a:ext cx="438480" cy="438480"/>
          </a:xfrm>
          <a:prstGeom prst="ellipse">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 name="Google Shape;215;p12"/>
          <p:cNvSpPr/>
          <p:nvPr/>
        </p:nvSpPr>
        <p:spPr>
          <a:xfrm>
            <a:off x="365760" y="1408320"/>
            <a:ext cx="43848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1</a:t>
            </a:r>
            <a:endParaRPr b="0" i="0" sz="1400" u="none" cap="none" strike="noStrike">
              <a:solidFill>
                <a:srgbClr val="000000"/>
              </a:solidFill>
              <a:latin typeface="Arial"/>
              <a:ea typeface="Arial"/>
              <a:cs typeface="Arial"/>
              <a:sym typeface="Arial"/>
            </a:endParaRPr>
          </a:p>
        </p:txBody>
      </p:sp>
      <p:cxnSp>
        <p:nvCxnSpPr>
          <p:cNvPr id="216" name="Google Shape;216;p12"/>
          <p:cNvCxnSpPr/>
          <p:nvPr/>
        </p:nvCxnSpPr>
        <p:spPr>
          <a:xfrm>
            <a:off x="576000" y="1846800"/>
            <a:ext cx="360" cy="274320"/>
          </a:xfrm>
          <a:prstGeom prst="straightConnector1">
            <a:avLst/>
          </a:prstGeom>
          <a:noFill/>
          <a:ln cap="flat" cmpd="sng" w="19050">
            <a:solidFill>
              <a:srgbClr val="6B7280"/>
            </a:solidFill>
            <a:prstDash val="solid"/>
            <a:round/>
            <a:headEnd len="sm" w="sm" type="none"/>
            <a:tailEnd len="sm" w="sm" type="none"/>
          </a:ln>
        </p:spPr>
      </p:cxnSp>
      <p:sp>
        <p:nvSpPr>
          <p:cNvPr id="217" name="Google Shape;217;p12"/>
          <p:cNvSpPr/>
          <p:nvPr/>
        </p:nvSpPr>
        <p:spPr>
          <a:xfrm>
            <a:off x="1005840" y="1316880"/>
            <a:ext cx="7772040" cy="621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12"/>
          <p:cNvSpPr/>
          <p:nvPr/>
        </p:nvSpPr>
        <p:spPr>
          <a:xfrm>
            <a:off x="1097280" y="1353240"/>
            <a:ext cx="7589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Structured Request</a:t>
            </a:r>
            <a:endParaRPr b="0" i="0" sz="1200" u="none" cap="none" strike="noStrike">
              <a:solidFill>
                <a:srgbClr val="000000"/>
              </a:solidFill>
              <a:latin typeface="Arial"/>
              <a:ea typeface="Arial"/>
              <a:cs typeface="Arial"/>
              <a:sym typeface="Arial"/>
            </a:endParaRPr>
          </a:p>
        </p:txBody>
      </p:sp>
      <p:sp>
        <p:nvSpPr>
          <p:cNvPr id="219" name="Google Shape;219;p12"/>
          <p:cNvSpPr/>
          <p:nvPr/>
        </p:nvSpPr>
        <p:spPr>
          <a:xfrm>
            <a:off x="1097280" y="1591200"/>
            <a:ext cx="75891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The client sends: action, candidateId, jobId,</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requester, purpose, declaredRisk </a:t>
            </a:r>
            <a:endParaRPr b="0" i="0" sz="1000" u="none" cap="none" strike="noStrike">
              <a:solidFill>
                <a:srgbClr val="000000"/>
              </a:solidFill>
              <a:latin typeface="Arial"/>
              <a:ea typeface="Arial"/>
              <a:cs typeface="Arial"/>
              <a:sym typeface="Arial"/>
            </a:endParaRPr>
          </a:p>
        </p:txBody>
      </p:sp>
      <p:sp>
        <p:nvSpPr>
          <p:cNvPr id="220" name="Google Shape;220;p12"/>
          <p:cNvSpPr/>
          <p:nvPr/>
        </p:nvSpPr>
        <p:spPr>
          <a:xfrm>
            <a:off x="365760" y="2121480"/>
            <a:ext cx="438480" cy="438480"/>
          </a:xfrm>
          <a:prstGeom prst="ellipse">
            <a:avLst/>
          </a:prstGeom>
          <a:solidFill>
            <a:srgbClr val="C25A00"/>
          </a:solidFill>
          <a:ln cap="flat" cmpd="sng" w="12700">
            <a:solidFill>
              <a:srgbClr val="C25A0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12"/>
          <p:cNvSpPr/>
          <p:nvPr/>
        </p:nvSpPr>
        <p:spPr>
          <a:xfrm>
            <a:off x="365760" y="2121480"/>
            <a:ext cx="43848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2</a:t>
            </a:r>
            <a:endParaRPr b="0" i="0" sz="1400" u="none" cap="none" strike="noStrike">
              <a:solidFill>
                <a:srgbClr val="000000"/>
              </a:solidFill>
              <a:latin typeface="Arial"/>
              <a:ea typeface="Arial"/>
              <a:cs typeface="Arial"/>
              <a:sym typeface="Arial"/>
            </a:endParaRPr>
          </a:p>
        </p:txBody>
      </p:sp>
      <p:cxnSp>
        <p:nvCxnSpPr>
          <p:cNvPr id="222" name="Google Shape;222;p12"/>
          <p:cNvCxnSpPr/>
          <p:nvPr/>
        </p:nvCxnSpPr>
        <p:spPr>
          <a:xfrm>
            <a:off x="576000" y="2560320"/>
            <a:ext cx="360" cy="274320"/>
          </a:xfrm>
          <a:prstGeom prst="straightConnector1">
            <a:avLst/>
          </a:prstGeom>
          <a:noFill/>
          <a:ln cap="flat" cmpd="sng" w="19050">
            <a:solidFill>
              <a:srgbClr val="6B7280"/>
            </a:solidFill>
            <a:prstDash val="solid"/>
            <a:round/>
            <a:headEnd len="sm" w="sm" type="none"/>
            <a:tailEnd len="sm" w="sm" type="none"/>
          </a:ln>
        </p:spPr>
      </p:cxnSp>
      <p:sp>
        <p:nvSpPr>
          <p:cNvPr id="223" name="Google Shape;223;p12"/>
          <p:cNvSpPr/>
          <p:nvPr/>
        </p:nvSpPr>
        <p:spPr>
          <a:xfrm>
            <a:off x="1005840" y="2030040"/>
            <a:ext cx="7772040" cy="621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12"/>
          <p:cNvSpPr/>
          <p:nvPr/>
        </p:nvSpPr>
        <p:spPr>
          <a:xfrm>
            <a:off x="1097280" y="2066400"/>
            <a:ext cx="7589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Fetch Canonical Data from DaaS</a:t>
            </a:r>
            <a:endParaRPr b="0" i="0" sz="1200" u="none" cap="none" strike="noStrike">
              <a:solidFill>
                <a:srgbClr val="000000"/>
              </a:solidFill>
              <a:latin typeface="Arial"/>
              <a:ea typeface="Arial"/>
              <a:cs typeface="Arial"/>
              <a:sym typeface="Arial"/>
            </a:endParaRPr>
          </a:p>
        </p:txBody>
      </p:sp>
      <p:sp>
        <p:nvSpPr>
          <p:cNvPr id="225" name="Google Shape;225;p12"/>
          <p:cNvSpPr/>
          <p:nvPr/>
        </p:nvSpPr>
        <p:spPr>
          <a:xfrm>
            <a:off x="1097280" y="2304360"/>
            <a:ext cx="75891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EaaS fetches candidate and offer directly</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from DaaS — never trust the caller</a:t>
            </a:r>
            <a:endParaRPr b="0" i="0" sz="1000" u="none" cap="none" strike="noStrike">
              <a:solidFill>
                <a:srgbClr val="000000"/>
              </a:solidFill>
              <a:latin typeface="Arial"/>
              <a:ea typeface="Arial"/>
              <a:cs typeface="Arial"/>
              <a:sym typeface="Arial"/>
            </a:endParaRPr>
          </a:p>
        </p:txBody>
      </p:sp>
      <p:sp>
        <p:nvSpPr>
          <p:cNvPr id="226" name="Google Shape;226;p12"/>
          <p:cNvSpPr/>
          <p:nvPr/>
        </p:nvSpPr>
        <p:spPr>
          <a:xfrm>
            <a:off x="365760" y="2834640"/>
            <a:ext cx="438480" cy="438480"/>
          </a:xfrm>
          <a:prstGeom prst="ellipse">
            <a:avLst/>
          </a:prstGeom>
          <a:solidFill>
            <a:srgbClr val="D8A01A"/>
          </a:solidFill>
          <a:ln cap="flat" cmpd="sng" w="12700">
            <a:solidFill>
              <a:srgbClr val="D8A01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12"/>
          <p:cNvSpPr/>
          <p:nvPr/>
        </p:nvSpPr>
        <p:spPr>
          <a:xfrm>
            <a:off x="365760" y="2834640"/>
            <a:ext cx="43848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3</a:t>
            </a:r>
            <a:endParaRPr b="0" i="0" sz="1400" u="none" cap="none" strike="noStrike">
              <a:solidFill>
                <a:srgbClr val="000000"/>
              </a:solidFill>
              <a:latin typeface="Arial"/>
              <a:ea typeface="Arial"/>
              <a:cs typeface="Arial"/>
              <a:sym typeface="Arial"/>
            </a:endParaRPr>
          </a:p>
        </p:txBody>
      </p:sp>
      <p:cxnSp>
        <p:nvCxnSpPr>
          <p:cNvPr id="228" name="Google Shape;228;p12"/>
          <p:cNvCxnSpPr/>
          <p:nvPr/>
        </p:nvCxnSpPr>
        <p:spPr>
          <a:xfrm>
            <a:off x="576000" y="3273480"/>
            <a:ext cx="360" cy="274320"/>
          </a:xfrm>
          <a:prstGeom prst="straightConnector1">
            <a:avLst/>
          </a:prstGeom>
          <a:noFill/>
          <a:ln cap="flat" cmpd="sng" w="19050">
            <a:solidFill>
              <a:srgbClr val="6B7280"/>
            </a:solidFill>
            <a:prstDash val="solid"/>
            <a:round/>
            <a:headEnd len="sm" w="sm" type="none"/>
            <a:tailEnd len="sm" w="sm" type="none"/>
          </a:ln>
        </p:spPr>
      </p:cxnSp>
      <p:sp>
        <p:nvSpPr>
          <p:cNvPr id="229" name="Google Shape;229;p12"/>
          <p:cNvSpPr/>
          <p:nvPr/>
        </p:nvSpPr>
        <p:spPr>
          <a:xfrm>
            <a:off x="1005840" y="2743200"/>
            <a:ext cx="7772040" cy="621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 name="Google Shape;230;p12"/>
          <p:cNvSpPr/>
          <p:nvPr/>
        </p:nvSpPr>
        <p:spPr>
          <a:xfrm>
            <a:off x="1097280" y="2779920"/>
            <a:ext cx="7589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Case Analysis — Policy Engine</a:t>
            </a:r>
            <a:endParaRPr b="0" i="0" sz="1200" u="none" cap="none" strike="noStrike">
              <a:solidFill>
                <a:srgbClr val="000000"/>
              </a:solidFill>
              <a:latin typeface="Arial"/>
              <a:ea typeface="Arial"/>
              <a:cs typeface="Arial"/>
              <a:sym typeface="Arial"/>
            </a:endParaRPr>
          </a:p>
        </p:txBody>
      </p:sp>
      <p:sp>
        <p:nvSpPr>
          <p:cNvPr id="231" name="Google Shape;231;p12"/>
          <p:cNvSpPr/>
          <p:nvPr/>
        </p:nvSpPr>
        <p:spPr>
          <a:xfrm>
            <a:off x="1097280" y="3017520"/>
            <a:ext cx="75891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Each policy is applied to the real data.</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Produces findings with severity and evidence</a:t>
            </a:r>
            <a:endParaRPr b="0" i="0" sz="1000" u="none" cap="none" strike="noStrike">
              <a:solidFill>
                <a:srgbClr val="000000"/>
              </a:solidFill>
              <a:latin typeface="Arial"/>
              <a:ea typeface="Arial"/>
              <a:cs typeface="Arial"/>
              <a:sym typeface="Arial"/>
            </a:endParaRPr>
          </a:p>
        </p:txBody>
      </p:sp>
      <p:sp>
        <p:nvSpPr>
          <p:cNvPr id="232" name="Google Shape;232;p12"/>
          <p:cNvSpPr/>
          <p:nvPr/>
        </p:nvSpPr>
        <p:spPr>
          <a:xfrm>
            <a:off x="365760" y="3547800"/>
            <a:ext cx="438480" cy="438480"/>
          </a:xfrm>
          <a:prstGeom prst="ellipse">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12"/>
          <p:cNvSpPr/>
          <p:nvPr/>
        </p:nvSpPr>
        <p:spPr>
          <a:xfrm>
            <a:off x="365760" y="3547800"/>
            <a:ext cx="43848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4</a:t>
            </a:r>
            <a:endParaRPr b="0" i="0" sz="1400" u="none" cap="none" strike="noStrike">
              <a:solidFill>
                <a:srgbClr val="000000"/>
              </a:solidFill>
              <a:latin typeface="Arial"/>
              <a:ea typeface="Arial"/>
              <a:cs typeface="Arial"/>
              <a:sym typeface="Arial"/>
            </a:endParaRPr>
          </a:p>
        </p:txBody>
      </p:sp>
      <p:cxnSp>
        <p:nvCxnSpPr>
          <p:cNvPr id="234" name="Google Shape;234;p12"/>
          <p:cNvCxnSpPr/>
          <p:nvPr/>
        </p:nvCxnSpPr>
        <p:spPr>
          <a:xfrm>
            <a:off x="576000" y="3986640"/>
            <a:ext cx="360" cy="274320"/>
          </a:xfrm>
          <a:prstGeom prst="straightConnector1">
            <a:avLst/>
          </a:prstGeom>
          <a:noFill/>
          <a:ln cap="flat" cmpd="sng" w="19050">
            <a:solidFill>
              <a:srgbClr val="6B7280"/>
            </a:solidFill>
            <a:prstDash val="solid"/>
            <a:round/>
            <a:headEnd len="sm" w="sm" type="none"/>
            <a:tailEnd len="sm" w="sm" type="none"/>
          </a:ln>
        </p:spPr>
      </p:cxnSp>
      <p:sp>
        <p:nvSpPr>
          <p:cNvPr id="235" name="Google Shape;235;p12"/>
          <p:cNvSpPr/>
          <p:nvPr/>
        </p:nvSpPr>
        <p:spPr>
          <a:xfrm>
            <a:off x="1005840" y="3456360"/>
            <a:ext cx="7772040" cy="621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 name="Google Shape;236;p12"/>
          <p:cNvSpPr/>
          <p:nvPr/>
        </p:nvSpPr>
        <p:spPr>
          <a:xfrm>
            <a:off x="1097280" y="3493080"/>
            <a:ext cx="7589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Governance Decision</a:t>
            </a:r>
            <a:endParaRPr b="0" i="0" sz="1200" u="none" cap="none" strike="noStrike">
              <a:solidFill>
                <a:srgbClr val="000000"/>
              </a:solidFill>
              <a:latin typeface="Arial"/>
              <a:ea typeface="Arial"/>
              <a:cs typeface="Arial"/>
              <a:sym typeface="Arial"/>
            </a:endParaRPr>
          </a:p>
        </p:txBody>
      </p:sp>
      <p:sp>
        <p:nvSpPr>
          <p:cNvPr id="237" name="Google Shape;237;p12"/>
          <p:cNvSpPr/>
          <p:nvPr/>
        </p:nvSpPr>
        <p:spPr>
          <a:xfrm>
            <a:off x="1097280" y="3730680"/>
            <a:ext cx="75891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DecisionMaker aggregates findings:</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CRITICAL→REJECT, HIGH→ESCALATE, MEDIUM→REVISE, none→PROCEED</a:t>
            </a:r>
            <a:endParaRPr b="0" i="0" sz="1000" u="none" cap="none" strike="noStrike">
              <a:solidFill>
                <a:srgbClr val="000000"/>
              </a:solidFill>
              <a:latin typeface="Arial"/>
              <a:ea typeface="Arial"/>
              <a:cs typeface="Arial"/>
              <a:sym typeface="Arial"/>
            </a:endParaRPr>
          </a:p>
        </p:txBody>
      </p:sp>
      <p:sp>
        <p:nvSpPr>
          <p:cNvPr id="238" name="Google Shape;238;p12"/>
          <p:cNvSpPr/>
          <p:nvPr/>
        </p:nvSpPr>
        <p:spPr>
          <a:xfrm>
            <a:off x="365760" y="4260960"/>
            <a:ext cx="438480" cy="438480"/>
          </a:xfrm>
          <a:prstGeom prst="ellipse">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12"/>
          <p:cNvSpPr/>
          <p:nvPr/>
        </p:nvSpPr>
        <p:spPr>
          <a:xfrm>
            <a:off x="365760" y="4260960"/>
            <a:ext cx="43848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400" u="none" cap="none" strike="noStrike">
                <a:solidFill>
                  <a:srgbClr val="FFFFFF"/>
                </a:solidFill>
                <a:latin typeface="Trebuchet MS"/>
                <a:ea typeface="Trebuchet MS"/>
                <a:cs typeface="Trebuchet MS"/>
                <a:sym typeface="Trebuchet MS"/>
              </a:rPr>
              <a:t>5</a:t>
            </a:r>
            <a:endParaRPr b="0" i="0" sz="1400" u="none" cap="none" strike="noStrike">
              <a:solidFill>
                <a:srgbClr val="000000"/>
              </a:solidFill>
              <a:latin typeface="Arial"/>
              <a:ea typeface="Arial"/>
              <a:cs typeface="Arial"/>
              <a:sym typeface="Arial"/>
            </a:endParaRPr>
          </a:p>
        </p:txBody>
      </p:sp>
      <p:sp>
        <p:nvSpPr>
          <p:cNvPr id="240" name="Google Shape;240;p12"/>
          <p:cNvSpPr/>
          <p:nvPr/>
        </p:nvSpPr>
        <p:spPr>
          <a:xfrm>
            <a:off x="1005840" y="4169520"/>
            <a:ext cx="7772040" cy="62136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 name="Google Shape;241;p12"/>
          <p:cNvSpPr/>
          <p:nvPr/>
        </p:nvSpPr>
        <p:spPr>
          <a:xfrm>
            <a:off x="1097280" y="4206240"/>
            <a:ext cx="7589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1D2D44"/>
                </a:solidFill>
                <a:latin typeface="Trebuchet MS"/>
                <a:ea typeface="Trebuchet MS"/>
                <a:cs typeface="Trebuchet MS"/>
                <a:sym typeface="Trebuchet MS"/>
              </a:rPr>
              <a:t>Audit and Response</a:t>
            </a:r>
            <a:endParaRPr b="0" i="0" sz="1200" u="none" cap="none" strike="noStrike">
              <a:solidFill>
                <a:srgbClr val="000000"/>
              </a:solidFill>
              <a:latin typeface="Arial"/>
              <a:ea typeface="Arial"/>
              <a:cs typeface="Arial"/>
              <a:sym typeface="Arial"/>
            </a:endParaRPr>
          </a:p>
        </p:txBody>
      </p:sp>
      <p:sp>
        <p:nvSpPr>
          <p:cNvPr id="242" name="Google Shape;242;p12"/>
          <p:cNvSpPr/>
          <p:nvPr/>
        </p:nvSpPr>
        <p:spPr>
          <a:xfrm>
            <a:off x="1097280" y="4443840"/>
            <a:ext cx="75891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AuditRecord saved to memory and JSONL.</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Full response with provenance and required actions</a:t>
            </a:r>
            <a:endParaRPr b="0" i="0" sz="10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p13"/>
          <p:cNvSpPr/>
          <p:nvPr/>
        </p:nvSpPr>
        <p:spPr>
          <a:xfrm>
            <a:off x="365760" y="201240"/>
            <a:ext cx="1737000" cy="255600"/>
          </a:xfrm>
          <a:prstGeom prst="roundRect">
            <a:avLst>
              <a:gd fmla="val 14286" name="adj"/>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9" name="Google Shape;249;p13"/>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EAAS</a:t>
            </a:r>
            <a:endParaRPr b="0" i="0" sz="800" u="none" cap="none" strike="noStrike">
              <a:solidFill>
                <a:srgbClr val="000000"/>
              </a:solidFill>
              <a:latin typeface="Arial"/>
              <a:ea typeface="Arial"/>
              <a:cs typeface="Arial"/>
              <a:sym typeface="Arial"/>
            </a:endParaRPr>
          </a:p>
        </p:txBody>
      </p:sp>
      <p:sp>
        <p:nvSpPr>
          <p:cNvPr id="250" name="Google Shape;250;p13"/>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EvaluationRequest — Structure</a:t>
            </a:r>
            <a:endParaRPr b="0" i="0" sz="2600" u="none" cap="none" strike="noStrike">
              <a:solidFill>
                <a:srgbClr val="000000"/>
              </a:solidFill>
              <a:latin typeface="Arial"/>
              <a:ea typeface="Arial"/>
              <a:cs typeface="Arial"/>
              <a:sym typeface="Arial"/>
            </a:endParaRPr>
          </a:p>
        </p:txBody>
      </p:sp>
      <p:sp>
        <p:nvSpPr>
          <p:cNvPr id="251" name="Google Shape;251;p13"/>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13"/>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12</a:t>
            </a:r>
            <a:endParaRPr b="0" i="0" sz="900" u="none" cap="none" strike="noStrike">
              <a:solidFill>
                <a:srgbClr val="000000"/>
              </a:solidFill>
              <a:latin typeface="Arial"/>
              <a:ea typeface="Arial"/>
              <a:cs typeface="Arial"/>
              <a:sym typeface="Arial"/>
            </a:endParaRPr>
          </a:p>
        </p:txBody>
      </p:sp>
      <p:sp>
        <p:nvSpPr>
          <p:cNvPr id="253" name="Google Shape;253;p13"/>
          <p:cNvSpPr/>
          <p:nvPr/>
        </p:nvSpPr>
        <p:spPr>
          <a:xfrm>
            <a:off x="365760" y="1325880"/>
            <a:ext cx="4663080" cy="3565800"/>
          </a:xfrm>
          <a:prstGeom prst="rect">
            <a:avLst/>
          </a:prstGeom>
          <a:solidFill>
            <a:srgbClr val="1E293B"/>
          </a:solidFill>
          <a:ln cap="flat" cmpd="sng" w="12700">
            <a:solidFill>
              <a:srgbClr val="1E293B"/>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4" name="Google Shape;254;p13"/>
          <p:cNvSpPr/>
          <p:nvPr/>
        </p:nvSpPr>
        <p:spPr>
          <a:xfrm>
            <a:off x="502920" y="1371600"/>
            <a:ext cx="4388760" cy="342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86EFAC"/>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DA9DB"/>
                </a:solidFill>
                <a:latin typeface="Consolas"/>
                <a:ea typeface="Consolas"/>
                <a:cs typeface="Consolas"/>
                <a:sym typeface="Consolas"/>
              </a:rPr>
              <a:t>  "action": "recommend-job",</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DA9DB"/>
                </a:solidFill>
                <a:latin typeface="Consolas"/>
                <a:ea typeface="Consolas"/>
                <a:cs typeface="Consolas"/>
                <a:sym typeface="Consolas"/>
              </a:rPr>
              <a:t>  "candidateId": "cand-001",</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DA9DB"/>
                </a:solidFill>
                <a:latin typeface="Consolas"/>
                <a:ea typeface="Consolas"/>
                <a:cs typeface="Consolas"/>
                <a:sym typeface="Consolas"/>
              </a:rPr>
              <a:t>  "jobId": "job-003",</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6EFAC"/>
                </a:solidFill>
                <a:latin typeface="Consolas"/>
                <a:ea typeface="Consolas"/>
                <a:cs typeface="Consolas"/>
                <a:sym typeface="Consolas"/>
              </a:rPr>
              <a:t>  "requester": "ui-user:edoardo",</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6EFAC"/>
                </a:solidFill>
                <a:latin typeface="Consolas"/>
                <a:ea typeface="Consolas"/>
                <a:cs typeface="Consolas"/>
                <a:sym typeface="Consolas"/>
              </a:rPr>
              <a:t>  "purpose": "show recommendation",</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6EFAC"/>
                </a:solidFill>
                <a:latin typeface="Consolas"/>
                <a:ea typeface="Consolas"/>
                <a:cs typeface="Consolas"/>
                <a:sym typeface="Consolas"/>
              </a:rPr>
              <a:t>  </a:t>
            </a:r>
            <a:r>
              <a:rPr b="0" i="0" lang="en-US" sz="1100" u="none" cap="none" strike="noStrike">
                <a:solidFill>
                  <a:srgbClr val="FF0000"/>
                </a:solidFill>
                <a:latin typeface="Consolas"/>
                <a:ea typeface="Consolas"/>
                <a:cs typeface="Consolas"/>
                <a:sym typeface="Consolas"/>
              </a:rPr>
              <a:t>// EaaS ignores this field!</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FF0000"/>
                </a:solidFill>
                <a:latin typeface="Consolas"/>
                <a:ea typeface="Consolas"/>
                <a:cs typeface="Consolas"/>
                <a:sym typeface="Consolas"/>
              </a:rPr>
              <a:t>  "declaredRisk": "LOW"</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100" u="none" cap="none" strike="noStrike">
                <a:solidFill>
                  <a:srgbClr val="86EFAC"/>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p:txBody>
      </p:sp>
      <p:cxnSp>
        <p:nvCxnSpPr>
          <p:cNvPr id="255" name="Google Shape;255;p13"/>
          <p:cNvCxnSpPr/>
          <p:nvPr/>
        </p:nvCxnSpPr>
        <p:spPr>
          <a:xfrm>
            <a:off x="5029200" y="1508760"/>
            <a:ext cx="548640" cy="360"/>
          </a:xfrm>
          <a:prstGeom prst="straightConnector1">
            <a:avLst/>
          </a:prstGeom>
          <a:noFill/>
          <a:ln cap="flat" cmpd="sng" w="12700">
            <a:solidFill>
              <a:srgbClr val="2C5FDC"/>
            </a:solidFill>
            <a:prstDash val="dash"/>
            <a:round/>
            <a:headEnd len="sm" w="sm" type="none"/>
            <a:tailEnd len="sm" w="sm" type="none"/>
          </a:ln>
        </p:spPr>
      </p:cxnSp>
      <p:sp>
        <p:nvSpPr>
          <p:cNvPr id="256" name="Google Shape;256;p13"/>
          <p:cNvSpPr/>
          <p:nvPr/>
        </p:nvSpPr>
        <p:spPr>
          <a:xfrm>
            <a:off x="5669280" y="1266480"/>
            <a:ext cx="310860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2C5FDC"/>
                </a:solidFill>
                <a:latin typeface="Calibri"/>
                <a:ea typeface="Calibri"/>
                <a:cs typeface="Calibri"/>
                <a:sym typeface="Calibri"/>
              </a:rPr>
              <a:t>Type of requested action</a:t>
            </a:r>
            <a:endParaRPr b="0" i="0" sz="1000" u="none" cap="none" strike="noStrike">
              <a:solidFill>
                <a:srgbClr val="000000"/>
              </a:solidFill>
              <a:latin typeface="Arial"/>
              <a:ea typeface="Arial"/>
              <a:cs typeface="Arial"/>
              <a:sym typeface="Arial"/>
            </a:endParaRPr>
          </a:p>
        </p:txBody>
      </p:sp>
      <p:cxnSp>
        <p:nvCxnSpPr>
          <p:cNvPr id="257" name="Google Shape;257;p13"/>
          <p:cNvCxnSpPr/>
          <p:nvPr/>
        </p:nvCxnSpPr>
        <p:spPr>
          <a:xfrm>
            <a:off x="5029200" y="1853280"/>
            <a:ext cx="548640" cy="360"/>
          </a:xfrm>
          <a:prstGeom prst="straightConnector1">
            <a:avLst/>
          </a:prstGeom>
          <a:noFill/>
          <a:ln cap="flat" cmpd="sng" w="12700">
            <a:solidFill>
              <a:srgbClr val="2C5FDC"/>
            </a:solidFill>
            <a:prstDash val="dash"/>
            <a:round/>
            <a:headEnd len="sm" w="sm" type="none"/>
            <a:tailEnd len="sm" w="sm" type="none"/>
          </a:ln>
        </p:spPr>
      </p:cxnSp>
      <p:sp>
        <p:nvSpPr>
          <p:cNvPr id="258" name="Google Shape;258;p13"/>
          <p:cNvSpPr/>
          <p:nvPr/>
        </p:nvSpPr>
        <p:spPr>
          <a:xfrm>
            <a:off x="5669280" y="1613880"/>
            <a:ext cx="310860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2C5FDC"/>
                </a:solidFill>
                <a:latin typeface="Calibri"/>
                <a:ea typeface="Calibri"/>
                <a:cs typeface="Calibri"/>
                <a:sym typeface="Calibri"/>
              </a:rPr>
              <a:t>IDs — EaaS uses them to fetch</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2C5FDC"/>
                </a:solidFill>
                <a:latin typeface="Calibri"/>
                <a:ea typeface="Calibri"/>
                <a:cs typeface="Calibri"/>
                <a:sym typeface="Calibri"/>
              </a:rPr>
              <a:t>the real data from DaaS</a:t>
            </a:r>
            <a:endParaRPr b="0" i="0" sz="1000" u="none" cap="none" strike="noStrike">
              <a:solidFill>
                <a:srgbClr val="000000"/>
              </a:solidFill>
              <a:latin typeface="Arial"/>
              <a:ea typeface="Arial"/>
              <a:cs typeface="Arial"/>
              <a:sym typeface="Arial"/>
            </a:endParaRPr>
          </a:p>
        </p:txBody>
      </p:sp>
      <p:cxnSp>
        <p:nvCxnSpPr>
          <p:cNvPr id="259" name="Google Shape;259;p13"/>
          <p:cNvCxnSpPr/>
          <p:nvPr/>
        </p:nvCxnSpPr>
        <p:spPr>
          <a:xfrm>
            <a:off x="5029200" y="2225880"/>
            <a:ext cx="548640" cy="360"/>
          </a:xfrm>
          <a:prstGeom prst="straightConnector1">
            <a:avLst/>
          </a:prstGeom>
          <a:noFill/>
          <a:ln cap="flat" cmpd="sng" w="12700">
            <a:solidFill>
              <a:srgbClr val="2F8F4E"/>
            </a:solidFill>
            <a:prstDash val="dash"/>
            <a:round/>
            <a:headEnd len="sm" w="sm" type="none"/>
            <a:tailEnd len="sm" w="sm" type="none"/>
          </a:ln>
        </p:spPr>
      </p:cxnSp>
      <p:sp>
        <p:nvSpPr>
          <p:cNvPr id="260" name="Google Shape;260;p13"/>
          <p:cNvSpPr/>
          <p:nvPr/>
        </p:nvSpPr>
        <p:spPr>
          <a:xfrm>
            <a:off x="5669280" y="1997640"/>
            <a:ext cx="310860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2F8F4E"/>
                </a:solidFill>
                <a:latin typeface="Calibri"/>
                <a:ea typeface="Calibri"/>
                <a:cs typeface="Calibri"/>
                <a:sym typeface="Calibri"/>
              </a:rPr>
              <a:t>Transparency: who requests and why</a:t>
            </a:r>
            <a:endParaRPr b="0" i="0" sz="1000" u="none" cap="none" strike="noStrike">
              <a:solidFill>
                <a:srgbClr val="000000"/>
              </a:solidFill>
              <a:latin typeface="Arial"/>
              <a:ea typeface="Arial"/>
              <a:cs typeface="Arial"/>
              <a:sym typeface="Arial"/>
            </a:endParaRPr>
          </a:p>
        </p:txBody>
      </p:sp>
      <p:cxnSp>
        <p:nvCxnSpPr>
          <p:cNvPr id="261" name="Google Shape;261;p13"/>
          <p:cNvCxnSpPr/>
          <p:nvPr/>
        </p:nvCxnSpPr>
        <p:spPr>
          <a:xfrm>
            <a:off x="5029200" y="2757960"/>
            <a:ext cx="548640" cy="360"/>
          </a:xfrm>
          <a:prstGeom prst="straightConnector1">
            <a:avLst/>
          </a:prstGeom>
          <a:noFill/>
          <a:ln cap="flat" cmpd="sng" w="12700">
            <a:solidFill>
              <a:srgbClr val="B32424"/>
            </a:solidFill>
            <a:prstDash val="dash"/>
            <a:round/>
            <a:headEnd len="sm" w="sm" type="none"/>
            <a:tailEnd len="sm" w="sm" type="none"/>
          </a:ln>
        </p:spPr>
      </p:cxnSp>
      <p:sp>
        <p:nvSpPr>
          <p:cNvPr id="262" name="Google Shape;262;p13"/>
          <p:cNvSpPr/>
          <p:nvPr/>
        </p:nvSpPr>
        <p:spPr>
          <a:xfrm>
            <a:off x="5669280" y="2500200"/>
            <a:ext cx="310860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alibri"/>
                <a:ea typeface="Calibri"/>
                <a:cs typeface="Calibri"/>
                <a:sym typeface="Calibri"/>
              </a:rPr>
              <a:t>⚠ Not trusted — EaaS</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B32424"/>
                </a:solidFill>
                <a:latin typeface="Calibri"/>
                <a:ea typeface="Calibri"/>
                <a:cs typeface="Calibri"/>
                <a:sym typeface="Calibri"/>
              </a:rPr>
              <a:t>recalculates risk autonomously</a:t>
            </a:r>
            <a:endParaRPr b="0" i="0" sz="10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14"/>
          <p:cNvSpPr/>
          <p:nvPr/>
        </p:nvSpPr>
        <p:spPr>
          <a:xfrm>
            <a:off x="365760" y="201240"/>
            <a:ext cx="1737000" cy="255600"/>
          </a:xfrm>
          <a:prstGeom prst="roundRect">
            <a:avLst>
              <a:gd fmla="val 14286" name="adj"/>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9" name="Google Shape;269;p14"/>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POLICY</a:t>
            </a:r>
            <a:endParaRPr b="0" i="0" sz="800" u="none" cap="none" strike="noStrike">
              <a:solidFill>
                <a:srgbClr val="000000"/>
              </a:solidFill>
              <a:latin typeface="Arial"/>
              <a:ea typeface="Arial"/>
              <a:cs typeface="Arial"/>
              <a:sym typeface="Arial"/>
            </a:endParaRPr>
          </a:p>
        </p:txBody>
      </p:sp>
      <p:sp>
        <p:nvSpPr>
          <p:cNvPr id="270" name="Google Shape;270;p14"/>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The 4 Ethical Policies — External JSON Files</a:t>
            </a:r>
            <a:endParaRPr b="0" i="0" sz="2600" u="none" cap="none" strike="noStrike">
              <a:solidFill>
                <a:srgbClr val="000000"/>
              </a:solidFill>
              <a:latin typeface="Arial"/>
              <a:ea typeface="Arial"/>
              <a:cs typeface="Arial"/>
              <a:sym typeface="Arial"/>
            </a:endParaRPr>
          </a:p>
        </p:txBody>
      </p:sp>
      <p:sp>
        <p:nvSpPr>
          <p:cNvPr id="271" name="Google Shape;271;p14"/>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2" name="Google Shape;272;p14"/>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13</a:t>
            </a:r>
            <a:endParaRPr b="0" i="0" sz="900" u="none" cap="none" strike="noStrike">
              <a:solidFill>
                <a:srgbClr val="000000"/>
              </a:solidFill>
              <a:latin typeface="Arial"/>
              <a:ea typeface="Arial"/>
              <a:cs typeface="Arial"/>
              <a:sym typeface="Arial"/>
            </a:endParaRPr>
          </a:p>
        </p:txBody>
      </p:sp>
      <p:sp>
        <p:nvSpPr>
          <p:cNvPr id="273" name="Google Shape;273;p14"/>
          <p:cNvSpPr/>
          <p:nvPr/>
        </p:nvSpPr>
        <p:spPr>
          <a:xfrm>
            <a:off x="365760" y="1627560"/>
            <a:ext cx="4160160" cy="157248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14"/>
          <p:cNvSpPr/>
          <p:nvPr/>
        </p:nvSpPr>
        <p:spPr>
          <a:xfrm>
            <a:off x="365760" y="1627560"/>
            <a:ext cx="914040" cy="292320"/>
          </a:xfrm>
          <a:prstGeom prst="rect">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4"/>
          <p:cNvSpPr/>
          <p:nvPr/>
        </p:nvSpPr>
        <p:spPr>
          <a:xfrm>
            <a:off x="365760" y="1627560"/>
            <a:ext cx="914040" cy="292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CRITICAL</a:t>
            </a:r>
            <a:endParaRPr b="0" i="0" sz="800" u="none" cap="none" strike="noStrike">
              <a:solidFill>
                <a:srgbClr val="000000"/>
              </a:solidFill>
              <a:latin typeface="Arial"/>
              <a:ea typeface="Arial"/>
              <a:cs typeface="Arial"/>
              <a:sym typeface="Arial"/>
            </a:endParaRPr>
          </a:p>
        </p:txBody>
      </p:sp>
      <p:sp>
        <p:nvSpPr>
          <p:cNvPr id="276" name="Google Shape;276;p14"/>
          <p:cNvSpPr/>
          <p:nvPr/>
        </p:nvSpPr>
        <p:spPr>
          <a:xfrm>
            <a:off x="1367216" y="1627560"/>
            <a:ext cx="1279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900" u="none" cap="none" strike="noStrike">
                <a:solidFill>
                  <a:srgbClr val="B32424"/>
                </a:solidFill>
                <a:latin typeface="Consolas"/>
                <a:ea typeface="Consolas"/>
                <a:cs typeface="Consolas"/>
                <a:sym typeface="Consolas"/>
              </a:rPr>
              <a:t>P-DISCR-001</a:t>
            </a:r>
            <a:endParaRPr b="0" i="0" sz="900" u="none" cap="none" strike="noStrike">
              <a:solidFill>
                <a:srgbClr val="000000"/>
              </a:solidFill>
              <a:latin typeface="Arial"/>
              <a:ea typeface="Arial"/>
              <a:cs typeface="Arial"/>
              <a:sym typeface="Arial"/>
            </a:endParaRPr>
          </a:p>
        </p:txBody>
      </p:sp>
      <p:sp>
        <p:nvSpPr>
          <p:cNvPr id="277" name="Google Shape;277;p14"/>
          <p:cNvSpPr/>
          <p:nvPr/>
        </p:nvSpPr>
        <p:spPr>
          <a:xfrm>
            <a:off x="457200" y="1974960"/>
            <a:ext cx="39315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D2D44"/>
                </a:solidFill>
                <a:latin typeface="Trebuchet MS"/>
                <a:ea typeface="Trebuchet MS"/>
                <a:cs typeface="Trebuchet MS"/>
                <a:sym typeface="Trebuchet MS"/>
              </a:rPr>
              <a:t>Discriminatory Proxies</a:t>
            </a:r>
            <a:endParaRPr b="0" i="0" sz="1300" u="none" cap="none" strike="noStrike">
              <a:solidFill>
                <a:srgbClr val="000000"/>
              </a:solidFill>
              <a:latin typeface="Arial"/>
              <a:ea typeface="Arial"/>
              <a:cs typeface="Arial"/>
              <a:sym typeface="Arial"/>
            </a:endParaRPr>
          </a:p>
        </p:txBody>
      </p:sp>
      <p:sp>
        <p:nvSpPr>
          <p:cNvPr id="278" name="Google Shape;278;p14"/>
          <p:cNvSpPr/>
          <p:nvPr/>
        </p:nvSpPr>
        <p:spPr>
          <a:xfrm>
            <a:off x="457200" y="2313360"/>
            <a:ext cx="3931560" cy="804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Forbidden: ageRangeMin/Max, genderPreference, nationalityReq</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in offers. Regulation: D.Lgs. 198/2006, EU Dir. 2000/78/EC.</a:t>
            </a:r>
            <a:endParaRPr b="0" i="0" sz="1000" u="none" cap="none" strike="noStrike">
              <a:solidFill>
                <a:srgbClr val="000000"/>
              </a:solidFill>
              <a:latin typeface="Arial"/>
              <a:ea typeface="Arial"/>
              <a:cs typeface="Arial"/>
              <a:sym typeface="Arial"/>
            </a:endParaRPr>
          </a:p>
        </p:txBody>
      </p:sp>
      <p:sp>
        <p:nvSpPr>
          <p:cNvPr id="279" name="Google Shape;279;p14"/>
          <p:cNvSpPr/>
          <p:nvPr/>
        </p:nvSpPr>
        <p:spPr>
          <a:xfrm>
            <a:off x="365760" y="3319200"/>
            <a:ext cx="4160160" cy="157248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0" name="Google Shape;280;p14"/>
          <p:cNvSpPr/>
          <p:nvPr/>
        </p:nvSpPr>
        <p:spPr>
          <a:xfrm>
            <a:off x="365760" y="3319200"/>
            <a:ext cx="914040" cy="292320"/>
          </a:xfrm>
          <a:prstGeom prst="rect">
            <a:avLst/>
          </a:prstGeom>
          <a:solidFill>
            <a:srgbClr val="C25A00"/>
          </a:solidFill>
          <a:ln cap="flat" cmpd="sng" w="12700">
            <a:solidFill>
              <a:srgbClr val="C25A0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14"/>
          <p:cNvSpPr/>
          <p:nvPr/>
        </p:nvSpPr>
        <p:spPr>
          <a:xfrm>
            <a:off x="365760" y="3319200"/>
            <a:ext cx="914040" cy="292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HIGH</a:t>
            </a:r>
            <a:endParaRPr b="0" i="0" sz="800" u="none" cap="none" strike="noStrike">
              <a:solidFill>
                <a:srgbClr val="000000"/>
              </a:solidFill>
              <a:latin typeface="Arial"/>
              <a:ea typeface="Arial"/>
              <a:cs typeface="Arial"/>
              <a:sym typeface="Arial"/>
            </a:endParaRPr>
          </a:p>
        </p:txBody>
      </p:sp>
      <p:sp>
        <p:nvSpPr>
          <p:cNvPr id="282" name="Google Shape;282;p14"/>
          <p:cNvSpPr/>
          <p:nvPr/>
        </p:nvSpPr>
        <p:spPr>
          <a:xfrm>
            <a:off x="1367216" y="3319200"/>
            <a:ext cx="1279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900" u="none" cap="none" strike="noStrike">
                <a:solidFill>
                  <a:srgbClr val="C25A00"/>
                </a:solidFill>
                <a:latin typeface="Consolas"/>
                <a:ea typeface="Consolas"/>
                <a:cs typeface="Consolas"/>
                <a:sym typeface="Consolas"/>
              </a:rPr>
              <a:t>P-PROV-002</a:t>
            </a:r>
            <a:endParaRPr b="0" i="0" sz="900" u="none" cap="none" strike="noStrike">
              <a:solidFill>
                <a:srgbClr val="000000"/>
              </a:solidFill>
              <a:latin typeface="Arial"/>
              <a:ea typeface="Arial"/>
              <a:cs typeface="Arial"/>
              <a:sym typeface="Arial"/>
            </a:endParaRPr>
          </a:p>
        </p:txBody>
      </p:sp>
      <p:sp>
        <p:nvSpPr>
          <p:cNvPr id="283" name="Google Shape;283;p14"/>
          <p:cNvSpPr/>
          <p:nvPr/>
        </p:nvSpPr>
        <p:spPr>
          <a:xfrm>
            <a:off x="457200" y="3666600"/>
            <a:ext cx="39315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D2D44"/>
                </a:solidFill>
                <a:latin typeface="Trebuchet MS"/>
                <a:ea typeface="Trebuchet MS"/>
                <a:cs typeface="Trebuchet MS"/>
                <a:sym typeface="Trebuchet MS"/>
              </a:rPr>
              <a:t>Provenance &amp; Data Quality</a:t>
            </a:r>
            <a:endParaRPr b="0" i="0" sz="1300" u="none" cap="none" strike="noStrike">
              <a:solidFill>
                <a:srgbClr val="000000"/>
              </a:solidFill>
              <a:latin typeface="Arial"/>
              <a:ea typeface="Arial"/>
              <a:cs typeface="Arial"/>
              <a:sym typeface="Arial"/>
            </a:endParaRPr>
          </a:p>
        </p:txBody>
      </p:sp>
      <p:sp>
        <p:nvSpPr>
          <p:cNvPr id="284" name="Google Shape;284;p14"/>
          <p:cNvSpPr/>
          <p:nvPr/>
        </p:nvSpPr>
        <p:spPr>
          <a:xfrm>
            <a:off x="457200" y="4005000"/>
            <a:ext cx="3931560" cy="804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Only trusted sources (company-portal, synthetic).</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If source = third-party-scraper / unknown → ESCALATE.</a:t>
            </a:r>
            <a:endParaRPr b="0" i="0" sz="1000" u="none" cap="none" strike="noStrike">
              <a:solidFill>
                <a:srgbClr val="000000"/>
              </a:solidFill>
              <a:latin typeface="Arial"/>
              <a:ea typeface="Arial"/>
              <a:cs typeface="Arial"/>
              <a:sym typeface="Arial"/>
            </a:endParaRPr>
          </a:p>
        </p:txBody>
      </p:sp>
      <p:sp>
        <p:nvSpPr>
          <p:cNvPr id="285" name="Google Shape;285;p14"/>
          <p:cNvSpPr/>
          <p:nvPr/>
        </p:nvSpPr>
        <p:spPr>
          <a:xfrm>
            <a:off x="4709160" y="1627560"/>
            <a:ext cx="4160160" cy="157248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6" name="Google Shape;286;p14"/>
          <p:cNvSpPr/>
          <p:nvPr/>
        </p:nvSpPr>
        <p:spPr>
          <a:xfrm>
            <a:off x="4709160" y="1627560"/>
            <a:ext cx="914040" cy="292320"/>
          </a:xfrm>
          <a:prstGeom prst="rect">
            <a:avLst/>
          </a:prstGeom>
          <a:solidFill>
            <a:srgbClr val="D8A01A"/>
          </a:solidFill>
          <a:ln cap="flat" cmpd="sng" w="12700">
            <a:solidFill>
              <a:srgbClr val="D8A01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4"/>
          <p:cNvSpPr/>
          <p:nvPr/>
        </p:nvSpPr>
        <p:spPr>
          <a:xfrm>
            <a:off x="4709160" y="1627560"/>
            <a:ext cx="914040" cy="292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MEDIUM</a:t>
            </a:r>
            <a:endParaRPr b="0" i="0" sz="800" u="none" cap="none" strike="noStrike">
              <a:solidFill>
                <a:srgbClr val="000000"/>
              </a:solidFill>
              <a:latin typeface="Arial"/>
              <a:ea typeface="Arial"/>
              <a:cs typeface="Arial"/>
              <a:sym typeface="Arial"/>
            </a:endParaRPr>
          </a:p>
        </p:txBody>
      </p:sp>
      <p:sp>
        <p:nvSpPr>
          <p:cNvPr id="288" name="Google Shape;288;p14"/>
          <p:cNvSpPr/>
          <p:nvPr/>
        </p:nvSpPr>
        <p:spPr>
          <a:xfrm>
            <a:off x="5734102" y="1627560"/>
            <a:ext cx="1279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900" u="none" cap="none" strike="noStrike">
                <a:solidFill>
                  <a:srgbClr val="D8A01A"/>
                </a:solidFill>
                <a:latin typeface="Consolas"/>
                <a:ea typeface="Consolas"/>
                <a:cs typeface="Consolas"/>
                <a:sym typeface="Consolas"/>
              </a:rPr>
              <a:t>P-ACC-003</a:t>
            </a:r>
            <a:endParaRPr b="0" i="0" sz="900" u="none" cap="none" strike="noStrike">
              <a:solidFill>
                <a:srgbClr val="000000"/>
              </a:solidFill>
              <a:latin typeface="Arial"/>
              <a:ea typeface="Arial"/>
              <a:cs typeface="Arial"/>
              <a:sym typeface="Arial"/>
            </a:endParaRPr>
          </a:p>
        </p:txBody>
      </p:sp>
      <p:sp>
        <p:nvSpPr>
          <p:cNvPr id="289" name="Google Shape;289;p14"/>
          <p:cNvSpPr/>
          <p:nvPr/>
        </p:nvSpPr>
        <p:spPr>
          <a:xfrm>
            <a:off x="4800600" y="1974960"/>
            <a:ext cx="39315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D2D44"/>
                </a:solidFill>
                <a:latin typeface="Trebuchet MS"/>
                <a:ea typeface="Trebuchet MS"/>
                <a:cs typeface="Trebuchet MS"/>
                <a:sym typeface="Trebuchet MS"/>
              </a:rPr>
              <a:t>Accessibility &amp; Disability</a:t>
            </a:r>
            <a:endParaRPr b="0" i="0" sz="1300" u="none" cap="none" strike="noStrike">
              <a:solidFill>
                <a:srgbClr val="000000"/>
              </a:solidFill>
              <a:latin typeface="Arial"/>
              <a:ea typeface="Arial"/>
              <a:cs typeface="Arial"/>
              <a:sym typeface="Arial"/>
            </a:endParaRPr>
          </a:p>
        </p:txBody>
      </p:sp>
      <p:sp>
        <p:nvSpPr>
          <p:cNvPr id="290" name="Google Shape;290;p14"/>
          <p:cNvSpPr/>
          <p:nvPr/>
        </p:nvSpPr>
        <p:spPr>
          <a:xfrm>
            <a:off x="4800600" y="2313360"/>
            <a:ext cx="3931560" cy="804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If the candidate has a disability, the offer must be</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flagged disabilityFriendly. Otherwise → REVISE.</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Regulation: UN CRPD Art.27, L. 68/1999.</a:t>
            </a:r>
            <a:endParaRPr b="0" i="0" sz="1000" u="none" cap="none" strike="noStrike">
              <a:solidFill>
                <a:srgbClr val="000000"/>
              </a:solidFill>
              <a:latin typeface="Arial"/>
              <a:ea typeface="Arial"/>
              <a:cs typeface="Arial"/>
              <a:sym typeface="Arial"/>
            </a:endParaRPr>
          </a:p>
        </p:txBody>
      </p:sp>
      <p:sp>
        <p:nvSpPr>
          <p:cNvPr id="291" name="Google Shape;291;p14"/>
          <p:cNvSpPr/>
          <p:nvPr/>
        </p:nvSpPr>
        <p:spPr>
          <a:xfrm>
            <a:off x="4709160" y="3319200"/>
            <a:ext cx="4160160" cy="157248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2" name="Google Shape;292;p14"/>
          <p:cNvSpPr/>
          <p:nvPr/>
        </p:nvSpPr>
        <p:spPr>
          <a:xfrm>
            <a:off x="4709160" y="3319200"/>
            <a:ext cx="914040" cy="29232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3" name="Google Shape;293;p14"/>
          <p:cNvSpPr/>
          <p:nvPr/>
        </p:nvSpPr>
        <p:spPr>
          <a:xfrm>
            <a:off x="4709160" y="3319200"/>
            <a:ext cx="914040" cy="292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LOW</a:t>
            </a:r>
            <a:endParaRPr b="0" i="0" sz="800" u="none" cap="none" strike="noStrike">
              <a:solidFill>
                <a:srgbClr val="000000"/>
              </a:solidFill>
              <a:latin typeface="Arial"/>
              <a:ea typeface="Arial"/>
              <a:cs typeface="Arial"/>
              <a:sym typeface="Arial"/>
            </a:endParaRPr>
          </a:p>
        </p:txBody>
      </p:sp>
      <p:sp>
        <p:nvSpPr>
          <p:cNvPr id="294" name="Google Shape;294;p14"/>
          <p:cNvSpPr/>
          <p:nvPr/>
        </p:nvSpPr>
        <p:spPr>
          <a:xfrm>
            <a:off x="5734102" y="3319200"/>
            <a:ext cx="1279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900" u="none" cap="none" strike="noStrike">
                <a:solidFill>
                  <a:srgbClr val="2C5FDC"/>
                </a:solidFill>
                <a:latin typeface="Consolas"/>
                <a:ea typeface="Consolas"/>
                <a:cs typeface="Consolas"/>
                <a:sym typeface="Consolas"/>
              </a:rPr>
              <a:t>P-TRANS-004</a:t>
            </a:r>
            <a:endParaRPr b="0" i="0" sz="900" u="none" cap="none" strike="noStrike">
              <a:solidFill>
                <a:srgbClr val="000000"/>
              </a:solidFill>
              <a:latin typeface="Arial"/>
              <a:ea typeface="Arial"/>
              <a:cs typeface="Arial"/>
              <a:sym typeface="Arial"/>
            </a:endParaRPr>
          </a:p>
        </p:txBody>
      </p:sp>
      <p:sp>
        <p:nvSpPr>
          <p:cNvPr id="295" name="Google Shape;295;p14"/>
          <p:cNvSpPr/>
          <p:nvPr/>
        </p:nvSpPr>
        <p:spPr>
          <a:xfrm>
            <a:off x="4800600" y="3666600"/>
            <a:ext cx="393156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1D2D44"/>
                </a:solidFill>
                <a:latin typeface="Trebuchet MS"/>
                <a:ea typeface="Trebuchet MS"/>
                <a:cs typeface="Trebuchet MS"/>
                <a:sym typeface="Trebuchet MS"/>
              </a:rPr>
              <a:t>Transparency &amp; Purpose</a:t>
            </a:r>
            <a:endParaRPr b="0" i="0" sz="1300" u="none" cap="none" strike="noStrike">
              <a:solidFill>
                <a:srgbClr val="000000"/>
              </a:solidFill>
              <a:latin typeface="Arial"/>
              <a:ea typeface="Arial"/>
              <a:cs typeface="Arial"/>
              <a:sym typeface="Arial"/>
            </a:endParaRPr>
          </a:p>
        </p:txBody>
      </p:sp>
      <p:sp>
        <p:nvSpPr>
          <p:cNvPr id="296" name="Google Shape;296;p14"/>
          <p:cNvSpPr/>
          <p:nvPr/>
        </p:nvSpPr>
        <p:spPr>
          <a:xfrm>
            <a:off x="4800600" y="4005000"/>
            <a:ext cx="3931560" cy="804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Requester and purpose must be declared.</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Without them the recommendation is not transparent.</a:t>
            </a:r>
            <a:endParaRPr b="0" i="0" sz="1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Regulation: GDPR Art.13/22.</a:t>
            </a:r>
            <a:endParaRPr b="0" i="0" sz="10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5"/>
          <p:cNvSpPr/>
          <p:nvPr/>
        </p:nvSpPr>
        <p:spPr>
          <a:xfrm>
            <a:off x="365760" y="201240"/>
            <a:ext cx="1737000" cy="255600"/>
          </a:xfrm>
          <a:prstGeom prst="roundRect">
            <a:avLst>
              <a:gd fmla="val 14286" name="adj"/>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5"/>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800" u="none" cap="none" strike="noStrike">
                <a:solidFill>
                  <a:srgbClr val="FFFFFF"/>
                </a:solidFill>
                <a:latin typeface="Calibri"/>
                <a:ea typeface="Calibri"/>
                <a:cs typeface="Calibri"/>
                <a:sym typeface="Calibri"/>
              </a:rPr>
              <a:t>RDF DATASET</a:t>
            </a:r>
            <a:endParaRPr b="0" i="0" sz="800" u="none" cap="none" strike="noStrike">
              <a:solidFill>
                <a:srgbClr val="000000"/>
              </a:solidFill>
              <a:latin typeface="Arial"/>
              <a:ea typeface="Arial"/>
              <a:cs typeface="Arial"/>
              <a:sym typeface="Arial"/>
            </a:endParaRPr>
          </a:p>
        </p:txBody>
      </p:sp>
      <p:sp>
        <p:nvSpPr>
          <p:cNvPr id="304" name="Google Shape;304;p15"/>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2600" u="none" cap="none" strike="noStrike">
                <a:solidFill>
                  <a:srgbClr val="1D2D44"/>
                </a:solidFill>
                <a:latin typeface="Trebuchet MS"/>
                <a:ea typeface="Trebuchet MS"/>
                <a:cs typeface="Trebuchet MS"/>
                <a:sym typeface="Trebuchet MS"/>
              </a:rPr>
              <a:t>Discriminatory Proxies in the Dataset</a:t>
            </a:r>
            <a:endParaRPr b="0" i="0" sz="2600" u="none" cap="none" strike="noStrike">
              <a:solidFill>
                <a:srgbClr val="000000"/>
              </a:solidFill>
              <a:latin typeface="Arial"/>
              <a:ea typeface="Arial"/>
              <a:cs typeface="Arial"/>
              <a:sym typeface="Arial"/>
            </a:endParaRPr>
          </a:p>
        </p:txBody>
      </p:sp>
      <p:sp>
        <p:nvSpPr>
          <p:cNvPr id="305" name="Google Shape;305;p15"/>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6" name="Google Shape;306;p15"/>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i="0" lang="en-US" sz="900" u="none" cap="none" strike="noStrike">
                <a:solidFill>
                  <a:srgbClr val="6B7280"/>
                </a:solidFill>
                <a:latin typeface="Calibri"/>
                <a:ea typeface="Calibri"/>
                <a:cs typeface="Calibri"/>
                <a:sym typeface="Calibri"/>
              </a:rPr>
              <a:t>7</a:t>
            </a:r>
            <a:endParaRPr b="0" i="0" sz="900" u="none" cap="none" strike="noStrike">
              <a:solidFill>
                <a:srgbClr val="000000"/>
              </a:solidFill>
              <a:latin typeface="Arial"/>
              <a:ea typeface="Arial"/>
              <a:cs typeface="Arial"/>
              <a:sym typeface="Arial"/>
            </a:endParaRPr>
          </a:p>
        </p:txBody>
      </p:sp>
      <p:sp>
        <p:nvSpPr>
          <p:cNvPr id="307" name="Google Shape;307;p15"/>
          <p:cNvSpPr/>
          <p:nvPr/>
        </p:nvSpPr>
        <p:spPr>
          <a:xfrm>
            <a:off x="365760" y="1280160"/>
            <a:ext cx="8412120" cy="319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100" u="none" cap="none" strike="noStrike">
                <a:solidFill>
                  <a:srgbClr val="6B7280"/>
                </a:solidFill>
                <a:latin typeface="Calibri"/>
                <a:ea typeface="Calibri"/>
                <a:cs typeface="Calibri"/>
                <a:sym typeface="Calibri"/>
              </a:rPr>
              <a:t>Some offers intentionally contain problematic fields — designed to exercise EaaS policies</a:t>
            </a:r>
            <a:endParaRPr b="0" i="0" sz="1100" u="none" cap="none" strike="noStrike">
              <a:solidFill>
                <a:srgbClr val="000000"/>
              </a:solidFill>
              <a:latin typeface="Arial"/>
              <a:ea typeface="Arial"/>
              <a:cs typeface="Arial"/>
              <a:sym typeface="Arial"/>
            </a:endParaRPr>
          </a:p>
        </p:txBody>
      </p:sp>
      <p:sp>
        <p:nvSpPr>
          <p:cNvPr id="308" name="Google Shape;308;p15"/>
          <p:cNvSpPr/>
          <p:nvPr/>
        </p:nvSpPr>
        <p:spPr>
          <a:xfrm>
            <a:off x="365760" y="1719000"/>
            <a:ext cx="1005480" cy="347040"/>
          </a:xfrm>
          <a:prstGeom prst="rect">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9" name="Google Shape;309;p15"/>
          <p:cNvSpPr/>
          <p:nvPr/>
        </p:nvSpPr>
        <p:spPr>
          <a:xfrm>
            <a:off x="365760" y="1719000"/>
            <a:ext cx="100548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FFFFFF"/>
                </a:solidFill>
                <a:latin typeface="Calibri"/>
                <a:ea typeface="Calibri"/>
                <a:cs typeface="Calibri"/>
                <a:sym typeface="Calibri"/>
              </a:rPr>
              <a:t>Offer ID</a:t>
            </a:r>
            <a:endParaRPr b="0" i="0" sz="1000" u="none" cap="none" strike="noStrike">
              <a:solidFill>
                <a:srgbClr val="000000"/>
              </a:solidFill>
              <a:latin typeface="Arial"/>
              <a:ea typeface="Arial"/>
              <a:cs typeface="Arial"/>
              <a:sym typeface="Arial"/>
            </a:endParaRPr>
          </a:p>
        </p:txBody>
      </p:sp>
      <p:sp>
        <p:nvSpPr>
          <p:cNvPr id="310" name="Google Shape;310;p15"/>
          <p:cNvSpPr/>
          <p:nvPr/>
        </p:nvSpPr>
        <p:spPr>
          <a:xfrm>
            <a:off x="1371600" y="1719000"/>
            <a:ext cx="1919880" cy="347040"/>
          </a:xfrm>
          <a:prstGeom prst="rect">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1" name="Google Shape;311;p15"/>
          <p:cNvSpPr/>
          <p:nvPr/>
        </p:nvSpPr>
        <p:spPr>
          <a:xfrm>
            <a:off x="1371600" y="1719000"/>
            <a:ext cx="191988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FFFFFF"/>
                </a:solidFill>
                <a:latin typeface="Calibri"/>
                <a:ea typeface="Calibri"/>
                <a:cs typeface="Calibri"/>
                <a:sym typeface="Calibri"/>
              </a:rPr>
              <a:t>Title</a:t>
            </a:r>
            <a:endParaRPr b="0" i="0" sz="1000" u="none" cap="none" strike="noStrike">
              <a:solidFill>
                <a:srgbClr val="000000"/>
              </a:solidFill>
              <a:latin typeface="Arial"/>
              <a:ea typeface="Arial"/>
              <a:cs typeface="Arial"/>
              <a:sym typeface="Arial"/>
            </a:endParaRPr>
          </a:p>
        </p:txBody>
      </p:sp>
      <p:sp>
        <p:nvSpPr>
          <p:cNvPr id="312" name="Google Shape;312;p15"/>
          <p:cNvSpPr/>
          <p:nvPr/>
        </p:nvSpPr>
        <p:spPr>
          <a:xfrm>
            <a:off x="3291840" y="1719000"/>
            <a:ext cx="2834280" cy="347040"/>
          </a:xfrm>
          <a:prstGeom prst="rect">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5"/>
          <p:cNvSpPr/>
          <p:nvPr/>
        </p:nvSpPr>
        <p:spPr>
          <a:xfrm>
            <a:off x="3291840" y="1719000"/>
            <a:ext cx="283428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FFFFFF"/>
                </a:solidFill>
                <a:latin typeface="Calibri"/>
                <a:ea typeface="Calibri"/>
                <a:cs typeface="Calibri"/>
                <a:sym typeface="Calibri"/>
              </a:rPr>
              <a:t>Problematic field</a:t>
            </a:r>
            <a:endParaRPr b="0" i="0" sz="1000" u="none" cap="none" strike="noStrike">
              <a:solidFill>
                <a:srgbClr val="000000"/>
              </a:solidFill>
              <a:latin typeface="Arial"/>
              <a:ea typeface="Arial"/>
              <a:cs typeface="Arial"/>
              <a:sym typeface="Arial"/>
            </a:endParaRPr>
          </a:p>
        </p:txBody>
      </p:sp>
      <p:sp>
        <p:nvSpPr>
          <p:cNvPr id="314" name="Google Shape;314;p15"/>
          <p:cNvSpPr/>
          <p:nvPr/>
        </p:nvSpPr>
        <p:spPr>
          <a:xfrm>
            <a:off x="6126480" y="1719000"/>
            <a:ext cx="2468520" cy="347040"/>
          </a:xfrm>
          <a:prstGeom prst="rect">
            <a:avLst/>
          </a:prstGeom>
          <a:solidFill>
            <a:srgbClr val="1D2D44"/>
          </a:solidFill>
          <a:ln cap="flat" cmpd="sng" w="12700">
            <a:solidFill>
              <a:srgbClr val="1D2D4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5" name="Google Shape;315;p15"/>
          <p:cNvSpPr/>
          <p:nvPr/>
        </p:nvSpPr>
        <p:spPr>
          <a:xfrm>
            <a:off x="6126480" y="1719000"/>
            <a:ext cx="24685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FFFFFF"/>
                </a:solidFill>
                <a:latin typeface="Calibri"/>
                <a:ea typeface="Calibri"/>
                <a:cs typeface="Calibri"/>
                <a:sym typeface="Calibri"/>
              </a:rPr>
              <a:t>Violation type</a:t>
            </a:r>
            <a:endParaRPr b="0" i="0" sz="1000" u="none" cap="none" strike="noStrike">
              <a:solidFill>
                <a:srgbClr val="000000"/>
              </a:solidFill>
              <a:latin typeface="Arial"/>
              <a:ea typeface="Arial"/>
              <a:cs typeface="Arial"/>
              <a:sym typeface="Arial"/>
            </a:endParaRPr>
          </a:p>
        </p:txBody>
      </p:sp>
      <p:sp>
        <p:nvSpPr>
          <p:cNvPr id="316" name="Google Shape;316;p15"/>
          <p:cNvSpPr/>
          <p:nvPr/>
        </p:nvSpPr>
        <p:spPr>
          <a:xfrm>
            <a:off x="365760" y="2103120"/>
            <a:ext cx="10054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15"/>
          <p:cNvSpPr/>
          <p:nvPr/>
        </p:nvSpPr>
        <p:spPr>
          <a:xfrm>
            <a:off x="411480" y="2103120"/>
            <a:ext cx="9140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job-003</a:t>
            </a:r>
            <a:endParaRPr b="0" i="0" sz="1000" u="none" cap="none" strike="noStrike">
              <a:solidFill>
                <a:srgbClr val="000000"/>
              </a:solidFill>
              <a:latin typeface="Arial"/>
              <a:ea typeface="Arial"/>
              <a:cs typeface="Arial"/>
              <a:sym typeface="Arial"/>
            </a:endParaRPr>
          </a:p>
        </p:txBody>
      </p:sp>
      <p:sp>
        <p:nvSpPr>
          <p:cNvPr id="318" name="Google Shape;318;p15"/>
          <p:cNvSpPr/>
          <p:nvPr/>
        </p:nvSpPr>
        <p:spPr>
          <a:xfrm>
            <a:off x="1371600" y="2103120"/>
            <a:ext cx="19198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15"/>
          <p:cNvSpPr/>
          <p:nvPr/>
        </p:nvSpPr>
        <p:spPr>
          <a:xfrm>
            <a:off x="1417320" y="2103120"/>
            <a:ext cx="18284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Junior Frontend Dev</a:t>
            </a:r>
            <a:endParaRPr b="0" i="0" sz="1000" u="none" cap="none" strike="noStrike">
              <a:solidFill>
                <a:srgbClr val="000000"/>
              </a:solidFill>
              <a:latin typeface="Arial"/>
              <a:ea typeface="Arial"/>
              <a:cs typeface="Arial"/>
              <a:sym typeface="Arial"/>
            </a:endParaRPr>
          </a:p>
        </p:txBody>
      </p:sp>
      <p:sp>
        <p:nvSpPr>
          <p:cNvPr id="320" name="Google Shape;320;p15"/>
          <p:cNvSpPr/>
          <p:nvPr/>
        </p:nvSpPr>
        <p:spPr>
          <a:xfrm>
            <a:off x="3291840" y="2103120"/>
            <a:ext cx="28342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1" name="Google Shape;321;p15"/>
          <p:cNvSpPr/>
          <p:nvPr/>
        </p:nvSpPr>
        <p:spPr>
          <a:xfrm>
            <a:off x="3337560" y="2103120"/>
            <a:ext cx="27428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onsolas"/>
                <a:ea typeface="Consolas"/>
                <a:cs typeface="Consolas"/>
                <a:sym typeface="Consolas"/>
              </a:rPr>
              <a:t>emp:ageRangeMax = 30</a:t>
            </a:r>
            <a:endParaRPr b="0" i="0" sz="1000" u="none" cap="none" strike="noStrike">
              <a:solidFill>
                <a:srgbClr val="000000"/>
              </a:solidFill>
              <a:latin typeface="Arial"/>
              <a:ea typeface="Arial"/>
              <a:cs typeface="Arial"/>
              <a:sym typeface="Arial"/>
            </a:endParaRPr>
          </a:p>
        </p:txBody>
      </p:sp>
      <p:sp>
        <p:nvSpPr>
          <p:cNvPr id="322" name="Google Shape;322;p15"/>
          <p:cNvSpPr/>
          <p:nvPr/>
        </p:nvSpPr>
        <p:spPr>
          <a:xfrm>
            <a:off x="6126480" y="2103120"/>
            <a:ext cx="246852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3" name="Google Shape;323;p15"/>
          <p:cNvSpPr/>
          <p:nvPr/>
        </p:nvSpPr>
        <p:spPr>
          <a:xfrm>
            <a:off x="6172200" y="2103120"/>
            <a:ext cx="237708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B32424"/>
                </a:solidFill>
                <a:latin typeface="Calibri"/>
                <a:ea typeface="Calibri"/>
                <a:cs typeface="Calibri"/>
                <a:sym typeface="Calibri"/>
              </a:rPr>
              <a:t>Ageism</a:t>
            </a:r>
            <a:endParaRPr b="0" i="0" sz="1000" u="none" cap="none" strike="noStrike">
              <a:solidFill>
                <a:srgbClr val="000000"/>
              </a:solidFill>
              <a:latin typeface="Arial"/>
              <a:ea typeface="Arial"/>
              <a:cs typeface="Arial"/>
              <a:sym typeface="Arial"/>
            </a:endParaRPr>
          </a:p>
        </p:txBody>
      </p:sp>
      <p:sp>
        <p:nvSpPr>
          <p:cNvPr id="324" name="Google Shape;324;p15"/>
          <p:cNvSpPr/>
          <p:nvPr/>
        </p:nvSpPr>
        <p:spPr>
          <a:xfrm>
            <a:off x="365760" y="2578680"/>
            <a:ext cx="10054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5"/>
          <p:cNvSpPr/>
          <p:nvPr/>
        </p:nvSpPr>
        <p:spPr>
          <a:xfrm>
            <a:off x="411480" y="2578680"/>
            <a:ext cx="9140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job-004</a:t>
            </a:r>
            <a:endParaRPr b="0" i="0" sz="1000" u="none" cap="none" strike="noStrike">
              <a:solidFill>
                <a:srgbClr val="000000"/>
              </a:solidFill>
              <a:latin typeface="Arial"/>
              <a:ea typeface="Arial"/>
              <a:cs typeface="Arial"/>
              <a:sym typeface="Arial"/>
            </a:endParaRPr>
          </a:p>
        </p:txBody>
      </p:sp>
      <p:sp>
        <p:nvSpPr>
          <p:cNvPr id="326" name="Google Shape;326;p15"/>
          <p:cNvSpPr/>
          <p:nvPr/>
        </p:nvSpPr>
        <p:spPr>
          <a:xfrm>
            <a:off x="1371600" y="2578680"/>
            <a:ext cx="19198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15"/>
          <p:cNvSpPr/>
          <p:nvPr/>
        </p:nvSpPr>
        <p:spPr>
          <a:xfrm>
            <a:off x="1417320" y="2578680"/>
            <a:ext cx="18284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Logistics Manager</a:t>
            </a:r>
            <a:endParaRPr b="0" i="0" sz="1000" u="none" cap="none" strike="noStrike">
              <a:solidFill>
                <a:srgbClr val="000000"/>
              </a:solidFill>
              <a:latin typeface="Arial"/>
              <a:ea typeface="Arial"/>
              <a:cs typeface="Arial"/>
              <a:sym typeface="Arial"/>
            </a:endParaRPr>
          </a:p>
        </p:txBody>
      </p:sp>
      <p:sp>
        <p:nvSpPr>
          <p:cNvPr id="328" name="Google Shape;328;p15"/>
          <p:cNvSpPr/>
          <p:nvPr/>
        </p:nvSpPr>
        <p:spPr>
          <a:xfrm>
            <a:off x="3291840" y="2578680"/>
            <a:ext cx="28342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5"/>
          <p:cNvSpPr/>
          <p:nvPr/>
        </p:nvSpPr>
        <p:spPr>
          <a:xfrm>
            <a:off x="3337560" y="2578680"/>
            <a:ext cx="27428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onsolas"/>
                <a:ea typeface="Consolas"/>
                <a:cs typeface="Consolas"/>
                <a:sym typeface="Consolas"/>
              </a:rPr>
              <a:t>emp:genderPreference = male</a:t>
            </a:r>
            <a:endParaRPr b="0" i="0" sz="1000" u="none" cap="none" strike="noStrike">
              <a:solidFill>
                <a:srgbClr val="000000"/>
              </a:solidFill>
              <a:latin typeface="Arial"/>
              <a:ea typeface="Arial"/>
              <a:cs typeface="Arial"/>
              <a:sym typeface="Arial"/>
            </a:endParaRPr>
          </a:p>
        </p:txBody>
      </p:sp>
      <p:sp>
        <p:nvSpPr>
          <p:cNvPr id="330" name="Google Shape;330;p15"/>
          <p:cNvSpPr/>
          <p:nvPr/>
        </p:nvSpPr>
        <p:spPr>
          <a:xfrm>
            <a:off x="6126480" y="2578680"/>
            <a:ext cx="246852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15"/>
          <p:cNvSpPr/>
          <p:nvPr/>
        </p:nvSpPr>
        <p:spPr>
          <a:xfrm>
            <a:off x="6172200" y="2578680"/>
            <a:ext cx="237708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B32424"/>
                </a:solidFill>
                <a:latin typeface="Calibri"/>
                <a:ea typeface="Calibri"/>
                <a:cs typeface="Calibri"/>
                <a:sym typeface="Calibri"/>
              </a:rPr>
              <a:t>Gender discrimination</a:t>
            </a:r>
            <a:endParaRPr b="0" i="0" sz="1000" u="none" cap="none" strike="noStrike">
              <a:solidFill>
                <a:srgbClr val="000000"/>
              </a:solidFill>
              <a:latin typeface="Arial"/>
              <a:ea typeface="Arial"/>
              <a:cs typeface="Arial"/>
              <a:sym typeface="Arial"/>
            </a:endParaRPr>
          </a:p>
        </p:txBody>
      </p:sp>
      <p:sp>
        <p:nvSpPr>
          <p:cNvPr id="332" name="Google Shape;332;p15"/>
          <p:cNvSpPr/>
          <p:nvPr/>
        </p:nvSpPr>
        <p:spPr>
          <a:xfrm>
            <a:off x="365760" y="3054240"/>
            <a:ext cx="10054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3" name="Google Shape;333;p15"/>
          <p:cNvSpPr/>
          <p:nvPr/>
        </p:nvSpPr>
        <p:spPr>
          <a:xfrm>
            <a:off x="411480" y="3054240"/>
            <a:ext cx="9140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job-008</a:t>
            </a:r>
            <a:endParaRPr b="0" i="0" sz="1000" u="none" cap="none" strike="noStrike">
              <a:solidFill>
                <a:srgbClr val="000000"/>
              </a:solidFill>
              <a:latin typeface="Arial"/>
              <a:ea typeface="Arial"/>
              <a:cs typeface="Arial"/>
              <a:sym typeface="Arial"/>
            </a:endParaRPr>
          </a:p>
        </p:txBody>
      </p:sp>
      <p:sp>
        <p:nvSpPr>
          <p:cNvPr id="334" name="Google Shape;334;p15"/>
          <p:cNvSpPr/>
          <p:nvPr/>
        </p:nvSpPr>
        <p:spPr>
          <a:xfrm>
            <a:off x="1371600" y="3054240"/>
            <a:ext cx="19198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5" name="Google Shape;335;p15"/>
          <p:cNvSpPr/>
          <p:nvPr/>
        </p:nvSpPr>
        <p:spPr>
          <a:xfrm>
            <a:off x="1417320" y="3054240"/>
            <a:ext cx="18284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Gov. Contractor Dev</a:t>
            </a:r>
            <a:endParaRPr b="0" i="0" sz="1000" u="none" cap="none" strike="noStrike">
              <a:solidFill>
                <a:srgbClr val="000000"/>
              </a:solidFill>
              <a:latin typeface="Arial"/>
              <a:ea typeface="Arial"/>
              <a:cs typeface="Arial"/>
              <a:sym typeface="Arial"/>
            </a:endParaRPr>
          </a:p>
        </p:txBody>
      </p:sp>
      <p:sp>
        <p:nvSpPr>
          <p:cNvPr id="336" name="Google Shape;336;p15"/>
          <p:cNvSpPr/>
          <p:nvPr/>
        </p:nvSpPr>
        <p:spPr>
          <a:xfrm>
            <a:off x="3291840" y="3054240"/>
            <a:ext cx="28342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15"/>
          <p:cNvSpPr/>
          <p:nvPr/>
        </p:nvSpPr>
        <p:spPr>
          <a:xfrm>
            <a:off x="3337560" y="3054240"/>
            <a:ext cx="27428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onsolas"/>
                <a:ea typeface="Consolas"/>
                <a:cs typeface="Consolas"/>
                <a:sym typeface="Consolas"/>
              </a:rPr>
              <a:t>emp:nationalityReq = IT</a:t>
            </a:r>
            <a:endParaRPr b="0" i="0" sz="1000" u="none" cap="none" strike="noStrike">
              <a:solidFill>
                <a:srgbClr val="000000"/>
              </a:solidFill>
              <a:latin typeface="Arial"/>
              <a:ea typeface="Arial"/>
              <a:cs typeface="Arial"/>
              <a:sym typeface="Arial"/>
            </a:endParaRPr>
          </a:p>
        </p:txBody>
      </p:sp>
      <p:sp>
        <p:nvSpPr>
          <p:cNvPr id="338" name="Google Shape;338;p15"/>
          <p:cNvSpPr/>
          <p:nvPr/>
        </p:nvSpPr>
        <p:spPr>
          <a:xfrm>
            <a:off x="6126480" y="3054240"/>
            <a:ext cx="246852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15"/>
          <p:cNvSpPr/>
          <p:nvPr/>
        </p:nvSpPr>
        <p:spPr>
          <a:xfrm>
            <a:off x="6172200" y="3054240"/>
            <a:ext cx="237708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B32424"/>
                </a:solidFill>
                <a:latin typeface="Calibri"/>
                <a:ea typeface="Calibri"/>
                <a:cs typeface="Calibri"/>
                <a:sym typeface="Calibri"/>
              </a:rPr>
              <a:t>Nationality discrimination</a:t>
            </a:r>
            <a:endParaRPr b="0" i="0" sz="1000" u="none" cap="none" strike="noStrike">
              <a:solidFill>
                <a:srgbClr val="000000"/>
              </a:solidFill>
              <a:latin typeface="Arial"/>
              <a:ea typeface="Arial"/>
              <a:cs typeface="Arial"/>
              <a:sym typeface="Arial"/>
            </a:endParaRPr>
          </a:p>
        </p:txBody>
      </p:sp>
      <p:sp>
        <p:nvSpPr>
          <p:cNvPr id="340" name="Google Shape;340;p15"/>
          <p:cNvSpPr/>
          <p:nvPr/>
        </p:nvSpPr>
        <p:spPr>
          <a:xfrm>
            <a:off x="365760" y="3529440"/>
            <a:ext cx="10054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15"/>
          <p:cNvSpPr/>
          <p:nvPr/>
        </p:nvSpPr>
        <p:spPr>
          <a:xfrm>
            <a:off x="411480" y="3529440"/>
            <a:ext cx="9140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job-016</a:t>
            </a:r>
            <a:endParaRPr b="0" i="0" sz="1000" u="none" cap="none" strike="noStrike">
              <a:solidFill>
                <a:srgbClr val="000000"/>
              </a:solidFill>
              <a:latin typeface="Arial"/>
              <a:ea typeface="Arial"/>
              <a:cs typeface="Arial"/>
              <a:sym typeface="Arial"/>
            </a:endParaRPr>
          </a:p>
        </p:txBody>
      </p:sp>
      <p:sp>
        <p:nvSpPr>
          <p:cNvPr id="342" name="Google Shape;342;p15"/>
          <p:cNvSpPr/>
          <p:nvPr/>
        </p:nvSpPr>
        <p:spPr>
          <a:xfrm>
            <a:off x="1371600" y="3529440"/>
            <a:ext cx="19198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15"/>
          <p:cNvSpPr/>
          <p:nvPr/>
        </p:nvSpPr>
        <p:spPr>
          <a:xfrm>
            <a:off x="1417320" y="3529440"/>
            <a:ext cx="18284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Trainee Sw. Eng.</a:t>
            </a:r>
            <a:endParaRPr b="0" i="0" sz="1000" u="none" cap="none" strike="noStrike">
              <a:solidFill>
                <a:srgbClr val="000000"/>
              </a:solidFill>
              <a:latin typeface="Arial"/>
              <a:ea typeface="Arial"/>
              <a:cs typeface="Arial"/>
              <a:sym typeface="Arial"/>
            </a:endParaRPr>
          </a:p>
        </p:txBody>
      </p:sp>
      <p:sp>
        <p:nvSpPr>
          <p:cNvPr id="344" name="Google Shape;344;p15"/>
          <p:cNvSpPr/>
          <p:nvPr/>
        </p:nvSpPr>
        <p:spPr>
          <a:xfrm>
            <a:off x="3291840" y="3529440"/>
            <a:ext cx="283428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5" name="Google Shape;345;p15"/>
          <p:cNvSpPr/>
          <p:nvPr/>
        </p:nvSpPr>
        <p:spPr>
          <a:xfrm>
            <a:off x="3337560" y="3529440"/>
            <a:ext cx="27428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onsolas"/>
                <a:ea typeface="Consolas"/>
                <a:cs typeface="Consolas"/>
                <a:sym typeface="Consolas"/>
              </a:rPr>
              <a:t>emp:ageRangeMin=20, ageRangeMax=26</a:t>
            </a:r>
            <a:endParaRPr b="0" i="0" sz="1000" u="none" cap="none" strike="noStrike">
              <a:solidFill>
                <a:srgbClr val="000000"/>
              </a:solidFill>
              <a:latin typeface="Arial"/>
              <a:ea typeface="Arial"/>
              <a:cs typeface="Arial"/>
              <a:sym typeface="Arial"/>
            </a:endParaRPr>
          </a:p>
        </p:txBody>
      </p:sp>
      <p:sp>
        <p:nvSpPr>
          <p:cNvPr id="346" name="Google Shape;346;p15"/>
          <p:cNvSpPr/>
          <p:nvPr/>
        </p:nvSpPr>
        <p:spPr>
          <a:xfrm>
            <a:off x="6126480" y="3529440"/>
            <a:ext cx="2468520" cy="438480"/>
          </a:xfrm>
          <a:prstGeom prst="rect">
            <a:avLst/>
          </a:prstGeom>
          <a:solidFill>
            <a:srgbClr val="FFFF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15"/>
          <p:cNvSpPr/>
          <p:nvPr/>
        </p:nvSpPr>
        <p:spPr>
          <a:xfrm>
            <a:off x="6172200" y="3529440"/>
            <a:ext cx="237708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B32424"/>
                </a:solidFill>
                <a:latin typeface="Calibri"/>
                <a:ea typeface="Calibri"/>
                <a:cs typeface="Calibri"/>
                <a:sym typeface="Calibri"/>
              </a:rPr>
              <a:t>Ageism (narrow age band)</a:t>
            </a:r>
            <a:endParaRPr b="0" i="0" sz="1000" u="none" cap="none" strike="noStrike">
              <a:solidFill>
                <a:srgbClr val="000000"/>
              </a:solidFill>
              <a:latin typeface="Arial"/>
              <a:ea typeface="Arial"/>
              <a:cs typeface="Arial"/>
              <a:sym typeface="Arial"/>
            </a:endParaRPr>
          </a:p>
        </p:txBody>
      </p:sp>
      <p:sp>
        <p:nvSpPr>
          <p:cNvPr id="348" name="Google Shape;348;p15"/>
          <p:cNvSpPr/>
          <p:nvPr/>
        </p:nvSpPr>
        <p:spPr>
          <a:xfrm>
            <a:off x="365760" y="4005000"/>
            <a:ext cx="10054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9" name="Google Shape;349;p15"/>
          <p:cNvSpPr/>
          <p:nvPr/>
        </p:nvSpPr>
        <p:spPr>
          <a:xfrm>
            <a:off x="411480" y="4005000"/>
            <a:ext cx="9140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job-012</a:t>
            </a:r>
            <a:endParaRPr b="0" i="0" sz="1000" u="none" cap="none" strike="noStrike">
              <a:solidFill>
                <a:srgbClr val="000000"/>
              </a:solidFill>
              <a:latin typeface="Arial"/>
              <a:ea typeface="Arial"/>
              <a:cs typeface="Arial"/>
              <a:sym typeface="Arial"/>
            </a:endParaRPr>
          </a:p>
        </p:txBody>
      </p:sp>
      <p:sp>
        <p:nvSpPr>
          <p:cNvPr id="350" name="Google Shape;350;p15"/>
          <p:cNvSpPr/>
          <p:nvPr/>
        </p:nvSpPr>
        <p:spPr>
          <a:xfrm>
            <a:off x="1371600" y="4005000"/>
            <a:ext cx="19198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15"/>
          <p:cNvSpPr/>
          <p:nvPr/>
        </p:nvSpPr>
        <p:spPr>
          <a:xfrm>
            <a:off x="1417320" y="4005000"/>
            <a:ext cx="18284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1D2D44"/>
                </a:solidFill>
                <a:latin typeface="Calibri"/>
                <a:ea typeface="Calibri"/>
                <a:cs typeface="Calibri"/>
                <a:sym typeface="Calibri"/>
              </a:rPr>
              <a:t>Sales Representative</a:t>
            </a:r>
            <a:endParaRPr b="0" i="0" sz="1000" u="none" cap="none" strike="noStrike">
              <a:solidFill>
                <a:srgbClr val="000000"/>
              </a:solidFill>
              <a:latin typeface="Arial"/>
              <a:ea typeface="Arial"/>
              <a:cs typeface="Arial"/>
              <a:sym typeface="Arial"/>
            </a:endParaRPr>
          </a:p>
        </p:txBody>
      </p:sp>
      <p:sp>
        <p:nvSpPr>
          <p:cNvPr id="352" name="Google Shape;352;p15"/>
          <p:cNvSpPr/>
          <p:nvPr/>
        </p:nvSpPr>
        <p:spPr>
          <a:xfrm>
            <a:off x="3291840" y="4005000"/>
            <a:ext cx="283428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3" name="Google Shape;353;p15"/>
          <p:cNvSpPr/>
          <p:nvPr/>
        </p:nvSpPr>
        <p:spPr>
          <a:xfrm>
            <a:off x="3337560" y="4005000"/>
            <a:ext cx="274284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B32424"/>
                </a:solidFill>
                <a:latin typeface="Consolas"/>
                <a:ea typeface="Consolas"/>
                <a:cs typeface="Consolas"/>
                <a:sym typeface="Consolas"/>
              </a:rPr>
              <a:t>salary missing, source=unknown</a:t>
            </a:r>
            <a:endParaRPr b="0" i="0" sz="1000" u="none" cap="none" strike="noStrike">
              <a:solidFill>
                <a:srgbClr val="000000"/>
              </a:solidFill>
              <a:latin typeface="Arial"/>
              <a:ea typeface="Arial"/>
              <a:cs typeface="Arial"/>
              <a:sym typeface="Arial"/>
            </a:endParaRPr>
          </a:p>
        </p:txBody>
      </p:sp>
      <p:sp>
        <p:nvSpPr>
          <p:cNvPr id="354" name="Google Shape;354;p15"/>
          <p:cNvSpPr/>
          <p:nvPr/>
        </p:nvSpPr>
        <p:spPr>
          <a:xfrm>
            <a:off x="6126480" y="4005000"/>
            <a:ext cx="2468520" cy="438480"/>
          </a:xfrm>
          <a:prstGeom prst="rect">
            <a:avLst/>
          </a:prstGeom>
          <a:solidFill>
            <a:srgbClr val="EEF3FF"/>
          </a:solidFill>
          <a:ln cap="flat" cmpd="sng" w="12700">
            <a:solidFill>
              <a:srgbClr val="D4DCF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15"/>
          <p:cNvSpPr/>
          <p:nvPr/>
        </p:nvSpPr>
        <p:spPr>
          <a:xfrm>
            <a:off x="6172200" y="4005000"/>
            <a:ext cx="2377080" cy="438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C25A00"/>
                </a:solidFill>
                <a:latin typeface="Calibri"/>
                <a:ea typeface="Calibri"/>
                <a:cs typeface="Calibri"/>
                <a:sym typeface="Calibri"/>
              </a:rPr>
              <a:t>Poor data quality</a:t>
            </a:r>
            <a:endParaRPr b="0" i="0" sz="1000" u="none" cap="none" strike="noStrike">
              <a:solidFill>
                <a:srgbClr val="000000"/>
              </a:solidFill>
              <a:latin typeface="Arial"/>
              <a:ea typeface="Arial"/>
              <a:cs typeface="Arial"/>
              <a:sym typeface="Arial"/>
            </a:endParaRPr>
          </a:p>
        </p:txBody>
      </p:sp>
      <p:sp>
        <p:nvSpPr>
          <p:cNvPr id="356" name="Google Shape;356;p15"/>
          <p:cNvSpPr/>
          <p:nvPr/>
        </p:nvSpPr>
        <p:spPr>
          <a:xfrm>
            <a:off x="365760" y="201240"/>
            <a:ext cx="1737000" cy="255600"/>
          </a:xfrm>
          <a:prstGeom prst="roundRect">
            <a:avLst>
              <a:gd fmla="val 14286" name="adj"/>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57" name="Google Shape;357;p15"/>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RDF DATASET</a:t>
            </a:r>
            <a:endParaRPr b="0" sz="800"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362" name="Shape 362"/>
        <p:cNvGrpSpPr/>
        <p:nvPr/>
      </p:nvGrpSpPr>
      <p:grpSpPr>
        <a:xfrm>
          <a:off x="0" y="0"/>
          <a:ext cx="0" cy="0"/>
          <a:chOff x="0" y="0"/>
          <a:chExt cx="0" cy="0"/>
        </a:xfrm>
      </p:grpSpPr>
      <p:sp>
        <p:nvSpPr>
          <p:cNvPr id="363" name="Google Shape;363;p16"/>
          <p:cNvSpPr/>
          <p:nvPr/>
        </p:nvSpPr>
        <p:spPr>
          <a:xfrm>
            <a:off x="0" y="0"/>
            <a:ext cx="200880" cy="5143320"/>
          </a:xfrm>
          <a:prstGeom prst="rect">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64" name="Google Shape;364;p16"/>
          <p:cNvSpPr/>
          <p:nvPr/>
        </p:nvSpPr>
        <p:spPr>
          <a:xfrm>
            <a:off x="457200" y="1188720"/>
            <a:ext cx="8229240" cy="411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300" strike="noStrike">
                <a:solidFill>
                  <a:srgbClr val="9FB4CC"/>
                </a:solidFill>
                <a:latin typeface="Calibri"/>
                <a:ea typeface="Calibri"/>
                <a:cs typeface="Calibri"/>
                <a:sym typeface="Calibri"/>
              </a:rPr>
              <a:t>Section 3</a:t>
            </a:r>
            <a:endParaRPr b="0" sz="1300" strike="noStrike">
              <a:solidFill>
                <a:srgbClr val="FFFFFF"/>
              </a:solidFill>
              <a:latin typeface="Arial"/>
              <a:ea typeface="Arial"/>
              <a:cs typeface="Arial"/>
              <a:sym typeface="Arial"/>
            </a:endParaRPr>
          </a:p>
        </p:txBody>
      </p:sp>
      <p:sp>
        <p:nvSpPr>
          <p:cNvPr id="365" name="Google Shape;365;p16"/>
          <p:cNvSpPr/>
          <p:nvPr/>
        </p:nvSpPr>
        <p:spPr>
          <a:xfrm>
            <a:off x="457200" y="1600200"/>
            <a:ext cx="8229240" cy="18284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4000" strike="noStrike">
                <a:solidFill>
                  <a:srgbClr val="FFFFFF"/>
                </a:solidFill>
                <a:latin typeface="Trebuchet MS"/>
                <a:ea typeface="Trebuchet MS"/>
                <a:cs typeface="Trebuchet MS"/>
                <a:sym typeface="Trebuchet MS"/>
              </a:rPr>
              <a:t>Audit, Integration</a:t>
            </a:r>
            <a:endParaRPr b="0" sz="40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4000" strike="noStrike">
                <a:solidFill>
                  <a:srgbClr val="FFFFFF"/>
                </a:solidFill>
                <a:latin typeface="Trebuchet MS"/>
                <a:ea typeface="Trebuchet MS"/>
                <a:cs typeface="Trebuchet MS"/>
                <a:sym typeface="Trebuchet MS"/>
              </a:rPr>
              <a:t>and Reflection</a:t>
            </a:r>
            <a:endParaRPr b="0" sz="4000" strike="noStrike">
              <a:solidFill>
                <a:srgbClr val="FFFFFF"/>
              </a:solidFill>
              <a:latin typeface="Arial"/>
              <a:ea typeface="Arial"/>
              <a:cs typeface="Arial"/>
              <a:sym typeface="Arial"/>
            </a:endParaRPr>
          </a:p>
        </p:txBody>
      </p:sp>
      <p:sp>
        <p:nvSpPr>
          <p:cNvPr id="366" name="Google Shape;366;p16"/>
          <p:cNvSpPr/>
          <p:nvPr/>
        </p:nvSpPr>
        <p:spPr>
          <a:xfrm>
            <a:off x="457200" y="4114800"/>
            <a:ext cx="8229240" cy="36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200" strike="noStrike">
                <a:solidFill>
                  <a:srgbClr val="9FB4CC"/>
                </a:solidFill>
                <a:latin typeface="Calibri"/>
                <a:ea typeface="Calibri"/>
                <a:cs typeface="Calibri"/>
                <a:sym typeface="Calibri"/>
              </a:rPr>
              <a:t>  Federico Capricci</a:t>
            </a:r>
            <a:endParaRPr b="0" sz="1200" strike="noStrike">
              <a:solidFill>
                <a:srgbClr val="FFFFFF"/>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17"/>
          <p:cNvSpPr/>
          <p:nvPr/>
        </p:nvSpPr>
        <p:spPr>
          <a:xfrm>
            <a:off x="365760" y="201240"/>
            <a:ext cx="1737000" cy="255600"/>
          </a:xfrm>
          <a:prstGeom prst="roundRect">
            <a:avLst>
              <a:gd fmla="val 14286" name="adj"/>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73" name="Google Shape;373;p17"/>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AUDIT TRAIL</a:t>
            </a:r>
            <a:endParaRPr b="0" sz="800" strike="noStrike">
              <a:solidFill>
                <a:srgbClr val="000000"/>
              </a:solidFill>
              <a:latin typeface="Arial"/>
              <a:ea typeface="Arial"/>
              <a:cs typeface="Arial"/>
              <a:sym typeface="Arial"/>
            </a:endParaRPr>
          </a:p>
        </p:txBody>
      </p:sp>
      <p:sp>
        <p:nvSpPr>
          <p:cNvPr id="374" name="Google Shape;374;p17"/>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600" strike="noStrike">
                <a:solidFill>
                  <a:srgbClr val="1D2D44"/>
                </a:solidFill>
                <a:latin typeface="Trebuchet MS"/>
                <a:ea typeface="Trebuchet MS"/>
                <a:cs typeface="Trebuchet MS"/>
                <a:sym typeface="Trebuchet MS"/>
              </a:rPr>
              <a:t>Audit Trail &amp; Provenance</a:t>
            </a:r>
            <a:endParaRPr b="0" sz="2600" strike="noStrike">
              <a:solidFill>
                <a:srgbClr val="000000"/>
              </a:solidFill>
              <a:latin typeface="Arial"/>
              <a:ea typeface="Arial"/>
              <a:cs typeface="Arial"/>
              <a:sym typeface="Arial"/>
            </a:endParaRPr>
          </a:p>
        </p:txBody>
      </p:sp>
      <p:sp>
        <p:nvSpPr>
          <p:cNvPr id="375" name="Google Shape;375;p17"/>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76" name="Google Shape;376;p17"/>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lang="en-US" sz="900" strike="noStrike">
                <a:solidFill>
                  <a:srgbClr val="6B7280"/>
                </a:solidFill>
                <a:latin typeface="Calibri"/>
                <a:ea typeface="Calibri"/>
                <a:cs typeface="Calibri"/>
                <a:sym typeface="Calibri"/>
              </a:rPr>
              <a:t>17</a:t>
            </a:r>
            <a:endParaRPr b="0" sz="900" strike="noStrike">
              <a:solidFill>
                <a:srgbClr val="000000"/>
              </a:solidFill>
              <a:latin typeface="Arial"/>
              <a:ea typeface="Arial"/>
              <a:cs typeface="Arial"/>
              <a:sym typeface="Arial"/>
            </a:endParaRPr>
          </a:p>
        </p:txBody>
      </p:sp>
      <p:sp>
        <p:nvSpPr>
          <p:cNvPr id="377" name="Google Shape;377;p17"/>
          <p:cNvSpPr/>
          <p:nvPr/>
        </p:nvSpPr>
        <p:spPr>
          <a:xfrm>
            <a:off x="365760" y="1303200"/>
            <a:ext cx="5028840" cy="3611520"/>
          </a:xfrm>
          <a:prstGeom prst="rect">
            <a:avLst/>
          </a:prstGeom>
          <a:solidFill>
            <a:srgbClr val="1E293B"/>
          </a:solidFill>
          <a:ln cap="flat" cmpd="sng" w="12700">
            <a:solidFill>
              <a:srgbClr val="1E293B"/>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78" name="Google Shape;378;p17"/>
          <p:cNvSpPr/>
          <p:nvPr/>
        </p:nvSpPr>
        <p:spPr>
          <a:xfrm>
            <a:off x="502920" y="1389960"/>
            <a:ext cx="4754520" cy="34743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E482F4"/>
                </a:solidFill>
                <a:latin typeface="Consolas"/>
                <a:ea typeface="Consolas"/>
                <a:cs typeface="Consolas"/>
                <a:sym typeface="Consolas"/>
              </a:rPr>
              <a:t>"auditId": "audit-8f43...",</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E482F4"/>
                </a:solidFill>
                <a:latin typeface="Consolas"/>
                <a:ea typeface="Consolas"/>
                <a:cs typeface="Consolas"/>
                <a:sym typeface="Consolas"/>
              </a:rPr>
              <a:t>"timestamp": "2026-05-19T08:07:50Z",</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00B0F0"/>
                </a:solidFill>
                <a:latin typeface="Consolas"/>
                <a:ea typeface="Consolas"/>
                <a:cs typeface="Consolas"/>
                <a:sym typeface="Consolas"/>
              </a:rPr>
              <a:t>"request": { "candidateId": "cand-001",</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00B0F0"/>
                </a:solidFill>
                <a:latin typeface="Consolas"/>
                <a:ea typeface="Consolas"/>
                <a:cs typeface="Consolas"/>
                <a:sym typeface="Consolas"/>
              </a:rPr>
              <a:t>               "jobId": "job-003" ...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FFFF00"/>
                </a:solidFill>
                <a:latin typeface="Consolas"/>
                <a:ea typeface="Consolas"/>
                <a:cs typeface="Consolas"/>
                <a:sym typeface="Consolas"/>
              </a:rPr>
              <a:t>"evaluatedCandidate": { ...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FFFF00"/>
                </a:solidFill>
                <a:latin typeface="Consolas"/>
                <a:ea typeface="Consolas"/>
                <a:cs typeface="Consolas"/>
                <a:sym typeface="Consolas"/>
              </a:rPr>
              <a:t>  "evaluatedJob": { ...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"riskLevel": "CRITICAL",</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FF0000"/>
                </a:solidFill>
                <a:latin typeface="Consolas"/>
                <a:ea typeface="Consolas"/>
                <a:cs typeface="Consolas"/>
                <a:sym typeface="Consolas"/>
              </a:rPr>
              <a:t>"decision": "REJECT",</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r>
              <a:rPr b="0" lang="en-US" sz="1050" strike="noStrike">
                <a:solidFill>
                  <a:srgbClr val="FF0000"/>
                </a:solidFill>
                <a:latin typeface="Consolas"/>
                <a:ea typeface="Consolas"/>
                <a:cs typeface="Consolas"/>
                <a:sym typeface="Consolas"/>
              </a:rPr>
              <a:t>"findings": [ { ... }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"appliedPolicies":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"P-ACC-003", "P-DISCR-001",</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"P-PROV-002", "P-TRANS-004"</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  ]</a:t>
            </a:r>
            <a:endParaRPr b="0" sz="105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50" strike="noStrike">
                <a:solidFill>
                  <a:srgbClr val="86EFAC"/>
                </a:solidFill>
                <a:latin typeface="Consolas"/>
                <a:ea typeface="Consolas"/>
                <a:cs typeface="Consolas"/>
                <a:sym typeface="Consolas"/>
              </a:rPr>
              <a:t>}</a:t>
            </a:r>
            <a:endParaRPr b="0" sz="1050" strike="noStrike">
              <a:solidFill>
                <a:srgbClr val="000000"/>
              </a:solidFill>
              <a:latin typeface="Arial"/>
              <a:ea typeface="Arial"/>
              <a:cs typeface="Arial"/>
              <a:sym typeface="Arial"/>
            </a:endParaRPr>
          </a:p>
        </p:txBody>
      </p:sp>
      <p:cxnSp>
        <p:nvCxnSpPr>
          <p:cNvPr id="379" name="Google Shape;379;p17"/>
          <p:cNvCxnSpPr/>
          <p:nvPr/>
        </p:nvCxnSpPr>
        <p:spPr>
          <a:xfrm>
            <a:off x="5394960" y="1663920"/>
            <a:ext cx="457200" cy="360"/>
          </a:xfrm>
          <a:prstGeom prst="straightConnector1">
            <a:avLst/>
          </a:prstGeom>
          <a:noFill/>
          <a:ln cap="flat" cmpd="sng" w="12700">
            <a:solidFill>
              <a:srgbClr val="9B59B6"/>
            </a:solidFill>
            <a:prstDash val="dash"/>
            <a:round/>
            <a:headEnd len="sm" w="sm" type="none"/>
            <a:tailEnd len="sm" w="sm" type="none"/>
          </a:ln>
        </p:spPr>
      </p:cxnSp>
      <p:sp>
        <p:nvSpPr>
          <p:cNvPr id="380" name="Google Shape;380;p17"/>
          <p:cNvSpPr/>
          <p:nvPr/>
        </p:nvSpPr>
        <p:spPr>
          <a:xfrm>
            <a:off x="5943600" y="141732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9B59B6"/>
                </a:solidFill>
                <a:latin typeface="Calibri"/>
                <a:ea typeface="Calibri"/>
                <a:cs typeface="Calibri"/>
                <a:sym typeface="Calibri"/>
              </a:rPr>
              <a:t>Unique UUID per evaluation</a:t>
            </a:r>
            <a:endParaRPr b="0" sz="1000" strike="noStrike">
              <a:solidFill>
                <a:srgbClr val="000000"/>
              </a:solidFill>
              <a:latin typeface="Arial"/>
              <a:ea typeface="Arial"/>
              <a:cs typeface="Arial"/>
              <a:sym typeface="Arial"/>
            </a:endParaRPr>
          </a:p>
        </p:txBody>
      </p:sp>
      <p:cxnSp>
        <p:nvCxnSpPr>
          <p:cNvPr id="381" name="Google Shape;381;p17"/>
          <p:cNvCxnSpPr/>
          <p:nvPr/>
        </p:nvCxnSpPr>
        <p:spPr>
          <a:xfrm>
            <a:off x="5394960" y="1828800"/>
            <a:ext cx="457200" cy="360"/>
          </a:xfrm>
          <a:prstGeom prst="straightConnector1">
            <a:avLst/>
          </a:prstGeom>
          <a:noFill/>
          <a:ln cap="flat" cmpd="sng" w="12700">
            <a:solidFill>
              <a:srgbClr val="9B59B6"/>
            </a:solidFill>
            <a:prstDash val="dash"/>
            <a:round/>
            <a:headEnd len="sm" w="sm" type="none"/>
            <a:tailEnd len="sm" w="sm" type="none"/>
          </a:ln>
        </p:spPr>
      </p:cxnSp>
      <p:sp>
        <p:nvSpPr>
          <p:cNvPr id="382" name="Google Shape;382;p17"/>
          <p:cNvSpPr/>
          <p:nvPr/>
        </p:nvSpPr>
        <p:spPr>
          <a:xfrm>
            <a:off x="5943600" y="158652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9B59B6"/>
                </a:solidFill>
                <a:latin typeface="Calibri"/>
                <a:ea typeface="Calibri"/>
                <a:cs typeface="Calibri"/>
                <a:sym typeface="Calibri"/>
              </a:rPr>
              <a:t>Timestamp ISO 8601</a:t>
            </a:r>
            <a:endParaRPr b="0" sz="1000" strike="noStrike">
              <a:solidFill>
                <a:srgbClr val="000000"/>
              </a:solidFill>
              <a:latin typeface="Arial"/>
              <a:ea typeface="Arial"/>
              <a:cs typeface="Arial"/>
              <a:sym typeface="Arial"/>
            </a:endParaRPr>
          </a:p>
        </p:txBody>
      </p:sp>
      <p:cxnSp>
        <p:nvCxnSpPr>
          <p:cNvPr id="383" name="Google Shape;383;p17"/>
          <p:cNvCxnSpPr/>
          <p:nvPr/>
        </p:nvCxnSpPr>
        <p:spPr>
          <a:xfrm>
            <a:off x="5394960" y="2043360"/>
            <a:ext cx="457200" cy="360"/>
          </a:xfrm>
          <a:prstGeom prst="straightConnector1">
            <a:avLst/>
          </a:prstGeom>
          <a:noFill/>
          <a:ln cap="flat" cmpd="sng" w="12700">
            <a:solidFill>
              <a:srgbClr val="2C5FDC"/>
            </a:solidFill>
            <a:prstDash val="dash"/>
            <a:round/>
            <a:headEnd len="sm" w="sm" type="none"/>
            <a:tailEnd len="sm" w="sm" type="none"/>
          </a:ln>
        </p:spPr>
      </p:cxnSp>
      <p:sp>
        <p:nvSpPr>
          <p:cNvPr id="384" name="Google Shape;384;p17"/>
          <p:cNvSpPr/>
          <p:nvPr/>
        </p:nvSpPr>
        <p:spPr>
          <a:xfrm>
            <a:off x="5943600" y="182880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2C5FDC"/>
                </a:solidFill>
                <a:latin typeface="Calibri"/>
                <a:ea typeface="Calibri"/>
                <a:cs typeface="Calibri"/>
                <a:sym typeface="Calibri"/>
              </a:rPr>
              <a:t>Original request (snapshot)</a:t>
            </a:r>
            <a:endParaRPr b="0" sz="1000" strike="noStrike">
              <a:solidFill>
                <a:srgbClr val="000000"/>
              </a:solidFill>
              <a:latin typeface="Arial"/>
              <a:ea typeface="Arial"/>
              <a:cs typeface="Arial"/>
              <a:sym typeface="Arial"/>
            </a:endParaRPr>
          </a:p>
        </p:txBody>
      </p:sp>
      <p:cxnSp>
        <p:nvCxnSpPr>
          <p:cNvPr id="385" name="Google Shape;385;p17"/>
          <p:cNvCxnSpPr/>
          <p:nvPr/>
        </p:nvCxnSpPr>
        <p:spPr>
          <a:xfrm>
            <a:off x="5394960" y="2403720"/>
            <a:ext cx="457200" cy="360"/>
          </a:xfrm>
          <a:prstGeom prst="straightConnector1">
            <a:avLst/>
          </a:prstGeom>
          <a:noFill/>
          <a:ln cap="flat" cmpd="sng" w="19050">
            <a:solidFill>
              <a:srgbClr val="FFC000"/>
            </a:solidFill>
            <a:prstDash val="dash"/>
            <a:round/>
            <a:headEnd len="sm" w="sm" type="none"/>
            <a:tailEnd len="sm" w="sm" type="none"/>
          </a:ln>
        </p:spPr>
      </p:cxnSp>
      <p:sp>
        <p:nvSpPr>
          <p:cNvPr id="386" name="Google Shape;386;p17"/>
          <p:cNvSpPr/>
          <p:nvPr/>
        </p:nvSpPr>
        <p:spPr>
          <a:xfrm>
            <a:off x="5943600" y="218088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FFC000"/>
                </a:solidFill>
                <a:latin typeface="Calibri"/>
                <a:ea typeface="Calibri"/>
                <a:cs typeface="Calibri"/>
                <a:sym typeface="Calibri"/>
              </a:rPr>
              <a:t>Real data fetched from DaaS</a:t>
            </a:r>
            <a:endParaRPr b="0" sz="10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00" strike="noStrike">
                <a:solidFill>
                  <a:srgbClr val="FFC000"/>
                </a:solidFill>
                <a:latin typeface="Calibri"/>
                <a:ea typeface="Calibri"/>
                <a:cs typeface="Calibri"/>
                <a:sym typeface="Calibri"/>
              </a:rPr>
              <a:t>provenance tracked</a:t>
            </a:r>
            <a:endParaRPr b="0" sz="1000" strike="noStrike">
              <a:solidFill>
                <a:srgbClr val="000000"/>
              </a:solidFill>
              <a:latin typeface="Arial"/>
              <a:ea typeface="Arial"/>
              <a:cs typeface="Arial"/>
              <a:sym typeface="Arial"/>
            </a:endParaRPr>
          </a:p>
        </p:txBody>
      </p:sp>
      <p:cxnSp>
        <p:nvCxnSpPr>
          <p:cNvPr id="387" name="Google Shape;387;p17"/>
          <p:cNvCxnSpPr/>
          <p:nvPr/>
        </p:nvCxnSpPr>
        <p:spPr>
          <a:xfrm>
            <a:off x="5386320" y="2876040"/>
            <a:ext cx="457200" cy="360"/>
          </a:xfrm>
          <a:prstGeom prst="straightConnector1">
            <a:avLst/>
          </a:prstGeom>
          <a:noFill/>
          <a:ln cap="flat" cmpd="sng" w="12700">
            <a:solidFill>
              <a:srgbClr val="B32424"/>
            </a:solidFill>
            <a:prstDash val="dash"/>
            <a:round/>
            <a:headEnd len="sm" w="sm" type="none"/>
            <a:tailEnd len="sm" w="sm" type="none"/>
          </a:ln>
        </p:spPr>
      </p:cxnSp>
      <p:sp>
        <p:nvSpPr>
          <p:cNvPr id="388" name="Google Shape;388;p17"/>
          <p:cNvSpPr/>
          <p:nvPr/>
        </p:nvSpPr>
        <p:spPr>
          <a:xfrm>
            <a:off x="5943600" y="264888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B32424"/>
                </a:solidFill>
                <a:latin typeface="Calibri"/>
                <a:ea typeface="Calibri"/>
                <a:cs typeface="Calibri"/>
                <a:sym typeface="Calibri"/>
              </a:rPr>
              <a:t>Final decision</a:t>
            </a:r>
            <a:endParaRPr b="0" sz="1000" strike="noStrike">
              <a:solidFill>
                <a:srgbClr val="000000"/>
              </a:solidFill>
              <a:latin typeface="Arial"/>
              <a:ea typeface="Arial"/>
              <a:cs typeface="Arial"/>
              <a:sym typeface="Arial"/>
            </a:endParaRPr>
          </a:p>
        </p:txBody>
      </p:sp>
      <p:cxnSp>
        <p:nvCxnSpPr>
          <p:cNvPr id="389" name="Google Shape;389;p17"/>
          <p:cNvCxnSpPr/>
          <p:nvPr/>
        </p:nvCxnSpPr>
        <p:spPr>
          <a:xfrm>
            <a:off x="5386320" y="3272400"/>
            <a:ext cx="457200" cy="360"/>
          </a:xfrm>
          <a:prstGeom prst="straightConnector1">
            <a:avLst/>
          </a:prstGeom>
          <a:noFill/>
          <a:ln cap="flat" cmpd="sng" w="12700">
            <a:solidFill>
              <a:srgbClr val="2F8F4E"/>
            </a:solidFill>
            <a:prstDash val="dash"/>
            <a:round/>
            <a:headEnd len="sm" w="sm" type="none"/>
            <a:tailEnd len="sm" w="sm" type="none"/>
          </a:ln>
        </p:spPr>
      </p:cxnSp>
      <p:sp>
        <p:nvSpPr>
          <p:cNvPr id="390" name="Google Shape;390;p17"/>
          <p:cNvSpPr/>
          <p:nvPr/>
        </p:nvSpPr>
        <p:spPr>
          <a:xfrm>
            <a:off x="5943600" y="3056400"/>
            <a:ext cx="28342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2F8F4E"/>
                </a:solidFill>
                <a:latin typeface="Calibri"/>
                <a:ea typeface="Calibri"/>
                <a:cs typeface="Calibri"/>
                <a:sym typeface="Calibri"/>
              </a:rPr>
              <a:t>All policies evaluated</a:t>
            </a:r>
            <a:endParaRPr b="0" sz="10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000" strike="noStrike">
                <a:solidFill>
                  <a:srgbClr val="2F8F4E"/>
                </a:solidFill>
                <a:latin typeface="Calibri"/>
                <a:ea typeface="Calibri"/>
                <a:cs typeface="Calibri"/>
                <a:sym typeface="Calibri"/>
              </a:rPr>
              <a:t>(including those not violated)</a:t>
            </a:r>
            <a:endParaRPr b="0" sz="1000"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5" name="Shape 395"/>
        <p:cNvGrpSpPr/>
        <p:nvPr/>
      </p:nvGrpSpPr>
      <p:grpSpPr>
        <a:xfrm>
          <a:off x="0" y="0"/>
          <a:ext cx="0" cy="0"/>
          <a:chOff x="0" y="0"/>
          <a:chExt cx="0" cy="0"/>
        </a:xfrm>
      </p:grpSpPr>
      <p:sp>
        <p:nvSpPr>
          <p:cNvPr id="396" name="Google Shape;396;p18"/>
          <p:cNvSpPr/>
          <p:nvPr/>
        </p:nvSpPr>
        <p:spPr>
          <a:xfrm>
            <a:off x="365760" y="201240"/>
            <a:ext cx="1737000" cy="255600"/>
          </a:xfrm>
          <a:prstGeom prst="roundRect">
            <a:avLst>
              <a:gd fmla="val 14286" name="adj"/>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397" name="Google Shape;397;p18"/>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SCENARIO 1</a:t>
            </a:r>
            <a:endParaRPr b="0" sz="800" strike="noStrike">
              <a:solidFill>
                <a:srgbClr val="000000"/>
              </a:solidFill>
              <a:latin typeface="Arial"/>
              <a:ea typeface="Arial"/>
              <a:cs typeface="Arial"/>
              <a:sym typeface="Arial"/>
            </a:endParaRPr>
          </a:p>
        </p:txBody>
      </p:sp>
      <p:sp>
        <p:nvSpPr>
          <p:cNvPr id="398" name="Google Shape;398;p18"/>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600" strike="noStrike">
                <a:solidFill>
                  <a:srgbClr val="1D2D44"/>
                </a:solidFill>
                <a:latin typeface="Trebuchet MS"/>
                <a:ea typeface="Trebuchet MS"/>
                <a:cs typeface="Trebuchet MS"/>
                <a:sym typeface="Trebuchet MS"/>
              </a:rPr>
              <a:t>Scenario PROCEED — cand-001 + job-001</a:t>
            </a:r>
            <a:endParaRPr b="0" sz="2600" strike="noStrike">
              <a:solidFill>
                <a:srgbClr val="000000"/>
              </a:solidFill>
              <a:latin typeface="Arial"/>
              <a:ea typeface="Arial"/>
              <a:cs typeface="Arial"/>
              <a:sym typeface="Arial"/>
            </a:endParaRPr>
          </a:p>
        </p:txBody>
      </p:sp>
      <p:sp>
        <p:nvSpPr>
          <p:cNvPr id="399" name="Google Shape;399;p18"/>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00" name="Google Shape;400;p18"/>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lang="en-US" sz="900" strike="noStrike">
                <a:solidFill>
                  <a:srgbClr val="6B7280"/>
                </a:solidFill>
                <a:latin typeface="Calibri"/>
                <a:ea typeface="Calibri"/>
                <a:cs typeface="Calibri"/>
                <a:sym typeface="Calibri"/>
              </a:rPr>
              <a:t>14</a:t>
            </a:r>
            <a:endParaRPr b="0" sz="900" strike="noStrike">
              <a:solidFill>
                <a:srgbClr val="000000"/>
              </a:solidFill>
              <a:latin typeface="Arial"/>
              <a:ea typeface="Arial"/>
              <a:cs typeface="Arial"/>
              <a:sym typeface="Arial"/>
            </a:endParaRPr>
          </a:p>
        </p:txBody>
      </p:sp>
      <p:sp>
        <p:nvSpPr>
          <p:cNvPr id="401" name="Google Shape;401;p18"/>
          <p:cNvSpPr/>
          <p:nvPr/>
        </p:nvSpPr>
        <p:spPr>
          <a:xfrm>
            <a:off x="365760" y="1325880"/>
            <a:ext cx="3931560" cy="13712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02" name="Google Shape;402;p18"/>
          <p:cNvSpPr/>
          <p:nvPr/>
        </p:nvSpPr>
        <p:spPr>
          <a:xfrm>
            <a:off x="502920" y="1371600"/>
            <a:ext cx="3565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100" strike="noStrike">
                <a:solidFill>
                  <a:srgbClr val="1D2D44"/>
                </a:solidFill>
                <a:latin typeface="Trebuchet MS"/>
                <a:ea typeface="Trebuchet MS"/>
                <a:cs typeface="Trebuchet MS"/>
                <a:sym typeface="Trebuchet MS"/>
              </a:rPr>
              <a:t>Request</a:t>
            </a:r>
            <a:endParaRPr b="0" sz="1100" strike="noStrike">
              <a:solidFill>
                <a:srgbClr val="000000"/>
              </a:solidFill>
              <a:latin typeface="Arial"/>
              <a:ea typeface="Arial"/>
              <a:cs typeface="Arial"/>
              <a:sym typeface="Arial"/>
            </a:endParaRPr>
          </a:p>
        </p:txBody>
      </p:sp>
      <p:sp>
        <p:nvSpPr>
          <p:cNvPr id="403" name="Google Shape;403;p18"/>
          <p:cNvSpPr/>
          <p:nvPr/>
        </p:nvSpPr>
        <p:spPr>
          <a:xfrm>
            <a:off x="502920" y="1719000"/>
            <a:ext cx="3657240" cy="914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candidateId: </a:t>
            </a:r>
            <a:r>
              <a:rPr b="1" lang="en-US" sz="1100" strike="noStrike">
                <a:solidFill>
                  <a:srgbClr val="1D2D44"/>
                </a:solidFill>
                <a:latin typeface="Calibri"/>
                <a:ea typeface="Calibri"/>
                <a:cs typeface="Calibri"/>
                <a:sym typeface="Calibri"/>
              </a:rPr>
              <a:t>cand-001</a:t>
            </a:r>
            <a:r>
              <a:rPr b="0" lang="en-US" sz="1100" strike="noStrike">
                <a:solidFill>
                  <a:srgbClr val="6B7280"/>
                </a:solidFill>
                <a:latin typeface="Calibri"/>
                <a:ea typeface="Calibri"/>
                <a:cs typeface="Calibri"/>
                <a:sym typeface="Calibri"/>
              </a:rPr>
              <a:t>  (Alice Bianchi)</a:t>
            </a:r>
            <a:endParaRPr b="0" sz="11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jobId: </a:t>
            </a:r>
            <a:r>
              <a:rPr b="1" lang="en-US" sz="1100" strike="noStrike">
                <a:solidFill>
                  <a:srgbClr val="1D2D44"/>
                </a:solidFill>
                <a:latin typeface="Calibri"/>
                <a:ea typeface="Calibri"/>
                <a:cs typeface="Calibri"/>
                <a:sym typeface="Calibri"/>
              </a:rPr>
              <a:t>job-001</a:t>
            </a:r>
            <a:r>
              <a:rPr b="0" lang="en-US" sz="1100" strike="noStrike">
                <a:solidFill>
                  <a:srgbClr val="6B7280"/>
                </a:solidFill>
                <a:latin typeface="Calibri"/>
                <a:ea typeface="Calibri"/>
                <a:cs typeface="Calibri"/>
                <a:sym typeface="Calibri"/>
              </a:rPr>
              <a:t>  (Backend Java Dev)</a:t>
            </a:r>
            <a:endParaRPr b="0" sz="11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source: </a:t>
            </a:r>
            <a:r>
              <a:rPr b="1" lang="en-US" sz="1100" strike="noStrike">
                <a:solidFill>
                  <a:srgbClr val="2F8F4E"/>
                </a:solidFill>
                <a:latin typeface="Calibri"/>
                <a:ea typeface="Calibri"/>
                <a:cs typeface="Calibri"/>
                <a:sym typeface="Calibri"/>
              </a:rPr>
              <a:t>company-portal</a:t>
            </a:r>
            <a:endParaRPr b="0" sz="1100" strike="noStrike">
              <a:solidFill>
                <a:srgbClr val="000000"/>
              </a:solidFill>
              <a:latin typeface="Arial"/>
              <a:ea typeface="Arial"/>
              <a:cs typeface="Arial"/>
              <a:sym typeface="Arial"/>
            </a:endParaRPr>
          </a:p>
        </p:txBody>
      </p:sp>
      <p:sp>
        <p:nvSpPr>
          <p:cNvPr id="404" name="Google Shape;404;p18"/>
          <p:cNvSpPr/>
          <p:nvPr/>
        </p:nvSpPr>
        <p:spPr>
          <a:xfrm>
            <a:off x="365760" y="2834640"/>
            <a:ext cx="3931560" cy="100548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05" name="Google Shape;405;p18"/>
          <p:cNvSpPr/>
          <p:nvPr/>
        </p:nvSpPr>
        <p:spPr>
          <a:xfrm>
            <a:off x="502920" y="2889360"/>
            <a:ext cx="3565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100" strike="noStrike">
                <a:solidFill>
                  <a:srgbClr val="1D2D44"/>
                </a:solidFill>
                <a:latin typeface="Trebuchet MS"/>
                <a:ea typeface="Trebuchet MS"/>
                <a:cs typeface="Trebuchet MS"/>
                <a:sym typeface="Trebuchet MS"/>
              </a:rPr>
              <a:t>EaaS Evaluation</a:t>
            </a:r>
            <a:endParaRPr b="0" sz="1100" strike="noStrike">
              <a:solidFill>
                <a:srgbClr val="000000"/>
              </a:solidFill>
              <a:latin typeface="Arial"/>
              <a:ea typeface="Arial"/>
              <a:cs typeface="Arial"/>
              <a:sym typeface="Arial"/>
            </a:endParaRPr>
          </a:p>
        </p:txBody>
      </p:sp>
      <p:sp>
        <p:nvSpPr>
          <p:cNvPr id="406" name="Google Shape;406;p18"/>
          <p:cNvSpPr/>
          <p:nvPr/>
        </p:nvSpPr>
        <p:spPr>
          <a:xfrm>
            <a:off x="502920" y="3218760"/>
            <a:ext cx="365724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No policy violated — 4 policies evaluated</a:t>
            </a:r>
            <a:endParaRPr b="0" sz="1100" strike="noStrike">
              <a:solidFill>
                <a:srgbClr val="000000"/>
              </a:solidFill>
              <a:latin typeface="Arial"/>
              <a:ea typeface="Arial"/>
              <a:cs typeface="Arial"/>
              <a:sym typeface="Arial"/>
            </a:endParaRPr>
          </a:p>
        </p:txBody>
      </p:sp>
      <p:sp>
        <p:nvSpPr>
          <p:cNvPr id="407" name="Google Shape;407;p18"/>
          <p:cNvSpPr/>
          <p:nvPr/>
        </p:nvSpPr>
        <p:spPr>
          <a:xfrm>
            <a:off x="502920" y="3493080"/>
            <a:ext cx="365724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100" strike="noStrike">
                <a:solidFill>
                  <a:srgbClr val="2F8F4E"/>
                </a:solidFill>
                <a:latin typeface="Calibri"/>
                <a:ea typeface="Calibri"/>
                <a:cs typeface="Calibri"/>
                <a:sym typeface="Calibri"/>
              </a:rPr>
              <a:t>Findings: 0</a:t>
            </a:r>
            <a:endParaRPr b="0" sz="1100" strike="noStrike">
              <a:solidFill>
                <a:srgbClr val="000000"/>
              </a:solidFill>
              <a:latin typeface="Arial"/>
              <a:ea typeface="Arial"/>
              <a:cs typeface="Arial"/>
              <a:sym typeface="Arial"/>
            </a:endParaRPr>
          </a:p>
        </p:txBody>
      </p:sp>
      <p:sp>
        <p:nvSpPr>
          <p:cNvPr id="408" name="Google Shape;408;p18"/>
          <p:cNvSpPr/>
          <p:nvPr/>
        </p:nvSpPr>
        <p:spPr>
          <a:xfrm>
            <a:off x="4434840" y="1325880"/>
            <a:ext cx="4343040" cy="2742840"/>
          </a:xfrm>
          <a:prstGeom prst="rect">
            <a:avLst/>
          </a:prstGeom>
          <a:solidFill>
            <a:srgbClr val="F0FFF4"/>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09" name="Google Shape;409;p18"/>
          <p:cNvSpPr/>
          <p:nvPr/>
        </p:nvSpPr>
        <p:spPr>
          <a:xfrm>
            <a:off x="4434840" y="1325880"/>
            <a:ext cx="4343040" cy="383760"/>
          </a:xfrm>
          <a:prstGeom prst="rect">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10" name="Google Shape;410;p18"/>
          <p:cNvSpPr/>
          <p:nvPr/>
        </p:nvSpPr>
        <p:spPr>
          <a:xfrm>
            <a:off x="4434840" y="1325880"/>
            <a:ext cx="43430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strike="noStrike">
                <a:solidFill>
                  <a:srgbClr val="FFFFFF"/>
                </a:solidFill>
                <a:latin typeface="Calibri"/>
                <a:ea typeface="Calibri"/>
                <a:cs typeface="Calibri"/>
                <a:sym typeface="Calibri"/>
              </a:rPr>
              <a:t>DECISION</a:t>
            </a:r>
            <a:endParaRPr b="0" sz="1100" strike="noStrike">
              <a:solidFill>
                <a:srgbClr val="000000"/>
              </a:solidFill>
              <a:latin typeface="Arial"/>
              <a:ea typeface="Arial"/>
              <a:cs typeface="Arial"/>
              <a:sym typeface="Arial"/>
            </a:endParaRPr>
          </a:p>
        </p:txBody>
      </p:sp>
      <p:sp>
        <p:nvSpPr>
          <p:cNvPr id="411" name="Google Shape;411;p18"/>
          <p:cNvSpPr/>
          <p:nvPr/>
        </p:nvSpPr>
        <p:spPr>
          <a:xfrm>
            <a:off x="4434840" y="1828800"/>
            <a:ext cx="4343040" cy="822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4600" strike="noStrike">
                <a:solidFill>
                  <a:srgbClr val="2F8F4E"/>
                </a:solidFill>
                <a:latin typeface="Trebuchet MS"/>
                <a:ea typeface="Trebuchet MS"/>
                <a:cs typeface="Trebuchet MS"/>
                <a:sym typeface="Trebuchet MS"/>
              </a:rPr>
              <a:t>PROCEED</a:t>
            </a:r>
            <a:endParaRPr b="0" sz="4600" strike="noStrike">
              <a:solidFill>
                <a:srgbClr val="000000"/>
              </a:solidFill>
              <a:latin typeface="Arial"/>
              <a:ea typeface="Arial"/>
              <a:cs typeface="Arial"/>
              <a:sym typeface="Arial"/>
            </a:endParaRPr>
          </a:p>
        </p:txBody>
      </p:sp>
      <p:sp>
        <p:nvSpPr>
          <p:cNvPr id="412" name="Google Shape;412;p18"/>
          <p:cNvSpPr/>
          <p:nvPr/>
        </p:nvSpPr>
        <p:spPr>
          <a:xfrm>
            <a:off x="4434840" y="2606040"/>
            <a:ext cx="434304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2F8F4E"/>
                </a:solidFill>
                <a:latin typeface="Calibri"/>
                <a:ea typeface="Calibri"/>
                <a:cs typeface="Calibri"/>
                <a:sym typeface="Calibri"/>
              </a:rPr>
              <a:t>Risk: LOW</a:t>
            </a:r>
            <a:endParaRPr b="0" sz="1400" strike="noStrike">
              <a:solidFill>
                <a:srgbClr val="000000"/>
              </a:solidFill>
              <a:latin typeface="Arial"/>
              <a:ea typeface="Arial"/>
              <a:cs typeface="Arial"/>
              <a:sym typeface="Arial"/>
            </a:endParaRPr>
          </a:p>
        </p:txBody>
      </p:sp>
      <p:sp>
        <p:nvSpPr>
          <p:cNvPr id="413" name="Google Shape;413;p18"/>
          <p:cNvSpPr/>
          <p:nvPr/>
        </p:nvSpPr>
        <p:spPr>
          <a:xfrm>
            <a:off x="4526280" y="3017520"/>
            <a:ext cx="4160160" cy="7311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1000" strike="noStrike">
                <a:solidFill>
                  <a:srgbClr val="6B7280"/>
                </a:solidFill>
                <a:latin typeface="Calibri"/>
                <a:ea typeface="Calibri"/>
                <a:cs typeface="Calibri"/>
                <a:sym typeface="Calibri"/>
              </a:rPr>
              <a:t>"No policy was triggered: the recommendation</a:t>
            </a:r>
            <a:endParaRPr b="0" sz="1000"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None/>
            </a:pPr>
            <a:r>
              <a:rPr b="0" i="1" lang="en-US" sz="1000" strike="noStrike">
                <a:solidFill>
                  <a:srgbClr val="6B7280"/>
                </a:solidFill>
                <a:latin typeface="Calibri"/>
                <a:ea typeface="Calibri"/>
                <a:cs typeface="Calibri"/>
                <a:sym typeface="Calibri"/>
              </a:rPr>
              <a:t>is consistent with the active ethical policies."</a:t>
            </a:r>
            <a:endParaRPr b="0" sz="1000" strike="noStrike">
              <a:solidFill>
                <a:srgbClr val="000000"/>
              </a:solidFill>
              <a:latin typeface="Arial"/>
              <a:ea typeface="Arial"/>
              <a:cs typeface="Arial"/>
              <a:sym typeface="Arial"/>
            </a:endParaRPr>
          </a:p>
        </p:txBody>
      </p:sp>
      <p:sp>
        <p:nvSpPr>
          <p:cNvPr id="414" name="Google Shape;414;p18"/>
          <p:cNvSpPr/>
          <p:nvPr/>
        </p:nvSpPr>
        <p:spPr>
          <a:xfrm>
            <a:off x="365760" y="3931920"/>
            <a:ext cx="8412120" cy="273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strike="noStrike">
                <a:solidFill>
                  <a:srgbClr val="6B7280"/>
                </a:solidFill>
                <a:latin typeface="Calibri"/>
                <a:ea typeface="Calibri"/>
                <a:cs typeface="Calibri"/>
                <a:sym typeface="Calibri"/>
              </a:rPr>
              <a:t>Applied policies: P-ACC-003 · P-DISCR-001 · P-PROV-002 · P-TRANS-004</a:t>
            </a:r>
            <a:endParaRPr b="0" sz="1000" strike="noStrike">
              <a:solidFill>
                <a:srgbClr val="000000"/>
              </a:solidFill>
              <a:latin typeface="Arial"/>
              <a:ea typeface="Arial"/>
              <a:cs typeface="Arial"/>
              <a:sym typeface="Arial"/>
            </a:endParaRPr>
          </a:p>
        </p:txBody>
      </p:sp>
      <p:sp>
        <p:nvSpPr>
          <p:cNvPr id="415" name="Google Shape;415;p18"/>
          <p:cNvSpPr/>
          <p:nvPr/>
        </p:nvSpPr>
        <p:spPr>
          <a:xfrm>
            <a:off x="365760" y="4251960"/>
            <a:ext cx="8412120" cy="273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100" strike="noStrike">
                <a:solidFill>
                  <a:srgbClr val="2F8F4E"/>
                </a:solidFill>
                <a:latin typeface="Calibri"/>
                <a:ea typeface="Calibri"/>
                <a:cs typeface="Calibri"/>
                <a:sym typeface="Calibri"/>
              </a:rPr>
              <a:t>Required actions: none  ·  The offer can be shown to the candidate</a:t>
            </a:r>
            <a:endParaRPr b="0" sz="1100"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0" name="Shape 420"/>
        <p:cNvGrpSpPr/>
        <p:nvPr/>
      </p:nvGrpSpPr>
      <p:grpSpPr>
        <a:xfrm>
          <a:off x="0" y="0"/>
          <a:ext cx="0" cy="0"/>
          <a:chOff x="0" y="0"/>
          <a:chExt cx="0" cy="0"/>
        </a:xfrm>
      </p:grpSpPr>
      <p:sp>
        <p:nvSpPr>
          <p:cNvPr id="421" name="Google Shape;421;p19"/>
          <p:cNvSpPr/>
          <p:nvPr/>
        </p:nvSpPr>
        <p:spPr>
          <a:xfrm>
            <a:off x="365760" y="201240"/>
            <a:ext cx="1737000" cy="255600"/>
          </a:xfrm>
          <a:prstGeom prst="roundRect">
            <a:avLst>
              <a:gd fmla="val 14286" name="adj"/>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22" name="Google Shape;422;p19"/>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SCENARIO 2</a:t>
            </a:r>
            <a:endParaRPr b="0" sz="800" strike="noStrike">
              <a:solidFill>
                <a:srgbClr val="000000"/>
              </a:solidFill>
              <a:latin typeface="Arial"/>
              <a:ea typeface="Arial"/>
              <a:cs typeface="Arial"/>
              <a:sym typeface="Arial"/>
            </a:endParaRPr>
          </a:p>
        </p:txBody>
      </p:sp>
      <p:sp>
        <p:nvSpPr>
          <p:cNvPr id="423" name="Google Shape;423;p19"/>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600" strike="noStrike">
                <a:solidFill>
                  <a:srgbClr val="1D2D44"/>
                </a:solidFill>
                <a:latin typeface="Trebuchet MS"/>
                <a:ea typeface="Trebuchet MS"/>
                <a:cs typeface="Trebuchet MS"/>
                <a:sym typeface="Trebuchet MS"/>
              </a:rPr>
              <a:t>Scenario REJECT — cand-001 + job-003</a:t>
            </a:r>
            <a:endParaRPr b="0" sz="2600" strike="noStrike">
              <a:solidFill>
                <a:srgbClr val="000000"/>
              </a:solidFill>
              <a:latin typeface="Arial"/>
              <a:ea typeface="Arial"/>
              <a:cs typeface="Arial"/>
              <a:sym typeface="Arial"/>
            </a:endParaRPr>
          </a:p>
        </p:txBody>
      </p:sp>
      <p:sp>
        <p:nvSpPr>
          <p:cNvPr id="424" name="Google Shape;424;p19"/>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25" name="Google Shape;425;p19"/>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lang="en-US" sz="900" strike="noStrike">
                <a:solidFill>
                  <a:srgbClr val="6B7280"/>
                </a:solidFill>
                <a:latin typeface="Calibri"/>
                <a:ea typeface="Calibri"/>
                <a:cs typeface="Calibri"/>
                <a:sym typeface="Calibri"/>
              </a:rPr>
              <a:t>15</a:t>
            </a:r>
            <a:endParaRPr b="0" sz="900" strike="noStrike">
              <a:solidFill>
                <a:srgbClr val="000000"/>
              </a:solidFill>
              <a:latin typeface="Arial"/>
              <a:ea typeface="Arial"/>
              <a:cs typeface="Arial"/>
              <a:sym typeface="Arial"/>
            </a:endParaRPr>
          </a:p>
        </p:txBody>
      </p:sp>
      <p:sp>
        <p:nvSpPr>
          <p:cNvPr id="426" name="Google Shape;426;p19"/>
          <p:cNvSpPr/>
          <p:nvPr/>
        </p:nvSpPr>
        <p:spPr>
          <a:xfrm>
            <a:off x="365760" y="1325880"/>
            <a:ext cx="3931560" cy="13712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27" name="Google Shape;427;p19"/>
          <p:cNvSpPr/>
          <p:nvPr/>
        </p:nvSpPr>
        <p:spPr>
          <a:xfrm>
            <a:off x="502920" y="1371600"/>
            <a:ext cx="3565800" cy="292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100" strike="noStrike">
                <a:solidFill>
                  <a:srgbClr val="1D2D44"/>
                </a:solidFill>
                <a:latin typeface="Trebuchet MS"/>
                <a:ea typeface="Trebuchet MS"/>
                <a:cs typeface="Trebuchet MS"/>
                <a:sym typeface="Trebuchet MS"/>
              </a:rPr>
              <a:t>Request</a:t>
            </a:r>
            <a:endParaRPr b="0" sz="1100" strike="noStrike">
              <a:solidFill>
                <a:srgbClr val="000000"/>
              </a:solidFill>
              <a:latin typeface="Arial"/>
              <a:ea typeface="Arial"/>
              <a:cs typeface="Arial"/>
              <a:sym typeface="Arial"/>
            </a:endParaRPr>
          </a:p>
        </p:txBody>
      </p:sp>
      <p:sp>
        <p:nvSpPr>
          <p:cNvPr id="428" name="Google Shape;428;p19"/>
          <p:cNvSpPr/>
          <p:nvPr/>
        </p:nvSpPr>
        <p:spPr>
          <a:xfrm>
            <a:off x="502920" y="1719000"/>
            <a:ext cx="3657240" cy="914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candidateId: </a:t>
            </a:r>
            <a:r>
              <a:rPr b="1" lang="en-US" sz="1100" strike="noStrike">
                <a:solidFill>
                  <a:srgbClr val="1D2D44"/>
                </a:solidFill>
                <a:latin typeface="Calibri"/>
                <a:ea typeface="Calibri"/>
                <a:cs typeface="Calibri"/>
                <a:sym typeface="Calibri"/>
              </a:rPr>
              <a:t>cand-001</a:t>
            </a:r>
            <a:r>
              <a:rPr b="0" lang="en-US" sz="1100" strike="noStrike">
                <a:solidFill>
                  <a:srgbClr val="6B7280"/>
                </a:solidFill>
                <a:latin typeface="Calibri"/>
                <a:ea typeface="Calibri"/>
                <a:cs typeface="Calibri"/>
                <a:sym typeface="Calibri"/>
              </a:rPr>
              <a:t>  (Alice Bianchi, 28 years old)</a:t>
            </a:r>
            <a:endParaRPr b="0" sz="11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jobId: </a:t>
            </a:r>
            <a:r>
              <a:rPr b="1" lang="en-US" sz="1100" strike="noStrike">
                <a:solidFill>
                  <a:srgbClr val="1D2D44"/>
                </a:solidFill>
                <a:latin typeface="Calibri"/>
                <a:ea typeface="Calibri"/>
                <a:cs typeface="Calibri"/>
                <a:sym typeface="Calibri"/>
              </a:rPr>
              <a:t>job-003</a:t>
            </a:r>
            <a:r>
              <a:rPr b="0" lang="en-US" sz="1100" strike="noStrike">
                <a:solidFill>
                  <a:srgbClr val="6B7280"/>
                </a:solidFill>
                <a:latin typeface="Calibri"/>
                <a:ea typeface="Calibri"/>
                <a:cs typeface="Calibri"/>
                <a:sym typeface="Calibri"/>
              </a:rPr>
              <a:t>  (Junior Frontend Dev)</a:t>
            </a:r>
            <a:endParaRPr b="0" sz="1100"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100" strike="noStrike">
                <a:solidFill>
                  <a:srgbClr val="6B7280"/>
                </a:solidFill>
                <a:latin typeface="Calibri"/>
                <a:ea typeface="Calibri"/>
                <a:cs typeface="Calibri"/>
                <a:sym typeface="Calibri"/>
              </a:rPr>
              <a:t>source: </a:t>
            </a:r>
            <a:r>
              <a:rPr b="1" lang="en-US" sz="1100" strike="noStrike">
                <a:solidFill>
                  <a:srgbClr val="B32424"/>
                </a:solidFill>
                <a:latin typeface="Calibri"/>
                <a:ea typeface="Calibri"/>
                <a:cs typeface="Calibri"/>
                <a:sym typeface="Calibri"/>
              </a:rPr>
              <a:t>third-party-scraper</a:t>
            </a:r>
            <a:endParaRPr b="0" sz="1100" strike="noStrike">
              <a:solidFill>
                <a:srgbClr val="000000"/>
              </a:solidFill>
              <a:latin typeface="Arial"/>
              <a:ea typeface="Arial"/>
              <a:cs typeface="Arial"/>
              <a:sym typeface="Arial"/>
            </a:endParaRPr>
          </a:p>
        </p:txBody>
      </p:sp>
      <p:sp>
        <p:nvSpPr>
          <p:cNvPr id="429" name="Google Shape;429;p19"/>
          <p:cNvSpPr/>
          <p:nvPr/>
        </p:nvSpPr>
        <p:spPr>
          <a:xfrm>
            <a:off x="365760" y="2834640"/>
            <a:ext cx="3931560" cy="804240"/>
          </a:xfrm>
          <a:prstGeom prst="rect">
            <a:avLst/>
          </a:prstGeom>
          <a:solidFill>
            <a:srgbClr val="FFF5F5"/>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30" name="Google Shape;430;p19"/>
          <p:cNvSpPr/>
          <p:nvPr/>
        </p:nvSpPr>
        <p:spPr>
          <a:xfrm>
            <a:off x="365760" y="2834640"/>
            <a:ext cx="731160" cy="310680"/>
          </a:xfrm>
          <a:prstGeom prst="rect">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31" name="Google Shape;431;p19"/>
          <p:cNvSpPr/>
          <p:nvPr/>
        </p:nvSpPr>
        <p:spPr>
          <a:xfrm>
            <a:off x="365760" y="2834640"/>
            <a:ext cx="731160" cy="310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CRITICAL</a:t>
            </a:r>
            <a:endParaRPr b="0" sz="800" strike="noStrike">
              <a:solidFill>
                <a:srgbClr val="000000"/>
              </a:solidFill>
              <a:latin typeface="Arial"/>
              <a:ea typeface="Arial"/>
              <a:cs typeface="Arial"/>
              <a:sym typeface="Arial"/>
            </a:endParaRPr>
          </a:p>
        </p:txBody>
      </p:sp>
      <p:sp>
        <p:nvSpPr>
          <p:cNvPr id="432" name="Google Shape;432;p19"/>
          <p:cNvSpPr/>
          <p:nvPr/>
        </p:nvSpPr>
        <p:spPr>
          <a:xfrm>
            <a:off x="1143000" y="2834640"/>
            <a:ext cx="1828440" cy="310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900" strike="noStrike">
                <a:solidFill>
                  <a:srgbClr val="B32424"/>
                </a:solidFill>
                <a:latin typeface="Consolas"/>
                <a:ea typeface="Consolas"/>
                <a:cs typeface="Consolas"/>
                <a:sym typeface="Consolas"/>
              </a:rPr>
              <a:t>P-DISCR-001</a:t>
            </a:r>
            <a:endParaRPr b="0" sz="900" strike="noStrike">
              <a:solidFill>
                <a:srgbClr val="000000"/>
              </a:solidFill>
              <a:latin typeface="Arial"/>
              <a:ea typeface="Arial"/>
              <a:cs typeface="Arial"/>
              <a:sym typeface="Arial"/>
            </a:endParaRPr>
          </a:p>
        </p:txBody>
      </p:sp>
      <p:sp>
        <p:nvSpPr>
          <p:cNvPr id="433" name="Google Shape;433;p19"/>
          <p:cNvSpPr/>
          <p:nvPr/>
        </p:nvSpPr>
        <p:spPr>
          <a:xfrm>
            <a:off x="502920" y="3182040"/>
            <a:ext cx="3657240" cy="402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000" strike="noStrike">
                <a:solidFill>
                  <a:srgbClr val="1D2D44"/>
                </a:solidFill>
                <a:latin typeface="Calibri"/>
                <a:ea typeface="Calibri"/>
                <a:cs typeface="Calibri"/>
                <a:sym typeface="Calibri"/>
              </a:rPr>
              <a:t>Offer carries "ageRangeMax" = 30</a:t>
            </a:r>
            <a:endParaRPr b="0" sz="1000" strike="noStrike">
              <a:solidFill>
                <a:srgbClr val="000000"/>
              </a:solidFill>
              <a:latin typeface="Arial"/>
              <a:ea typeface="Arial"/>
              <a:cs typeface="Arial"/>
              <a:sym typeface="Arial"/>
            </a:endParaRPr>
          </a:p>
        </p:txBody>
      </p:sp>
      <p:sp>
        <p:nvSpPr>
          <p:cNvPr id="434" name="Google Shape;434;p19"/>
          <p:cNvSpPr/>
          <p:nvPr/>
        </p:nvSpPr>
        <p:spPr>
          <a:xfrm>
            <a:off x="365760" y="3749040"/>
            <a:ext cx="3931560" cy="804240"/>
          </a:xfrm>
          <a:prstGeom prst="rect">
            <a:avLst/>
          </a:prstGeom>
          <a:solidFill>
            <a:srgbClr val="FFF8F0"/>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35" name="Google Shape;435;p19"/>
          <p:cNvSpPr/>
          <p:nvPr/>
        </p:nvSpPr>
        <p:spPr>
          <a:xfrm>
            <a:off x="365760" y="3749040"/>
            <a:ext cx="731160" cy="310680"/>
          </a:xfrm>
          <a:prstGeom prst="rect">
            <a:avLst/>
          </a:prstGeom>
          <a:solidFill>
            <a:srgbClr val="C25A00"/>
          </a:solidFill>
          <a:ln cap="flat" cmpd="sng" w="12700">
            <a:solidFill>
              <a:srgbClr val="C25A0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36" name="Google Shape;436;p19"/>
          <p:cNvSpPr/>
          <p:nvPr/>
        </p:nvSpPr>
        <p:spPr>
          <a:xfrm>
            <a:off x="365760" y="3749040"/>
            <a:ext cx="731160" cy="310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HIGH</a:t>
            </a:r>
            <a:endParaRPr b="0" sz="800" strike="noStrike">
              <a:solidFill>
                <a:srgbClr val="000000"/>
              </a:solidFill>
              <a:latin typeface="Arial"/>
              <a:ea typeface="Arial"/>
              <a:cs typeface="Arial"/>
              <a:sym typeface="Arial"/>
            </a:endParaRPr>
          </a:p>
        </p:txBody>
      </p:sp>
      <p:sp>
        <p:nvSpPr>
          <p:cNvPr id="437" name="Google Shape;437;p19"/>
          <p:cNvSpPr/>
          <p:nvPr/>
        </p:nvSpPr>
        <p:spPr>
          <a:xfrm>
            <a:off x="1143000" y="3749040"/>
            <a:ext cx="1828440" cy="310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900" strike="noStrike">
                <a:solidFill>
                  <a:srgbClr val="C25A00"/>
                </a:solidFill>
                <a:latin typeface="Consolas"/>
                <a:ea typeface="Consolas"/>
                <a:cs typeface="Consolas"/>
                <a:sym typeface="Consolas"/>
              </a:rPr>
              <a:t>P-PROV-002</a:t>
            </a:r>
            <a:endParaRPr b="0" sz="900" strike="noStrike">
              <a:solidFill>
                <a:srgbClr val="000000"/>
              </a:solidFill>
              <a:latin typeface="Arial"/>
              <a:ea typeface="Arial"/>
              <a:cs typeface="Arial"/>
              <a:sym typeface="Arial"/>
            </a:endParaRPr>
          </a:p>
        </p:txBody>
      </p:sp>
      <p:sp>
        <p:nvSpPr>
          <p:cNvPr id="438" name="Google Shape;438;p19"/>
          <p:cNvSpPr/>
          <p:nvPr/>
        </p:nvSpPr>
        <p:spPr>
          <a:xfrm>
            <a:off x="502920" y="4096440"/>
            <a:ext cx="3657240" cy="4021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000" strike="noStrike">
                <a:solidFill>
                  <a:srgbClr val="1D2D44"/>
                </a:solidFill>
                <a:latin typeface="Calibri"/>
                <a:ea typeface="Calibri"/>
                <a:cs typeface="Calibri"/>
                <a:sym typeface="Calibri"/>
              </a:rPr>
              <a:t>Source "third-party-scraper" not trusted</a:t>
            </a:r>
            <a:endParaRPr b="0" sz="1000" strike="noStrike">
              <a:solidFill>
                <a:srgbClr val="000000"/>
              </a:solidFill>
              <a:latin typeface="Arial"/>
              <a:ea typeface="Arial"/>
              <a:cs typeface="Arial"/>
              <a:sym typeface="Arial"/>
            </a:endParaRPr>
          </a:p>
        </p:txBody>
      </p:sp>
      <p:sp>
        <p:nvSpPr>
          <p:cNvPr id="439" name="Google Shape;439;p19"/>
          <p:cNvSpPr/>
          <p:nvPr/>
        </p:nvSpPr>
        <p:spPr>
          <a:xfrm>
            <a:off x="4434840" y="1325880"/>
            <a:ext cx="4343040" cy="2742840"/>
          </a:xfrm>
          <a:prstGeom prst="rect">
            <a:avLst/>
          </a:prstGeom>
          <a:solidFill>
            <a:srgbClr val="FFF5F5"/>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40" name="Google Shape;440;p19"/>
          <p:cNvSpPr/>
          <p:nvPr/>
        </p:nvSpPr>
        <p:spPr>
          <a:xfrm>
            <a:off x="4434840" y="1325880"/>
            <a:ext cx="4343040" cy="383760"/>
          </a:xfrm>
          <a:prstGeom prst="rect">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41" name="Google Shape;441;p19"/>
          <p:cNvSpPr/>
          <p:nvPr/>
        </p:nvSpPr>
        <p:spPr>
          <a:xfrm>
            <a:off x="4434840" y="1325880"/>
            <a:ext cx="43430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strike="noStrike">
                <a:solidFill>
                  <a:srgbClr val="FFFFFF"/>
                </a:solidFill>
                <a:latin typeface="Calibri"/>
                <a:ea typeface="Calibri"/>
                <a:cs typeface="Calibri"/>
                <a:sym typeface="Calibri"/>
              </a:rPr>
              <a:t>DECISION</a:t>
            </a:r>
            <a:endParaRPr b="0" sz="1100" strike="noStrike">
              <a:solidFill>
                <a:srgbClr val="000000"/>
              </a:solidFill>
              <a:latin typeface="Arial"/>
              <a:ea typeface="Arial"/>
              <a:cs typeface="Arial"/>
              <a:sym typeface="Arial"/>
            </a:endParaRPr>
          </a:p>
        </p:txBody>
      </p:sp>
      <p:sp>
        <p:nvSpPr>
          <p:cNvPr id="442" name="Google Shape;442;p19"/>
          <p:cNvSpPr/>
          <p:nvPr/>
        </p:nvSpPr>
        <p:spPr>
          <a:xfrm>
            <a:off x="4434840" y="1783080"/>
            <a:ext cx="4343040" cy="822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4800" strike="noStrike">
                <a:solidFill>
                  <a:srgbClr val="B32424"/>
                </a:solidFill>
                <a:latin typeface="Trebuchet MS"/>
                <a:ea typeface="Trebuchet MS"/>
                <a:cs typeface="Trebuchet MS"/>
                <a:sym typeface="Trebuchet MS"/>
              </a:rPr>
              <a:t>REJECT</a:t>
            </a:r>
            <a:endParaRPr b="0" sz="4800" strike="noStrike">
              <a:solidFill>
                <a:srgbClr val="000000"/>
              </a:solidFill>
              <a:latin typeface="Arial"/>
              <a:ea typeface="Arial"/>
              <a:cs typeface="Arial"/>
              <a:sym typeface="Arial"/>
            </a:endParaRPr>
          </a:p>
        </p:txBody>
      </p:sp>
      <p:sp>
        <p:nvSpPr>
          <p:cNvPr id="443" name="Google Shape;443;p19"/>
          <p:cNvSpPr/>
          <p:nvPr/>
        </p:nvSpPr>
        <p:spPr>
          <a:xfrm>
            <a:off x="4434840" y="2606040"/>
            <a:ext cx="434304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B32424"/>
                </a:solidFill>
                <a:latin typeface="Calibri"/>
                <a:ea typeface="Calibri"/>
                <a:cs typeface="Calibri"/>
                <a:sym typeface="Calibri"/>
              </a:rPr>
              <a:t>Risk: CRITICAL</a:t>
            </a:r>
            <a:endParaRPr b="0" sz="1400" strike="noStrike">
              <a:solidFill>
                <a:srgbClr val="000000"/>
              </a:solidFill>
              <a:latin typeface="Arial"/>
              <a:ea typeface="Arial"/>
              <a:cs typeface="Arial"/>
              <a:sym typeface="Arial"/>
            </a:endParaRPr>
          </a:p>
        </p:txBody>
      </p:sp>
      <p:sp>
        <p:nvSpPr>
          <p:cNvPr id="444" name="Google Shape;444;p19"/>
          <p:cNvSpPr/>
          <p:nvPr/>
        </p:nvSpPr>
        <p:spPr>
          <a:xfrm>
            <a:off x="4526280" y="3017520"/>
            <a:ext cx="4160160" cy="255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000" strike="noStrike">
                <a:solidFill>
                  <a:srgbClr val="1D2D44"/>
                </a:solidFill>
                <a:latin typeface="Calibri"/>
                <a:ea typeface="Calibri"/>
                <a:cs typeface="Calibri"/>
                <a:sym typeface="Calibri"/>
              </a:rPr>
              <a:t>Required actions:</a:t>
            </a:r>
            <a:endParaRPr b="0" sz="1000" strike="noStrike">
              <a:solidFill>
                <a:srgbClr val="000000"/>
              </a:solidFill>
              <a:latin typeface="Arial"/>
              <a:ea typeface="Arial"/>
              <a:cs typeface="Arial"/>
              <a:sym typeface="Arial"/>
            </a:endParaRPr>
          </a:p>
        </p:txBody>
      </p:sp>
      <p:sp>
        <p:nvSpPr>
          <p:cNvPr id="445" name="Google Shape;445;p19"/>
          <p:cNvSpPr/>
          <p:nvPr/>
        </p:nvSpPr>
        <p:spPr>
          <a:xfrm>
            <a:off x="4526280" y="3291840"/>
            <a:ext cx="4160160" cy="731160"/>
          </a:xfrm>
          <a:prstGeom prst="rect">
            <a:avLst/>
          </a:prstGeom>
          <a:noFill/>
          <a:ln>
            <a:noFill/>
          </a:ln>
        </p:spPr>
        <p:txBody>
          <a:bodyPr anchorCtr="0" anchor="ctr" bIns="0" lIns="0" spcFirstLastPara="1" rIns="0" wrap="square" tIns="0">
            <a:noAutofit/>
          </a:bodyPr>
          <a:lstStyle/>
          <a:p>
            <a:pPr indent="-343080" lvl="0" marL="343080" marR="0" rtl="0" algn="l">
              <a:lnSpc>
                <a:spcPct val="100000"/>
              </a:lnSpc>
              <a:spcBef>
                <a:spcPts val="0"/>
              </a:spcBef>
              <a:spcAft>
                <a:spcPts val="0"/>
              </a:spcAft>
              <a:buClr>
                <a:srgbClr val="1D2D44"/>
              </a:buClr>
              <a:buSzPts val="1000"/>
              <a:buFont typeface="Noto Sans Symbols"/>
              <a:buChar char="∙"/>
            </a:pPr>
            <a:r>
              <a:rPr b="0" lang="en-US" sz="1000" strike="noStrike">
                <a:solidFill>
                  <a:srgbClr val="1D2D44"/>
                </a:solidFill>
                <a:latin typeface="Calibri"/>
                <a:ea typeface="Calibri"/>
                <a:cs typeface="Calibri"/>
                <a:sym typeface="Calibri"/>
              </a:rPr>
              <a:t>Hide the offer from recommendations</a:t>
            </a:r>
            <a:endParaRPr b="0" sz="1000" strike="noStrike">
              <a:solidFill>
                <a:srgbClr val="000000"/>
              </a:solidFill>
              <a:latin typeface="Arial"/>
              <a:ea typeface="Arial"/>
              <a:cs typeface="Arial"/>
              <a:sym typeface="Arial"/>
            </a:endParaRPr>
          </a:p>
          <a:p>
            <a:pPr indent="-343080" lvl="0" marL="343080" marR="0" rtl="0" algn="l">
              <a:lnSpc>
                <a:spcPct val="100000"/>
              </a:lnSpc>
              <a:spcBef>
                <a:spcPts val="0"/>
              </a:spcBef>
              <a:spcAft>
                <a:spcPts val="0"/>
              </a:spcAft>
              <a:buClr>
                <a:srgbClr val="1D2D44"/>
              </a:buClr>
              <a:buSzPts val="1000"/>
              <a:buFont typeface="Noto Sans Symbols"/>
              <a:buChar char="∙"/>
            </a:pPr>
            <a:r>
              <a:rPr b="0" lang="en-US" sz="1000" strike="noStrike">
                <a:solidFill>
                  <a:srgbClr val="1D2D44"/>
                </a:solidFill>
                <a:latin typeface="Calibri"/>
                <a:ea typeface="Calibri"/>
                <a:cs typeface="Calibri"/>
                <a:sym typeface="Calibri"/>
              </a:rPr>
              <a:t>Notify the responsible for the discriminatory field</a:t>
            </a:r>
            <a:endParaRPr b="0" sz="1000" strike="noStrike">
              <a:solidFill>
                <a:srgbClr val="000000"/>
              </a:solidFill>
              <a:latin typeface="Arial"/>
              <a:ea typeface="Arial"/>
              <a:cs typeface="Arial"/>
              <a:sym typeface="Arial"/>
            </a:endParaRPr>
          </a:p>
          <a:p>
            <a:pPr indent="-343080" lvl="0" marL="343080" marR="0" rtl="0" algn="l">
              <a:lnSpc>
                <a:spcPct val="100000"/>
              </a:lnSpc>
              <a:spcBef>
                <a:spcPts val="0"/>
              </a:spcBef>
              <a:spcAft>
                <a:spcPts val="0"/>
              </a:spcAft>
              <a:buClr>
                <a:srgbClr val="1D2D44"/>
              </a:buClr>
              <a:buSzPts val="1000"/>
              <a:buFont typeface="Noto Sans Symbols"/>
              <a:buChar char="∙"/>
            </a:pPr>
            <a:r>
              <a:rPr b="0" lang="en-US" sz="1000" strike="noStrike">
                <a:solidFill>
                  <a:srgbClr val="1D2D44"/>
                </a:solidFill>
                <a:latin typeface="Calibri"/>
                <a:ea typeface="Calibri"/>
                <a:cs typeface="Calibri"/>
                <a:sym typeface="Calibri"/>
              </a:rPr>
              <a:t>Escalate to compliance officer</a:t>
            </a:r>
            <a:endParaRPr b="0" sz="1000"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450" name="Shape 450"/>
        <p:cNvGrpSpPr/>
        <p:nvPr/>
      </p:nvGrpSpPr>
      <p:grpSpPr>
        <a:xfrm>
          <a:off x="0" y="0"/>
          <a:ext cx="0" cy="0"/>
          <a:chOff x="0" y="0"/>
          <a:chExt cx="0" cy="0"/>
        </a:xfrm>
      </p:grpSpPr>
      <p:sp>
        <p:nvSpPr>
          <p:cNvPr id="451" name="Google Shape;451;p20"/>
          <p:cNvSpPr/>
          <p:nvPr/>
        </p:nvSpPr>
        <p:spPr>
          <a:xfrm>
            <a:off x="0" y="0"/>
            <a:ext cx="200880" cy="5143320"/>
          </a:xfrm>
          <a:prstGeom prst="rect">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52" name="Google Shape;452;p20"/>
          <p:cNvSpPr/>
          <p:nvPr/>
        </p:nvSpPr>
        <p:spPr>
          <a:xfrm>
            <a:off x="457200" y="1371600"/>
            <a:ext cx="8229240" cy="1096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5200" strike="noStrike">
                <a:solidFill>
                  <a:srgbClr val="FFFFFF"/>
                </a:solidFill>
                <a:latin typeface="Trebuchet MS"/>
                <a:ea typeface="Trebuchet MS"/>
                <a:cs typeface="Trebuchet MS"/>
                <a:sym typeface="Trebuchet MS"/>
              </a:rPr>
              <a:t>Live Demo</a:t>
            </a:r>
            <a:endParaRPr b="0" sz="5200" strike="noStrike">
              <a:solidFill>
                <a:srgbClr val="FFFFFF"/>
              </a:solidFill>
              <a:latin typeface="Arial"/>
              <a:ea typeface="Arial"/>
              <a:cs typeface="Arial"/>
              <a:sym typeface="Arial"/>
            </a:endParaRPr>
          </a:p>
        </p:txBody>
      </p:sp>
      <p:sp>
        <p:nvSpPr>
          <p:cNvPr id="453" name="Google Shape;453;p20"/>
          <p:cNvSpPr/>
          <p:nvPr/>
        </p:nvSpPr>
        <p:spPr>
          <a:xfrm>
            <a:off x="457200" y="2578680"/>
            <a:ext cx="8320680" cy="2422800"/>
          </a:xfrm>
          <a:prstGeom prst="rect">
            <a:avLst/>
          </a:prstGeom>
          <a:noFill/>
          <a:ln>
            <a:noFill/>
          </a:ln>
        </p:spPr>
        <p:txBody>
          <a:bodyPr anchorCtr="0" anchor="t" bIns="0" lIns="0" spcFirstLastPara="1" rIns="0" wrap="square" tIns="0">
            <a:noAutofit/>
          </a:bodyPr>
          <a:lstStyle/>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1  Start DaaS (:8081) · EaaS (:8082) · Client (:8080)</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2  Browse Swagger UI → localhost:8081/swagger-ui.html  (explore all CRUD endpoints)</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3  Create a new candidate via the web form (CRUD in action)</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4  Select cand-001 (Alice Bianchi) → view match recommendations</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5  Evaluate job-001 → PROCEED</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6  Evaluate job-003 → REJECT  (ageRangeMax + third-party-scraper)</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7  Open /api/audit → verify AuditRecord · check JSONL on disk</a:t>
            </a:r>
            <a:endParaRPr b="0" sz="1200" strike="noStrike">
              <a:solidFill>
                <a:srgbClr val="FFFFFF"/>
              </a:solidFill>
              <a:latin typeface="Arial"/>
              <a:ea typeface="Arial"/>
              <a:cs typeface="Arial"/>
              <a:sym typeface="Arial"/>
            </a:endParaRPr>
          </a:p>
          <a:p>
            <a:pPr indent="0" lvl="0" marL="0" marR="0" rtl="0" algn="l">
              <a:lnSpc>
                <a:spcPct val="135000"/>
              </a:lnSpc>
              <a:spcBef>
                <a:spcPts val="0"/>
              </a:spcBef>
              <a:spcAft>
                <a:spcPts val="0"/>
              </a:spcAft>
              <a:buNone/>
            </a:pPr>
            <a:r>
              <a:rPr b="0" lang="en-US" sz="1200" strike="noStrike">
                <a:solidFill>
                  <a:srgbClr val="CADCFC"/>
                </a:solidFill>
                <a:latin typeface="Calibri"/>
                <a:ea typeface="Calibri"/>
                <a:cs typeface="Calibri"/>
                <a:sym typeface="Calibri"/>
              </a:rPr>
              <a:t>8  Edit a JSON policy file → restart EaaS → rerun evaluation</a:t>
            </a:r>
            <a:endParaRPr b="0" sz="1200" strike="noStrike">
              <a:solidFill>
                <a:srgbClr val="FFFFFF"/>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21"/>
          <p:cNvSpPr/>
          <p:nvPr/>
        </p:nvSpPr>
        <p:spPr>
          <a:xfrm>
            <a:off x="365760" y="201240"/>
            <a:ext cx="1737000" cy="255600"/>
          </a:xfrm>
          <a:prstGeom prst="roundRect">
            <a:avLst>
              <a:gd fmla="val 14286" name="adj"/>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60" name="Google Shape;460;p21"/>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CRITICAL REFLECTION</a:t>
            </a:r>
            <a:endParaRPr b="0" sz="800" strike="noStrike">
              <a:solidFill>
                <a:srgbClr val="000000"/>
              </a:solidFill>
              <a:latin typeface="Arial"/>
              <a:ea typeface="Arial"/>
              <a:cs typeface="Arial"/>
              <a:sym typeface="Arial"/>
            </a:endParaRPr>
          </a:p>
        </p:txBody>
      </p:sp>
      <p:sp>
        <p:nvSpPr>
          <p:cNvPr id="461" name="Google Shape;461;p21"/>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600" strike="noStrike">
                <a:solidFill>
                  <a:srgbClr val="1D2D44"/>
                </a:solidFill>
                <a:latin typeface="Trebuchet MS"/>
                <a:ea typeface="Trebuchet MS"/>
                <a:cs typeface="Trebuchet MS"/>
                <a:sym typeface="Trebuchet MS"/>
              </a:rPr>
              <a:t>System Limitations</a:t>
            </a:r>
            <a:endParaRPr b="0" sz="2600" strike="noStrike">
              <a:solidFill>
                <a:srgbClr val="000000"/>
              </a:solidFill>
              <a:latin typeface="Arial"/>
              <a:ea typeface="Arial"/>
              <a:cs typeface="Arial"/>
              <a:sym typeface="Arial"/>
            </a:endParaRPr>
          </a:p>
        </p:txBody>
      </p:sp>
      <p:sp>
        <p:nvSpPr>
          <p:cNvPr id="462" name="Google Shape;462;p21"/>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63" name="Google Shape;463;p21"/>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lang="en-US" sz="900" strike="noStrike">
                <a:solidFill>
                  <a:srgbClr val="6B7280"/>
                </a:solidFill>
                <a:latin typeface="Calibri"/>
                <a:ea typeface="Calibri"/>
                <a:cs typeface="Calibri"/>
                <a:sym typeface="Calibri"/>
              </a:rPr>
              <a:t>20</a:t>
            </a:r>
            <a:endParaRPr b="0" sz="900" strike="noStrike">
              <a:solidFill>
                <a:srgbClr val="000000"/>
              </a:solidFill>
              <a:latin typeface="Arial"/>
              <a:ea typeface="Arial"/>
              <a:cs typeface="Arial"/>
              <a:sym typeface="Arial"/>
            </a:endParaRPr>
          </a:p>
        </p:txBody>
      </p:sp>
      <p:sp>
        <p:nvSpPr>
          <p:cNvPr id="464" name="Google Shape;464;p21"/>
          <p:cNvSpPr/>
          <p:nvPr/>
        </p:nvSpPr>
        <p:spPr>
          <a:xfrm>
            <a:off x="365760" y="1325880"/>
            <a:ext cx="4160160" cy="15998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65" name="Google Shape;465;p21"/>
          <p:cNvSpPr/>
          <p:nvPr/>
        </p:nvSpPr>
        <p:spPr>
          <a:xfrm>
            <a:off x="365760" y="1325880"/>
            <a:ext cx="200880" cy="1599840"/>
          </a:xfrm>
          <a:prstGeom prst="rect">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66" name="Google Shape;466;p21"/>
          <p:cNvSpPr/>
          <p:nvPr/>
        </p:nvSpPr>
        <p:spPr>
          <a:xfrm>
            <a:off x="658440" y="1417320"/>
            <a:ext cx="37486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strike="noStrike">
                <a:solidFill>
                  <a:srgbClr val="1D2D44"/>
                </a:solidFill>
                <a:latin typeface="Trebuchet MS"/>
                <a:ea typeface="Trebuchet MS"/>
                <a:cs typeface="Trebuchet MS"/>
                <a:sym typeface="Trebuchet MS"/>
              </a:rPr>
              <a:t>Indirect proxies not detected</a:t>
            </a:r>
            <a:endParaRPr b="0" sz="1200" strike="noStrike">
              <a:solidFill>
                <a:srgbClr val="000000"/>
              </a:solidFill>
              <a:latin typeface="Arial"/>
              <a:ea typeface="Arial"/>
              <a:cs typeface="Arial"/>
              <a:sym typeface="Arial"/>
            </a:endParaRPr>
          </a:p>
        </p:txBody>
      </p:sp>
      <p:sp>
        <p:nvSpPr>
          <p:cNvPr id="467" name="Google Shape;467;p21"/>
          <p:cNvSpPr/>
          <p:nvPr/>
        </p:nvSpPr>
        <p:spPr>
          <a:xfrm>
            <a:off x="658440" y="1783080"/>
            <a:ext cx="3748680" cy="1051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The system checks explicit fields (age, gender, nationality). Subtle proxies like postcode, university, or name are not intercepted.</a:t>
            </a:r>
            <a:endParaRPr b="0" sz="1100" strike="noStrike">
              <a:solidFill>
                <a:srgbClr val="000000"/>
              </a:solidFill>
              <a:latin typeface="Arial"/>
              <a:ea typeface="Arial"/>
              <a:cs typeface="Arial"/>
              <a:sym typeface="Arial"/>
            </a:endParaRPr>
          </a:p>
        </p:txBody>
      </p:sp>
      <p:sp>
        <p:nvSpPr>
          <p:cNvPr id="468" name="Google Shape;468;p21"/>
          <p:cNvSpPr/>
          <p:nvPr/>
        </p:nvSpPr>
        <p:spPr>
          <a:xfrm>
            <a:off x="365760" y="3063240"/>
            <a:ext cx="4160160" cy="15998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69" name="Google Shape;469;p21"/>
          <p:cNvSpPr/>
          <p:nvPr/>
        </p:nvSpPr>
        <p:spPr>
          <a:xfrm>
            <a:off x="365760" y="3063240"/>
            <a:ext cx="200880" cy="1599840"/>
          </a:xfrm>
          <a:prstGeom prst="rect">
            <a:avLst/>
          </a:prstGeom>
          <a:solidFill>
            <a:srgbClr val="C25A00"/>
          </a:solidFill>
          <a:ln cap="flat" cmpd="sng" w="12700">
            <a:solidFill>
              <a:srgbClr val="C25A0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70" name="Google Shape;470;p21"/>
          <p:cNvSpPr/>
          <p:nvPr/>
        </p:nvSpPr>
        <p:spPr>
          <a:xfrm>
            <a:off x="658440" y="3154680"/>
            <a:ext cx="37486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strike="noStrike">
                <a:solidFill>
                  <a:srgbClr val="1D2D44"/>
                </a:solidFill>
                <a:latin typeface="Trebuchet MS"/>
                <a:ea typeface="Trebuchet MS"/>
                <a:cs typeface="Trebuchet MS"/>
                <a:sym typeface="Trebuchet MS"/>
              </a:rPr>
              <a:t>Synthetic dataset</a:t>
            </a:r>
            <a:endParaRPr b="0" sz="1200" strike="noStrike">
              <a:solidFill>
                <a:srgbClr val="000000"/>
              </a:solidFill>
              <a:latin typeface="Arial"/>
              <a:ea typeface="Arial"/>
              <a:cs typeface="Arial"/>
              <a:sym typeface="Arial"/>
            </a:endParaRPr>
          </a:p>
        </p:txBody>
      </p:sp>
      <p:sp>
        <p:nvSpPr>
          <p:cNvPr id="471" name="Google Shape;471;p21"/>
          <p:cNvSpPr/>
          <p:nvPr/>
        </p:nvSpPr>
        <p:spPr>
          <a:xfrm>
            <a:off x="658440" y="3520440"/>
            <a:ext cx="3748680" cy="1051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Data is artificially generated. In production, GDPR consent management, encryption, and right-to-explanation flows would be required.</a:t>
            </a:r>
            <a:endParaRPr b="0" sz="1100" strike="noStrike">
              <a:solidFill>
                <a:srgbClr val="000000"/>
              </a:solidFill>
              <a:latin typeface="Arial"/>
              <a:ea typeface="Arial"/>
              <a:cs typeface="Arial"/>
              <a:sym typeface="Arial"/>
            </a:endParaRPr>
          </a:p>
        </p:txBody>
      </p:sp>
      <p:sp>
        <p:nvSpPr>
          <p:cNvPr id="472" name="Google Shape;472;p21"/>
          <p:cNvSpPr/>
          <p:nvPr/>
        </p:nvSpPr>
        <p:spPr>
          <a:xfrm>
            <a:off x="4709160" y="1325880"/>
            <a:ext cx="4160160" cy="15998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73" name="Google Shape;473;p21"/>
          <p:cNvSpPr/>
          <p:nvPr/>
        </p:nvSpPr>
        <p:spPr>
          <a:xfrm>
            <a:off x="4709160" y="1325880"/>
            <a:ext cx="200880" cy="1599840"/>
          </a:xfrm>
          <a:prstGeom prst="rect">
            <a:avLst/>
          </a:prstGeom>
          <a:solidFill>
            <a:srgbClr val="D8A01A"/>
          </a:solidFill>
          <a:ln cap="flat" cmpd="sng" w="12700">
            <a:solidFill>
              <a:srgbClr val="D8A01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74" name="Google Shape;474;p21"/>
          <p:cNvSpPr/>
          <p:nvPr/>
        </p:nvSpPr>
        <p:spPr>
          <a:xfrm>
            <a:off x="5001840" y="1417320"/>
            <a:ext cx="37486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strike="noStrike">
                <a:solidFill>
                  <a:srgbClr val="1D2D44"/>
                </a:solidFill>
                <a:latin typeface="Trebuchet MS"/>
                <a:ea typeface="Trebuchet MS"/>
                <a:cs typeface="Trebuchet MS"/>
                <a:sym typeface="Trebuchet MS"/>
              </a:rPr>
              <a:t>Policies written in Java</a:t>
            </a:r>
            <a:endParaRPr b="0" sz="1200" strike="noStrike">
              <a:solidFill>
                <a:srgbClr val="000000"/>
              </a:solidFill>
              <a:latin typeface="Arial"/>
              <a:ea typeface="Arial"/>
              <a:cs typeface="Arial"/>
              <a:sym typeface="Arial"/>
            </a:endParaRPr>
          </a:p>
        </p:txBody>
      </p:sp>
      <p:sp>
        <p:nvSpPr>
          <p:cNvPr id="475" name="Google Shape;475;p21"/>
          <p:cNvSpPr/>
          <p:nvPr/>
        </p:nvSpPr>
        <p:spPr>
          <a:xfrm>
            <a:off x="5001840" y="1783080"/>
            <a:ext cx="3748680" cy="1051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JSON rules declare severity and parameters, but the logic is Java code. Changing behavior requires a developer.</a:t>
            </a:r>
            <a:endParaRPr b="0" sz="1100" strike="noStrike">
              <a:solidFill>
                <a:srgbClr val="000000"/>
              </a:solidFill>
              <a:latin typeface="Arial"/>
              <a:ea typeface="Arial"/>
              <a:cs typeface="Arial"/>
              <a:sym typeface="Arial"/>
            </a:endParaRPr>
          </a:p>
        </p:txBody>
      </p:sp>
      <p:sp>
        <p:nvSpPr>
          <p:cNvPr id="476" name="Google Shape;476;p21"/>
          <p:cNvSpPr/>
          <p:nvPr/>
        </p:nvSpPr>
        <p:spPr>
          <a:xfrm>
            <a:off x="4709160" y="3063240"/>
            <a:ext cx="4160160" cy="1599840"/>
          </a:xfrm>
          <a:prstGeom prst="rect">
            <a:avLst/>
          </a:prstGeom>
          <a:solidFill>
            <a:srgbClr val="EEF3FF"/>
          </a:solidFill>
          <a:ln cap="flat" cmpd="sng" w="12700">
            <a:solidFill>
              <a:srgbClr val="D4DCF0"/>
            </a:solidFill>
            <a:prstDash val="solid"/>
            <a:round/>
            <a:headEnd len="sm" w="sm" type="none"/>
            <a:tailEnd len="sm" w="sm" type="none"/>
          </a:ln>
          <a:effectLst>
            <a:outerShdw blurRad="101520" rotWithShape="0" algn="bl" dir="8100000" dist="37674">
              <a:srgbClr val="000000">
                <a:alpha val="12156"/>
              </a:srgbClr>
            </a:outerShdw>
          </a:effectLst>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77" name="Google Shape;477;p21"/>
          <p:cNvSpPr/>
          <p:nvPr/>
        </p:nvSpPr>
        <p:spPr>
          <a:xfrm>
            <a:off x="4709160" y="3063240"/>
            <a:ext cx="200880" cy="1599840"/>
          </a:xfrm>
          <a:prstGeom prst="rect">
            <a:avLst/>
          </a:prstGeom>
          <a:solidFill>
            <a:srgbClr val="D8A01A"/>
          </a:solidFill>
          <a:ln cap="flat" cmpd="sng" w="12700">
            <a:solidFill>
              <a:srgbClr val="D8A01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78" name="Google Shape;478;p21"/>
          <p:cNvSpPr/>
          <p:nvPr/>
        </p:nvSpPr>
        <p:spPr>
          <a:xfrm>
            <a:off x="5001840" y="3154680"/>
            <a:ext cx="37486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strike="noStrike">
                <a:solidFill>
                  <a:srgbClr val="1D2D44"/>
                </a:solidFill>
                <a:latin typeface="Trebuchet MS"/>
                <a:ea typeface="Trebuchet MS"/>
                <a:cs typeface="Trebuchet MS"/>
                <a:sym typeface="Trebuchet MS"/>
              </a:rPr>
              <a:t>No aggregate fairness metrics</a:t>
            </a:r>
            <a:endParaRPr b="0" sz="1200" strike="noStrike">
              <a:solidFill>
                <a:srgbClr val="000000"/>
              </a:solidFill>
              <a:latin typeface="Arial"/>
              <a:ea typeface="Arial"/>
              <a:cs typeface="Arial"/>
              <a:sym typeface="Arial"/>
            </a:endParaRPr>
          </a:p>
        </p:txBody>
      </p:sp>
      <p:sp>
        <p:nvSpPr>
          <p:cNvPr id="479" name="Google Shape;479;p21"/>
          <p:cNvSpPr/>
          <p:nvPr/>
        </p:nvSpPr>
        <p:spPr>
          <a:xfrm>
            <a:off x="5001840" y="3520440"/>
            <a:ext cx="3748680" cy="1051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Each offer is checked individually, but no systematic disparities across candidate groups are measured over time.</a:t>
            </a:r>
            <a:endParaRPr b="0" sz="1100"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22"/>
          <p:cNvSpPr/>
          <p:nvPr/>
        </p:nvSpPr>
        <p:spPr>
          <a:xfrm>
            <a:off x="365760" y="201240"/>
            <a:ext cx="1737000" cy="255600"/>
          </a:xfrm>
          <a:prstGeom prst="roundRect">
            <a:avLst>
              <a:gd fmla="val 14286" name="adj"/>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86" name="Google Shape;486;p22"/>
          <p:cNvSpPr/>
          <p:nvPr/>
        </p:nvSpPr>
        <p:spPr>
          <a:xfrm>
            <a:off x="365760" y="201240"/>
            <a:ext cx="1737000" cy="255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800" strike="noStrike">
                <a:solidFill>
                  <a:srgbClr val="FFFFFF"/>
                </a:solidFill>
                <a:latin typeface="Calibri"/>
                <a:ea typeface="Calibri"/>
                <a:cs typeface="Calibri"/>
                <a:sym typeface="Calibri"/>
              </a:rPr>
              <a:t>CRITICAL REFLECTION</a:t>
            </a:r>
            <a:endParaRPr b="0" sz="800" strike="noStrike">
              <a:solidFill>
                <a:srgbClr val="000000"/>
              </a:solidFill>
              <a:latin typeface="Arial"/>
              <a:ea typeface="Arial"/>
              <a:cs typeface="Arial"/>
              <a:sym typeface="Arial"/>
            </a:endParaRPr>
          </a:p>
        </p:txBody>
      </p:sp>
      <p:sp>
        <p:nvSpPr>
          <p:cNvPr id="487" name="Google Shape;487;p22"/>
          <p:cNvSpPr/>
          <p:nvPr/>
        </p:nvSpPr>
        <p:spPr>
          <a:xfrm>
            <a:off x="365760" y="567000"/>
            <a:ext cx="8412120" cy="594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600" strike="noStrike">
                <a:solidFill>
                  <a:srgbClr val="1D2D44"/>
                </a:solidFill>
                <a:latin typeface="Trebuchet MS"/>
                <a:ea typeface="Trebuchet MS"/>
                <a:cs typeface="Trebuchet MS"/>
                <a:sym typeface="Trebuchet MS"/>
              </a:rPr>
              <a:t>What Should NOT Be Decided Automatically</a:t>
            </a:r>
            <a:endParaRPr b="0" sz="2600" strike="noStrike">
              <a:solidFill>
                <a:srgbClr val="000000"/>
              </a:solidFill>
              <a:latin typeface="Arial"/>
              <a:ea typeface="Arial"/>
              <a:cs typeface="Arial"/>
              <a:sym typeface="Arial"/>
            </a:endParaRPr>
          </a:p>
        </p:txBody>
      </p:sp>
      <p:sp>
        <p:nvSpPr>
          <p:cNvPr id="488" name="Google Shape;488;p22"/>
          <p:cNvSpPr/>
          <p:nvPr/>
        </p:nvSpPr>
        <p:spPr>
          <a:xfrm>
            <a:off x="365760" y="1188720"/>
            <a:ext cx="8412120" cy="2700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0" lIns="90000" spcFirstLastPara="1" rIns="90000" wrap="square" tIns="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89" name="Google Shape;489;p22"/>
          <p:cNvSpPr/>
          <p:nvPr/>
        </p:nvSpPr>
        <p:spPr>
          <a:xfrm>
            <a:off x="8686800" y="4846320"/>
            <a:ext cx="365400" cy="182520"/>
          </a:xfrm>
          <a:prstGeom prst="rect">
            <a:avLst/>
          </a:prstGeom>
          <a:noFill/>
          <a:ln>
            <a:noFill/>
          </a:ln>
        </p:spPr>
        <p:txBody>
          <a:bodyPr anchorCtr="0" anchor="ctr" bIns="45000" lIns="90000" spcFirstLastPara="1" rIns="90000" wrap="square" tIns="45000">
            <a:noAutofit/>
          </a:bodyPr>
          <a:lstStyle/>
          <a:p>
            <a:pPr indent="0" lvl="0" marL="0" marR="0" rtl="0" algn="r">
              <a:lnSpc>
                <a:spcPct val="100000"/>
              </a:lnSpc>
              <a:spcBef>
                <a:spcPts val="0"/>
              </a:spcBef>
              <a:spcAft>
                <a:spcPts val="0"/>
              </a:spcAft>
              <a:buNone/>
            </a:pPr>
            <a:r>
              <a:rPr b="0" lang="en-US" sz="900" strike="noStrike">
                <a:solidFill>
                  <a:srgbClr val="6B7280"/>
                </a:solidFill>
                <a:latin typeface="Calibri"/>
                <a:ea typeface="Calibri"/>
                <a:cs typeface="Calibri"/>
                <a:sym typeface="Calibri"/>
              </a:rPr>
              <a:t>21</a:t>
            </a:r>
            <a:endParaRPr b="0" sz="900" strike="noStrike">
              <a:solidFill>
                <a:srgbClr val="000000"/>
              </a:solidFill>
              <a:latin typeface="Arial"/>
              <a:ea typeface="Arial"/>
              <a:cs typeface="Arial"/>
              <a:sym typeface="Arial"/>
            </a:endParaRPr>
          </a:p>
        </p:txBody>
      </p:sp>
      <p:sp>
        <p:nvSpPr>
          <p:cNvPr id="490" name="Google Shape;490;p22"/>
          <p:cNvSpPr/>
          <p:nvPr/>
        </p:nvSpPr>
        <p:spPr>
          <a:xfrm>
            <a:off x="365760" y="1417320"/>
            <a:ext cx="411120" cy="411120"/>
          </a:xfrm>
          <a:prstGeom prst="ellipse">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91" name="Google Shape;491;p22"/>
          <p:cNvSpPr/>
          <p:nvPr/>
        </p:nvSpPr>
        <p:spPr>
          <a:xfrm>
            <a:off x="365760" y="1417320"/>
            <a:ext cx="41112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FFFFFF"/>
                </a:solidFill>
                <a:latin typeface="Calibri"/>
                <a:ea typeface="Calibri"/>
                <a:cs typeface="Calibri"/>
                <a:sym typeface="Calibri"/>
              </a:rPr>
              <a:t>✗</a:t>
            </a:r>
            <a:endParaRPr b="0" sz="1400" strike="noStrike">
              <a:solidFill>
                <a:srgbClr val="000000"/>
              </a:solidFill>
              <a:latin typeface="Arial"/>
              <a:ea typeface="Arial"/>
              <a:cs typeface="Arial"/>
              <a:sym typeface="Arial"/>
            </a:endParaRPr>
          </a:p>
        </p:txBody>
      </p:sp>
      <p:sp>
        <p:nvSpPr>
          <p:cNvPr id="492" name="Google Shape;492;p22"/>
          <p:cNvSpPr/>
          <p:nvPr/>
        </p:nvSpPr>
        <p:spPr>
          <a:xfrm>
            <a:off x="914400" y="1325880"/>
            <a:ext cx="78634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strike="noStrike">
                <a:solidFill>
                  <a:srgbClr val="1D2D44"/>
                </a:solidFill>
                <a:latin typeface="Trebuchet MS"/>
                <a:ea typeface="Trebuchet MS"/>
                <a:cs typeface="Trebuchet MS"/>
                <a:sym typeface="Trebuchet MS"/>
              </a:rPr>
              <a:t>Final candidate selection</a:t>
            </a:r>
            <a:endParaRPr b="0" sz="1300" strike="noStrike">
              <a:solidFill>
                <a:srgbClr val="000000"/>
              </a:solidFill>
              <a:latin typeface="Arial"/>
              <a:ea typeface="Arial"/>
              <a:cs typeface="Arial"/>
              <a:sym typeface="Arial"/>
            </a:endParaRPr>
          </a:p>
        </p:txBody>
      </p:sp>
      <p:sp>
        <p:nvSpPr>
          <p:cNvPr id="493" name="Google Shape;493;p22"/>
          <p:cNvSpPr/>
          <p:nvPr/>
        </p:nvSpPr>
        <p:spPr>
          <a:xfrm>
            <a:off x="914400" y="1673280"/>
            <a:ext cx="78634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The system recommends and evaluates ethically, but the hiring decision must always be made by a human.</a:t>
            </a:r>
            <a:endParaRPr b="0" sz="1100" strike="noStrike">
              <a:solidFill>
                <a:srgbClr val="000000"/>
              </a:solidFill>
              <a:latin typeface="Arial"/>
              <a:ea typeface="Arial"/>
              <a:cs typeface="Arial"/>
              <a:sym typeface="Arial"/>
            </a:endParaRPr>
          </a:p>
        </p:txBody>
      </p:sp>
      <p:cxnSp>
        <p:nvCxnSpPr>
          <p:cNvPr id="494" name="Google Shape;494;p22"/>
          <p:cNvCxnSpPr/>
          <p:nvPr/>
        </p:nvCxnSpPr>
        <p:spPr>
          <a:xfrm>
            <a:off x="365760" y="2176200"/>
            <a:ext cx="8412480" cy="360"/>
          </a:xfrm>
          <a:prstGeom prst="straightConnector1">
            <a:avLst/>
          </a:prstGeom>
          <a:noFill/>
          <a:ln cap="flat" cmpd="sng" w="9525">
            <a:solidFill>
              <a:srgbClr val="E5E7EB"/>
            </a:solidFill>
            <a:prstDash val="solid"/>
            <a:round/>
            <a:headEnd len="sm" w="sm" type="none"/>
            <a:tailEnd len="sm" w="sm" type="none"/>
          </a:ln>
        </p:spPr>
      </p:cxnSp>
      <p:sp>
        <p:nvSpPr>
          <p:cNvPr id="495" name="Google Shape;495;p22"/>
          <p:cNvSpPr/>
          <p:nvPr/>
        </p:nvSpPr>
        <p:spPr>
          <a:xfrm>
            <a:off x="365760" y="2304360"/>
            <a:ext cx="411120" cy="411120"/>
          </a:xfrm>
          <a:prstGeom prst="ellipse">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496" name="Google Shape;496;p22"/>
          <p:cNvSpPr/>
          <p:nvPr/>
        </p:nvSpPr>
        <p:spPr>
          <a:xfrm>
            <a:off x="365760" y="2304360"/>
            <a:ext cx="41112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FFFFFF"/>
                </a:solidFill>
                <a:latin typeface="Calibri"/>
                <a:ea typeface="Calibri"/>
                <a:cs typeface="Calibri"/>
                <a:sym typeface="Calibri"/>
              </a:rPr>
              <a:t>✗</a:t>
            </a:r>
            <a:endParaRPr b="0" sz="1400" strike="noStrike">
              <a:solidFill>
                <a:srgbClr val="000000"/>
              </a:solidFill>
              <a:latin typeface="Arial"/>
              <a:ea typeface="Arial"/>
              <a:cs typeface="Arial"/>
              <a:sym typeface="Arial"/>
            </a:endParaRPr>
          </a:p>
        </p:txBody>
      </p:sp>
      <p:sp>
        <p:nvSpPr>
          <p:cNvPr id="497" name="Google Shape;497;p22"/>
          <p:cNvSpPr/>
          <p:nvPr/>
        </p:nvSpPr>
        <p:spPr>
          <a:xfrm>
            <a:off x="914400" y="2212920"/>
            <a:ext cx="78634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strike="noStrike">
                <a:solidFill>
                  <a:srgbClr val="1D2D44"/>
                </a:solidFill>
                <a:latin typeface="Trebuchet MS"/>
                <a:ea typeface="Trebuchet MS"/>
                <a:cs typeface="Trebuchet MS"/>
                <a:sym typeface="Trebuchet MS"/>
              </a:rPr>
              <a:t>Permanent exclusion of an offer</a:t>
            </a:r>
            <a:endParaRPr b="0" sz="1300" strike="noStrike">
              <a:solidFill>
                <a:srgbClr val="000000"/>
              </a:solidFill>
              <a:latin typeface="Arial"/>
              <a:ea typeface="Arial"/>
              <a:cs typeface="Arial"/>
              <a:sym typeface="Arial"/>
            </a:endParaRPr>
          </a:p>
        </p:txBody>
      </p:sp>
      <p:sp>
        <p:nvSpPr>
          <p:cNvPr id="498" name="Google Shape;498;p22"/>
          <p:cNvSpPr/>
          <p:nvPr/>
        </p:nvSpPr>
        <p:spPr>
          <a:xfrm>
            <a:off x="914400" y="2560320"/>
            <a:ext cx="78634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REJECT blocks the recommendation, not the offer from the system. Human review is required before permanently removing it.</a:t>
            </a:r>
            <a:endParaRPr b="0" sz="1100" strike="noStrike">
              <a:solidFill>
                <a:srgbClr val="000000"/>
              </a:solidFill>
              <a:latin typeface="Arial"/>
              <a:ea typeface="Arial"/>
              <a:cs typeface="Arial"/>
              <a:sym typeface="Arial"/>
            </a:endParaRPr>
          </a:p>
        </p:txBody>
      </p:sp>
      <p:cxnSp>
        <p:nvCxnSpPr>
          <p:cNvPr id="499" name="Google Shape;499;p22"/>
          <p:cNvCxnSpPr/>
          <p:nvPr/>
        </p:nvCxnSpPr>
        <p:spPr>
          <a:xfrm>
            <a:off x="365760" y="3063240"/>
            <a:ext cx="8412480" cy="360"/>
          </a:xfrm>
          <a:prstGeom prst="straightConnector1">
            <a:avLst/>
          </a:prstGeom>
          <a:noFill/>
          <a:ln cap="flat" cmpd="sng" w="9525">
            <a:solidFill>
              <a:srgbClr val="E5E7EB"/>
            </a:solidFill>
            <a:prstDash val="solid"/>
            <a:round/>
            <a:headEnd len="sm" w="sm" type="none"/>
            <a:tailEnd len="sm" w="sm" type="none"/>
          </a:ln>
        </p:spPr>
      </p:cxnSp>
      <p:sp>
        <p:nvSpPr>
          <p:cNvPr id="500" name="Google Shape;500;p22"/>
          <p:cNvSpPr/>
          <p:nvPr/>
        </p:nvSpPr>
        <p:spPr>
          <a:xfrm>
            <a:off x="365760" y="3191400"/>
            <a:ext cx="411120" cy="411120"/>
          </a:xfrm>
          <a:prstGeom prst="ellipse">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01" name="Google Shape;501;p22"/>
          <p:cNvSpPr/>
          <p:nvPr/>
        </p:nvSpPr>
        <p:spPr>
          <a:xfrm>
            <a:off x="365760" y="3191400"/>
            <a:ext cx="41112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FFFFFF"/>
                </a:solidFill>
                <a:latin typeface="Calibri"/>
                <a:ea typeface="Calibri"/>
                <a:cs typeface="Calibri"/>
                <a:sym typeface="Calibri"/>
              </a:rPr>
              <a:t>✗</a:t>
            </a:r>
            <a:endParaRPr b="0" sz="1400" strike="noStrike">
              <a:solidFill>
                <a:srgbClr val="000000"/>
              </a:solidFill>
              <a:latin typeface="Arial"/>
              <a:ea typeface="Arial"/>
              <a:cs typeface="Arial"/>
              <a:sym typeface="Arial"/>
            </a:endParaRPr>
          </a:p>
        </p:txBody>
      </p:sp>
      <p:sp>
        <p:nvSpPr>
          <p:cNvPr id="502" name="Google Shape;502;p22"/>
          <p:cNvSpPr/>
          <p:nvPr/>
        </p:nvSpPr>
        <p:spPr>
          <a:xfrm>
            <a:off x="914400" y="3099960"/>
            <a:ext cx="78634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strike="noStrike">
                <a:solidFill>
                  <a:srgbClr val="1D2D44"/>
                </a:solidFill>
                <a:latin typeface="Trebuchet MS"/>
                <a:ea typeface="Trebuchet MS"/>
                <a:cs typeface="Trebuchet MS"/>
                <a:sym typeface="Trebuchet MS"/>
              </a:rPr>
              <a:t>Interpreting complex legal contexts</a:t>
            </a:r>
            <a:endParaRPr b="0" sz="1300" strike="noStrike">
              <a:solidFill>
                <a:srgbClr val="000000"/>
              </a:solidFill>
              <a:latin typeface="Arial"/>
              <a:ea typeface="Arial"/>
              <a:cs typeface="Arial"/>
              <a:sym typeface="Arial"/>
            </a:endParaRPr>
          </a:p>
        </p:txBody>
      </p:sp>
      <p:sp>
        <p:nvSpPr>
          <p:cNvPr id="503" name="Google Shape;503;p22"/>
          <p:cNvSpPr/>
          <p:nvPr/>
        </p:nvSpPr>
        <p:spPr>
          <a:xfrm>
            <a:off x="914400" y="3447360"/>
            <a:ext cx="78634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A nationalityReq may be legal (e.g. national security requirements). EaaS lacks context: ESCALATE → human.</a:t>
            </a:r>
            <a:endParaRPr b="0" sz="1100" strike="noStrike">
              <a:solidFill>
                <a:srgbClr val="000000"/>
              </a:solidFill>
              <a:latin typeface="Arial"/>
              <a:ea typeface="Arial"/>
              <a:cs typeface="Arial"/>
              <a:sym typeface="Arial"/>
            </a:endParaRPr>
          </a:p>
        </p:txBody>
      </p:sp>
      <p:cxnSp>
        <p:nvCxnSpPr>
          <p:cNvPr id="504" name="Google Shape;504;p22"/>
          <p:cNvCxnSpPr/>
          <p:nvPr/>
        </p:nvCxnSpPr>
        <p:spPr>
          <a:xfrm>
            <a:off x="365760" y="3949920"/>
            <a:ext cx="8412480" cy="360"/>
          </a:xfrm>
          <a:prstGeom prst="straightConnector1">
            <a:avLst/>
          </a:prstGeom>
          <a:noFill/>
          <a:ln cap="flat" cmpd="sng" w="9525">
            <a:solidFill>
              <a:srgbClr val="E5E7EB"/>
            </a:solidFill>
            <a:prstDash val="solid"/>
            <a:round/>
            <a:headEnd len="sm" w="sm" type="none"/>
            <a:tailEnd len="sm" w="sm" type="none"/>
          </a:ln>
        </p:spPr>
      </p:cxnSp>
      <p:sp>
        <p:nvSpPr>
          <p:cNvPr id="505" name="Google Shape;505;p22"/>
          <p:cNvSpPr/>
          <p:nvPr/>
        </p:nvSpPr>
        <p:spPr>
          <a:xfrm>
            <a:off x="365760" y="4078080"/>
            <a:ext cx="411120" cy="411120"/>
          </a:xfrm>
          <a:prstGeom prst="ellipse">
            <a:avLst/>
          </a:prstGeom>
          <a:solidFill>
            <a:srgbClr val="B32424"/>
          </a:solidFill>
          <a:ln cap="flat" cmpd="sng" w="12700">
            <a:solidFill>
              <a:srgbClr val="B32424"/>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06" name="Google Shape;506;p22"/>
          <p:cNvSpPr/>
          <p:nvPr/>
        </p:nvSpPr>
        <p:spPr>
          <a:xfrm>
            <a:off x="365760" y="4078080"/>
            <a:ext cx="41112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strike="noStrike">
                <a:solidFill>
                  <a:srgbClr val="FFFFFF"/>
                </a:solidFill>
                <a:latin typeface="Calibri"/>
                <a:ea typeface="Calibri"/>
                <a:cs typeface="Calibri"/>
                <a:sym typeface="Calibri"/>
              </a:rPr>
              <a:t>✗</a:t>
            </a:r>
            <a:endParaRPr b="0" sz="1400" strike="noStrike">
              <a:solidFill>
                <a:srgbClr val="000000"/>
              </a:solidFill>
              <a:latin typeface="Arial"/>
              <a:ea typeface="Arial"/>
              <a:cs typeface="Arial"/>
              <a:sym typeface="Arial"/>
            </a:endParaRPr>
          </a:p>
        </p:txBody>
      </p:sp>
      <p:sp>
        <p:nvSpPr>
          <p:cNvPr id="507" name="Google Shape;507;p22"/>
          <p:cNvSpPr/>
          <p:nvPr/>
        </p:nvSpPr>
        <p:spPr>
          <a:xfrm>
            <a:off x="914400" y="3986640"/>
            <a:ext cx="7863480" cy="3470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strike="noStrike">
                <a:solidFill>
                  <a:srgbClr val="1D2D44"/>
                </a:solidFill>
                <a:latin typeface="Trebuchet MS"/>
                <a:ea typeface="Trebuchet MS"/>
                <a:cs typeface="Trebuchet MS"/>
                <a:sym typeface="Trebuchet MS"/>
              </a:rPr>
              <a:t>Evaluating capabilities and soft skills</a:t>
            </a:r>
            <a:endParaRPr b="0" sz="1300" strike="noStrike">
              <a:solidFill>
                <a:srgbClr val="000000"/>
              </a:solidFill>
              <a:latin typeface="Arial"/>
              <a:ea typeface="Arial"/>
              <a:cs typeface="Arial"/>
              <a:sym typeface="Arial"/>
            </a:endParaRPr>
          </a:p>
        </p:txBody>
      </p:sp>
      <p:sp>
        <p:nvSpPr>
          <p:cNvPr id="508" name="Google Shape;508;p22"/>
          <p:cNvSpPr/>
          <p:nvPr/>
        </p:nvSpPr>
        <p:spPr>
          <a:xfrm>
            <a:off x="914400" y="4334400"/>
            <a:ext cx="786348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strike="noStrike">
                <a:solidFill>
                  <a:srgbClr val="1D2D44"/>
                </a:solidFill>
                <a:latin typeface="Calibri"/>
                <a:ea typeface="Calibri"/>
                <a:cs typeface="Calibri"/>
                <a:sym typeface="Calibri"/>
              </a:rPr>
              <a:t>The dataset captures years of experience and technical skills. Motivation, communication, and company culture remain outside the model.</a:t>
            </a:r>
            <a:endParaRPr b="0" sz="1100"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D2D44"/>
        </a:solidFill>
      </p:bgPr>
    </p:bg>
    <p:spTree>
      <p:nvGrpSpPr>
        <p:cNvPr id="513" name="Shape 513"/>
        <p:cNvGrpSpPr/>
        <p:nvPr/>
      </p:nvGrpSpPr>
      <p:grpSpPr>
        <a:xfrm>
          <a:off x="0" y="0"/>
          <a:ext cx="0" cy="0"/>
          <a:chOff x="0" y="0"/>
          <a:chExt cx="0" cy="0"/>
        </a:xfrm>
      </p:grpSpPr>
      <p:sp>
        <p:nvSpPr>
          <p:cNvPr id="514" name="Google Shape;514;p23"/>
          <p:cNvSpPr/>
          <p:nvPr/>
        </p:nvSpPr>
        <p:spPr>
          <a:xfrm>
            <a:off x="0" y="0"/>
            <a:ext cx="200880" cy="514332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15" name="Google Shape;515;p23"/>
          <p:cNvSpPr/>
          <p:nvPr/>
        </p:nvSpPr>
        <p:spPr>
          <a:xfrm>
            <a:off x="457200" y="457200"/>
            <a:ext cx="8229240" cy="4568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400" strike="noStrike">
                <a:solidFill>
                  <a:srgbClr val="9FB4CC"/>
                </a:solidFill>
                <a:latin typeface="Calibri"/>
                <a:ea typeface="Calibri"/>
                <a:cs typeface="Calibri"/>
                <a:sym typeface="Calibri"/>
              </a:rPr>
              <a:t>Conclusions</a:t>
            </a:r>
            <a:endParaRPr b="0" sz="1400" strike="noStrike">
              <a:solidFill>
                <a:srgbClr val="FFFFFF"/>
              </a:solidFill>
              <a:latin typeface="Arial"/>
              <a:ea typeface="Arial"/>
              <a:cs typeface="Arial"/>
              <a:sym typeface="Arial"/>
            </a:endParaRPr>
          </a:p>
        </p:txBody>
      </p:sp>
      <p:sp>
        <p:nvSpPr>
          <p:cNvPr id="516" name="Google Shape;516;p23"/>
          <p:cNvSpPr/>
          <p:nvPr/>
        </p:nvSpPr>
        <p:spPr>
          <a:xfrm>
            <a:off x="457200" y="868680"/>
            <a:ext cx="8229240" cy="12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600" strike="noStrike">
                <a:solidFill>
                  <a:srgbClr val="FFFFFF"/>
                </a:solidFill>
                <a:latin typeface="Trebuchet MS"/>
                <a:ea typeface="Trebuchet MS"/>
                <a:cs typeface="Trebuchet MS"/>
                <a:sym typeface="Trebuchet MS"/>
              </a:rPr>
              <a:t>Data + Ethics + Architecture</a:t>
            </a:r>
            <a:endParaRPr b="0" sz="3600"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3600" strike="noStrike">
                <a:solidFill>
                  <a:srgbClr val="FFFFFF"/>
                </a:solidFill>
                <a:latin typeface="Trebuchet MS"/>
                <a:ea typeface="Trebuchet MS"/>
                <a:cs typeface="Trebuchet MS"/>
                <a:sym typeface="Trebuchet MS"/>
              </a:rPr>
              <a:t>as a unified system</a:t>
            </a:r>
            <a:endParaRPr b="0" sz="3600" strike="noStrike">
              <a:solidFill>
                <a:srgbClr val="FFFFFF"/>
              </a:solidFill>
              <a:latin typeface="Arial"/>
              <a:ea typeface="Arial"/>
              <a:cs typeface="Arial"/>
              <a:sym typeface="Arial"/>
            </a:endParaRPr>
          </a:p>
        </p:txBody>
      </p:sp>
      <p:sp>
        <p:nvSpPr>
          <p:cNvPr id="517" name="Google Shape;517;p23"/>
          <p:cNvSpPr/>
          <p:nvPr/>
        </p:nvSpPr>
        <p:spPr>
          <a:xfrm>
            <a:off x="457200" y="2286000"/>
            <a:ext cx="822600" cy="383760"/>
          </a:xfrm>
          <a:prstGeom prst="rect">
            <a:avLst/>
          </a:prstGeom>
          <a:solidFill>
            <a:srgbClr val="2C5FDC"/>
          </a:solidFill>
          <a:ln cap="flat" cmpd="sng" w="12700">
            <a:solidFill>
              <a:srgbClr val="2C5FDC"/>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18" name="Google Shape;518;p23"/>
          <p:cNvSpPr/>
          <p:nvPr/>
        </p:nvSpPr>
        <p:spPr>
          <a:xfrm>
            <a:off x="457200" y="2286000"/>
            <a:ext cx="82260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000" strike="noStrike">
                <a:solidFill>
                  <a:srgbClr val="FFFFFF"/>
                </a:solidFill>
                <a:latin typeface="Calibri"/>
                <a:ea typeface="Calibri"/>
                <a:cs typeface="Calibri"/>
                <a:sym typeface="Calibri"/>
              </a:rPr>
              <a:t>DaaS</a:t>
            </a:r>
            <a:endParaRPr b="0" sz="1000" strike="noStrike">
              <a:solidFill>
                <a:srgbClr val="FFFFFF"/>
              </a:solidFill>
              <a:latin typeface="Arial"/>
              <a:ea typeface="Arial"/>
              <a:cs typeface="Arial"/>
              <a:sym typeface="Arial"/>
            </a:endParaRPr>
          </a:p>
        </p:txBody>
      </p:sp>
      <p:sp>
        <p:nvSpPr>
          <p:cNvPr id="519" name="Google Shape;519;p23"/>
          <p:cNvSpPr/>
          <p:nvPr/>
        </p:nvSpPr>
        <p:spPr>
          <a:xfrm>
            <a:off x="1417320" y="2286000"/>
            <a:ext cx="731484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200" strike="noStrike">
                <a:solidFill>
                  <a:srgbClr val="CADCFC"/>
                </a:solidFill>
                <a:latin typeface="Calibri"/>
                <a:ea typeface="Calibri"/>
                <a:cs typeface="Calibri"/>
                <a:sym typeface="Calibri"/>
              </a:rPr>
              <a:t>635 RDF/XML triples · 7 controllers · full CRUD · Swagger UI</a:t>
            </a:r>
            <a:endParaRPr b="0" sz="1200" strike="noStrike">
              <a:solidFill>
                <a:srgbClr val="FFFFFF"/>
              </a:solidFill>
              <a:latin typeface="Arial"/>
              <a:ea typeface="Arial"/>
              <a:cs typeface="Arial"/>
              <a:sym typeface="Arial"/>
            </a:endParaRPr>
          </a:p>
        </p:txBody>
      </p:sp>
      <p:sp>
        <p:nvSpPr>
          <p:cNvPr id="520" name="Google Shape;520;p23"/>
          <p:cNvSpPr/>
          <p:nvPr/>
        </p:nvSpPr>
        <p:spPr>
          <a:xfrm>
            <a:off x="457200" y="2889360"/>
            <a:ext cx="822600" cy="383760"/>
          </a:xfrm>
          <a:prstGeom prst="rect">
            <a:avLst/>
          </a:prstGeom>
          <a:solidFill>
            <a:srgbClr val="2F8F4E"/>
          </a:solidFill>
          <a:ln cap="flat" cmpd="sng" w="12700">
            <a:solidFill>
              <a:srgbClr val="2F8F4E"/>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21" name="Google Shape;521;p23"/>
          <p:cNvSpPr/>
          <p:nvPr/>
        </p:nvSpPr>
        <p:spPr>
          <a:xfrm>
            <a:off x="457200" y="2889360"/>
            <a:ext cx="82260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000" strike="noStrike">
                <a:solidFill>
                  <a:srgbClr val="FFFFFF"/>
                </a:solidFill>
                <a:latin typeface="Calibri"/>
                <a:ea typeface="Calibri"/>
                <a:cs typeface="Calibri"/>
                <a:sym typeface="Calibri"/>
              </a:rPr>
              <a:t>EaaS</a:t>
            </a:r>
            <a:endParaRPr b="0" sz="1000" strike="noStrike">
              <a:solidFill>
                <a:srgbClr val="FFFFFF"/>
              </a:solidFill>
              <a:latin typeface="Arial"/>
              <a:ea typeface="Arial"/>
              <a:cs typeface="Arial"/>
              <a:sym typeface="Arial"/>
            </a:endParaRPr>
          </a:p>
        </p:txBody>
      </p:sp>
      <p:sp>
        <p:nvSpPr>
          <p:cNvPr id="522" name="Google Shape;522;p23"/>
          <p:cNvSpPr/>
          <p:nvPr/>
        </p:nvSpPr>
        <p:spPr>
          <a:xfrm>
            <a:off x="1417320" y="2889360"/>
            <a:ext cx="731484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200" strike="noStrike">
                <a:solidFill>
                  <a:srgbClr val="CADCFC"/>
                </a:solidFill>
                <a:latin typeface="Calibri"/>
                <a:ea typeface="Calibri"/>
                <a:cs typeface="Calibri"/>
                <a:sym typeface="Calibri"/>
              </a:rPr>
              <a:t>4 external JSON policies · PROCEED / REVISE / ESCALATE / REJECT</a:t>
            </a:r>
            <a:endParaRPr b="0" sz="1200" strike="noStrike">
              <a:solidFill>
                <a:srgbClr val="FFFFFF"/>
              </a:solidFill>
              <a:latin typeface="Arial"/>
              <a:ea typeface="Arial"/>
              <a:cs typeface="Arial"/>
              <a:sym typeface="Arial"/>
            </a:endParaRPr>
          </a:p>
        </p:txBody>
      </p:sp>
      <p:sp>
        <p:nvSpPr>
          <p:cNvPr id="523" name="Google Shape;523;p23"/>
          <p:cNvSpPr/>
          <p:nvPr/>
        </p:nvSpPr>
        <p:spPr>
          <a:xfrm>
            <a:off x="457200" y="3493080"/>
            <a:ext cx="822600" cy="383760"/>
          </a:xfrm>
          <a:prstGeom prst="rect">
            <a:avLst/>
          </a:prstGeom>
          <a:solidFill>
            <a:srgbClr val="9B59B6"/>
          </a:solidFill>
          <a:ln cap="flat" cmpd="sng" w="12700">
            <a:solidFill>
              <a:srgbClr val="9B59B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24" name="Google Shape;524;p23"/>
          <p:cNvSpPr/>
          <p:nvPr/>
        </p:nvSpPr>
        <p:spPr>
          <a:xfrm>
            <a:off x="457200" y="3493080"/>
            <a:ext cx="82260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000" strike="noStrike">
                <a:solidFill>
                  <a:srgbClr val="FFFFFF"/>
                </a:solidFill>
                <a:latin typeface="Calibri"/>
                <a:ea typeface="Calibri"/>
                <a:cs typeface="Calibri"/>
                <a:sym typeface="Calibri"/>
              </a:rPr>
              <a:t>Audit</a:t>
            </a:r>
            <a:endParaRPr b="0" sz="1000" strike="noStrike">
              <a:solidFill>
                <a:srgbClr val="FFFFFF"/>
              </a:solidFill>
              <a:latin typeface="Arial"/>
              <a:ea typeface="Arial"/>
              <a:cs typeface="Arial"/>
              <a:sym typeface="Arial"/>
            </a:endParaRPr>
          </a:p>
        </p:txBody>
      </p:sp>
      <p:sp>
        <p:nvSpPr>
          <p:cNvPr id="525" name="Google Shape;525;p23"/>
          <p:cNvSpPr/>
          <p:nvPr/>
        </p:nvSpPr>
        <p:spPr>
          <a:xfrm>
            <a:off x="1417320" y="3493080"/>
            <a:ext cx="731484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200" strike="noStrike">
                <a:solidFill>
                  <a:srgbClr val="CADCFC"/>
                </a:solidFill>
                <a:latin typeface="Calibri"/>
                <a:ea typeface="Calibri"/>
                <a:cs typeface="Calibri"/>
                <a:sym typeface="Calibri"/>
              </a:rPr>
              <a:t>Every decision is tracked, justified, and persisted to disk</a:t>
            </a:r>
            <a:endParaRPr b="0" sz="1200" strike="noStrike">
              <a:solidFill>
                <a:srgbClr val="FFFFFF"/>
              </a:solidFill>
              <a:latin typeface="Arial"/>
              <a:ea typeface="Arial"/>
              <a:cs typeface="Arial"/>
              <a:sym typeface="Arial"/>
            </a:endParaRPr>
          </a:p>
        </p:txBody>
      </p:sp>
      <p:sp>
        <p:nvSpPr>
          <p:cNvPr id="526" name="Google Shape;526;p23"/>
          <p:cNvSpPr/>
          <p:nvPr/>
        </p:nvSpPr>
        <p:spPr>
          <a:xfrm>
            <a:off x="457200" y="4096440"/>
            <a:ext cx="822600" cy="383760"/>
          </a:xfrm>
          <a:prstGeom prst="rect">
            <a:avLst/>
          </a:prstGeom>
          <a:solidFill>
            <a:srgbClr val="D8A01A"/>
          </a:solidFill>
          <a:ln cap="flat" cmpd="sng" w="12700">
            <a:solidFill>
              <a:srgbClr val="D8A01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t/>
            </a:r>
            <a:endParaRPr b="0" sz="1800" strike="noStrike">
              <a:solidFill>
                <a:schemeClr val="dk1"/>
              </a:solidFill>
              <a:latin typeface="Calibri"/>
              <a:ea typeface="Calibri"/>
              <a:cs typeface="Calibri"/>
              <a:sym typeface="Calibri"/>
            </a:endParaRPr>
          </a:p>
        </p:txBody>
      </p:sp>
      <p:sp>
        <p:nvSpPr>
          <p:cNvPr id="527" name="Google Shape;527;p23"/>
          <p:cNvSpPr/>
          <p:nvPr/>
        </p:nvSpPr>
        <p:spPr>
          <a:xfrm>
            <a:off x="457200" y="4096440"/>
            <a:ext cx="82260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000" strike="noStrike">
                <a:solidFill>
                  <a:srgbClr val="FFFFFF"/>
                </a:solidFill>
                <a:latin typeface="Calibri"/>
                <a:ea typeface="Calibri"/>
                <a:cs typeface="Calibri"/>
                <a:sym typeface="Calibri"/>
              </a:rPr>
              <a:t>Ethics</a:t>
            </a:r>
            <a:endParaRPr b="0" sz="1000" strike="noStrike">
              <a:solidFill>
                <a:srgbClr val="FFFFFF"/>
              </a:solidFill>
              <a:latin typeface="Arial"/>
              <a:ea typeface="Arial"/>
              <a:cs typeface="Arial"/>
              <a:sym typeface="Arial"/>
            </a:endParaRPr>
          </a:p>
        </p:txBody>
      </p:sp>
      <p:sp>
        <p:nvSpPr>
          <p:cNvPr id="528" name="Google Shape;528;p23"/>
          <p:cNvSpPr/>
          <p:nvPr/>
        </p:nvSpPr>
        <p:spPr>
          <a:xfrm>
            <a:off x="1417320" y="4096440"/>
            <a:ext cx="731484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200" strike="noStrike">
                <a:solidFill>
                  <a:srgbClr val="CADCFC"/>
                </a:solidFill>
                <a:latin typeface="Calibri"/>
                <a:ea typeface="Calibri"/>
                <a:cs typeface="Calibri"/>
                <a:sym typeface="Calibri"/>
              </a:rPr>
              <a:t>Not a final checkbox: ethics is an integral part of the architecture</a:t>
            </a:r>
            <a:endParaRPr b="0" sz="1200" strike="noStrike">
              <a:solidFill>
                <a:srgbClr val="FFFFFF"/>
              </a:solidFill>
              <a:latin typeface="Arial"/>
              <a:ea typeface="Arial"/>
              <a:cs typeface="Arial"/>
              <a:sym typeface="Arial"/>
            </a:endParaRPr>
          </a:p>
        </p:txBody>
      </p:sp>
      <p:cxnSp>
        <p:nvCxnSpPr>
          <p:cNvPr id="529" name="Google Shape;529;p23"/>
          <p:cNvCxnSpPr/>
          <p:nvPr/>
        </p:nvCxnSpPr>
        <p:spPr>
          <a:xfrm>
            <a:off x="457200" y="4663440"/>
            <a:ext cx="3657600" cy="360"/>
          </a:xfrm>
          <a:prstGeom prst="straightConnector1">
            <a:avLst/>
          </a:prstGeom>
          <a:noFill/>
          <a:ln cap="flat" cmpd="sng" w="12700">
            <a:solidFill>
              <a:srgbClr val="2C5FDC"/>
            </a:solidFill>
            <a:prstDash val="solid"/>
            <a:round/>
            <a:headEnd len="sm" w="sm" type="none"/>
            <a:tailEnd len="sm" w="sm" type="none"/>
          </a:ln>
        </p:spPr>
      </p:cxnSp>
      <p:sp>
        <p:nvSpPr>
          <p:cNvPr id="530" name="Google Shape;530;p23"/>
          <p:cNvSpPr/>
          <p:nvPr/>
        </p:nvSpPr>
        <p:spPr>
          <a:xfrm>
            <a:off x="457200" y="4709160"/>
            <a:ext cx="8229240" cy="273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1" lang="en-US" sz="1200" strike="noStrike">
                <a:solidFill>
                  <a:srgbClr val="9FB4CC"/>
                </a:solidFill>
                <a:latin typeface="Calibri"/>
                <a:ea typeface="Calibri"/>
                <a:cs typeface="Calibri"/>
                <a:sym typeface="Calibri"/>
              </a:rPr>
              <a:t>Questions?</a:t>
            </a:r>
            <a:endParaRPr b="0" sz="1200"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